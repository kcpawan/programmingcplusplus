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3"/>
  </p:notesMasterIdLst>
  <p:sldIdLst>
    <p:sldId id="256" r:id="rId2"/>
    <p:sldId id="257" r:id="rId3"/>
    <p:sldId id="259" r:id="rId4"/>
    <p:sldId id="260" r:id="rId5"/>
    <p:sldId id="261" r:id="rId6"/>
    <p:sldId id="262" r:id="rId7"/>
    <p:sldId id="263" r:id="rId8"/>
    <p:sldId id="264" r:id="rId9"/>
    <p:sldId id="265" r:id="rId10"/>
    <p:sldId id="316" r:id="rId11"/>
    <p:sldId id="317" r:id="rId12"/>
    <p:sldId id="266" r:id="rId13"/>
    <p:sldId id="338" r:id="rId14"/>
    <p:sldId id="339" r:id="rId15"/>
    <p:sldId id="612" r:id="rId16"/>
    <p:sldId id="267" r:id="rId17"/>
    <p:sldId id="614" r:id="rId18"/>
    <p:sldId id="318" r:id="rId19"/>
    <p:sldId id="320" r:id="rId20"/>
    <p:sldId id="268" r:id="rId21"/>
    <p:sldId id="321" r:id="rId22"/>
    <p:sldId id="323" r:id="rId23"/>
    <p:sldId id="322" r:id="rId24"/>
    <p:sldId id="324" r:id="rId25"/>
    <p:sldId id="319" r:id="rId26"/>
    <p:sldId id="327" r:id="rId27"/>
    <p:sldId id="325" r:id="rId28"/>
    <p:sldId id="328" r:id="rId29"/>
    <p:sldId id="326" r:id="rId30"/>
    <p:sldId id="329" r:id="rId31"/>
    <p:sldId id="330" r:id="rId32"/>
    <p:sldId id="331" r:id="rId33"/>
    <p:sldId id="332" r:id="rId34"/>
    <p:sldId id="333" r:id="rId35"/>
    <p:sldId id="334" r:id="rId36"/>
    <p:sldId id="335" r:id="rId37"/>
    <p:sldId id="336" r:id="rId38"/>
    <p:sldId id="337" r:id="rId39"/>
    <p:sldId id="270" r:id="rId40"/>
    <p:sldId id="271" r:id="rId41"/>
    <p:sldId id="350" r:id="rId42"/>
    <p:sldId id="351" r:id="rId43"/>
    <p:sldId id="341" r:id="rId44"/>
    <p:sldId id="352" r:id="rId45"/>
    <p:sldId id="353" r:id="rId46"/>
    <p:sldId id="354" r:id="rId47"/>
    <p:sldId id="342" r:id="rId48"/>
    <p:sldId id="343" r:id="rId49"/>
    <p:sldId id="345" r:id="rId50"/>
    <p:sldId id="349" r:id="rId51"/>
    <p:sldId id="346" r:id="rId52"/>
    <p:sldId id="347" r:id="rId53"/>
    <p:sldId id="340" r:id="rId54"/>
    <p:sldId id="272" r:id="rId55"/>
    <p:sldId id="355" r:id="rId56"/>
    <p:sldId id="356" r:id="rId57"/>
    <p:sldId id="359" r:id="rId58"/>
    <p:sldId id="360" r:id="rId59"/>
    <p:sldId id="275" r:id="rId60"/>
    <p:sldId id="617" r:id="rId61"/>
    <p:sldId id="276" r:id="rId62"/>
    <p:sldId id="616" r:id="rId63"/>
    <p:sldId id="618" r:id="rId64"/>
    <p:sldId id="619" r:id="rId65"/>
    <p:sldId id="258" r:id="rId66"/>
    <p:sldId id="620" r:id="rId67"/>
    <p:sldId id="621" r:id="rId68"/>
    <p:sldId id="622" r:id="rId69"/>
    <p:sldId id="623" r:id="rId70"/>
    <p:sldId id="624" r:id="rId71"/>
    <p:sldId id="625" r:id="rId72"/>
    <p:sldId id="627" r:id="rId73"/>
    <p:sldId id="628" r:id="rId74"/>
    <p:sldId id="626" r:id="rId75"/>
    <p:sldId id="629" r:id="rId76"/>
    <p:sldId id="630" r:id="rId77"/>
    <p:sldId id="631" r:id="rId78"/>
    <p:sldId id="632" r:id="rId79"/>
    <p:sldId id="633" r:id="rId80"/>
    <p:sldId id="611" r:id="rId81"/>
    <p:sldId id="277" r:id="rId82"/>
    <p:sldId id="278" r:id="rId83"/>
    <p:sldId id="279" r:id="rId84"/>
    <p:sldId id="280" r:id="rId85"/>
    <p:sldId id="281" r:id="rId86"/>
    <p:sldId id="282" r:id="rId87"/>
    <p:sldId id="283" r:id="rId88"/>
    <p:sldId id="284" r:id="rId89"/>
    <p:sldId id="285" r:id="rId90"/>
    <p:sldId id="286" r:id="rId91"/>
    <p:sldId id="287" r:id="rId92"/>
    <p:sldId id="288" r:id="rId93"/>
    <p:sldId id="289" r:id="rId94"/>
    <p:sldId id="290" r:id="rId95"/>
    <p:sldId id="291" r:id="rId96"/>
    <p:sldId id="292" r:id="rId97"/>
    <p:sldId id="293" r:id="rId98"/>
    <p:sldId id="294" r:id="rId99"/>
    <p:sldId id="295" r:id="rId100"/>
    <p:sldId id="301" r:id="rId101"/>
    <p:sldId id="302" r:id="rId102"/>
    <p:sldId id="303" r:id="rId103"/>
    <p:sldId id="304" r:id="rId104"/>
    <p:sldId id="305" r:id="rId105"/>
    <p:sldId id="306" r:id="rId106"/>
    <p:sldId id="307" r:id="rId107"/>
    <p:sldId id="308" r:id="rId108"/>
    <p:sldId id="309" r:id="rId109"/>
    <p:sldId id="310" r:id="rId110"/>
    <p:sldId id="311" r:id="rId111"/>
    <p:sldId id="312" r:id="rId112"/>
    <p:sldId id="313" r:id="rId113"/>
    <p:sldId id="314" r:id="rId114"/>
    <p:sldId id="296" r:id="rId115"/>
    <p:sldId id="297" r:id="rId116"/>
    <p:sldId id="361" r:id="rId117"/>
    <p:sldId id="579" r:id="rId118"/>
    <p:sldId id="580" r:id="rId119"/>
    <p:sldId id="581" r:id="rId120"/>
    <p:sldId id="362" r:id="rId121"/>
    <p:sldId id="582" r:id="rId122"/>
    <p:sldId id="583" r:id="rId123"/>
    <p:sldId id="298" r:id="rId124"/>
    <p:sldId id="590" r:id="rId125"/>
    <p:sldId id="591" r:id="rId126"/>
    <p:sldId id="585" r:id="rId127"/>
    <p:sldId id="584" r:id="rId128"/>
    <p:sldId id="588" r:id="rId129"/>
    <p:sldId id="593" r:id="rId130"/>
    <p:sldId id="592" r:id="rId131"/>
    <p:sldId id="594" r:id="rId132"/>
    <p:sldId id="595" r:id="rId133"/>
    <p:sldId id="596" r:id="rId134"/>
    <p:sldId id="606" r:id="rId135"/>
    <p:sldId id="589" r:id="rId136"/>
    <p:sldId id="607" r:id="rId137"/>
    <p:sldId id="608" r:id="rId138"/>
    <p:sldId id="609" r:id="rId139"/>
    <p:sldId id="299" r:id="rId140"/>
    <p:sldId id="610" r:id="rId141"/>
    <p:sldId id="315" r:id="rId14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F3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4" d="100"/>
          <a:sy n="114" d="100"/>
        </p:scale>
        <p:origin x="43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3262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6854F-90E8-46B5-142C-113B15F840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B5CF75-D637-5CC3-68D1-93A2C1E175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093B77-3055-34E3-9F34-F2C28C94E9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4D4C9A-E07A-F94D-68F0-B8DE15F465B5}"/>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2498073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8A960-19C1-98C5-6520-671C89C134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3B9BD1-2727-F05B-8039-AF2F2E79A4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C68E92-2D2A-12EC-18C1-E275111E0C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4FE78B-7ABC-4E79-7FF8-1E29A5F64ACF}"/>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2944659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39862-E2AC-0D23-8DAE-5721D60912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1CD44B-9B08-1B85-5B1E-7FF5007C1A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B2C152-4AF9-631D-FD45-59749490A6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13868C-55E8-BDDC-926E-5890A41325EF}"/>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9673043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C9EF6-E034-4C30-3983-4042B2DC8F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6E8DEA-055C-E77C-9FBD-AC88FA2A5A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C911C8-4366-ED85-3CA5-9B84DB38EF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200B50-31AD-BE22-DB09-645DBCC4C581}"/>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9590996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40D8C-AD49-CC6C-E355-B774F07BF1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2BDA45-6780-C2F2-B850-CDFDCD4DC2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A3ECAA-67E6-4CA4-20C3-9F1FE15A9A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F14C3E-DE66-BC7A-81BC-F438DF607E67}"/>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6056820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20D9C-1A42-06E0-90E8-F0CC4AFB8F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6B1608-4B55-0242-DCDE-B192A5884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09BDF2-D0FF-777F-6E89-654841010F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8C3C27-3AAB-D355-D2FD-A77E4CE959EB}"/>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3690477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966CB-4C3B-93C2-E221-0ABFC32CDB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8B467A-A332-35F3-0E1B-B3C28731A6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441256-463B-5ECE-5A54-5A9CB44487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CF4649-D456-CC00-1389-33F28AF04A71}"/>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4510847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009D3-134D-E297-AD29-943F1EEA53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188AAC-ED70-9CA6-2EA4-36A2EFCA5A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4E1C86-B3F5-8261-A0AC-1D35AFF235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8959F6-E3C2-F0B1-37F1-B21165FA97D3}"/>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7501988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04469-10E7-2A0D-F92A-57E616D6FC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84404F-0175-C5FA-80DE-9C30CEB3CE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2476D7-1BA2-AC0C-43FF-AA02B67C92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46968C-8E38-A8E4-6AF2-E19D824FF511}"/>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4387076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A98F7-3218-B3F4-CEF7-5DE443DD2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4D3B39-D296-9C52-CADB-5A2683DB01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86FBFB-4D17-727E-1193-D1B49DCDDB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DD1D9B-14B1-95EE-3AFE-D244F7522C16}"/>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2608990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120C9-46ED-F664-57C3-74AD585923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476B2A-7C59-35CB-5A23-1F59649581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E6BDBC-5A1C-6109-4CFC-529E714EAD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83875C-94F3-C284-3E8D-378CB7C97702}"/>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9835597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DD3EE-0FB3-5019-5424-F0C1444173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96E1AE-AB0B-E8D0-B1FE-64B4F330D8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46D682-8114-7B54-551B-52810082EB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43BA45-30A4-76AD-012E-916DF46F463E}"/>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5337775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D6D30-9032-05BC-9B65-A1AC7D9CE7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CB07A-50A8-E3F7-02F4-1CBE32973A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66D177-D11C-0B94-9253-44817E96D2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9E5EA1-4D03-9638-0A93-52EEC6BD0724}"/>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405558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E6581-751F-B7A6-64BA-1C3015B8EB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B4C213-21E6-D4E1-E034-074A3FD50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C50AF1-73D0-5E95-3831-EBB29D63AC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6932FA-828C-818F-B6E5-FE0AF149F42C}"/>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5269169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D17D7-9025-ED3E-906C-41E6F5138B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0EEC2E-B8D1-BE63-36D9-D643E623AD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A0CED4-8285-5DE7-1CFB-8FE313AFB6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E9A580-0F97-7B29-F84F-B45954505D29}"/>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3889283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E8F80-65B9-2E2C-9ED0-523AFE95FC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C4AE58-C265-0C5C-7794-A2A523D3FE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919707-1E3B-4AE1-E5AE-ACAB8D88D3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C0D49C-2995-9B57-95F5-BE8A25A6A831}"/>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7641554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535AF-D953-6F1B-602C-B30560B07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787C86-A5C4-5885-3C70-126DB8C6F6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334FB3-E56F-E512-33C2-C6B17DFB22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B9E5B0-A229-1005-0344-DF57050C0654}"/>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4608429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24FC2-3A98-76D0-5B5C-EB30558C96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6368F8-524F-1A33-8615-7B3DFC298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97722B-69C9-BF3A-C2B5-EDE12199EF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33507C-D030-8E06-4B07-E713792BF48E}"/>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36060296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58129-D650-1F6D-76B8-6779C2F336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0E7CFE-EA9D-ECB9-B7C2-C14D564694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9E4FC6-E2F7-57A4-66E3-5CF6A4A68B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4D5E7B-A289-05D6-8207-32FE7BDA2C57}"/>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3841827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2CFD3-02C4-5F6D-9E0B-D16F611FDF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074AD5-5652-A56F-55ED-B3E961E4C0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3583A3-AF5D-A230-F1E7-00FFA4FA92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D967F5-FF1F-0F78-9596-E6E6A6721C62}"/>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4273541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9CCAB-EC87-9191-F0D6-083562D19D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7C900-4CB0-1C03-D36C-2E98C7E0A7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6BE535-FE3B-C430-37E0-CAFC4A59BE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F11113-704F-1A03-F300-B6FA18D97DE4}"/>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27691066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855AE-8B5F-AB4C-5259-3FA80869A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7A0F38-FE1E-E52B-4F0D-3C44435C07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FA2CF2-4243-9247-6EDC-E0EAA4AF65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56661B-505F-74B5-6F97-5A9B37C2DEC9}"/>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8059245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98EFE-52A5-FCE8-786E-303F5B4663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E7AF5C-529A-B4F5-AAE1-C613F4845E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EB3668-77CC-1255-D143-FE048CF4EA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14EDFB-9E72-FC1D-5494-71A0EE6D9BF9}"/>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983960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37767-4F35-1760-0AEC-A0517FF850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3148E9-2E5A-2D54-6637-2B3CA2FC76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16960A-1BA5-B4F8-A3AB-387816E5D3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65216C-BAEB-2E72-1E60-020FCA97C5AD}"/>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6600930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AFE47-1802-CDC0-35EE-303C989D1F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A0E05D-4CF3-2ED0-AF96-277D2E8299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5F0700-2D74-A4EA-0BAC-C345DBD470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18FDAC-FC06-5452-2FE8-69918D437B5D}"/>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41105313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2B6D2-64B5-9D0B-B15C-D7DEE58946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368D7D-1744-EF7F-4018-719BA7F005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A2B669-F379-D7B3-5BA8-8D41795BD7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71697D-6235-DC9C-8C93-6AE788206FB4}"/>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30512217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C2F98-4C88-A8B9-E612-BDE8641C0F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72E0E6-48AA-255C-883C-70127BA354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5FDBEC-F794-A42F-3AD3-312FE8A010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CC767B-1280-26CA-5275-FE7980D2BE44}"/>
              </a:ext>
            </a:extLst>
          </p:cNvPr>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55030865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DA3F8-B01A-84CB-E7D5-E849271485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E13166-0989-0E9E-69EC-F9E2A4331F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1ABB8C-4218-11BD-3906-C7418E4848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023D68-6548-2C0C-2A94-DCA03769B9B3}"/>
              </a:ext>
            </a:extLst>
          </p:cNvPr>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216855477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48294-54B0-DA6B-9B89-B45335238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632B9D-38F2-FB51-3801-07C5931198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7A62DA-DC9E-AA8E-2CC9-BCC89763C6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CAB0A4-FE51-0AA8-9D49-2D51701A01F8}"/>
              </a:ext>
            </a:extLst>
          </p:cNvPr>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43574263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D5036-3F07-C453-E725-1432AF39B8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5B1182-2E75-1AD1-FBD3-9B246A2688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60FE5C-944A-FF93-BC0A-CDE2DE0DD8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946C1E-D8A5-A1AF-DB8C-5E975CD96F06}"/>
              </a:ext>
            </a:extLst>
          </p:cNvPr>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396161237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7ACBE-CA2F-8C44-D5EF-503797638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D48E7E-4E9E-6BE6-3A41-A775CF4A32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F12E2F-F4B6-E72B-D908-FA227DBF01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139B9C-DC90-354A-A30E-AEA0209C1548}"/>
              </a:ext>
            </a:extLst>
          </p:cNvPr>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39711407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CD998-A317-8C79-8CED-6827D88C86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C2A5F-A628-DF4E-BE9F-0A738ABF65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76FFF1-0F90-05BC-3FFF-BC8F6A9A22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80DA63-5E71-7CC5-2DEB-C37FB9B67027}"/>
              </a:ext>
            </a:extLst>
          </p:cNvPr>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77239354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C9DE9-88F7-4969-F5A8-DDD278E71E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2F21B4-1580-69A2-1CEB-67E9120CCB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33F651-34B7-1FD5-050C-AEB8C7C2F5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FF0197-BC88-9D3D-4A44-E0129BE097CC}"/>
              </a:ext>
            </a:extLst>
          </p:cNvPr>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398599982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B7CF2-1237-32CF-BF07-0FCDD3D7D0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1C0C77-4368-BD18-8CF0-E9ED6E959B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FD11E9-0CBC-357E-0C72-5822176191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515132-E4D8-EB79-5F5B-29514013B7A3}"/>
              </a:ext>
            </a:extLst>
          </p:cNvPr>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311722725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6E381-2152-6351-508B-E1D6C1BC64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2DCC5-DE05-E28F-6EDF-6176D66672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D0BBFB-4207-02E9-828F-156EF97097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795A31-BFDE-F0B2-C830-74B42BF9340B}"/>
              </a:ext>
            </a:extLst>
          </p:cNvPr>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34357492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B5CED-491E-0894-8C77-01DD230E1E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466F34-FB06-A05B-1879-9E6B2D8464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4A4FB9-ACDC-3D2A-6E3E-158B24C4E8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3DE055-59A1-7A85-0D4E-223D297DB037}"/>
              </a:ext>
            </a:extLst>
          </p:cNvPr>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373888911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7613E-8BB2-4560-2237-E7C332DD16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446B10-78DE-72BB-FBF4-A3268C4008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D9C53E-45F4-C1BB-36B5-711E96A890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413C6C-3240-D3E5-004F-CDA5150A6305}"/>
              </a:ext>
            </a:extLst>
          </p:cNvPr>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66428128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C5F39-BB67-4140-B4BA-8AFB215D53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C7BBC-DB35-2177-F10C-021CFD0D23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928686-D67F-3142-07F7-224C8DEFFB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68419B-577D-2C9E-B016-FF4583446B99}"/>
              </a:ext>
            </a:extLst>
          </p:cNvPr>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37791773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1A4C6-9B11-2F57-FFA2-0E54E41B73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5E8DE8-9F2D-F6F6-FD70-1F3953AD43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57FCDD-5DB3-327C-BEEE-A2DF7CFF90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5B4F0C-FACC-0673-2364-F773AB4D8028}"/>
              </a:ext>
            </a:extLst>
          </p:cNvPr>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270638478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B8019-319E-2EC7-2BF6-CADC87332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F8A4FF-5B02-B613-4977-B2D923FE00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199D9-DCE9-A020-3AC9-81EFE1842F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05EF00-D59F-6E18-9B99-89BA7CD5BD38}"/>
              </a:ext>
            </a:extLst>
          </p:cNvPr>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364956303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6E471-E3BC-7389-2CF0-48C71A3C8A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3190D-8555-7FE6-7623-0E09FB6D53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845E30-9CEA-B011-0704-628415D59F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D4CFD5-3385-E27A-A3DC-0B056F1C043C}"/>
              </a:ext>
            </a:extLst>
          </p:cNvPr>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352433546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D66F1-87A4-E9F5-5E79-63FCC2274B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5C2859-61CF-9317-B635-7CC9F2F6C0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EB5B83-F663-217D-361D-6A47B3DC23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FA3745-B653-7866-7C68-7F94D05D0391}"/>
              </a:ext>
            </a:extLst>
          </p:cNvPr>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2430605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CCB18-F6DE-90B9-59D2-170F160A5C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90D16B-0B73-AE87-4230-2CF98BDE0F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BEF058-2DCA-7898-161B-587DC1487F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F9B70F-F689-47D0-2778-6064D1606F11}"/>
              </a:ext>
            </a:extLst>
          </p:cNvPr>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248586266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F2797-08E0-723C-E8ED-BBEE903BE8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7CB553-B3FE-D5F8-B389-A5DE235975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F773BC-DF14-764F-6A87-99B866F946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5C94D8-285E-08F0-2FFD-9DC8005E45C3}"/>
              </a:ext>
            </a:extLst>
          </p:cNvPr>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90399740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32319-CFDD-7D55-84C2-1B7CBCCE56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E01A9F-40E2-DAAA-AF3E-CCF1048927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B698EA-5975-3B83-6C0A-7D6FFBDECF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62C9F0-8E3F-B661-AB0F-BFDA819C9CD1}"/>
              </a:ext>
            </a:extLst>
          </p:cNvPr>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206807608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2F938-8F7D-8E45-9A7F-D7361F2342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CCB3BA-E310-F7B3-6ADC-A90EA80E75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DD78AC-E00C-5C73-BD19-62B6033914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9D6306-37D8-81B8-E0B6-F0944E240D8D}"/>
              </a:ext>
            </a:extLst>
          </p:cNvPr>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19072334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92310-88E6-A8AF-BC5A-8939F606C1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8F8543-C544-6CB6-587D-996DA352ED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3ED22C-FA58-9B8D-8FF8-E832F32573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52D191-3B9C-9421-86E0-5E00B9FE548F}"/>
              </a:ext>
            </a:extLst>
          </p:cNvPr>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278938834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1EF89-F0B6-87E6-0027-5AE75E96C0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9B8CB2-5FC8-1399-0183-74F9C20A2E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18B564-6429-CFD0-4E77-5FC3FC1A6D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C1BAF3-8A39-7429-A229-32C2254A418D}"/>
              </a:ext>
            </a:extLst>
          </p:cNvPr>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242723043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DDBE4-F9A9-5964-3E93-1F6D084F1C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A1EA14-E050-D419-7141-DFD2A53CFE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592918-57A4-A3CF-67BB-3B95DA2385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AB4B18-CB11-44BB-27BF-E93E1E3819DF}"/>
              </a:ext>
            </a:extLst>
          </p:cNvPr>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345195908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4D26D-C658-3B4B-7899-84A3A0467E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FDF128-9F97-A213-F690-68DEF7171A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F95368-5A5E-D73E-8886-798FBD0EEB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0B1CA9-92E5-6A25-2DC0-88AE297B77B8}"/>
              </a:ext>
            </a:extLst>
          </p:cNvPr>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42182933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566D0-8C7A-A583-6063-3FF6BF96C6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7F1925-133E-46C0-1CB9-EF78D037E2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99FCC8-0577-A441-8EBD-2D37074043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AE1EE4-9836-05EE-6584-47C1B7B3EBAF}"/>
              </a:ext>
            </a:extLst>
          </p:cNvPr>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337831234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BA0D2-0D3C-B736-B8EF-406EC5CFE6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9953B4-5640-A990-B409-61FDA8AB9B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132F69-2945-AD4A-ECFA-1E87CB458A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0532EA-22C2-8855-BFD9-49E8531CF6D1}"/>
              </a:ext>
            </a:extLst>
          </p:cNvPr>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42664135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61295-2EC9-1A05-DAE7-EFECA8342B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0F0928-7BEA-CADB-2E08-0B04515B66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A8819D-1936-BCB8-F829-0AC7E60F94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02EEC5-A4AA-22BC-5741-2C13F7003B9E}"/>
              </a:ext>
            </a:extLst>
          </p:cNvPr>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363454066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10EAC-48E8-7405-F127-F1CBE42215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D265A2-5871-303D-F680-6D488BAD72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4920BA-0A5B-B31E-F194-F11BB87051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B265EC-57AB-5422-8DC0-730BD42D3A8C}"/>
              </a:ext>
            </a:extLst>
          </p:cNvPr>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273208549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09634-0202-1C25-161B-01F17DC017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ED04FC-B7EB-5080-3F01-DB4993CA2E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F22464-9754-8071-B4D5-0E2D5C3970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FEE9CF-D8D1-6744-7BF1-1CC2FD054A33}"/>
              </a:ext>
            </a:extLst>
          </p:cNvPr>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50590134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16432-4A94-7F54-1A33-B3C1BCC4FF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5D6AA7-8820-1953-7917-5D0CCD87B4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E4971D-A567-DABD-CD06-966B22FBB9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1C60EA-6A3E-C38D-E8C4-51FAB7DDC9A2}"/>
              </a:ext>
            </a:extLst>
          </p:cNvPr>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23251140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C6003-5CFF-DFFB-C464-F4B9E66AED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4CBDA1-FA53-6CBA-401E-89BA03BB93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7C3664-F43B-4CE8-D911-128C5D992D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887F4C-3DCA-B549-1CFB-D92073BED4A9}"/>
              </a:ext>
            </a:extLst>
          </p:cNvPr>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31412014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B0018-5F5F-ACF6-08DA-FFBBBE20D9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599519-2F17-AEA4-0F2A-69BEC06FD4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C43AB0-223D-600D-554A-C589D4A6F1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7B9217-6FC1-1939-CFB7-A7D99A821114}"/>
              </a:ext>
            </a:extLst>
          </p:cNvPr>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26432327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E70D2-8646-B933-5386-60752B9EFF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17D401-4400-256D-4C8A-03E354CBF3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CA762B-7EB5-D271-EE1D-E7F1F48AE3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0CEDE8-8FBC-1AFA-E6BD-7AB242FCEA31}"/>
              </a:ext>
            </a:extLst>
          </p:cNvPr>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3355816104"/>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anchor slide for the whole lecture — spend real time here. Walk through the four actors first as a short story: 'Imagine you (the program) walk into a library. You are not allowed to pull books off the shelves yourself — house rules. Instead you talk to a librarian (the stream object). You tell the librarian which book you want; the librarian fetches it from the shelf (the disk) and places it open on the desk in front of you — that's opening the file. Inside the book, a bookmark tracks exactly where you're currently reading or writing.' Then go row by row through the mapping table and explicitly connect each C++ function name to the story: seekg/seekp are like flipping directly to a chosen page instead of reading front-to-back; tellg/tellp are like asking what page the bookmark is on; get/put are reading or writing one word at a time in natural order; and read/write of a whole object is like photocopying an entire filled-in form instead of retyping every field individually — fast, exact, but only readable by someone who has the same blank form (i.e. the same class definition) to interpret the copy. Tell students that whenever they forget what a function does during the lecture, they should mentally replay this library scene rather than memorizing syntax in isolation.</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the structural picture behind the analogy: three librarian 'roles'. ifstream can only fetch books for reading, ofstream can only place books for writing, and fstream can do both, which is what we'll need later for random-access editing with seekg/seekp on the same open file. Mention that all three ultimately derive from the same ios/istream/ostream machinery that cin and cout use — that's WHY &lt;&lt; and &gt;&gt; work identically on file streams; there is nothing new to learn about formatting, only about the source/destination changing from console to disk. Point out ofstream's default behavior of truncating (erasing) an existing file on open — this surprises many beginners and we will revisit it explicitly on the modes slide.</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52216-FA76-CADE-E57E-B8FD72F486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8923CF-9721-85DE-87BC-FAA97E0337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1EDC6B-1D76-EEB0-33A2-CB43C98B5F54}"/>
              </a:ext>
            </a:extLst>
          </p:cNvPr>
          <p:cNvSpPr>
            <a:spLocks noGrp="1"/>
          </p:cNvSpPr>
          <p:nvPr>
            <p:ph type="body" idx="1"/>
          </p:nvPr>
        </p:nvSpPr>
        <p:spPr/>
        <p:txBody>
          <a:bodyPr/>
          <a:lstStyle/>
          <a:p>
            <a:r>
              <a:rPr lang="en-US" dirty="0"/>
              <a:t>This slide gives the structural picture behind the analogy: three librarian 'roles'. ifstream can only fetch books for reading, ofstream can only place books for writing, and fstream can do both, which is what we'll need later for random-access editing with seekg/seekp on the same open file. Mention that all three ultimately derive from the same ios/istream/ostream machinery that cin and cout use — that's WHY &lt;&lt; and &gt;&gt; work identically on file streams; there is nothing new to learn about formatting, only about the source/destination changing from console to disk. Point out ofstream's default behavior of truncating (erasing) an existing file on open — this surprises many beginners and we will revisit it explicitly on the modes slide.</a:t>
            </a:r>
          </a:p>
        </p:txBody>
      </p:sp>
      <p:sp>
        <p:nvSpPr>
          <p:cNvPr id="4" name="Slide Number Placeholder 3">
            <a:extLst>
              <a:ext uri="{FF2B5EF4-FFF2-40B4-BE49-F238E27FC236}">
                <a16:creationId xmlns:a16="http://schemas.microsoft.com/office/drawing/2014/main" id="{B00F6417-0A52-3DE3-0C3E-5E1045E2FA27}"/>
              </a:ext>
            </a:extLst>
          </p:cNvPr>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2071856454"/>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0D2EC-AF4C-22CD-7553-F7BD77B6C1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4B0AA1-4B26-CDD2-87F7-26D15A62BB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1A05D3-EEA0-FFAF-9C6D-BBDAF797CF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4D4068-7B5D-E5AC-B8AF-0D93A55A207E}"/>
              </a:ext>
            </a:extLst>
          </p:cNvPr>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2543497115"/>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8E9FE-F495-CB48-C655-F9BDE6642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B04CDB-884B-B7A7-C3D2-3745474A40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5C20B-7DB9-4279-D347-4F23F1C53A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7D2556-FA6D-D48A-0CCF-ADA3FDC6372D}"/>
              </a:ext>
            </a:extLst>
          </p:cNvPr>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301160835"/>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3E27D-5737-2BCA-1AAB-AACE0D8865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5EED52-0D80-8E6D-7725-FB6A12AA9F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E814B5-1274-18B5-ED35-AEF1FA67D0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0D9F10-921C-1FB0-81D5-7070F322028F}"/>
              </a:ext>
            </a:extLst>
          </p:cNvPr>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2647460302"/>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0FFEA-343C-C898-1E27-13388DEDBB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5E5DC9-694D-F0EB-F442-E5E487F3A9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D7F005-7DB6-1269-9887-EFF8E6678A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3BAB32-17A5-B716-101B-E95FC8F87E25}"/>
              </a:ext>
            </a:extLst>
          </p:cNvPr>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367337524"/>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44669-B026-ABD7-A2AA-F256C62892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8F7A13-F79E-E488-9EDF-EDBB0D5EFE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5AB325-9AAA-3AAB-71A5-9E9B95E8F6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A85704-A33F-50C8-11FC-DF6DEDEBC5D3}"/>
              </a:ext>
            </a:extLst>
          </p:cNvPr>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3370923258"/>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74FE1-5529-567E-E698-6F867DF17A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684263-29E6-26DF-DCCF-4BA01081B0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D70789-B79C-0FCE-9BB6-E8E176C3A0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C96AD1-8664-BBA5-3D7B-57353DC6414E}"/>
              </a:ext>
            </a:extLst>
          </p:cNvPr>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4276394927"/>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AA7C7-50C1-70D3-648A-E8882E6789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02D0A1-7893-04D8-8CA5-B8184455B9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693F87-49FB-4D83-FC07-447A16AA7C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118A54-BD58-0EEE-D41F-C14103F328F9}"/>
              </a:ext>
            </a:extLst>
          </p:cNvPr>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486722872"/>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tellg/tellp answer the question 'what page is my bookmark on right now?' from the library analogy — they never move anything, they only report. This pairs naturally with seekg/seekp: you typically tellg() to REMEMBER a spot, do something else, then seekg() back to it later; or you seekg(0, ios::end) purely to put the pointer somewhere useful and then tellg() to read off a byte count. Point out the classic file-size idiom in the code: since ios::end places the get-pointer exactly at end-of-file, calling tellg() immediately afterward yields the total size of the file in bytes — a very common technique before more convenient filesystem APIs existed, and still perfectly valid. Clarify the return type streampos — it behaves like an integer (can be printed, compared, subtracted) but technically also encodes state information; for teaching purposes at this level, treating it as 'a byte offset, essentially an int' is accurate enough. Mention that tellg() on a stream that has entered a fail state (e.g., after reading past end-of-file without clearing the error) returns -1, which is worth checking for in more defensive code.</a:t>
            </a:r>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F0626-6F1A-EF43-FD8F-AF394647FC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DEB3F4-CFA0-438B-1A36-6F07AA6B00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5B8BFD-B06D-607C-1E9D-21318EBB09AF}"/>
              </a:ext>
            </a:extLst>
          </p:cNvPr>
          <p:cNvSpPr>
            <a:spLocks noGrp="1"/>
          </p:cNvSpPr>
          <p:nvPr>
            <p:ph type="body" idx="1"/>
          </p:nvPr>
        </p:nvSpPr>
        <p:spPr/>
        <p:txBody>
          <a:bodyPr/>
          <a:lstStyle/>
          <a:p>
            <a:r>
              <a:rPr lang="en-US" dirty="0"/>
              <a:t>tellg/tellp answer the question 'what page is my bookmark on right now?' from the library analogy — they never move anything, they only report. This pairs naturally with seekg/seekp: you typically tellg() to REMEMBER a spot, do something else, then seekg() back to it later; or you seekg(0, ios::end) purely to put the pointer somewhere useful and then tellg() to read off a byte count. Point out the classic file-size idiom in the code: since ios::end places the get-pointer exactly at end-of-file, calling tellg() immediately afterward yields the total size of the file in bytes — a very common technique before more convenient filesystem APIs existed, and still perfectly valid. Clarify the return type streampos — it behaves like an integer (can be printed, compared, subtracted) but technically also encodes state information; for teaching purposes at this level, treating it as 'a byte offset, essentially an int' is accurate enough. Mention that tellg() on a stream that has entered a fail state (e.g., after reading past end-of-file without clearing the error) returns -1, which is worth checking for in more defensive code.</a:t>
            </a:r>
          </a:p>
        </p:txBody>
      </p:sp>
      <p:sp>
        <p:nvSpPr>
          <p:cNvPr id="4" name="Slide Number Placeholder 3">
            <a:extLst>
              <a:ext uri="{FF2B5EF4-FFF2-40B4-BE49-F238E27FC236}">
                <a16:creationId xmlns:a16="http://schemas.microsoft.com/office/drawing/2014/main" id="{5D55FE11-D56D-5513-CBAC-05B93BEE970C}"/>
              </a:ext>
            </a:extLst>
          </p:cNvPr>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3362123762"/>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40229-9629-48F9-87DA-375969AD11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F67B4D-CE51-24DB-3DAE-EB09627428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1677E8-0169-D38C-E938-9C5830E424C0}"/>
              </a:ext>
            </a:extLst>
          </p:cNvPr>
          <p:cNvSpPr>
            <a:spLocks noGrp="1"/>
          </p:cNvSpPr>
          <p:nvPr>
            <p:ph type="body" idx="1"/>
          </p:nvPr>
        </p:nvSpPr>
        <p:spPr/>
        <p:txBody>
          <a:bodyPr/>
          <a:lstStyle/>
          <a:p>
            <a:r>
              <a:rPr lang="en-US" dirty="0"/>
              <a:t>tellg/tellp answer the question 'what page is my bookmark on right now?' from the library analogy — they never move anything, they only report. This pairs naturally with seekg/seekp: you typically tellg() to REMEMBER a spot, do something else, then seekg() back to it later; or you seekg(0, ios::end) purely to put the pointer somewhere useful and then tellg() to read off a byte count. Point out the classic file-size idiom in the code: since ios::end places the get-pointer exactly at end-of-file, calling tellg() immediately afterward yields the total size of the file in bytes — a very common technique before more convenient filesystem APIs existed, and still perfectly valid. Clarify the return type streampos — it behaves like an integer (can be printed, compared, subtracted) but technically also encodes state information; for teaching purposes at this level, treating it as 'a byte offset, essentially an int' is accurate enough. Mention that tellg() on a stream that has entered a fail state (e.g., after reading past end-of-file without clearing the error) returns -1, which is worth checking for in more defensive code.</a:t>
            </a:r>
          </a:p>
        </p:txBody>
      </p:sp>
      <p:sp>
        <p:nvSpPr>
          <p:cNvPr id="4" name="Slide Number Placeholder 3">
            <a:extLst>
              <a:ext uri="{FF2B5EF4-FFF2-40B4-BE49-F238E27FC236}">
                <a16:creationId xmlns:a16="http://schemas.microsoft.com/office/drawing/2014/main" id="{2E0B36F5-52A1-4137-1307-1B944D16FB98}"/>
              </a:ext>
            </a:extLst>
          </p:cNvPr>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2706309095"/>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4FBC5-E76B-0DA3-A300-1E9009B4AD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79974D-7562-49FD-5360-72CE5ED336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C0F08E-7B9E-7666-561C-3CF4EE3A7DAE}"/>
              </a:ext>
            </a:extLst>
          </p:cNvPr>
          <p:cNvSpPr>
            <a:spLocks noGrp="1"/>
          </p:cNvSpPr>
          <p:nvPr>
            <p:ph type="body" idx="1"/>
          </p:nvPr>
        </p:nvSpPr>
        <p:spPr/>
        <p:txBody>
          <a:bodyPr/>
          <a:lstStyle/>
          <a:p>
            <a:r>
              <a:rPr lang="en-US" dirty="0"/>
              <a:t>tellg/tellp answer the question 'what page is my bookmark on right now?' from the library analogy — they never move anything, they only report. This pairs naturally with seekg/seekp: you typically tellg() to REMEMBER a spot, do something else, then seekg() back to it later; or you seekg(0, ios::end) purely to put the pointer somewhere useful and then tellg() to read off a byte count. Point out the classic file-size idiom in the code: since ios::end places the get-pointer exactly at end-of-file, calling tellg() immediately afterward yields the total size of the file in bytes — a very common technique before more convenient filesystem APIs existed, and still perfectly valid. Clarify the return type streampos — it behaves like an integer (can be printed, compared, subtracted) but technically also encodes state information; for teaching purposes at this level, treating it as 'a byte offset, essentially an int' is accurate enough. Mention that tellg() on a stream that has entered a fail state (e.g., after reading past end-of-file without clearing the error) returns -1, which is worth checking for in more defensive code.</a:t>
            </a:r>
          </a:p>
        </p:txBody>
      </p:sp>
      <p:sp>
        <p:nvSpPr>
          <p:cNvPr id="4" name="Slide Number Placeholder 3">
            <a:extLst>
              <a:ext uri="{FF2B5EF4-FFF2-40B4-BE49-F238E27FC236}">
                <a16:creationId xmlns:a16="http://schemas.microsoft.com/office/drawing/2014/main" id="{56655834-F2F4-3F36-B92A-C65E9645B37E}"/>
              </a:ext>
            </a:extLst>
          </p:cNvPr>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856389668"/>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ED4C3-220F-5D8A-6CC7-99BD34D363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387EC0-4E72-1396-AB52-62819EC767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8A56DD-B1EF-7D30-B462-5EAEB44EA189}"/>
              </a:ext>
            </a:extLst>
          </p:cNvPr>
          <p:cNvSpPr>
            <a:spLocks noGrp="1"/>
          </p:cNvSpPr>
          <p:nvPr>
            <p:ph type="body" idx="1"/>
          </p:nvPr>
        </p:nvSpPr>
        <p:spPr/>
        <p:txBody>
          <a:bodyPr/>
          <a:lstStyle/>
          <a:p>
            <a:r>
              <a:rPr lang="en-US" dirty="0"/>
              <a:t>tellg/tellp answer the question 'what page is my bookmark on right now?' from the library analogy — they never move anything, they only report. This pairs naturally with seekg/seekp: you typically tellg() to REMEMBER a spot, do something else, then seekg() back to it later; or you seekg(0, ios::end) purely to put the pointer somewhere useful and then tellg() to read off a byte count. Point out the classic file-size idiom in the code: since ios::end places the get-pointer exactly at end-of-file, calling tellg() immediately afterward yields the total size of the file in bytes — a very common technique before more convenient filesystem APIs existed, and still perfectly valid. Clarify the return type streampos — it behaves like an integer (can be printed, compared, subtracted) but technically also encodes state information; for teaching purposes at this level, treating it as 'a byte offset, essentially an int' is accurate enough. Mention that tellg() on a stream that has entered a fail state (e.g., after reading past end-of-file without clearing the error) returns -1, which is worth checking for in more defensive code.</a:t>
            </a:r>
          </a:p>
        </p:txBody>
      </p:sp>
      <p:sp>
        <p:nvSpPr>
          <p:cNvPr id="4" name="Slide Number Placeholder 3">
            <a:extLst>
              <a:ext uri="{FF2B5EF4-FFF2-40B4-BE49-F238E27FC236}">
                <a16:creationId xmlns:a16="http://schemas.microsoft.com/office/drawing/2014/main" id="{71FDA1A1-D7DC-0B9D-EFEF-A50A3C08E5E1}"/>
              </a:ext>
            </a:extLst>
          </p:cNvPr>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245541767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5083F-9BBA-C92C-18CF-03E67505B6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816822-F83B-4E19-D155-B6E87B88C2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A09F59-5CDF-A734-DB8D-38E8AFD576C2}"/>
              </a:ext>
            </a:extLst>
          </p:cNvPr>
          <p:cNvSpPr>
            <a:spLocks noGrp="1"/>
          </p:cNvSpPr>
          <p:nvPr>
            <p:ph type="body" idx="1"/>
          </p:nvPr>
        </p:nvSpPr>
        <p:spPr/>
        <p:txBody>
          <a:bodyPr/>
          <a:lstStyle/>
          <a:p>
            <a:r>
              <a:rPr lang="en-US" dirty="0"/>
              <a:t>tellg/tellp answer the question 'what page is my bookmark on right now?' from the library analogy — they never move anything, they only report. This pairs naturally with seekg/seekp: you typically tellg() to REMEMBER a spot, do something else, then seekg() back to it later; or you seekg(0, ios::end) purely to put the pointer somewhere useful and then tellg() to read off a byte count. Point out the classic file-size idiom in the code: since ios::end places the get-pointer exactly at end-of-file, calling tellg() immediately afterward yields the total size of the file in bytes — a very common technique before more convenient filesystem APIs existed, and still perfectly valid. Clarify the return type streampos — it behaves like an integer (can be printed, compared, subtracted) but technically also encodes state information; for teaching purposes at this level, treating it as 'a byte offset, essentially an int' is accurate enough. Mention that tellg() on a stream that has entered a fail state (e.g., after reading past end-of-file without clearing the error) returns -1, which is worth checking for in more defensive code.</a:t>
            </a:r>
          </a:p>
        </p:txBody>
      </p:sp>
      <p:sp>
        <p:nvSpPr>
          <p:cNvPr id="4" name="Slide Number Placeholder 3">
            <a:extLst>
              <a:ext uri="{FF2B5EF4-FFF2-40B4-BE49-F238E27FC236}">
                <a16:creationId xmlns:a16="http://schemas.microsoft.com/office/drawing/2014/main" id="{A43C5466-02DB-B600-BB39-7175C0775699}"/>
              </a:ext>
            </a:extLst>
          </p:cNvPr>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284324198"/>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3F3C6-199E-D424-13BF-6410BC0A8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C21EB3-463E-BAA6-D1CA-061FBBF3EA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808D09-A4C3-9181-FE2F-672378A204D6}"/>
              </a:ext>
            </a:extLst>
          </p:cNvPr>
          <p:cNvSpPr>
            <a:spLocks noGrp="1"/>
          </p:cNvSpPr>
          <p:nvPr>
            <p:ph type="body" idx="1"/>
          </p:nvPr>
        </p:nvSpPr>
        <p:spPr/>
        <p:txBody>
          <a:bodyPr/>
          <a:lstStyle/>
          <a:p>
            <a:r>
              <a:rPr lang="en-US" dirty="0"/>
              <a:t>tellg/tellp answer the question 'what page is my bookmark on right now?' from the library analogy — they never move anything, they only report. This pairs naturally with seekg/seekp: you typically tellg() to REMEMBER a spot, do something else, then seekg() back to it later; or you seekg(0, ios::end) purely to put the pointer somewhere useful and then tellg() to read off a byte count. Point out the classic file-size idiom in the code: since ios::end places the get-pointer exactly at end-of-file, calling tellg() immediately afterward yields the total size of the file in bytes — a very common technique before more convenient filesystem APIs existed, and still perfectly valid. Clarify the return type streampos — it behaves like an integer (can be printed, compared, subtracted) but technically also encodes state information; for teaching purposes at this level, treating it as 'a byte offset, essentially an int' is accurate enough. Mention that tellg() on a stream that has entered a fail state (e.g., after reading past end-of-file without clearing the error) returns -1, which is worth checking for in more defensive code.</a:t>
            </a:r>
          </a:p>
        </p:txBody>
      </p:sp>
      <p:sp>
        <p:nvSpPr>
          <p:cNvPr id="4" name="Slide Number Placeholder 3">
            <a:extLst>
              <a:ext uri="{FF2B5EF4-FFF2-40B4-BE49-F238E27FC236}">
                <a16:creationId xmlns:a16="http://schemas.microsoft.com/office/drawing/2014/main" id="{7D1DBE48-6AB4-11AE-7760-E837A9192576}"/>
              </a:ext>
            </a:extLst>
          </p:cNvPr>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2809241692"/>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E04E2-DBB9-8983-2243-42D9A5644F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8C8D4C-10F7-23F0-29B0-429EC963B6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BA8414-909D-B88B-C457-0A832773B6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E2C9B7-2558-46F4-2E9D-0B12D27E90B0}"/>
              </a:ext>
            </a:extLst>
          </p:cNvPr>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3043654915"/>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B203A-673F-A26A-68C8-D54CF443DE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E530DA-76DD-F7A5-130B-87641FE58A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BAD11D-B578-2AA0-F95E-63C8EA049F5E}"/>
              </a:ext>
            </a:extLst>
          </p:cNvPr>
          <p:cNvSpPr>
            <a:spLocks noGrp="1"/>
          </p:cNvSpPr>
          <p:nvPr>
            <p:ph type="body" idx="1"/>
          </p:nvPr>
        </p:nvSpPr>
        <p:spPr/>
        <p:txBody>
          <a:bodyPr/>
          <a:lstStyle/>
          <a:p>
            <a:r>
              <a:rPr lang="en-US" dirty="0"/>
              <a:t>tellg/tellp answer the question 'what page is my bookmark on right now?' from the library analogy — they never move anything, they only report. This pairs naturally with seekg/seekp: you typically tellg() to REMEMBER a spot, do something else, then seekg() back to it later; or you seekg(0, ios::end) purely to put the pointer somewhere useful and then tellg() to read off a byte count. Point out the classic file-size idiom in the code: since ios::end places the get-pointer exactly at end-of-file, calling tellg() immediately afterward yields the total size of the file in bytes — a very common technique before more convenient filesystem APIs existed, and still perfectly valid. Clarify the return type streampos — it behaves like an integer (can be printed, compared, subtracted) but technically also encodes state information; for teaching purposes at this level, treating it as 'a byte offset, essentially an int' is accurate enough. Mention that tellg() on a stream that has entered a fail state (e.g., after reading past end-of-file without clearing the error) returns -1, which is worth checking for in more defensive code.</a:t>
            </a:r>
          </a:p>
        </p:txBody>
      </p:sp>
      <p:sp>
        <p:nvSpPr>
          <p:cNvPr id="4" name="Slide Number Placeholder 3">
            <a:extLst>
              <a:ext uri="{FF2B5EF4-FFF2-40B4-BE49-F238E27FC236}">
                <a16:creationId xmlns:a16="http://schemas.microsoft.com/office/drawing/2014/main" id="{C5F434D0-FF83-4830-E881-79107F380266}"/>
              </a:ext>
            </a:extLst>
          </p:cNvPr>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395898322"/>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CFA2A-21D1-DD25-C5EF-420C783BDD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8CE258-7D54-02DF-0061-BACAFD4F18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724E70-255B-92B0-6FD8-360596A25B57}"/>
              </a:ext>
            </a:extLst>
          </p:cNvPr>
          <p:cNvSpPr>
            <a:spLocks noGrp="1"/>
          </p:cNvSpPr>
          <p:nvPr>
            <p:ph type="body" idx="1"/>
          </p:nvPr>
        </p:nvSpPr>
        <p:spPr/>
        <p:txBody>
          <a:bodyPr/>
          <a:lstStyle/>
          <a:p>
            <a:r>
              <a:rPr lang="en-US" dirty="0"/>
              <a:t>tellg/tellp answer the question 'what page is my bookmark on right now?' from the library analogy — they never move anything, they only report. This pairs naturally with seekg/seekp: you typically tellg() to REMEMBER a spot, do something else, then seekg() back to it later; or you seekg(0, ios::end) purely to put the pointer somewhere useful and then tellg() to read off a byte count. Point out the classic file-size idiom in the code: since ios::end places the get-pointer exactly at end-of-file, calling tellg() immediately afterward yields the total size of the file in bytes — a very common technique before more convenient filesystem APIs existed, and still perfectly valid. Clarify the return type streampos — it behaves like an integer (can be printed, compared, subtracted) but technically also encodes state information; for teaching purposes at this level, treating it as 'a byte offset, essentially an int' is accurate enough. Mention that tellg() on a stream that has entered a fail state (e.g., after reading past end-of-file without clearing the error) returns -1, which is worth checking for in more defensive code.</a:t>
            </a:r>
          </a:p>
        </p:txBody>
      </p:sp>
      <p:sp>
        <p:nvSpPr>
          <p:cNvPr id="4" name="Slide Number Placeholder 3">
            <a:extLst>
              <a:ext uri="{FF2B5EF4-FFF2-40B4-BE49-F238E27FC236}">
                <a16:creationId xmlns:a16="http://schemas.microsoft.com/office/drawing/2014/main" id="{653BFA13-5A2D-507F-0036-1E83A1315BFC}"/>
              </a:ext>
            </a:extLst>
          </p:cNvPr>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2465326502"/>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A3EF0-8E4C-E944-2A0E-8AA25369CE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5E8D1F-6C77-20C9-4E46-FB178F6237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E73A94-1C3C-826C-B90D-F290730103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037642-DC35-E7F7-1702-BFDB5D8E45BE}"/>
              </a:ext>
            </a:extLst>
          </p:cNvPr>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105878319"/>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695372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3" name="Text 1"/>
          <p:cNvSpPr/>
          <p:nvPr/>
        </p:nvSpPr>
        <p:spPr>
          <a:xfrm>
            <a:off x="280786" y="3213331"/>
            <a:ext cx="11091672" cy="1463040"/>
          </a:xfrm>
          <a:prstGeom prst="rect">
            <a:avLst/>
          </a:prstGeom>
          <a:noFill/>
          <a:ln/>
        </p:spPr>
        <p:txBody>
          <a:bodyPr wrap="square" rtlCol="0" anchor="t"/>
          <a:lstStyle/>
          <a:p>
            <a:pPr marL="0" indent="0">
              <a:buNone/>
            </a:pPr>
            <a:r>
              <a:rPr lang="en-US" sz="4000" b="1" dirty="0">
                <a:solidFill>
                  <a:srgbClr val="000000"/>
                </a:solidFill>
                <a:latin typeface="Helvetica" pitchFamily="34" charset="0"/>
                <a:ea typeface="Helvetica" pitchFamily="34" charset="-122"/>
                <a:cs typeface="Helvetica" pitchFamily="34" charset="-120"/>
              </a:rPr>
              <a:t>Object-Oriented Programming with C++</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COURSE OVERVIEW</a:t>
            </a:r>
            <a:endParaRPr lang="en-US" sz="1400" dirty="0"/>
          </a:p>
        </p:txBody>
      </p:sp>
      <p:sp>
        <p:nvSpPr>
          <p:cNvPr id="3" name="Text 1"/>
          <p:cNvSpPr/>
          <p:nvPr/>
        </p:nvSpPr>
        <p:spPr>
          <a:xfrm>
            <a:off x="548640" y="731520"/>
            <a:ext cx="11091672" cy="731520"/>
          </a:xfrm>
          <a:prstGeom prst="rect">
            <a:avLst/>
          </a:prstGeom>
          <a:noFill/>
          <a:ln/>
        </p:spPr>
        <p:txBody>
          <a:bodyPr wrap="square" rtlCol="0" anchor="ctr"/>
          <a:lstStyle/>
          <a:p>
            <a:pPr marL="0" indent="0">
              <a:buNone/>
            </a:pPr>
            <a:r>
              <a:rPr lang="en-US" sz="2800" b="1" dirty="0">
                <a:solidFill>
                  <a:srgbClr val="000000"/>
                </a:solidFill>
                <a:latin typeface="Helvetica" pitchFamily="34" charset="0"/>
                <a:ea typeface="Helvetica" pitchFamily="34" charset="-122"/>
                <a:cs typeface="Helvetica" pitchFamily="34" charset="-120"/>
              </a:rPr>
              <a:t>What We Will Cover</a:t>
            </a:r>
            <a:endParaRPr lang="en-US" sz="2800" dirty="0"/>
          </a:p>
        </p:txBody>
      </p:sp>
      <p:sp>
        <p:nvSpPr>
          <p:cNvPr id="4" name="Text 2"/>
          <p:cNvSpPr/>
          <p:nvPr/>
        </p:nvSpPr>
        <p:spPr>
          <a:xfrm>
            <a:off x="548640" y="1645920"/>
            <a:ext cx="11091672" cy="4663440"/>
          </a:xfrm>
          <a:prstGeom prst="rect">
            <a:avLst/>
          </a:prstGeom>
          <a:noFill/>
          <a:ln/>
        </p:spPr>
        <p:txBody>
          <a:bodyPr wrap="square" rtlCol="0" anchor="t"/>
          <a:lstStyle/>
          <a:p>
            <a:pPr marL="342900" indent="-342900">
              <a:spcAft>
                <a:spcPts val="1200"/>
              </a:spcAft>
              <a:buSzPct val="100000"/>
              <a:buFont typeface="+mj-lt"/>
              <a:buAutoNum type="arabicPeriod"/>
            </a:pPr>
            <a:r>
              <a:rPr lang="en-US" sz="1700" dirty="0">
                <a:solidFill>
                  <a:srgbClr val="000000"/>
                </a:solidFill>
                <a:latin typeface="Helvetica" pitchFamily="34" charset="0"/>
                <a:ea typeface="Helvetica" pitchFamily="34" charset="-122"/>
                <a:cs typeface="Helvetica" pitchFamily="34" charset="-120"/>
              </a:rPr>
              <a:t>Introduction to OOP</a:t>
            </a:r>
            <a:endParaRPr lang="en-US" sz="1700" dirty="0"/>
          </a:p>
          <a:p>
            <a:pPr marL="342900" indent="-342900">
              <a:spcAft>
                <a:spcPts val="1200"/>
              </a:spcAft>
              <a:buSzPct val="100000"/>
              <a:buFont typeface="+mj-lt"/>
              <a:buAutoNum type="arabicPeriod"/>
            </a:pPr>
            <a:r>
              <a:rPr lang="en-US" sz="1700" dirty="0">
                <a:solidFill>
                  <a:srgbClr val="000000"/>
                </a:solidFill>
                <a:latin typeface="Helvetica" pitchFamily="34" charset="0"/>
                <a:ea typeface="Helvetica" pitchFamily="34" charset="-122"/>
                <a:cs typeface="Helvetica" pitchFamily="34" charset="-120"/>
              </a:rPr>
              <a:t>C++ Programming Concepts</a:t>
            </a:r>
            <a:endParaRPr lang="en-US" sz="1700" dirty="0"/>
          </a:p>
          <a:p>
            <a:pPr marL="342900" indent="-342900">
              <a:spcAft>
                <a:spcPts val="1200"/>
              </a:spcAft>
              <a:buSzPct val="100000"/>
              <a:buFont typeface="+mj-lt"/>
              <a:buAutoNum type="arabicPeriod"/>
            </a:pPr>
            <a:r>
              <a:rPr lang="en-US" sz="1700" dirty="0">
                <a:solidFill>
                  <a:srgbClr val="000000"/>
                </a:solidFill>
                <a:latin typeface="Helvetica" pitchFamily="34" charset="0"/>
                <a:ea typeface="Helvetica" pitchFamily="34" charset="-122"/>
                <a:cs typeface="Helvetica" pitchFamily="34" charset="-120"/>
              </a:rPr>
              <a:t>Functions in C++</a:t>
            </a:r>
            <a:endParaRPr lang="en-US" sz="1700" dirty="0"/>
          </a:p>
          <a:p>
            <a:pPr marL="342900" indent="-342900">
              <a:spcAft>
                <a:spcPts val="1200"/>
              </a:spcAft>
              <a:buSzPct val="100000"/>
              <a:buFont typeface="+mj-lt"/>
              <a:buAutoNum type="arabicPeriod"/>
            </a:pPr>
            <a:r>
              <a:rPr lang="en-US" sz="1700" dirty="0">
                <a:solidFill>
                  <a:srgbClr val="000000"/>
                </a:solidFill>
                <a:latin typeface="Helvetica" pitchFamily="34" charset="0"/>
                <a:ea typeface="Helvetica" pitchFamily="34" charset="-122"/>
                <a:cs typeface="Helvetica" pitchFamily="34" charset="-120"/>
              </a:rPr>
              <a:t>Classes and Objects</a:t>
            </a:r>
          </a:p>
          <a:p>
            <a:pPr marL="342900" indent="-342900">
              <a:spcAft>
                <a:spcPts val="1200"/>
              </a:spcAft>
              <a:buSzPct val="100000"/>
              <a:buFont typeface="+mj-lt"/>
              <a:buAutoNum type="arabicPeriod"/>
            </a:pPr>
            <a:r>
              <a:rPr lang="en-US" sz="1700" dirty="0">
                <a:solidFill>
                  <a:srgbClr val="000000"/>
                </a:solidFill>
                <a:latin typeface="Helvetica" pitchFamily="34" charset="0"/>
                <a:cs typeface="Helvetica" pitchFamily="34" charset="-120"/>
              </a:rPr>
              <a:t>Constructor and Destructor</a:t>
            </a:r>
            <a:endParaRPr lang="en-US" sz="1700" dirty="0"/>
          </a:p>
          <a:p>
            <a:pPr marL="342900" indent="-342900">
              <a:spcAft>
                <a:spcPts val="1200"/>
              </a:spcAft>
              <a:buSzPct val="100000"/>
              <a:buFont typeface="+mj-lt"/>
              <a:buAutoNum type="arabicPeriod"/>
            </a:pPr>
            <a:r>
              <a:rPr lang="en-US" sz="1700" dirty="0">
                <a:solidFill>
                  <a:srgbClr val="000000"/>
                </a:solidFill>
                <a:latin typeface="Helvetica" pitchFamily="34" charset="0"/>
                <a:ea typeface="Helvetica" pitchFamily="34" charset="-122"/>
                <a:cs typeface="Helvetica" pitchFamily="34" charset="-120"/>
              </a:rPr>
              <a:t>Operator Overloading</a:t>
            </a:r>
            <a:endParaRPr lang="en-US" sz="1700" dirty="0"/>
          </a:p>
          <a:p>
            <a:pPr marL="342900" indent="-342900">
              <a:spcAft>
                <a:spcPts val="1200"/>
              </a:spcAft>
              <a:buSzPct val="100000"/>
              <a:buFont typeface="+mj-lt"/>
              <a:buAutoNum type="arabicPeriod"/>
            </a:pPr>
            <a:r>
              <a:rPr lang="en-US" sz="1700" dirty="0">
                <a:solidFill>
                  <a:srgbClr val="000000"/>
                </a:solidFill>
                <a:latin typeface="Helvetica" pitchFamily="34" charset="0"/>
                <a:ea typeface="Helvetica" pitchFamily="34" charset="-122"/>
                <a:cs typeface="Helvetica" pitchFamily="34" charset="-120"/>
              </a:rPr>
              <a:t>Virtual Functions &amp; Polymorphism</a:t>
            </a:r>
          </a:p>
          <a:p>
            <a:pPr marL="342900" indent="-342900">
              <a:spcAft>
                <a:spcPts val="1200"/>
              </a:spcAft>
              <a:buSzPct val="100000"/>
              <a:buFont typeface="+mj-lt"/>
              <a:buAutoNum type="arabicPeriod"/>
            </a:pPr>
            <a:r>
              <a:rPr lang="en-US" sz="1700" dirty="0">
                <a:solidFill>
                  <a:srgbClr val="000000"/>
                </a:solidFill>
                <a:latin typeface="Helvetica" pitchFamily="34" charset="0"/>
                <a:cs typeface="Helvetica" pitchFamily="34" charset="-120"/>
              </a:rPr>
              <a:t>Inheritance</a:t>
            </a:r>
          </a:p>
          <a:p>
            <a:pPr marL="342900" indent="-342900">
              <a:spcAft>
                <a:spcPts val="1200"/>
              </a:spcAft>
              <a:buSzPct val="100000"/>
              <a:buFont typeface="+mj-lt"/>
              <a:buAutoNum type="arabicPeriod"/>
            </a:pPr>
            <a:r>
              <a:rPr lang="en-US" sz="1700" dirty="0">
                <a:solidFill>
                  <a:srgbClr val="000000"/>
                </a:solidFill>
                <a:latin typeface="Helvetica" pitchFamily="34" charset="0"/>
                <a:cs typeface="Helvetica" pitchFamily="34" charset="-120"/>
              </a:rPr>
              <a:t>Template and Namespace</a:t>
            </a:r>
          </a:p>
          <a:p>
            <a:pPr marL="342900" indent="-342900">
              <a:spcAft>
                <a:spcPts val="1200"/>
              </a:spcAft>
              <a:buSzPct val="100000"/>
              <a:buFont typeface="+mj-lt"/>
              <a:buAutoNum type="arabicPeriod"/>
            </a:pPr>
            <a:r>
              <a:rPr lang="en-US" sz="1700" dirty="0">
                <a:solidFill>
                  <a:srgbClr val="000000"/>
                </a:solidFill>
                <a:latin typeface="Helvetica" pitchFamily="34" charset="0"/>
                <a:cs typeface="Helvetica" pitchFamily="34" charset="-120"/>
              </a:rPr>
              <a:t>Exception handling</a:t>
            </a:r>
          </a:p>
          <a:p>
            <a:pPr marL="342900" indent="-342900">
              <a:spcAft>
                <a:spcPts val="1200"/>
              </a:spcAft>
              <a:buSzPct val="100000"/>
              <a:buFont typeface="+mj-lt"/>
              <a:buAutoNum type="arabicPeriod"/>
            </a:pPr>
            <a:r>
              <a:rPr lang="en-US" sz="1700" dirty="0">
                <a:solidFill>
                  <a:srgbClr val="000000"/>
                </a:solidFill>
                <a:latin typeface="Helvetica" pitchFamily="34" charset="0"/>
                <a:cs typeface="Helvetica" pitchFamily="34" charset="-120"/>
              </a:rPr>
              <a:t>File Handling</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chemeClr val="tx2">
            <a:lumMod val="75000"/>
          </a:schemeClr>
        </a:solidFill>
        <a:effectLst/>
      </p:bgPr>
    </p:bg>
    <p:spTree>
      <p:nvGrpSpPr>
        <p:cNvPr id="1" name=""/>
        <p:cNvGrpSpPr/>
        <p:nvPr/>
      </p:nvGrpSpPr>
      <p:grpSpPr>
        <a:xfrm>
          <a:off x="0" y="0"/>
          <a:ext cx="0" cy="0"/>
          <a:chOff x="0" y="0"/>
          <a:chExt cx="0" cy="0"/>
        </a:xfrm>
      </p:grpSpPr>
      <p:sp>
        <p:nvSpPr>
          <p:cNvPr id="2" name="Text 0"/>
          <p:cNvSpPr/>
          <p:nvPr/>
        </p:nvSpPr>
        <p:spPr>
          <a:xfrm>
            <a:off x="548640" y="2103120"/>
            <a:ext cx="11091672" cy="548640"/>
          </a:xfrm>
          <a:prstGeom prst="rect">
            <a:avLst/>
          </a:prstGeom>
          <a:noFill/>
          <a:ln/>
        </p:spPr>
        <p:txBody>
          <a:bodyPr wrap="square" rtlCol="0" anchor="ctr"/>
          <a:lstStyle/>
          <a:p>
            <a:pPr marL="0" indent="0">
              <a:buNone/>
            </a:pPr>
            <a:r>
              <a:rPr lang="en-US" sz="1800" b="1" kern="0" spc="200" dirty="0">
                <a:solidFill>
                  <a:srgbClr val="BFBFBF"/>
                </a:solidFill>
                <a:latin typeface="Helvetica" pitchFamily="34" charset="0"/>
                <a:ea typeface="Helvetica" pitchFamily="34" charset="-122"/>
                <a:cs typeface="Helvetica" pitchFamily="34" charset="-120"/>
              </a:rPr>
              <a:t>CHAPTER 1</a:t>
            </a:r>
            <a:endParaRPr lang="en-US" sz="1800" dirty="0"/>
          </a:p>
        </p:txBody>
      </p:sp>
      <p:sp>
        <p:nvSpPr>
          <p:cNvPr id="3" name="Text 1"/>
          <p:cNvSpPr/>
          <p:nvPr/>
        </p:nvSpPr>
        <p:spPr>
          <a:xfrm>
            <a:off x="548640" y="2651760"/>
            <a:ext cx="11091672" cy="1280160"/>
          </a:xfrm>
          <a:prstGeom prst="rect">
            <a:avLst/>
          </a:prstGeom>
          <a:noFill/>
          <a:ln/>
        </p:spPr>
        <p:txBody>
          <a:bodyPr wrap="square" rtlCol="0" anchor="ctr"/>
          <a:lstStyle/>
          <a:p>
            <a:pPr marL="0" indent="0">
              <a:buNone/>
            </a:pPr>
            <a:r>
              <a:rPr lang="en-US" sz="3600" b="1" dirty="0">
                <a:solidFill>
                  <a:srgbClr val="FFFFFF"/>
                </a:solidFill>
                <a:latin typeface="Helvetica" pitchFamily="34" charset="0"/>
                <a:ea typeface="Helvetica" pitchFamily="34" charset="-122"/>
                <a:cs typeface="Helvetica" pitchFamily="34" charset="-120"/>
              </a:rPr>
              <a:t>Introduction to Object-Oriented Programming</a:t>
            </a:r>
            <a:endParaRPr lang="en-US" sz="3600" dirty="0"/>
          </a:p>
        </p:txBody>
      </p:sp>
      <p:sp>
        <p:nvSpPr>
          <p:cNvPr id="4" name="Text 2"/>
          <p:cNvSpPr/>
          <p:nvPr/>
        </p:nvSpPr>
        <p:spPr>
          <a:xfrm>
            <a:off x="548640" y="4023360"/>
            <a:ext cx="11091672" cy="2011680"/>
          </a:xfrm>
          <a:prstGeom prst="rect">
            <a:avLst/>
          </a:prstGeom>
          <a:noFill/>
          <a:ln/>
        </p:spPr>
        <p:txBody>
          <a:bodyPr wrap="square" rtlCol="0" anchor="t"/>
          <a:lstStyle/>
          <a:p>
            <a:pPr marL="0" indent="0">
              <a:buNone/>
            </a:pPr>
            <a:r>
              <a:rPr lang="en-US" sz="1500" dirty="0">
                <a:solidFill>
                  <a:srgbClr val="D9D9D9"/>
                </a:solidFill>
                <a:latin typeface="Helvetica" pitchFamily="34" charset="0"/>
                <a:ea typeface="Helvetica" pitchFamily="34" charset="-122"/>
                <a:cs typeface="Helvetica" pitchFamily="34" charset="-120"/>
              </a:rPr>
              <a:t>Procedural vs OOP · Objects · Classes · Inheritance · Reusability · Polymorphism · Applications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a:t>
            </a:r>
            <a:endParaRPr lang="en-US" sz="1400" dirty="0"/>
          </a:p>
        </p:txBody>
      </p:sp>
      <p:sp>
        <p:nvSpPr>
          <p:cNvPr id="3" name="Text 1"/>
          <p:cNvSpPr/>
          <p:nvPr/>
        </p:nvSpPr>
        <p:spPr>
          <a:xfrm>
            <a:off x="548640" y="731520"/>
            <a:ext cx="11091672" cy="731520"/>
          </a:xfrm>
          <a:prstGeom prst="rect">
            <a:avLst/>
          </a:prstGeom>
          <a:noFill/>
          <a:ln/>
        </p:spPr>
        <p:txBody>
          <a:bodyPr wrap="square" rtlCol="0" anchor="ctr"/>
          <a:lstStyle/>
          <a:p>
            <a:pPr marL="0" indent="0">
              <a:buNone/>
            </a:pPr>
            <a:r>
              <a:rPr lang="en-US" sz="2800" b="1" dirty="0">
                <a:solidFill>
                  <a:srgbClr val="000000"/>
                </a:solidFill>
                <a:latin typeface="Helvetica" pitchFamily="34" charset="0"/>
                <a:ea typeface="Helvetica" pitchFamily="34" charset="-122"/>
                <a:cs typeface="Helvetica" pitchFamily="34" charset="-120"/>
              </a:rPr>
              <a:t>Procedural vs Object-Oriented Programming</a:t>
            </a:r>
            <a:endParaRPr lang="en-US" sz="2800" dirty="0"/>
          </a:p>
        </p:txBody>
      </p:sp>
      <p:sp>
        <p:nvSpPr>
          <p:cNvPr id="4" name="Text 2"/>
          <p:cNvSpPr/>
          <p:nvPr/>
        </p:nvSpPr>
        <p:spPr>
          <a:xfrm>
            <a:off x="548640" y="1645920"/>
            <a:ext cx="11091672" cy="4663440"/>
          </a:xfrm>
          <a:prstGeom prst="rect">
            <a:avLst/>
          </a:prstGeom>
          <a:noFill/>
          <a:ln/>
        </p:spPr>
        <p:txBody>
          <a:bodyPr wrap="square" rtlCol="0" anchor="t"/>
          <a:lstStyle/>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Procedural: program = sequence of functions; data is separate and often global</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OOP: program = collaborating objects, each bundling its own data + behaviour</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Procedural: top-down design | OOP: bottom-up, class-based design</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OOP maps naturally onto real-world entities: Car, Account, Employee</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Examples — Procedural: C, FORTRAN | OOP: C++, Java, Python</a:t>
            </a:r>
            <a:endParaRPr lang="en-US" sz="1700" dirty="0"/>
          </a:p>
        </p:txBody>
      </p:sp>
      <p:sp>
        <p:nvSpPr>
          <p:cNvPr id="5" name="Text 3"/>
          <p:cNvSpPr/>
          <p:nvPr/>
        </p:nvSpPr>
        <p:spPr>
          <a:xfrm>
            <a:off x="548640" y="5669280"/>
            <a:ext cx="11091672" cy="822960"/>
          </a:xfrm>
          <a:prstGeom prst="rect">
            <a:avLst/>
          </a:prstGeom>
          <a:solidFill>
            <a:srgbClr val="F2F2F2"/>
          </a:solidFill>
          <a:ln/>
        </p:spPr>
        <p:txBody>
          <a:bodyPr wrap="square" lIns="127000" tIns="127000" rIns="127000" bIns="127000" rtlCol="0" anchor="t"/>
          <a:lstStyle/>
          <a:p>
            <a:pPr marL="0" indent="0">
              <a:buNone/>
            </a:pPr>
            <a:r>
              <a:rPr lang="en-US" sz="1350" b="1" i="1" dirty="0">
                <a:solidFill>
                  <a:srgbClr val="595959"/>
                </a:solidFill>
                <a:latin typeface="Helvetica" pitchFamily="34" charset="0"/>
                <a:ea typeface="Helvetica" pitchFamily="34" charset="-122"/>
                <a:cs typeface="Helvetica" pitchFamily="34" charset="-120"/>
              </a:rPr>
              <a:t>Real-life analogy:  </a:t>
            </a:r>
            <a:r>
              <a:rPr lang="en-US" sz="1350" i="1" dirty="0">
                <a:solidFill>
                  <a:srgbClr val="595959"/>
                </a:solidFill>
                <a:latin typeface="Helvetica" pitchFamily="34" charset="0"/>
                <a:ea typeface="Helvetica" pitchFamily="34" charset="-122"/>
                <a:cs typeface="Helvetica" pitchFamily="34" charset="-120"/>
              </a:rPr>
              <a:t>Procedural = an open warehouse anyone can walk into. OOP = vending machines — you interact only through their buttons (methods).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a:t>
            </a:r>
            <a:endParaRPr lang="en-US" sz="1400" dirty="0"/>
          </a:p>
        </p:txBody>
      </p:sp>
      <p:sp>
        <p:nvSpPr>
          <p:cNvPr id="3" name="Text 1"/>
          <p:cNvSpPr/>
          <p:nvPr/>
        </p:nvSpPr>
        <p:spPr>
          <a:xfrm>
            <a:off x="548640" y="731520"/>
            <a:ext cx="11091672" cy="731520"/>
          </a:xfrm>
          <a:prstGeom prst="rect">
            <a:avLst/>
          </a:prstGeom>
          <a:noFill/>
          <a:ln/>
        </p:spPr>
        <p:txBody>
          <a:bodyPr wrap="square" rtlCol="0" anchor="ctr"/>
          <a:lstStyle/>
          <a:p>
            <a:pPr marL="0" indent="0">
              <a:buNone/>
            </a:pPr>
            <a:r>
              <a:rPr lang="en-US" sz="2800" b="1" dirty="0">
                <a:solidFill>
                  <a:srgbClr val="000000"/>
                </a:solidFill>
                <a:latin typeface="Helvetica" pitchFamily="34" charset="0"/>
                <a:ea typeface="Helvetica" pitchFamily="34" charset="-122"/>
                <a:cs typeface="Helvetica" pitchFamily="34" charset="-120"/>
              </a:rPr>
              <a:t>Core Characteristics of OOP</a:t>
            </a:r>
            <a:endParaRPr lang="en-US" sz="2800" dirty="0"/>
          </a:p>
        </p:txBody>
      </p:sp>
      <p:sp>
        <p:nvSpPr>
          <p:cNvPr id="4" name="Text 2"/>
          <p:cNvSpPr/>
          <p:nvPr/>
        </p:nvSpPr>
        <p:spPr>
          <a:xfrm>
            <a:off x="548640" y="1645920"/>
            <a:ext cx="11091672" cy="4663440"/>
          </a:xfrm>
          <a:prstGeom prst="rect">
            <a:avLst/>
          </a:prstGeom>
          <a:noFill/>
          <a:ln/>
        </p:spPr>
        <p:txBody>
          <a:bodyPr wrap="square" rtlCol="0" anchor="t"/>
          <a:lstStyle/>
          <a:p>
            <a:pPr marL="228600" indent="-228600">
              <a:spcAft>
                <a:spcPts val="1200"/>
              </a:spcAft>
              <a:buSzPct val="100000"/>
              <a:buChar char="•"/>
            </a:pPr>
            <a:r>
              <a:rPr lang="en-US" sz="1700" b="1" dirty="0">
                <a:solidFill>
                  <a:srgbClr val="000000"/>
                </a:solidFill>
                <a:latin typeface="Helvetica" pitchFamily="34" charset="0"/>
                <a:ea typeface="Helvetica" pitchFamily="34" charset="-122"/>
                <a:cs typeface="Helvetica" pitchFamily="34" charset="-120"/>
              </a:rPr>
              <a:t>Object: </a:t>
            </a:r>
            <a:r>
              <a:rPr lang="en-US" sz="1700" dirty="0">
                <a:solidFill>
                  <a:srgbClr val="000000"/>
                </a:solidFill>
                <a:latin typeface="Helvetica" pitchFamily="34" charset="0"/>
                <a:ea typeface="Helvetica" pitchFamily="34" charset="-122"/>
                <a:cs typeface="Helvetica" pitchFamily="34" charset="-120"/>
              </a:rPr>
              <a:t>a concrete instance with its own state + behaviour (a specific car)</a:t>
            </a:r>
            <a:endParaRPr lang="en-US" sz="1700" dirty="0"/>
          </a:p>
          <a:p>
            <a:pPr marL="228600" indent="-228600">
              <a:spcAft>
                <a:spcPts val="1200"/>
              </a:spcAft>
              <a:buSzPct val="100000"/>
              <a:buChar char="•"/>
            </a:pPr>
            <a:r>
              <a:rPr lang="en-US" sz="1700" b="1" dirty="0">
                <a:solidFill>
                  <a:srgbClr val="000000"/>
                </a:solidFill>
                <a:latin typeface="Helvetica" pitchFamily="34" charset="0"/>
                <a:cs typeface="Helvetica" pitchFamily="34" charset="-120"/>
              </a:rPr>
              <a:t>Class: </a:t>
            </a:r>
            <a:r>
              <a:rPr lang="en-US" sz="1700" dirty="0">
                <a:solidFill>
                  <a:srgbClr val="000000"/>
                </a:solidFill>
                <a:latin typeface="Helvetica" pitchFamily="34" charset="0"/>
                <a:ea typeface="Helvetica" pitchFamily="34" charset="-122"/>
                <a:cs typeface="Helvetica" pitchFamily="34" charset="-120"/>
              </a:rPr>
              <a:t>the blueprint that defines what objects of that type will have (the car's design)</a:t>
            </a:r>
            <a:endParaRPr lang="en-US" sz="1700" dirty="0"/>
          </a:p>
          <a:p>
            <a:pPr marL="228600" indent="-228600">
              <a:spcAft>
                <a:spcPts val="1200"/>
              </a:spcAft>
              <a:buSzPct val="100000"/>
              <a:buChar char="•"/>
            </a:pPr>
            <a:r>
              <a:rPr lang="en-US" sz="1700" b="1" dirty="0">
                <a:solidFill>
                  <a:srgbClr val="000000"/>
                </a:solidFill>
                <a:latin typeface="Helvetica" pitchFamily="34" charset="0"/>
                <a:ea typeface="Helvetica" pitchFamily="34" charset="-122"/>
                <a:cs typeface="Helvetica" pitchFamily="34" charset="-120"/>
              </a:rPr>
              <a:t>Inheritance:</a:t>
            </a:r>
            <a:r>
              <a:rPr lang="en-US" sz="1700" dirty="0">
                <a:solidFill>
                  <a:srgbClr val="000000"/>
                </a:solidFill>
                <a:latin typeface="Helvetica" pitchFamily="34" charset="0"/>
                <a:ea typeface="Helvetica" pitchFamily="34" charset="-122"/>
                <a:cs typeface="Helvetica" pitchFamily="34" charset="-120"/>
              </a:rPr>
              <a:t> a derived class acquires and extends a base class ('is-a')</a:t>
            </a:r>
            <a:endParaRPr lang="en-US" sz="1700" dirty="0"/>
          </a:p>
          <a:p>
            <a:pPr marL="228600" indent="-228600">
              <a:spcAft>
                <a:spcPts val="1200"/>
              </a:spcAft>
              <a:buSzPct val="100000"/>
              <a:buChar char="•"/>
            </a:pPr>
            <a:r>
              <a:rPr lang="en-US" sz="1700" b="1" dirty="0">
                <a:solidFill>
                  <a:srgbClr val="000000"/>
                </a:solidFill>
                <a:latin typeface="Helvetica" pitchFamily="34" charset="0"/>
                <a:ea typeface="Helvetica" pitchFamily="34" charset="-122"/>
                <a:cs typeface="Helvetica" pitchFamily="34" charset="-120"/>
              </a:rPr>
              <a:t>Reusability:</a:t>
            </a:r>
            <a:r>
              <a:rPr lang="en-US" sz="1700" dirty="0">
                <a:solidFill>
                  <a:srgbClr val="000000"/>
                </a:solidFill>
                <a:latin typeface="Helvetica" pitchFamily="34" charset="0"/>
                <a:ea typeface="Helvetica" pitchFamily="34" charset="-122"/>
                <a:cs typeface="Helvetica" pitchFamily="34" charset="-120"/>
              </a:rPr>
              <a:t> code written once (in a class) is reused via inheritance/composition</a:t>
            </a:r>
            <a:endParaRPr lang="en-US" sz="1700" dirty="0"/>
          </a:p>
          <a:p>
            <a:pPr marL="228600" indent="-228600">
              <a:spcAft>
                <a:spcPts val="1200"/>
              </a:spcAft>
              <a:buSzPct val="100000"/>
              <a:buChar char="•"/>
            </a:pPr>
            <a:r>
              <a:rPr lang="en-US" sz="1700" b="1" dirty="0">
                <a:solidFill>
                  <a:srgbClr val="000000"/>
                </a:solidFill>
                <a:latin typeface="Helvetica" pitchFamily="34" charset="0"/>
                <a:ea typeface="Helvetica" pitchFamily="34" charset="-122"/>
                <a:cs typeface="Helvetica" pitchFamily="34" charset="-120"/>
              </a:rPr>
              <a:t>Polymorphism &amp; Overloading: </a:t>
            </a:r>
            <a:r>
              <a:rPr lang="en-US" sz="1700" dirty="0">
                <a:solidFill>
                  <a:srgbClr val="000000"/>
                </a:solidFill>
                <a:latin typeface="Helvetica" pitchFamily="34" charset="0"/>
                <a:ea typeface="Helvetica" pitchFamily="34" charset="-122"/>
                <a:cs typeface="Helvetica" pitchFamily="34" charset="-120"/>
              </a:rPr>
              <a:t>same interface, different behaviour depending on type/arguments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a:t>
            </a:r>
            <a:endParaRPr lang="en-US" sz="1400" dirty="0"/>
          </a:p>
        </p:txBody>
      </p:sp>
      <p:sp>
        <p:nvSpPr>
          <p:cNvPr id="3" name="Text 1"/>
          <p:cNvSpPr/>
          <p:nvPr/>
        </p:nvSpPr>
        <p:spPr>
          <a:xfrm>
            <a:off x="548640" y="731520"/>
            <a:ext cx="11091672" cy="731520"/>
          </a:xfrm>
          <a:prstGeom prst="rect">
            <a:avLst/>
          </a:prstGeom>
          <a:noFill/>
          <a:ln/>
        </p:spPr>
        <p:txBody>
          <a:bodyPr wrap="square" rtlCol="0" anchor="ctr"/>
          <a:lstStyle/>
          <a:p>
            <a:pPr marL="0" indent="0">
              <a:buNone/>
            </a:pPr>
            <a:r>
              <a:rPr lang="en-US" sz="2800" b="1" dirty="0">
                <a:solidFill>
                  <a:srgbClr val="000000"/>
                </a:solidFill>
                <a:latin typeface="Helvetica" pitchFamily="34" charset="0"/>
                <a:ea typeface="Helvetica" pitchFamily="34" charset="-122"/>
                <a:cs typeface="Helvetica" pitchFamily="34" charset="-120"/>
              </a:rPr>
              <a:t>Applications of OOP</a:t>
            </a:r>
            <a:endParaRPr lang="en-US" sz="2800" dirty="0"/>
          </a:p>
        </p:txBody>
      </p:sp>
      <p:sp>
        <p:nvSpPr>
          <p:cNvPr id="4" name="Text 2"/>
          <p:cNvSpPr/>
          <p:nvPr/>
        </p:nvSpPr>
        <p:spPr>
          <a:xfrm>
            <a:off x="548640" y="1645920"/>
            <a:ext cx="11091672" cy="4663440"/>
          </a:xfrm>
          <a:prstGeom prst="rect">
            <a:avLst/>
          </a:prstGeom>
          <a:noFill/>
          <a:ln/>
        </p:spPr>
        <p:txBody>
          <a:bodyPr wrap="square" rtlCol="0" anchor="t"/>
          <a:lstStyle/>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Graphical user interfaces (windows, buttons, menus)</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Simulation &amp; modelling (banking, traffic, games)</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CAD/CAM and object-oriented databases</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Client-server &amp; distributed systems</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Embedded / real-time systems, robotics</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Large-scale enterprise software (ERP, banking systems)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 — PROGRAM 1.1</a:t>
            </a:r>
            <a:endParaRPr lang="en-US" sz="1400" dirty="0"/>
          </a:p>
        </p:txBody>
      </p:sp>
      <p:sp>
        <p:nvSpPr>
          <p:cNvPr id="3" name="Text 1"/>
          <p:cNvSpPr/>
          <p:nvPr/>
        </p:nvSpPr>
        <p:spPr>
          <a:xfrm>
            <a:off x="548640" y="731520"/>
            <a:ext cx="11091672" cy="54864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A tiny OOP model: BankAccount</a:t>
            </a:r>
            <a:endParaRPr lang="en-US" sz="2200" dirty="0"/>
          </a:p>
        </p:txBody>
      </p:sp>
      <p:sp>
        <p:nvSpPr>
          <p:cNvPr id="4" name="Text 2"/>
          <p:cNvSpPr/>
          <p:nvPr/>
        </p:nvSpPr>
        <p:spPr>
          <a:xfrm>
            <a:off x="548640" y="1417320"/>
            <a:ext cx="11091672" cy="4480560"/>
          </a:xfrm>
          <a:prstGeom prst="rect">
            <a:avLst/>
          </a:prstGeom>
          <a:solidFill>
            <a:schemeClr val="bg1">
              <a:lumMod val="95000"/>
            </a:schemeClr>
          </a:solidFill>
          <a:ln w="9525">
            <a:solidFill>
              <a:srgbClr val="000000"/>
            </a:solidFill>
          </a:ln>
        </p:spPr>
        <p:txBody>
          <a:bodyPr wrap="square" lIns="152400" tIns="152400" rIns="152400" bIns="152400" rtlCol="0" anchor="t">
            <a:spAutoFit/>
          </a:bodyPr>
          <a:lstStyle/>
          <a:p>
            <a:pPr marL="0" indent="0">
              <a:buNone/>
            </a:pPr>
            <a:r>
              <a:rPr lang="en-US" sz="1250" dirty="0">
                <a:solidFill>
                  <a:srgbClr val="000000"/>
                </a:solidFill>
                <a:latin typeface="Courier New" pitchFamily="34" charset="0"/>
                <a:ea typeface="Courier New" pitchFamily="34" charset="-122"/>
                <a:cs typeface="Courier New" pitchFamily="34" charset="-120"/>
              </a:rPr>
              <a:t>class BankAccount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private:</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string owner; double balance;   // state</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public:</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BankAccount(string n, double b) { owner=n; balance=b;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void deposit(double amt) { balance += amt; }   // behaviour</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void showBalance()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cout &lt;&lt; owner &lt;&lt; "'s balance: " &lt;&lt; balance &lt;&lt; endl;</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a:t>
            </a:r>
            <a:endParaRPr lang="en-US" sz="1250" dirty="0"/>
          </a:p>
          <a:p>
            <a:pPr marL="0" indent="0">
              <a:buNone/>
            </a:pP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int main()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BankAccount acc1("Sita", 5000), acc2("Hari", 12000);</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acc1.deposit(1500); acc2.deposit(500);</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acc1.showBalance(); acc2.showBalance();</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a:t>
            </a:r>
            <a:endParaRPr lang="en-US" sz="1250" dirty="0"/>
          </a:p>
        </p:txBody>
      </p:sp>
      <p:sp>
        <p:nvSpPr>
          <p:cNvPr id="5" name="Text 3"/>
          <p:cNvSpPr/>
          <p:nvPr/>
        </p:nvSpPr>
        <p:spPr>
          <a:xfrm>
            <a:off x="548640" y="5943600"/>
            <a:ext cx="11091672" cy="640080"/>
          </a:xfrm>
          <a:prstGeom prst="rect">
            <a:avLst/>
          </a:prstGeom>
          <a:noFill/>
          <a:ln/>
        </p:spPr>
        <p:txBody>
          <a:bodyPr wrap="square" rtlCol="0" anchor="t"/>
          <a:lstStyle/>
          <a:p>
            <a:pPr marL="0" indent="0">
              <a:buNone/>
            </a:pPr>
            <a:r>
              <a:rPr lang="en-US" sz="1300" i="1" dirty="0">
                <a:solidFill>
                  <a:srgbClr val="595959"/>
                </a:solidFill>
                <a:latin typeface="Helvetica" pitchFamily="34" charset="0"/>
                <a:ea typeface="Helvetica" pitchFamily="34" charset="-122"/>
                <a:cs typeface="Helvetica" pitchFamily="34" charset="-120"/>
              </a:rPr>
              <a:t>Output: Sita's balance: 6500   |   Hari's balance: 12500</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 — REVIEW</a:t>
            </a:r>
            <a:endParaRPr lang="en-US" sz="1400" dirty="0"/>
          </a:p>
        </p:txBody>
      </p:sp>
      <p:sp>
        <p:nvSpPr>
          <p:cNvPr id="3" name="Text 1"/>
          <p:cNvSpPr/>
          <p:nvPr/>
        </p:nvSpPr>
        <p:spPr>
          <a:xfrm>
            <a:off x="548640" y="731520"/>
            <a:ext cx="11091672" cy="640080"/>
          </a:xfrm>
          <a:prstGeom prst="rect">
            <a:avLst/>
          </a:prstGeom>
          <a:noFill/>
          <a:ln/>
        </p:spPr>
        <p:txBody>
          <a:bodyPr wrap="square" rtlCol="0" anchor="ctr"/>
          <a:lstStyle/>
          <a:p>
            <a:pPr marL="0" indent="0">
              <a:buNone/>
            </a:pPr>
            <a:r>
              <a:rPr lang="en-US" sz="2600" b="1" dirty="0">
                <a:solidFill>
                  <a:srgbClr val="000000"/>
                </a:solidFill>
                <a:latin typeface="Helvetica" pitchFamily="34" charset="0"/>
                <a:ea typeface="Helvetica" pitchFamily="34" charset="-122"/>
                <a:cs typeface="Helvetica" pitchFamily="34" charset="-120"/>
              </a:rPr>
              <a:t>Practice &amp; Exam-style Questions</a:t>
            </a:r>
            <a:endParaRPr lang="en-US" sz="2600" dirty="0"/>
          </a:p>
        </p:txBody>
      </p:sp>
      <p:sp>
        <p:nvSpPr>
          <p:cNvPr id="4" name="Text 2"/>
          <p:cNvSpPr/>
          <p:nvPr/>
        </p:nvSpPr>
        <p:spPr>
          <a:xfrm>
            <a:off x="548640" y="1554480"/>
            <a:ext cx="11091672" cy="1774874"/>
          </a:xfrm>
          <a:prstGeom prst="rect">
            <a:avLst/>
          </a:prstGeom>
          <a:noFill/>
          <a:ln/>
        </p:spPr>
        <p:txBody>
          <a:bodyPr wrap="square" rtlCol="0" anchor="t"/>
          <a:lstStyle/>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Differentiate procedural vs OOP with an example.</a:t>
            </a:r>
            <a:endParaRPr lang="en-US" sz="1550" dirty="0"/>
          </a:p>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Explain any four OOP characteristics with real-life examples.</a:t>
            </a:r>
            <a:endParaRPr lang="en-US" sz="1550" dirty="0"/>
          </a:p>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List 5 application areas of OOP and justify each.</a:t>
            </a:r>
            <a:endParaRPr lang="en-US" sz="1550" dirty="0"/>
          </a:p>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Differentiate class and object with a program.</a:t>
            </a:r>
            <a:endParaRPr lang="en-US" sz="1550" dirty="0"/>
          </a:p>
        </p:txBody>
      </p:sp>
      <p:sp>
        <p:nvSpPr>
          <p:cNvPr id="6" name="Shape 6">
            <a:extLst>
              <a:ext uri="{FF2B5EF4-FFF2-40B4-BE49-F238E27FC236}">
                <a16:creationId xmlns:a16="http://schemas.microsoft.com/office/drawing/2014/main" id="{43CC55F3-E33D-442B-9B04-5A532CCB88FF}"/>
              </a:ext>
            </a:extLst>
          </p:cNvPr>
          <p:cNvSpPr/>
          <p:nvPr/>
        </p:nvSpPr>
        <p:spPr>
          <a:xfrm>
            <a:off x="1" y="5210907"/>
            <a:ext cx="12192000" cy="1691640"/>
          </a:xfrm>
          <a:prstGeom prst="rect">
            <a:avLst/>
          </a:prstGeom>
          <a:solidFill>
            <a:schemeClr val="tx2">
              <a:lumMod val="75000"/>
            </a:schemeClr>
          </a:solidFill>
          <a:ln/>
        </p:spPr>
        <p:txBody>
          <a:bodyPr/>
          <a:lstStyle/>
          <a:p>
            <a:endParaRPr lang="en-US" dirty="0"/>
          </a:p>
        </p:txBody>
      </p:sp>
      <p:sp>
        <p:nvSpPr>
          <p:cNvPr id="8" name="Text 7">
            <a:extLst>
              <a:ext uri="{FF2B5EF4-FFF2-40B4-BE49-F238E27FC236}">
                <a16:creationId xmlns:a16="http://schemas.microsoft.com/office/drawing/2014/main" id="{8ECD24B6-D4B5-23E7-5492-0BD6A46F5E6F}"/>
              </a:ext>
            </a:extLst>
          </p:cNvPr>
          <p:cNvSpPr/>
          <p:nvPr/>
        </p:nvSpPr>
        <p:spPr>
          <a:xfrm>
            <a:off x="226692" y="5302347"/>
            <a:ext cx="11514667" cy="320040"/>
          </a:xfrm>
          <a:prstGeom prst="rect">
            <a:avLst/>
          </a:prstGeom>
          <a:noFill/>
          <a:ln/>
        </p:spPr>
        <p:txBody>
          <a:bodyPr wrap="square" rtlCol="0" anchor="ctr"/>
          <a:lstStyle/>
          <a:p>
            <a:pPr marL="0" indent="0">
              <a:buNone/>
            </a:pPr>
            <a:r>
              <a:rPr lang="en-US" sz="1300" b="1" dirty="0">
                <a:solidFill>
                  <a:srgbClr val="FF9999"/>
                </a:solidFill>
                <a:latin typeface="Calibri" pitchFamily="34" charset="0"/>
                <a:ea typeface="Calibri" pitchFamily="34" charset="-122"/>
                <a:cs typeface="Calibri" pitchFamily="34" charset="-120"/>
              </a:rPr>
              <a:t>📋  </a:t>
            </a:r>
            <a:r>
              <a:rPr lang="en-US" sz="1300" b="1" dirty="0">
                <a:solidFill>
                  <a:schemeClr val="bg1">
                    <a:lumMod val="95000"/>
                  </a:schemeClr>
                </a:solidFill>
                <a:latin typeface="Calibri" pitchFamily="34" charset="0"/>
                <a:ea typeface="Calibri" pitchFamily="34" charset="-122"/>
                <a:cs typeface="Calibri" pitchFamily="34" charset="-120"/>
              </a:rPr>
              <a:t>Probable Exam Question</a:t>
            </a:r>
            <a:endParaRPr lang="en-US" sz="1300" dirty="0">
              <a:solidFill>
                <a:schemeClr val="bg1">
                  <a:lumMod val="95000"/>
                </a:schemeClr>
              </a:solidFill>
            </a:endParaRPr>
          </a:p>
        </p:txBody>
      </p:sp>
      <p:sp>
        <p:nvSpPr>
          <p:cNvPr id="10" name="Text 8">
            <a:extLst>
              <a:ext uri="{FF2B5EF4-FFF2-40B4-BE49-F238E27FC236}">
                <a16:creationId xmlns:a16="http://schemas.microsoft.com/office/drawing/2014/main" id="{EA4F201A-3F8A-65FA-5A24-2292A9A00184}"/>
              </a:ext>
            </a:extLst>
          </p:cNvPr>
          <p:cNvSpPr/>
          <p:nvPr/>
        </p:nvSpPr>
        <p:spPr>
          <a:xfrm>
            <a:off x="226692" y="5668107"/>
            <a:ext cx="11514667" cy="458373"/>
          </a:xfrm>
          <a:prstGeom prst="rect">
            <a:avLst/>
          </a:prstGeom>
          <a:noFill/>
          <a:ln/>
        </p:spPr>
        <p:txBody>
          <a:bodyPr wrap="square" rtlCol="0" anchor="ctr"/>
          <a:lstStyle/>
          <a:p>
            <a:pPr marL="0" indent="0">
              <a:buNone/>
            </a:pPr>
            <a:r>
              <a:rPr lang="en-US" sz="1300" dirty="0">
                <a:solidFill>
                  <a:schemeClr val="bg1">
                    <a:lumMod val="95000"/>
                  </a:schemeClr>
                </a:solidFill>
                <a:latin typeface="Calibri" pitchFamily="34" charset="0"/>
                <a:ea typeface="Calibri" pitchFamily="34" charset="-122"/>
                <a:cs typeface="Calibri" pitchFamily="34" charset="-120"/>
              </a:rPr>
              <a:t>Q1: What is OOP? Explain any four features with examples. Differentiate OOP from POP. [PU Exam 2022]</a:t>
            </a:r>
          </a:p>
          <a:p>
            <a:r>
              <a:rPr lang="en-US" sz="1300" dirty="0">
                <a:solidFill>
                  <a:schemeClr val="bg1">
                    <a:lumMod val="95000"/>
                  </a:schemeClr>
                </a:solidFill>
                <a:latin typeface="Calibri" pitchFamily="34" charset="0"/>
                <a:ea typeface="Calibri" pitchFamily="34" charset="-122"/>
                <a:cs typeface="Calibri" pitchFamily="34" charset="-120"/>
              </a:rPr>
              <a:t>Q2: </a:t>
            </a:r>
            <a:r>
              <a:rPr lang="en-US" sz="1300" dirty="0">
                <a:solidFill>
                  <a:schemeClr val="bg1">
                    <a:lumMod val="95000"/>
                  </a:schemeClr>
                </a:solidFill>
                <a:latin typeface="Calibri" pitchFamily="34" charset="0"/>
                <a:cs typeface="Calibri" pitchFamily="34" charset="-120"/>
              </a:rPr>
              <a:t>"C++ is a hybrid language." Justify this statement.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chemeClr val="tx2">
            <a:lumMod val="75000"/>
          </a:schemeClr>
        </a:solidFill>
        <a:effectLst/>
      </p:bgPr>
    </p:bg>
    <p:spTree>
      <p:nvGrpSpPr>
        <p:cNvPr id="1" name=""/>
        <p:cNvGrpSpPr/>
        <p:nvPr/>
      </p:nvGrpSpPr>
      <p:grpSpPr>
        <a:xfrm>
          <a:off x="0" y="0"/>
          <a:ext cx="0" cy="0"/>
          <a:chOff x="0" y="0"/>
          <a:chExt cx="0" cy="0"/>
        </a:xfrm>
      </p:grpSpPr>
      <p:sp>
        <p:nvSpPr>
          <p:cNvPr id="2" name="Text 0"/>
          <p:cNvSpPr/>
          <p:nvPr/>
        </p:nvSpPr>
        <p:spPr>
          <a:xfrm>
            <a:off x="548640" y="2103120"/>
            <a:ext cx="11091672" cy="548640"/>
          </a:xfrm>
          <a:prstGeom prst="rect">
            <a:avLst/>
          </a:prstGeom>
          <a:noFill/>
          <a:ln/>
        </p:spPr>
        <p:txBody>
          <a:bodyPr wrap="square" rtlCol="0" anchor="ctr"/>
          <a:lstStyle/>
          <a:p>
            <a:pPr marL="0" indent="0">
              <a:buNone/>
            </a:pPr>
            <a:r>
              <a:rPr lang="en-US" sz="1800" b="1" kern="0" spc="200" dirty="0">
                <a:solidFill>
                  <a:srgbClr val="BFBFBF"/>
                </a:solidFill>
                <a:latin typeface="Helvetica" pitchFamily="34" charset="0"/>
                <a:ea typeface="Helvetica" pitchFamily="34" charset="-122"/>
                <a:cs typeface="Helvetica" pitchFamily="34" charset="-120"/>
              </a:rPr>
              <a:t>CHAPTER 2</a:t>
            </a:r>
            <a:endParaRPr lang="en-US" sz="1800" dirty="0"/>
          </a:p>
        </p:txBody>
      </p:sp>
      <p:sp>
        <p:nvSpPr>
          <p:cNvPr id="3" name="Text 1"/>
          <p:cNvSpPr/>
          <p:nvPr/>
        </p:nvSpPr>
        <p:spPr>
          <a:xfrm>
            <a:off x="548640" y="2651760"/>
            <a:ext cx="11091672" cy="1280160"/>
          </a:xfrm>
          <a:prstGeom prst="rect">
            <a:avLst/>
          </a:prstGeom>
          <a:noFill/>
          <a:ln/>
        </p:spPr>
        <p:txBody>
          <a:bodyPr wrap="square" rtlCol="0" anchor="ctr"/>
          <a:lstStyle/>
          <a:p>
            <a:pPr marL="0" indent="0">
              <a:buNone/>
            </a:pPr>
            <a:r>
              <a:rPr lang="en-US" sz="3600" b="1" dirty="0">
                <a:solidFill>
                  <a:srgbClr val="FFFFFF"/>
                </a:solidFill>
                <a:latin typeface="Helvetica" pitchFamily="34" charset="0"/>
                <a:ea typeface="Helvetica" pitchFamily="34" charset="-122"/>
                <a:cs typeface="Helvetica" pitchFamily="34" charset="-120"/>
              </a:rPr>
              <a:t>C++ Programming Concepts</a:t>
            </a:r>
            <a:endParaRPr lang="en-US" sz="3600" dirty="0"/>
          </a:p>
        </p:txBody>
      </p:sp>
      <p:sp>
        <p:nvSpPr>
          <p:cNvPr id="4" name="Text 2"/>
          <p:cNvSpPr/>
          <p:nvPr/>
        </p:nvSpPr>
        <p:spPr>
          <a:xfrm>
            <a:off x="548640" y="4023360"/>
            <a:ext cx="11091672" cy="2011680"/>
          </a:xfrm>
          <a:prstGeom prst="rect">
            <a:avLst/>
          </a:prstGeom>
          <a:noFill/>
          <a:ln/>
        </p:spPr>
        <p:txBody>
          <a:bodyPr wrap="square" rtlCol="0" anchor="t"/>
          <a:lstStyle/>
          <a:p>
            <a:r>
              <a:rPr lang="en-US" sz="1500" dirty="0" err="1">
                <a:solidFill>
                  <a:srgbClr val="D9D9D9"/>
                </a:solidFill>
                <a:latin typeface="Helvetica" pitchFamily="34" charset="0"/>
                <a:ea typeface="Helvetica" pitchFamily="34" charset="-122"/>
                <a:cs typeface="Helvetica" pitchFamily="34" charset="-120"/>
              </a:rPr>
              <a:t>cin</a:t>
            </a:r>
            <a:r>
              <a:rPr lang="en-US" sz="1500" dirty="0">
                <a:solidFill>
                  <a:srgbClr val="D9D9D9"/>
                </a:solidFill>
                <a:latin typeface="Helvetica" pitchFamily="34" charset="0"/>
                <a:ea typeface="Helvetica" pitchFamily="34" charset="-122"/>
                <a:cs typeface="Helvetica" pitchFamily="34" charset="-120"/>
              </a:rPr>
              <a:t>/cout · Operators · Type conversion · Arrays &amp; Pointers · new/delete · Manipulators · const · enum</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CB88E7C-7BCD-4F14-570E-5DB94B6B66B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00355E8-EA4B-5016-14CD-A793532A38CA}"/>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
        <p:nvSpPr>
          <p:cNvPr id="3" name="Text 1">
            <a:extLst>
              <a:ext uri="{FF2B5EF4-FFF2-40B4-BE49-F238E27FC236}">
                <a16:creationId xmlns:a16="http://schemas.microsoft.com/office/drawing/2014/main" id="{D6C1BE7D-3625-02BB-DD30-AED84B3D6056}"/>
              </a:ext>
            </a:extLst>
          </p:cNvPr>
          <p:cNvSpPr/>
          <p:nvPr/>
        </p:nvSpPr>
        <p:spPr>
          <a:xfrm>
            <a:off x="548640" y="731520"/>
            <a:ext cx="11091672" cy="731520"/>
          </a:xfrm>
          <a:prstGeom prst="rect">
            <a:avLst/>
          </a:prstGeom>
          <a:noFill/>
          <a:ln/>
        </p:spPr>
        <p:txBody>
          <a:bodyPr wrap="square" rtlCol="0" anchor="ctr"/>
          <a:lstStyle/>
          <a:p>
            <a:pPr marL="0" indent="0">
              <a:buNone/>
            </a:pPr>
            <a:r>
              <a:rPr lang="en-US" sz="2200" b="1" dirty="0">
                <a:solidFill>
                  <a:srgbClr val="000000"/>
                </a:solidFill>
                <a:latin typeface="Helvetica" pitchFamily="34" charset="0"/>
                <a:cs typeface="Helvetica" pitchFamily="34" charset="-120"/>
              </a:rPr>
              <a:t>Introduction to C++</a:t>
            </a:r>
            <a:endParaRPr lang="en-US" sz="2200" dirty="0"/>
          </a:p>
        </p:txBody>
      </p:sp>
      <p:sp>
        <p:nvSpPr>
          <p:cNvPr id="4" name="Text 2">
            <a:extLst>
              <a:ext uri="{FF2B5EF4-FFF2-40B4-BE49-F238E27FC236}">
                <a16:creationId xmlns:a16="http://schemas.microsoft.com/office/drawing/2014/main" id="{78EF8F69-D471-E055-176D-031BB3CE1D8A}"/>
              </a:ext>
            </a:extLst>
          </p:cNvPr>
          <p:cNvSpPr/>
          <p:nvPr/>
        </p:nvSpPr>
        <p:spPr>
          <a:xfrm>
            <a:off x="548640" y="1359593"/>
            <a:ext cx="11190778" cy="5364480"/>
          </a:xfrm>
          <a:prstGeom prst="rect">
            <a:avLst/>
          </a:prstGeom>
          <a:noFill/>
          <a:ln/>
        </p:spPr>
        <p:txBody>
          <a:bodyPr wrap="square" rtlCol="0" anchor="t"/>
          <a:lstStyle/>
          <a:p>
            <a:pPr marL="285750" lvl="0" indent="-285750">
              <a:lnSpc>
                <a:spcPct val="150000"/>
              </a:lnSpc>
              <a:buFont typeface="Arial" panose="020B0604020202020204" pitchFamily="34" charset="0"/>
              <a:buChar char="•"/>
            </a:pPr>
            <a:r>
              <a:rPr lang="en-US" sz="1600" dirty="0"/>
              <a:t>Developed by Bjarne Stroustrup at Bell Labs, starting in 1979.</a:t>
            </a:r>
          </a:p>
          <a:p>
            <a:pPr marL="285750" lvl="0" indent="-285750">
              <a:lnSpc>
                <a:spcPct val="150000"/>
              </a:lnSpc>
              <a:buFont typeface="Arial" panose="020B0604020202020204" pitchFamily="34" charset="0"/>
              <a:buChar char="•"/>
            </a:pPr>
            <a:r>
              <a:rPr lang="en-US" sz="1600" dirty="0"/>
              <a:t>Originally named "C with Classes" before being renamed C++.</a:t>
            </a:r>
          </a:p>
          <a:p>
            <a:pPr marL="285750" lvl="0" indent="-285750">
              <a:lnSpc>
                <a:spcPct val="150000"/>
              </a:lnSpc>
              <a:buFont typeface="Arial" panose="020B0604020202020204" pitchFamily="34" charset="0"/>
              <a:buChar char="•"/>
            </a:pPr>
            <a:r>
              <a:rPr lang="en-US" sz="1600" dirty="0"/>
              <a:t>Designed as an extension of the C programming language.</a:t>
            </a:r>
          </a:p>
          <a:p>
            <a:pPr marL="285750" lvl="0" indent="-285750">
              <a:lnSpc>
                <a:spcPct val="150000"/>
              </a:lnSpc>
              <a:buFont typeface="Arial" panose="020B0604020202020204" pitchFamily="34" charset="0"/>
              <a:buChar char="•"/>
            </a:pPr>
            <a:r>
              <a:rPr lang="en-US" sz="1600" dirty="0"/>
              <a:t>Adds object-oriented programming (OOP) features while retaining C's low-level control and performance.</a:t>
            </a:r>
          </a:p>
          <a:p>
            <a:pPr marL="285750" lvl="0" indent="-285750">
              <a:lnSpc>
                <a:spcPct val="150000"/>
              </a:lnSpc>
              <a:buFont typeface="Arial" panose="020B0604020202020204" pitchFamily="34" charset="0"/>
              <a:buChar char="•"/>
            </a:pPr>
            <a:r>
              <a:rPr lang="en-US" sz="1600" dirty="0"/>
              <a:t>Every C++ program must have one main() function, which serves as the program's entry point.</a:t>
            </a:r>
          </a:p>
          <a:p>
            <a:pPr marL="285750" lvl="0" indent="-285750">
              <a:lnSpc>
                <a:spcPct val="150000"/>
              </a:lnSpc>
              <a:buFont typeface="Arial" panose="020B0604020202020204" pitchFamily="34" charset="0"/>
              <a:buChar char="•"/>
            </a:pPr>
            <a:r>
              <a:rPr lang="en-US" sz="1600" dirty="0"/>
              <a:t>Core building blocks include:</a:t>
            </a:r>
          </a:p>
          <a:p>
            <a:pPr marL="742950" lvl="1" indent="-285750">
              <a:buFont typeface="Wingdings" panose="05000000000000000000" pitchFamily="2" charset="2"/>
              <a:buChar char="ü"/>
            </a:pPr>
            <a:r>
              <a:rPr lang="en-US" sz="1600" dirty="0"/>
              <a:t>Headers (#include)</a:t>
            </a:r>
          </a:p>
          <a:p>
            <a:pPr marL="742950" lvl="1" indent="-285750">
              <a:buFont typeface="Wingdings" panose="05000000000000000000" pitchFamily="2" charset="2"/>
              <a:buChar char="ü"/>
            </a:pPr>
            <a:r>
              <a:rPr lang="en-US" sz="1600" dirty="0"/>
              <a:t>Namespaces (e.g., using namespace std;)</a:t>
            </a:r>
          </a:p>
          <a:p>
            <a:pPr marL="742950" lvl="1" indent="-285750">
              <a:buFont typeface="Wingdings" panose="05000000000000000000" pitchFamily="2" charset="2"/>
              <a:buChar char="ü"/>
            </a:pPr>
            <a:r>
              <a:rPr lang="en-US" sz="1600" dirty="0"/>
              <a:t>Statements</a:t>
            </a:r>
          </a:p>
          <a:p>
            <a:pPr marL="742950" lvl="1" indent="-285750">
              <a:buFont typeface="Wingdings" panose="05000000000000000000" pitchFamily="2" charset="2"/>
              <a:buChar char="ü"/>
            </a:pPr>
            <a:r>
              <a:rPr lang="en-US" sz="1600" dirty="0"/>
              <a:t>Functions</a:t>
            </a:r>
          </a:p>
          <a:p>
            <a:pPr marL="285750" lvl="0" indent="-285750">
              <a:lnSpc>
                <a:spcPct val="150000"/>
              </a:lnSpc>
              <a:buFont typeface="Arial" panose="020B0604020202020204" pitchFamily="34" charset="0"/>
              <a:buChar char="•"/>
            </a:pPr>
            <a:r>
              <a:rPr lang="en-US" sz="1600" dirty="0"/>
              <a:t>C++ is a compiled language.</a:t>
            </a:r>
          </a:p>
          <a:p>
            <a:pPr marL="285750" lvl="0" indent="-285750">
              <a:lnSpc>
                <a:spcPct val="150000"/>
              </a:lnSpc>
              <a:buFont typeface="Arial" panose="020B0604020202020204" pitchFamily="34" charset="0"/>
              <a:buChar char="•"/>
            </a:pPr>
            <a:r>
              <a:rPr lang="en-US" sz="1600" dirty="0"/>
              <a:t>It is </a:t>
            </a:r>
            <a:r>
              <a:rPr lang="en-US" sz="1600" b="1" dirty="0"/>
              <a:t>Statically typed.</a:t>
            </a:r>
          </a:p>
          <a:p>
            <a:pPr marL="742950" lvl="1" indent="-285750">
              <a:buFont typeface="Arial" panose="020B0604020202020204" pitchFamily="34" charset="0"/>
              <a:buChar char="•"/>
            </a:pPr>
            <a:r>
              <a:rPr lang="en-US" sz="1600" i="1" dirty="0"/>
              <a:t> </a:t>
            </a:r>
            <a:r>
              <a:rPr lang="en-US" sz="1600" b="1" i="1" dirty="0"/>
              <a:t>“Statically typed"</a:t>
            </a:r>
            <a:r>
              <a:rPr lang="en-US" sz="1600" i="1" dirty="0"/>
              <a:t> means that the </a:t>
            </a:r>
            <a:r>
              <a:rPr lang="en-US" sz="1600" b="1" i="1" dirty="0"/>
              <a:t>data type of every variable must be known at the time the program is compiled</a:t>
            </a:r>
            <a:r>
              <a:rPr lang="en-US" sz="1600" i="1" dirty="0"/>
              <a:t>, before the program actually runs.</a:t>
            </a:r>
          </a:p>
          <a:p>
            <a:pPr marL="285750" lvl="0" indent="-285750">
              <a:lnSpc>
                <a:spcPct val="150000"/>
              </a:lnSpc>
              <a:buFont typeface="Arial" panose="020B0604020202020204" pitchFamily="34" charset="0"/>
              <a:buChar char="•"/>
            </a:pPr>
            <a:r>
              <a:rPr lang="en-US" sz="1600" dirty="0"/>
              <a:t>It supports multiple programming paradigms: procedural, object-oriented, and generic programming.</a:t>
            </a:r>
          </a:p>
          <a:p>
            <a:pPr>
              <a:spcAft>
                <a:spcPts val="1200"/>
              </a:spcAft>
              <a:buSzPct val="100000"/>
            </a:pPr>
            <a:endParaRPr lang="en-US" sz="1700" dirty="0"/>
          </a:p>
        </p:txBody>
      </p:sp>
    </p:spTree>
    <p:extLst>
      <p:ext uri="{BB962C8B-B14F-4D97-AF65-F5344CB8AC3E}">
        <p14:creationId xmlns:p14="http://schemas.microsoft.com/office/powerpoint/2010/main" val="3951805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6276EBF-0DBE-AD52-2815-D36E294A4CC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4000E36-3A12-CACC-19E8-7E379E3D06B9}"/>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
        <p:nvSpPr>
          <p:cNvPr id="3" name="Text 1">
            <a:extLst>
              <a:ext uri="{FF2B5EF4-FFF2-40B4-BE49-F238E27FC236}">
                <a16:creationId xmlns:a16="http://schemas.microsoft.com/office/drawing/2014/main" id="{7678C567-8DDD-34F7-0D10-DCD13AF94C85}"/>
              </a:ext>
            </a:extLst>
          </p:cNvPr>
          <p:cNvSpPr/>
          <p:nvPr/>
        </p:nvSpPr>
        <p:spPr>
          <a:xfrm>
            <a:off x="548640" y="731520"/>
            <a:ext cx="11091672" cy="731520"/>
          </a:xfrm>
          <a:prstGeom prst="rect">
            <a:avLst/>
          </a:prstGeom>
          <a:noFill/>
          <a:ln/>
        </p:spPr>
        <p:txBody>
          <a:bodyPr wrap="square" rtlCol="0" anchor="ctr"/>
          <a:lstStyle/>
          <a:p>
            <a:pPr marL="0" indent="0">
              <a:buNone/>
            </a:pPr>
            <a:r>
              <a:rPr lang="en-US" sz="2200" b="1" dirty="0">
                <a:solidFill>
                  <a:srgbClr val="000000"/>
                </a:solidFill>
                <a:latin typeface="Helvetica" pitchFamily="34" charset="0"/>
                <a:cs typeface="Helvetica" pitchFamily="34" charset="-120"/>
              </a:rPr>
              <a:t>Introduction to C++</a:t>
            </a:r>
            <a:endParaRPr lang="en-US" sz="2200" dirty="0"/>
          </a:p>
        </p:txBody>
      </p:sp>
      <p:sp>
        <p:nvSpPr>
          <p:cNvPr id="4" name="Text 2">
            <a:extLst>
              <a:ext uri="{FF2B5EF4-FFF2-40B4-BE49-F238E27FC236}">
                <a16:creationId xmlns:a16="http://schemas.microsoft.com/office/drawing/2014/main" id="{95E72B88-D90D-3000-AB40-85E273C27A89}"/>
              </a:ext>
            </a:extLst>
          </p:cNvPr>
          <p:cNvSpPr/>
          <p:nvPr/>
        </p:nvSpPr>
        <p:spPr>
          <a:xfrm>
            <a:off x="548640" y="1616363"/>
            <a:ext cx="11190778" cy="1237673"/>
          </a:xfrm>
          <a:prstGeom prst="rect">
            <a:avLst/>
          </a:prstGeom>
          <a:noFill/>
          <a:ln/>
        </p:spPr>
        <p:txBody>
          <a:bodyPr wrap="square" rtlCol="0" anchor="t"/>
          <a:lstStyle/>
          <a:p>
            <a:r>
              <a:rPr lang="en-US" sz="1600" b="1" dirty="0"/>
              <a:t>Real-life Analogy</a:t>
            </a:r>
            <a:endParaRPr lang="en-US" sz="1600" dirty="0"/>
          </a:p>
          <a:p>
            <a:r>
              <a:rPr lang="en-US" sz="1600" dirty="0"/>
              <a:t>Learning C++ is like learning to </a:t>
            </a:r>
            <a:r>
              <a:rPr lang="en-US" sz="1600" b="1" dirty="0"/>
              <a:t>cook in a professional, fully-equipped kitchen</a:t>
            </a:r>
            <a:r>
              <a:rPr lang="en-US" sz="1600" dirty="0"/>
              <a:t> rather than with just a campfire (C). You get all of C's raw control over your ingredients (memory, pointers) plus organized stations, standardized tools, and recipes (classes, the Standard Library) that let you build far more complex dishes reliably.</a:t>
            </a:r>
          </a:p>
          <a:p>
            <a:pPr>
              <a:spcAft>
                <a:spcPts val="1200"/>
              </a:spcAft>
              <a:buSzPct val="100000"/>
            </a:pPr>
            <a:endParaRPr lang="en-US" sz="1700" dirty="0"/>
          </a:p>
        </p:txBody>
      </p:sp>
      <p:sp>
        <p:nvSpPr>
          <p:cNvPr id="5" name="TextBox 4">
            <a:extLst>
              <a:ext uri="{FF2B5EF4-FFF2-40B4-BE49-F238E27FC236}">
                <a16:creationId xmlns:a16="http://schemas.microsoft.com/office/drawing/2014/main" id="{3D069A66-A285-5F5A-475E-14DDFB1DA9A2}"/>
              </a:ext>
            </a:extLst>
          </p:cNvPr>
          <p:cNvSpPr txBox="1"/>
          <p:nvPr/>
        </p:nvSpPr>
        <p:spPr>
          <a:xfrm>
            <a:off x="665018" y="3007359"/>
            <a:ext cx="10975294" cy="1600438"/>
          </a:xfrm>
          <a:prstGeom prst="rect">
            <a:avLst/>
          </a:prstGeom>
          <a:solidFill>
            <a:schemeClr val="bg1">
              <a:lumMod val="95000"/>
            </a:schemeClr>
          </a:solidFill>
          <a:ln>
            <a:solidFill>
              <a:srgbClr val="000000"/>
            </a:solidFill>
          </a:ln>
        </p:spPr>
        <p:txBody>
          <a:bodyPr wrap="square" rtlCol="0">
            <a:spAutoFit/>
          </a:bodyPr>
          <a:lstStyle/>
          <a:p>
            <a:r>
              <a:rPr lang="en-US" sz="1400" dirty="0">
                <a:latin typeface="Courier New" panose="02070309020205020404" pitchFamily="49" charset="0"/>
                <a:cs typeface="Courier New" panose="02070309020205020404" pitchFamily="49" charset="0"/>
              </a:rPr>
              <a:t>#include &lt;iostream&gt;   // header for input/output</a:t>
            </a:r>
          </a:p>
          <a:p>
            <a:r>
              <a:rPr lang="en-US" sz="1400" dirty="0">
                <a:latin typeface="Courier New" panose="02070309020205020404" pitchFamily="49" charset="0"/>
                <a:cs typeface="Courier New" panose="02070309020205020404" pitchFamily="49" charset="0"/>
              </a:rPr>
              <a:t>using namespace std;  // avoids writing std:: everywhere</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int main() {           // program entry point</a:t>
            </a:r>
          </a:p>
          <a:p>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cout</a:t>
            </a:r>
            <a:r>
              <a:rPr lang="en-US" sz="1400" dirty="0">
                <a:latin typeface="Courier New" panose="02070309020205020404" pitchFamily="49" charset="0"/>
                <a:cs typeface="Courier New" panose="02070309020205020404" pitchFamily="49" charset="0"/>
              </a:rPr>
              <a:t> &lt;&lt; "Hello, Object Oriented World!" &lt;&lt; </a:t>
            </a:r>
            <a:r>
              <a:rPr lang="en-US" sz="1400" dirty="0" err="1">
                <a:latin typeface="Courier New" panose="02070309020205020404" pitchFamily="49" charset="0"/>
                <a:cs typeface="Courier New" panose="02070309020205020404" pitchFamily="49" charset="0"/>
              </a:rPr>
              <a:t>endl</a:t>
            </a:r>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    return 0;           // 0 signals successful execution to the OS</a:t>
            </a:r>
          </a:p>
          <a:p>
            <a:r>
              <a:rPr lang="en-US" sz="1400" dirty="0">
                <a:latin typeface="Courier New" panose="02070309020205020404" pitchFamily="49" charset="0"/>
                <a:cs typeface="Courier New" panose="02070309020205020404" pitchFamily="49" charset="0"/>
              </a:rPr>
              <a:t>}</a:t>
            </a:r>
          </a:p>
        </p:txBody>
      </p:sp>
      <p:sp>
        <p:nvSpPr>
          <p:cNvPr id="6" name="TextBox 5">
            <a:extLst>
              <a:ext uri="{FF2B5EF4-FFF2-40B4-BE49-F238E27FC236}">
                <a16:creationId xmlns:a16="http://schemas.microsoft.com/office/drawing/2014/main" id="{9ACB06EF-9928-7219-31B8-E32CB54057C7}"/>
              </a:ext>
            </a:extLst>
          </p:cNvPr>
          <p:cNvSpPr txBox="1"/>
          <p:nvPr/>
        </p:nvSpPr>
        <p:spPr>
          <a:xfrm>
            <a:off x="548640" y="4867563"/>
            <a:ext cx="11091672" cy="1384995"/>
          </a:xfrm>
          <a:prstGeom prst="rect">
            <a:avLst/>
          </a:prstGeom>
          <a:noFill/>
        </p:spPr>
        <p:txBody>
          <a:bodyPr wrap="square" rtlCol="0">
            <a:spAutoFit/>
          </a:bodyPr>
          <a:lstStyle/>
          <a:p>
            <a:r>
              <a:rPr lang="en-US" b="1" dirty="0"/>
              <a:t>Explanation</a:t>
            </a:r>
            <a:endParaRPr lang="en-US" dirty="0"/>
          </a:p>
          <a:p>
            <a:r>
              <a:rPr lang="en-US" sz="1600" dirty="0"/>
              <a:t>#include &lt;iostream&gt; brings in the input/output stream library. using namespace std; lets us write </a:t>
            </a:r>
            <a:r>
              <a:rPr lang="en-US" sz="1600" dirty="0" err="1"/>
              <a:t>cout</a:t>
            </a:r>
            <a:r>
              <a:rPr lang="en-US" sz="1600" dirty="0"/>
              <a:t> instead of std::</a:t>
            </a:r>
            <a:r>
              <a:rPr lang="en-US" sz="1600" dirty="0" err="1"/>
              <a:t>cout</a:t>
            </a:r>
            <a:r>
              <a:rPr lang="en-US" sz="1600" dirty="0"/>
              <a:t>. Execution always begins at main(). </a:t>
            </a:r>
            <a:r>
              <a:rPr lang="en-US" sz="1600" dirty="0" err="1"/>
              <a:t>cout</a:t>
            </a:r>
            <a:r>
              <a:rPr lang="en-US" sz="1600" dirty="0"/>
              <a:t> &lt;&lt; "..." prints to the console, and return 0; tells the operating system the program finished without errors.</a:t>
            </a:r>
          </a:p>
          <a:p>
            <a:endParaRPr lang="en-US" dirty="0"/>
          </a:p>
        </p:txBody>
      </p:sp>
    </p:spTree>
    <p:extLst>
      <p:ext uri="{BB962C8B-B14F-4D97-AF65-F5344CB8AC3E}">
        <p14:creationId xmlns:p14="http://schemas.microsoft.com/office/powerpoint/2010/main" val="2939191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
        <p:nvSpPr>
          <p:cNvPr id="3" name="Text 1"/>
          <p:cNvSpPr/>
          <p:nvPr/>
        </p:nvSpPr>
        <p:spPr>
          <a:xfrm>
            <a:off x="548640" y="731520"/>
            <a:ext cx="11091672" cy="501662"/>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Streams: Extraction (&gt;&gt;) and Insertion (&lt;&lt;)</a:t>
            </a:r>
            <a:endParaRPr lang="en-US" sz="2200" dirty="0"/>
          </a:p>
        </p:txBody>
      </p:sp>
      <p:sp>
        <p:nvSpPr>
          <p:cNvPr id="4" name="Text 2"/>
          <p:cNvSpPr/>
          <p:nvPr/>
        </p:nvSpPr>
        <p:spPr>
          <a:xfrm>
            <a:off x="548640" y="1475858"/>
            <a:ext cx="11091672" cy="2144797"/>
          </a:xfrm>
          <a:prstGeom prst="rect">
            <a:avLst/>
          </a:prstGeom>
          <a:solidFill>
            <a:schemeClr val="bg1"/>
          </a:solidFill>
          <a:ln/>
        </p:spPr>
        <p:txBody>
          <a:bodyPr wrap="square" rtlCol="0" anchor="t"/>
          <a:lstStyle/>
          <a:p>
            <a:pPr marL="228600" indent="-228600">
              <a:spcAft>
                <a:spcPts val="600"/>
              </a:spcAft>
              <a:buSzPct val="100000"/>
              <a:buChar char="•"/>
            </a:pPr>
            <a:r>
              <a:rPr lang="en-US" sz="1600" dirty="0"/>
              <a:t>The </a:t>
            </a:r>
            <a:r>
              <a:rPr lang="en-US" sz="1600" b="1" dirty="0"/>
              <a:t>extraction operator </a:t>
            </a:r>
            <a:r>
              <a:rPr lang="en-US" sz="1600" b="1" dirty="0">
                <a:solidFill>
                  <a:srgbClr val="000000"/>
                </a:solidFill>
                <a:highlight>
                  <a:srgbClr val="C0C0C0"/>
                </a:highlight>
                <a:latin typeface="Courier New" panose="02070309020205020404" pitchFamily="49" charset="0"/>
                <a:ea typeface="Helvetica" pitchFamily="34" charset="-122"/>
                <a:cs typeface="Courier New" panose="02070309020205020404" pitchFamily="49" charset="0"/>
              </a:rPr>
              <a:t>&gt;&gt;</a:t>
            </a:r>
            <a:r>
              <a:rPr lang="en-US" sz="1600" dirty="0">
                <a:solidFill>
                  <a:srgbClr val="000000"/>
                </a:solidFill>
                <a:latin typeface="Courier New" panose="02070309020205020404" pitchFamily="49" charset="0"/>
                <a:ea typeface="Helvetica" pitchFamily="34" charset="-122"/>
                <a:cs typeface="Courier New" panose="02070309020205020404" pitchFamily="49" charset="0"/>
              </a:rPr>
              <a:t> </a:t>
            </a:r>
            <a:r>
              <a:rPr lang="en-US" sz="1600" dirty="0">
                <a:solidFill>
                  <a:srgbClr val="000000"/>
                </a:solidFill>
                <a:latin typeface="Helvetica" pitchFamily="34" charset="0"/>
                <a:ea typeface="Helvetica" pitchFamily="34" charset="-122"/>
                <a:cs typeface="Helvetica" pitchFamily="34" charset="-120"/>
              </a:rPr>
              <a:t>(Input): R</a:t>
            </a:r>
            <a:r>
              <a:rPr lang="en-US" sz="1600" dirty="0"/>
              <a:t>eads (extracts) data </a:t>
            </a:r>
            <a:r>
              <a:rPr lang="en-US" sz="1600" b="1" dirty="0"/>
              <a:t>from</a:t>
            </a:r>
            <a:r>
              <a:rPr lang="en-US" sz="1600" dirty="0"/>
              <a:t> an input stream (like </a:t>
            </a:r>
            <a:r>
              <a:rPr lang="en-US" sz="1600" dirty="0" err="1"/>
              <a:t>cin</a:t>
            </a:r>
            <a:r>
              <a:rPr lang="en-US" sz="1600" dirty="0"/>
              <a:t>, the keyboard) </a:t>
            </a:r>
            <a:r>
              <a:rPr lang="en-US" sz="1600" b="1" dirty="0"/>
              <a:t>into</a:t>
            </a:r>
            <a:r>
              <a:rPr lang="en-US" sz="1600" dirty="0"/>
              <a:t> a variable. </a:t>
            </a:r>
          </a:p>
          <a:p>
            <a:pPr lvl="2">
              <a:spcAft>
                <a:spcPts val="600"/>
              </a:spcAft>
              <a:buSzPct val="100000"/>
            </a:pPr>
            <a:r>
              <a:rPr lang="en-US" sz="1400" dirty="0" err="1">
                <a:latin typeface="Courier New" panose="02070309020205020404" pitchFamily="49" charset="0"/>
                <a:cs typeface="Courier New" panose="02070309020205020404" pitchFamily="49" charset="0"/>
              </a:rPr>
              <a:t>cin</a:t>
            </a:r>
            <a:r>
              <a:rPr lang="en-US" sz="1400" dirty="0">
                <a:latin typeface="Courier New" panose="02070309020205020404" pitchFamily="49" charset="0"/>
                <a:cs typeface="Courier New" panose="02070309020205020404" pitchFamily="49" charset="0"/>
              </a:rPr>
              <a:t> &gt;&gt; a &gt;&gt; b;</a:t>
            </a:r>
          </a:p>
          <a:p>
            <a:pPr marL="228600" indent="-228600">
              <a:spcAft>
                <a:spcPts val="1200"/>
              </a:spcAft>
              <a:buSzPct val="100000"/>
              <a:buChar char="•"/>
            </a:pPr>
            <a:r>
              <a:rPr lang="en-US" sz="1600" dirty="0"/>
              <a:t>The</a:t>
            </a:r>
            <a:r>
              <a:rPr lang="en-US" b="1" dirty="0"/>
              <a:t> insertion operator </a:t>
            </a:r>
            <a:r>
              <a:rPr lang="en-US" sz="1600" b="1" dirty="0">
                <a:solidFill>
                  <a:srgbClr val="000000"/>
                </a:solidFill>
                <a:highlight>
                  <a:srgbClr val="C0C0C0"/>
                </a:highlight>
                <a:latin typeface="Courier New" panose="02070309020205020404" pitchFamily="49" charset="0"/>
                <a:cs typeface="Courier New" panose="02070309020205020404" pitchFamily="49" charset="0"/>
              </a:rPr>
              <a:t>&lt;&lt;</a:t>
            </a:r>
            <a:r>
              <a:rPr lang="en-US" dirty="0"/>
              <a:t> (stream insertion / output operator) </a:t>
            </a:r>
            <a:r>
              <a:rPr lang="en-US" sz="1700" dirty="0">
                <a:solidFill>
                  <a:srgbClr val="000000"/>
                </a:solidFill>
                <a:latin typeface="Helvetica" pitchFamily="34" charset="0"/>
                <a:ea typeface="Helvetica" pitchFamily="34" charset="-122"/>
                <a:cs typeface="Helvetica" pitchFamily="34" charset="-120"/>
              </a:rPr>
              <a:t>: </a:t>
            </a:r>
            <a:r>
              <a:rPr lang="en-US" sz="1600" dirty="0"/>
              <a:t>sends (inserts) data from a variable or literal into an output stream (like </a:t>
            </a:r>
            <a:r>
              <a:rPr lang="en-US" sz="1600" dirty="0" err="1"/>
              <a:t>cout</a:t>
            </a:r>
            <a:r>
              <a:rPr lang="en-US" sz="1600" dirty="0"/>
              <a:t>, the screen).</a:t>
            </a:r>
          </a:p>
          <a:p>
            <a:pPr lvl="2">
              <a:spcAft>
                <a:spcPts val="1200"/>
              </a:spcAft>
              <a:buSzPct val="100000"/>
            </a:pPr>
            <a:r>
              <a:rPr lang="en-US" sz="1600" dirty="0" err="1">
                <a:latin typeface="Courier New" panose="02070309020205020404" pitchFamily="49" charset="0"/>
                <a:cs typeface="Courier New" panose="02070309020205020404" pitchFamily="49" charset="0"/>
              </a:rPr>
              <a:t>cout</a:t>
            </a:r>
            <a:r>
              <a:rPr lang="en-US" sz="1600" dirty="0">
                <a:latin typeface="Courier New" panose="02070309020205020404" pitchFamily="49" charset="0"/>
                <a:cs typeface="Courier New" panose="02070309020205020404" pitchFamily="49" charset="0"/>
              </a:rPr>
              <a:t> &lt;&lt; "City: " &lt;&lt; city;</a:t>
            </a:r>
          </a:p>
          <a:p>
            <a:pPr marL="228600" indent="-228600">
              <a:spcAft>
                <a:spcPts val="1200"/>
              </a:spcAft>
              <a:buSzPct val="100000"/>
              <a:buChar char="•"/>
            </a:pPr>
            <a:r>
              <a:rPr lang="en-US" sz="1600" dirty="0">
                <a:solidFill>
                  <a:srgbClr val="000000"/>
                </a:solidFill>
                <a:latin typeface="Helvetica" pitchFamily="34" charset="0"/>
                <a:ea typeface="Helvetica" pitchFamily="34" charset="-122"/>
                <a:cs typeface="Helvetica" pitchFamily="34" charset="-120"/>
              </a:rPr>
              <a:t>Both are ordinary C++ operators overloaded by the library for streams</a:t>
            </a:r>
            <a:endParaRPr lang="en-US" sz="1600" dirty="0"/>
          </a:p>
        </p:txBody>
      </p:sp>
      <p:sp>
        <p:nvSpPr>
          <p:cNvPr id="6" name="TextBox 5">
            <a:extLst>
              <a:ext uri="{FF2B5EF4-FFF2-40B4-BE49-F238E27FC236}">
                <a16:creationId xmlns:a16="http://schemas.microsoft.com/office/drawing/2014/main" id="{12565380-5509-ADA6-5088-757D1955505D}"/>
              </a:ext>
            </a:extLst>
          </p:cNvPr>
          <p:cNvSpPr txBox="1"/>
          <p:nvPr/>
        </p:nvSpPr>
        <p:spPr>
          <a:xfrm>
            <a:off x="665018" y="3617196"/>
            <a:ext cx="10975294" cy="2954655"/>
          </a:xfrm>
          <a:prstGeom prst="rect">
            <a:avLst/>
          </a:prstGeom>
          <a:solidFill>
            <a:schemeClr val="bg1">
              <a:lumMod val="95000"/>
            </a:schemeClr>
          </a:solidFill>
          <a:ln>
            <a:solidFill>
              <a:srgbClr val="000000"/>
            </a:solidFill>
          </a:ln>
        </p:spPr>
        <p:txBody>
          <a:bodyPr wrap="square" rtlCol="0">
            <a:spAutoFit/>
          </a:bodyPr>
          <a:lstStyle/>
          <a:p>
            <a:r>
              <a:rPr lang="en-US" sz="1400" dirty="0">
                <a:latin typeface="Courier New" panose="02070309020205020404" pitchFamily="49" charset="0"/>
                <a:cs typeface="Courier New" panose="02070309020205020404" pitchFamily="49" charset="0"/>
              </a:rPr>
              <a:t>#include &lt;iostream&gt;   // header for input/output</a:t>
            </a:r>
          </a:p>
          <a:p>
            <a:r>
              <a:rPr lang="en-US" sz="1400" dirty="0">
                <a:latin typeface="Courier New" panose="02070309020205020404" pitchFamily="49" charset="0"/>
                <a:cs typeface="Courier New" panose="02070309020205020404" pitchFamily="49" charset="0"/>
              </a:rPr>
              <a:t>using namespace std;  // avoids writing std:: everywhere</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int main() {           // program entry point</a:t>
            </a:r>
          </a:p>
          <a:p>
            <a:r>
              <a:rPr lang="en-US" dirty="0"/>
              <a:t> </a:t>
            </a:r>
            <a:r>
              <a:rPr lang="en-US" sz="1400" dirty="0">
                <a:latin typeface="Courier New" panose="02070309020205020404" pitchFamily="49" charset="0"/>
                <a:cs typeface="Courier New" panose="02070309020205020404" pitchFamily="49" charset="0"/>
              </a:rPr>
              <a:t>string name;</a:t>
            </a:r>
          </a:p>
          <a:p>
            <a:r>
              <a:rPr lang="en-US" sz="1400" dirty="0">
                <a:latin typeface="Courier New" panose="02070309020205020404" pitchFamily="49" charset="0"/>
                <a:cs typeface="Courier New" panose="02070309020205020404" pitchFamily="49" charset="0"/>
              </a:rPr>
              <a:t>    int age;</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cout</a:t>
            </a:r>
            <a:r>
              <a:rPr lang="en-US" sz="1400" dirty="0">
                <a:latin typeface="Courier New" panose="02070309020205020404" pitchFamily="49" charset="0"/>
                <a:cs typeface="Courier New" panose="02070309020205020404" pitchFamily="49" charset="0"/>
              </a:rPr>
              <a:t> &lt;&lt; "Enter your name and age: ";</a:t>
            </a:r>
          </a:p>
          <a:p>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cin</a:t>
            </a:r>
            <a:r>
              <a:rPr lang="en-US" sz="1400" dirty="0">
                <a:latin typeface="Courier New" panose="02070309020205020404" pitchFamily="49" charset="0"/>
                <a:cs typeface="Courier New" panose="02070309020205020404" pitchFamily="49" charset="0"/>
              </a:rPr>
              <a:t> &gt;&gt; name &gt;&gt; age;   // extracts two values from the input stream</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cout</a:t>
            </a:r>
            <a:r>
              <a:rPr lang="en-US" sz="1400" dirty="0">
                <a:latin typeface="Courier New" panose="02070309020205020404" pitchFamily="49" charset="0"/>
                <a:cs typeface="Courier New" panose="02070309020205020404" pitchFamily="49" charset="0"/>
              </a:rPr>
              <a:t> &lt;&lt; "Hello " &lt;&lt; name &lt;&lt; ", you are " &lt;&lt; age &lt;&lt; " years old." &lt;&lt; </a:t>
            </a:r>
            <a:r>
              <a:rPr lang="en-US" sz="1400" dirty="0" err="1">
                <a:latin typeface="Courier New" panose="02070309020205020404" pitchFamily="49" charset="0"/>
                <a:cs typeface="Courier New" panose="02070309020205020404" pitchFamily="49" charset="0"/>
              </a:rPr>
              <a:t>endl</a:t>
            </a:r>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    return 0;</a:t>
            </a:r>
          </a:p>
          <a:p>
            <a:r>
              <a:rPr lang="en-US" sz="1400" dirty="0">
                <a:latin typeface="Courier New" panose="02070309020205020404" pitchFamily="49" charset="0"/>
                <a:cs typeface="Courier New" panose="02070309020205020404" pitchFamily="49" charset="0"/>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A999A-1BE6-9B01-D4AF-855397293F7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3478CE5-2502-861B-1E55-89315B83BE09}"/>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
        <p:nvSpPr>
          <p:cNvPr id="3" name="Text 1">
            <a:extLst>
              <a:ext uri="{FF2B5EF4-FFF2-40B4-BE49-F238E27FC236}">
                <a16:creationId xmlns:a16="http://schemas.microsoft.com/office/drawing/2014/main" id="{B4244E15-6CE7-4813-9E3D-50B33EAE92C9}"/>
              </a:ext>
            </a:extLst>
          </p:cNvPr>
          <p:cNvSpPr/>
          <p:nvPr/>
        </p:nvSpPr>
        <p:spPr>
          <a:xfrm>
            <a:off x="548640" y="731520"/>
            <a:ext cx="11091672" cy="501662"/>
          </a:xfrm>
          <a:prstGeom prst="rect">
            <a:avLst/>
          </a:prstGeom>
          <a:noFill/>
          <a:ln/>
        </p:spPr>
        <p:txBody>
          <a:bodyPr wrap="square" rtlCol="0" anchor="ctr"/>
          <a:lstStyle/>
          <a:p>
            <a:r>
              <a:rPr lang="en-US" sz="2200" b="1" dirty="0">
                <a:solidFill>
                  <a:srgbClr val="000000"/>
                </a:solidFill>
                <a:latin typeface="Helvetica" pitchFamily="34" charset="0"/>
                <a:cs typeface="Helvetica" pitchFamily="34" charset="-120"/>
              </a:rPr>
              <a:t>Reference Variables</a:t>
            </a:r>
          </a:p>
        </p:txBody>
      </p:sp>
      <p:sp>
        <p:nvSpPr>
          <p:cNvPr id="4" name="Text 2">
            <a:extLst>
              <a:ext uri="{FF2B5EF4-FFF2-40B4-BE49-F238E27FC236}">
                <a16:creationId xmlns:a16="http://schemas.microsoft.com/office/drawing/2014/main" id="{C65B7510-3A8F-E969-35E1-1758211E6102}"/>
              </a:ext>
            </a:extLst>
          </p:cNvPr>
          <p:cNvSpPr/>
          <p:nvPr/>
        </p:nvSpPr>
        <p:spPr>
          <a:xfrm>
            <a:off x="548640" y="1350595"/>
            <a:ext cx="11091672" cy="1248868"/>
          </a:xfrm>
          <a:prstGeom prst="rect">
            <a:avLst/>
          </a:prstGeom>
          <a:solidFill>
            <a:schemeClr val="bg1"/>
          </a:solidFill>
          <a:ln/>
        </p:spPr>
        <p:txBody>
          <a:bodyPr wrap="square" rtlCol="0" anchor="t"/>
          <a:lstStyle/>
          <a:p>
            <a:pPr marL="285750" lvl="0" indent="-285750">
              <a:buFont typeface="Arial" panose="020B0604020202020204" pitchFamily="34" charset="0"/>
              <a:buChar char="•"/>
            </a:pPr>
            <a:r>
              <a:rPr lang="en-US" sz="1600" dirty="0"/>
              <a:t>A </a:t>
            </a:r>
            <a:r>
              <a:rPr lang="en-US" sz="1600" b="1" dirty="0"/>
              <a:t>reference variable</a:t>
            </a:r>
            <a:r>
              <a:rPr lang="en-US" sz="1600" dirty="0"/>
              <a:t> is an alias (alternative name) for an existing variable.</a:t>
            </a:r>
          </a:p>
          <a:p>
            <a:pPr marL="285750" lvl="0" indent="-285750">
              <a:buFont typeface="Arial" panose="020B0604020202020204" pitchFamily="34" charset="0"/>
              <a:buChar char="•"/>
            </a:pPr>
            <a:r>
              <a:rPr lang="en-US" sz="1600" dirty="0"/>
              <a:t>It is declared using the </a:t>
            </a:r>
            <a:r>
              <a:rPr lang="en-US" sz="1600" b="1" dirty="0"/>
              <a:t>ampersand (</a:t>
            </a:r>
            <a:r>
              <a:rPr lang="en-US" sz="1600" dirty="0"/>
              <a:t>&amp;</a:t>
            </a:r>
            <a:r>
              <a:rPr lang="en-US" sz="1600" b="1" dirty="0"/>
              <a:t>)</a:t>
            </a:r>
            <a:r>
              <a:rPr lang="en-US" sz="1600" dirty="0"/>
              <a:t> symbol.</a:t>
            </a:r>
          </a:p>
          <a:p>
            <a:pPr marL="285750" lvl="0" indent="-285750">
              <a:buFont typeface="Arial" panose="020B0604020202020204" pitchFamily="34" charset="0"/>
              <a:buChar char="•"/>
            </a:pPr>
            <a:r>
              <a:rPr lang="en-US" sz="1600" dirty="0"/>
              <a:t>Once a reference is initialized to a variable, it </a:t>
            </a:r>
            <a:r>
              <a:rPr lang="en-US" sz="1600" b="1" dirty="0"/>
              <a:t>cannot</a:t>
            </a:r>
            <a:r>
              <a:rPr lang="en-US" sz="1600" dirty="0"/>
              <a:t> be changed to refer to another variable.</a:t>
            </a:r>
          </a:p>
          <a:p>
            <a:pPr marL="285750" lvl="0" indent="-285750">
              <a:buFont typeface="Arial" panose="020B0604020202020204" pitchFamily="34" charset="0"/>
              <a:buChar char="•"/>
            </a:pPr>
            <a:r>
              <a:rPr lang="en-US" sz="1600" dirty="0"/>
              <a:t>References </a:t>
            </a:r>
            <a:r>
              <a:rPr lang="en-US" dirty="0"/>
              <a:t>are </a:t>
            </a:r>
            <a:r>
              <a:rPr lang="en-US" b="1" dirty="0"/>
              <a:t>not separate variables</a:t>
            </a:r>
            <a:r>
              <a:rPr lang="en-US" dirty="0"/>
              <a:t> – they directly refer to the memory location of the original variable.</a:t>
            </a:r>
          </a:p>
        </p:txBody>
      </p:sp>
      <p:sp>
        <p:nvSpPr>
          <p:cNvPr id="6" name="TextBox 5">
            <a:extLst>
              <a:ext uri="{FF2B5EF4-FFF2-40B4-BE49-F238E27FC236}">
                <a16:creationId xmlns:a16="http://schemas.microsoft.com/office/drawing/2014/main" id="{BF2E6DD5-3B3E-7E5C-D06E-AB08F7F2B38A}"/>
              </a:ext>
            </a:extLst>
          </p:cNvPr>
          <p:cNvSpPr txBox="1"/>
          <p:nvPr/>
        </p:nvSpPr>
        <p:spPr>
          <a:xfrm>
            <a:off x="665018" y="2901732"/>
            <a:ext cx="10975294" cy="523220"/>
          </a:xfrm>
          <a:prstGeom prst="rect">
            <a:avLst/>
          </a:prstGeom>
          <a:solidFill>
            <a:schemeClr val="bg1">
              <a:lumMod val="95000"/>
            </a:schemeClr>
          </a:solidFill>
          <a:ln>
            <a:solidFill>
              <a:srgbClr val="000000"/>
            </a:solidFill>
          </a:ln>
        </p:spPr>
        <p:txBody>
          <a:bodyPr wrap="square" rtlCol="0">
            <a:spAutoFit/>
          </a:bodyPr>
          <a:lstStyle/>
          <a:p>
            <a:pPr latinLnBrk="1"/>
            <a:r>
              <a:rPr lang="en-US" sz="1400" dirty="0">
                <a:latin typeface="Courier New" panose="02070309020205020404" pitchFamily="49" charset="0"/>
                <a:cs typeface="Courier New" panose="02070309020205020404" pitchFamily="49" charset="0"/>
              </a:rPr>
              <a:t>int x = 10;</a:t>
            </a:r>
          </a:p>
          <a:p>
            <a:pPr latinLnBrk="1"/>
            <a:r>
              <a:rPr lang="en-US" sz="1400" dirty="0">
                <a:latin typeface="Courier New" panose="02070309020205020404" pitchFamily="49" charset="0"/>
                <a:cs typeface="Courier New" panose="02070309020205020404" pitchFamily="49" charset="0"/>
              </a:rPr>
              <a:t>int &amp;ref = x;    </a:t>
            </a:r>
            <a:r>
              <a:rPr lang="en-US" sz="1400" i="1" dirty="0">
                <a:latin typeface="Courier New" panose="02070309020205020404" pitchFamily="49" charset="0"/>
                <a:cs typeface="Courier New" panose="02070309020205020404" pitchFamily="49" charset="0"/>
              </a:rPr>
              <a:t>// ref is a reference to x</a:t>
            </a:r>
            <a:endParaRPr lang="en-US" sz="1400" dirty="0">
              <a:latin typeface="Courier New" panose="02070309020205020404" pitchFamily="49" charset="0"/>
              <a:cs typeface="Courier New" panose="02070309020205020404" pitchFamily="49" charset="0"/>
            </a:endParaRPr>
          </a:p>
        </p:txBody>
      </p:sp>
      <p:sp>
        <p:nvSpPr>
          <p:cNvPr id="5" name="TextBox 4">
            <a:extLst>
              <a:ext uri="{FF2B5EF4-FFF2-40B4-BE49-F238E27FC236}">
                <a16:creationId xmlns:a16="http://schemas.microsoft.com/office/drawing/2014/main" id="{1F8B52DE-EF6B-04F3-C183-7F0E8361207D}"/>
              </a:ext>
            </a:extLst>
          </p:cNvPr>
          <p:cNvSpPr txBox="1"/>
          <p:nvPr/>
        </p:nvSpPr>
        <p:spPr>
          <a:xfrm>
            <a:off x="665018" y="2554331"/>
            <a:ext cx="810735" cy="369332"/>
          </a:xfrm>
          <a:prstGeom prst="rect">
            <a:avLst/>
          </a:prstGeom>
          <a:noFill/>
        </p:spPr>
        <p:txBody>
          <a:bodyPr wrap="none" rtlCol="0">
            <a:spAutoFit/>
          </a:bodyPr>
          <a:lstStyle/>
          <a:p>
            <a:r>
              <a:rPr lang="en-US" sz="1600" b="1" dirty="0"/>
              <a:t>Syntax</a:t>
            </a:r>
            <a:r>
              <a:rPr lang="en-US" dirty="0"/>
              <a:t>:</a:t>
            </a:r>
          </a:p>
        </p:txBody>
      </p:sp>
    </p:spTree>
    <p:extLst>
      <p:ext uri="{BB962C8B-B14F-4D97-AF65-F5344CB8AC3E}">
        <p14:creationId xmlns:p14="http://schemas.microsoft.com/office/powerpoint/2010/main" val="3619082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0B7BA-F5C5-CEE6-3ACF-7064B25EF3A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5194C70-FFBA-AEE4-FDCB-9F4D323A83F0}"/>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
        <p:nvSpPr>
          <p:cNvPr id="3" name="Text 1">
            <a:extLst>
              <a:ext uri="{FF2B5EF4-FFF2-40B4-BE49-F238E27FC236}">
                <a16:creationId xmlns:a16="http://schemas.microsoft.com/office/drawing/2014/main" id="{2BE106C6-E45C-E50E-742C-6D1A2949A9AC}"/>
              </a:ext>
            </a:extLst>
          </p:cNvPr>
          <p:cNvSpPr/>
          <p:nvPr/>
        </p:nvSpPr>
        <p:spPr>
          <a:xfrm>
            <a:off x="548640" y="731520"/>
            <a:ext cx="11091672" cy="501662"/>
          </a:xfrm>
          <a:prstGeom prst="rect">
            <a:avLst/>
          </a:prstGeom>
          <a:noFill/>
          <a:ln/>
        </p:spPr>
        <p:txBody>
          <a:bodyPr wrap="square" rtlCol="0" anchor="ctr"/>
          <a:lstStyle/>
          <a:p>
            <a:r>
              <a:rPr lang="en-US" sz="2200" b="1" dirty="0">
                <a:solidFill>
                  <a:srgbClr val="000000"/>
                </a:solidFill>
                <a:latin typeface="Helvetica" pitchFamily="34" charset="0"/>
                <a:cs typeface="Helvetica" pitchFamily="34" charset="-120"/>
              </a:rPr>
              <a:t>Scope Resolution Operator</a:t>
            </a:r>
          </a:p>
        </p:txBody>
      </p:sp>
      <p:sp>
        <p:nvSpPr>
          <p:cNvPr id="4" name="Text 2">
            <a:extLst>
              <a:ext uri="{FF2B5EF4-FFF2-40B4-BE49-F238E27FC236}">
                <a16:creationId xmlns:a16="http://schemas.microsoft.com/office/drawing/2014/main" id="{EBDAC846-1E90-15D2-8D6C-05E117447E6E}"/>
              </a:ext>
            </a:extLst>
          </p:cNvPr>
          <p:cNvSpPr/>
          <p:nvPr/>
        </p:nvSpPr>
        <p:spPr>
          <a:xfrm>
            <a:off x="548640" y="1350595"/>
            <a:ext cx="11091672" cy="2427078"/>
          </a:xfrm>
          <a:prstGeom prst="rect">
            <a:avLst/>
          </a:prstGeom>
          <a:solidFill>
            <a:schemeClr val="bg1"/>
          </a:solidFill>
          <a:ln/>
        </p:spPr>
        <p:txBody>
          <a:bodyPr wrap="square" rtlCol="0" anchor="t"/>
          <a:lstStyle/>
          <a:p>
            <a:pPr lvl="0"/>
            <a:r>
              <a:rPr lang="en-US" sz="1600" dirty="0"/>
              <a:t>The </a:t>
            </a:r>
            <a:r>
              <a:rPr lang="en-US" sz="1600" b="1" dirty="0"/>
              <a:t>scope resolution operator (</a:t>
            </a:r>
            <a:r>
              <a:rPr lang="en-US" sz="1600" dirty="0"/>
              <a:t>::</a:t>
            </a:r>
            <a:r>
              <a:rPr lang="en-US" sz="1600" b="1" dirty="0"/>
              <a:t>)</a:t>
            </a:r>
            <a:r>
              <a:rPr lang="en-US" sz="1600" dirty="0"/>
              <a:t> is used to access global variables, class members, and namespaces.</a:t>
            </a:r>
          </a:p>
          <a:p>
            <a:pPr lvl="0"/>
            <a:r>
              <a:rPr lang="en-US" sz="1600" dirty="0"/>
              <a:t>It allows you to specify the scope in which an identifier belongs.</a:t>
            </a:r>
          </a:p>
          <a:p>
            <a:pPr lvl="0"/>
            <a:r>
              <a:rPr lang="en-US" sz="1600" dirty="0"/>
              <a:t>It is especially useful when a </a:t>
            </a:r>
            <a:r>
              <a:rPr lang="en-US" sz="1600" b="1" dirty="0"/>
              <a:t>local variable hides a global variable</a:t>
            </a:r>
            <a:r>
              <a:rPr lang="en-US" sz="1600" dirty="0"/>
              <a:t> or when defining member functions outside the class.</a:t>
            </a:r>
          </a:p>
          <a:p>
            <a:pPr lvl="0"/>
            <a:endParaRPr lang="en-US" sz="1400" dirty="0"/>
          </a:p>
          <a:p>
            <a:r>
              <a:rPr lang="en-US" sz="1600" b="1" dirty="0"/>
              <a:t>Key Uses</a:t>
            </a:r>
          </a:p>
          <a:p>
            <a:pPr marL="742950" lvl="1" indent="-285750">
              <a:buFont typeface="Arial" panose="020B0604020202020204" pitchFamily="34" charset="0"/>
              <a:buChar char="•"/>
            </a:pPr>
            <a:r>
              <a:rPr lang="en-US" sz="1400" b="1" dirty="0"/>
              <a:t>Access global variables</a:t>
            </a:r>
            <a:r>
              <a:rPr lang="en-US" sz="1400" dirty="0"/>
              <a:t> when shadowed by local variables.</a:t>
            </a:r>
          </a:p>
          <a:p>
            <a:pPr marL="742950" lvl="1" indent="-285750">
              <a:buFont typeface="Arial" panose="020B0604020202020204" pitchFamily="34" charset="0"/>
              <a:buChar char="•"/>
            </a:pPr>
            <a:r>
              <a:rPr lang="en-US" sz="1400" b="1" dirty="0"/>
              <a:t>Define member functions</a:t>
            </a:r>
            <a:r>
              <a:rPr lang="en-US" sz="1400" dirty="0"/>
              <a:t> outside the class definition.</a:t>
            </a:r>
          </a:p>
          <a:p>
            <a:pPr marL="742950" lvl="1" indent="-285750">
              <a:buFont typeface="Arial" panose="020B0604020202020204" pitchFamily="34" charset="0"/>
              <a:buChar char="•"/>
            </a:pPr>
            <a:r>
              <a:rPr lang="en-US" sz="1400" b="1" dirty="0"/>
              <a:t>Access static members</a:t>
            </a:r>
            <a:r>
              <a:rPr lang="en-US" sz="1400" dirty="0"/>
              <a:t> of a class.</a:t>
            </a:r>
          </a:p>
          <a:p>
            <a:pPr marL="742950" lvl="1" indent="-285750">
              <a:buFont typeface="Arial" panose="020B0604020202020204" pitchFamily="34" charset="0"/>
              <a:buChar char="•"/>
            </a:pPr>
            <a:r>
              <a:rPr lang="en-US" sz="1400" b="1" dirty="0"/>
              <a:t>Access namespaces</a:t>
            </a:r>
            <a:r>
              <a:rPr lang="en-US" sz="1400" dirty="0"/>
              <a:t> and their members.</a:t>
            </a:r>
          </a:p>
          <a:p>
            <a:pPr marL="742950" lvl="1" indent="-285750">
              <a:buFont typeface="Arial" panose="020B0604020202020204" pitchFamily="34" charset="0"/>
              <a:buChar char="•"/>
            </a:pPr>
            <a:r>
              <a:rPr lang="en-US" sz="1400" b="1" dirty="0"/>
              <a:t>Access class constants</a:t>
            </a:r>
            <a:r>
              <a:rPr lang="en-US" sz="1400" dirty="0"/>
              <a:t> and enumerations.</a:t>
            </a:r>
          </a:p>
          <a:p>
            <a:pPr lvl="0"/>
            <a:endParaRPr lang="en-US" sz="1600" dirty="0"/>
          </a:p>
          <a:p>
            <a:pPr marL="285750" lvl="0" indent="-285750">
              <a:buFont typeface="Arial" panose="020B0604020202020204" pitchFamily="34" charset="0"/>
              <a:buChar char="•"/>
            </a:pPr>
            <a:endParaRPr lang="en-US" sz="1600" dirty="0"/>
          </a:p>
        </p:txBody>
      </p:sp>
      <p:sp>
        <p:nvSpPr>
          <p:cNvPr id="6" name="TextBox 5">
            <a:extLst>
              <a:ext uri="{FF2B5EF4-FFF2-40B4-BE49-F238E27FC236}">
                <a16:creationId xmlns:a16="http://schemas.microsoft.com/office/drawing/2014/main" id="{141B05A3-CCEA-B88F-E577-D0EB42F2EFE2}"/>
              </a:ext>
            </a:extLst>
          </p:cNvPr>
          <p:cNvSpPr txBox="1"/>
          <p:nvPr/>
        </p:nvSpPr>
        <p:spPr>
          <a:xfrm>
            <a:off x="608353" y="4251841"/>
            <a:ext cx="10975294" cy="307777"/>
          </a:xfrm>
          <a:prstGeom prst="rect">
            <a:avLst/>
          </a:prstGeom>
          <a:solidFill>
            <a:schemeClr val="bg1">
              <a:lumMod val="95000"/>
            </a:schemeClr>
          </a:solidFill>
          <a:ln>
            <a:solidFill>
              <a:srgbClr val="000000"/>
            </a:solidFill>
          </a:ln>
        </p:spPr>
        <p:txBody>
          <a:bodyPr wrap="square" rtlCol="0">
            <a:spAutoFit/>
          </a:bodyPr>
          <a:lstStyle/>
          <a:p>
            <a:pPr latinLnBrk="1"/>
            <a:r>
              <a:rPr lang="en-US" sz="1400" dirty="0" err="1">
                <a:latin typeface="Courier New" panose="02070309020205020404" pitchFamily="49" charset="0"/>
                <a:cs typeface="Courier New" panose="02070309020205020404" pitchFamily="49" charset="0"/>
              </a:rPr>
              <a:t>scope_name</a:t>
            </a:r>
            <a:r>
              <a:rPr lang="en-US" sz="1400" dirty="0">
                <a:latin typeface="Courier New" panose="02070309020205020404" pitchFamily="49" charset="0"/>
                <a:cs typeface="Courier New" panose="02070309020205020404" pitchFamily="49" charset="0"/>
              </a:rPr>
              <a:t> :: identifier</a:t>
            </a:r>
          </a:p>
        </p:txBody>
      </p:sp>
      <p:sp>
        <p:nvSpPr>
          <p:cNvPr id="5" name="TextBox 4">
            <a:extLst>
              <a:ext uri="{FF2B5EF4-FFF2-40B4-BE49-F238E27FC236}">
                <a16:creationId xmlns:a16="http://schemas.microsoft.com/office/drawing/2014/main" id="{BE8E4A0E-218D-AEDD-CE36-096A7E7E7F9E}"/>
              </a:ext>
            </a:extLst>
          </p:cNvPr>
          <p:cNvSpPr txBox="1"/>
          <p:nvPr/>
        </p:nvSpPr>
        <p:spPr>
          <a:xfrm>
            <a:off x="608353" y="3904440"/>
            <a:ext cx="810735" cy="369332"/>
          </a:xfrm>
          <a:prstGeom prst="rect">
            <a:avLst/>
          </a:prstGeom>
          <a:noFill/>
        </p:spPr>
        <p:txBody>
          <a:bodyPr wrap="none" rtlCol="0">
            <a:spAutoFit/>
          </a:bodyPr>
          <a:lstStyle/>
          <a:p>
            <a:r>
              <a:rPr lang="en-US" sz="1600" b="1" dirty="0"/>
              <a:t>Syntax</a:t>
            </a:r>
            <a:r>
              <a:rPr lang="en-US" dirty="0"/>
              <a:t>:</a:t>
            </a:r>
          </a:p>
        </p:txBody>
      </p:sp>
      <p:sp>
        <p:nvSpPr>
          <p:cNvPr id="8" name="TextBox 7">
            <a:extLst>
              <a:ext uri="{FF2B5EF4-FFF2-40B4-BE49-F238E27FC236}">
                <a16:creationId xmlns:a16="http://schemas.microsoft.com/office/drawing/2014/main" id="{7884C7EF-1725-E6BD-ADB2-3157CBCCB865}"/>
              </a:ext>
            </a:extLst>
          </p:cNvPr>
          <p:cNvSpPr txBox="1"/>
          <p:nvPr/>
        </p:nvSpPr>
        <p:spPr>
          <a:xfrm>
            <a:off x="608353" y="4571771"/>
            <a:ext cx="6094602" cy="774507"/>
          </a:xfrm>
          <a:prstGeom prst="rect">
            <a:avLst/>
          </a:prstGeom>
          <a:noFill/>
        </p:spPr>
        <p:txBody>
          <a:bodyPr wrap="square">
            <a:spAutoFit/>
          </a:bodyPr>
          <a:lstStyle/>
          <a:p>
            <a:pPr marR="0" lvl="0" algn="l">
              <a:lnSpc>
                <a:spcPts val="1800"/>
              </a:lnSpc>
            </a:pPr>
            <a:r>
              <a:rPr lang="en-US" sz="1400" b="1" i="0" dirty="0">
                <a:solidFill>
                  <a:srgbClr val="000000"/>
                </a:solidFill>
                <a:effectLst/>
              </a:rPr>
              <a:t>Here, </a:t>
            </a:r>
          </a:p>
          <a:p>
            <a:pPr marL="742950" lvl="1" indent="-285750">
              <a:lnSpc>
                <a:spcPts val="1800"/>
              </a:lnSpc>
              <a:buFont typeface="Arial" panose="020B0604020202020204" pitchFamily="34" charset="0"/>
              <a:buChar char="•"/>
            </a:pPr>
            <a:r>
              <a:rPr lang="en-US" sz="1400" b="1" i="0" dirty="0">
                <a:solidFill>
                  <a:srgbClr val="000000"/>
                </a:solidFill>
                <a:effectLst/>
              </a:rPr>
              <a:t>scope</a:t>
            </a:r>
            <a:r>
              <a:rPr lang="en-US" sz="1400" b="0" i="0" dirty="0">
                <a:solidFill>
                  <a:srgbClr val="000000"/>
                </a:solidFill>
                <a:effectLst/>
              </a:rPr>
              <a:t> − It can be a class name, namespace, or, global.</a:t>
            </a:r>
          </a:p>
          <a:p>
            <a:pPr marL="742950" lvl="1" indent="-285750">
              <a:lnSpc>
                <a:spcPts val="1800"/>
              </a:lnSpc>
              <a:buFont typeface="Arial" panose="020B0604020202020204" pitchFamily="34" charset="0"/>
              <a:buChar char="•"/>
            </a:pPr>
            <a:r>
              <a:rPr lang="en-US" sz="1400" b="1" i="0" dirty="0">
                <a:solidFill>
                  <a:srgbClr val="000000"/>
                </a:solidFill>
                <a:effectLst/>
              </a:rPr>
              <a:t>identifier</a:t>
            </a:r>
            <a:r>
              <a:rPr lang="en-US" sz="1400" b="0" i="0" dirty="0">
                <a:solidFill>
                  <a:srgbClr val="000000"/>
                </a:solidFill>
                <a:effectLst/>
              </a:rPr>
              <a:t> − The identifier can be a variable, function, type, or, constant.</a:t>
            </a:r>
          </a:p>
        </p:txBody>
      </p:sp>
    </p:spTree>
    <p:extLst>
      <p:ext uri="{BB962C8B-B14F-4D97-AF65-F5344CB8AC3E}">
        <p14:creationId xmlns:p14="http://schemas.microsoft.com/office/powerpoint/2010/main" val="440335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48640" y="1508760"/>
            <a:ext cx="6035040" cy="1139190"/>
          </a:xfrm>
          <a:prstGeom prst="rect">
            <a:avLst/>
          </a:prstGeom>
          <a:noFill/>
          <a:ln/>
        </p:spPr>
        <p:txBody>
          <a:bodyPr wrap="square" rtlCol="0" anchor="t"/>
          <a:lstStyle/>
          <a:p>
            <a:pPr marL="0" indent="0">
              <a:buNone/>
            </a:pPr>
            <a:r>
              <a:rPr lang="en-US" sz="1450" b="1" dirty="0">
                <a:solidFill>
                  <a:srgbClr val="000000"/>
                </a:solidFill>
                <a:latin typeface="Helvetica" pitchFamily="34" charset="0"/>
                <a:ea typeface="Helvetica" pitchFamily="34" charset="-122"/>
                <a:cs typeface="Helvetica" pitchFamily="34" charset="-120"/>
              </a:rPr>
              <a:t>Definition:  </a:t>
            </a:r>
            <a:r>
              <a:rPr lang="en-US" sz="1450" dirty="0">
                <a:solidFill>
                  <a:srgbClr val="000000"/>
                </a:solidFill>
                <a:latin typeface="Helvetica" pitchFamily="34" charset="0"/>
                <a:ea typeface="Helvetica" pitchFamily="34" charset="-122"/>
                <a:cs typeface="Helvetica" pitchFamily="34" charset="-120"/>
              </a:rPr>
              <a:t>Automatic (implicit) conversion happens when the compiler silently converts one type to another because they appear together in an expression — usually widening (int to double), so no information is lost. Explicit conversion (a cast) is when the programmer forces a conversion, most safely with static_cast&lt;Type&gt;(value).</a:t>
            </a:r>
            <a:endParaRPr lang="en-US" sz="1450" dirty="0"/>
          </a:p>
        </p:txBody>
      </p:sp>
      <p:sp>
        <p:nvSpPr>
          <p:cNvPr id="5" name="Text 3"/>
          <p:cNvSpPr/>
          <p:nvPr/>
        </p:nvSpPr>
        <p:spPr>
          <a:xfrm>
            <a:off x="457200" y="2809875"/>
            <a:ext cx="6035040" cy="2651760"/>
          </a:xfrm>
          <a:prstGeom prst="rect">
            <a:avLst/>
          </a:prstGeom>
          <a:noFill/>
          <a:ln/>
        </p:spPr>
        <p:txBody>
          <a:bodyPr wrap="square" rtlCol="0" anchor="t"/>
          <a:lstStyle/>
          <a:p>
            <a:pPr marL="177800" indent="-177800">
              <a:spcAft>
                <a:spcPts val="800"/>
              </a:spcAft>
              <a:buSzPct val="100000"/>
              <a:buChar char="•"/>
            </a:pPr>
            <a:r>
              <a:rPr lang="en-US" sz="1350" dirty="0">
                <a:solidFill>
                  <a:srgbClr val="000000"/>
                </a:solidFill>
                <a:latin typeface="Helvetica" pitchFamily="34" charset="0"/>
                <a:ea typeface="Helvetica" pitchFamily="34" charset="-122"/>
                <a:cs typeface="Helvetica" pitchFamily="34" charset="-120"/>
              </a:rPr>
              <a:t>Implicit: double d = someInt;  (compiler converts automatically)</a:t>
            </a:r>
            <a:endParaRPr lang="en-US" sz="1350" dirty="0"/>
          </a:p>
          <a:p>
            <a:pPr marL="177800" indent="-177800">
              <a:spcAft>
                <a:spcPts val="800"/>
              </a:spcAft>
              <a:buSzPct val="100000"/>
              <a:buChar char="•"/>
            </a:pPr>
            <a:r>
              <a:rPr lang="en-US" sz="1350" dirty="0">
                <a:solidFill>
                  <a:srgbClr val="000000"/>
                </a:solidFill>
                <a:latin typeface="Helvetica" pitchFamily="34" charset="0"/>
                <a:ea typeface="Helvetica" pitchFamily="34" charset="-122"/>
                <a:cs typeface="Helvetica" pitchFamily="34" charset="-120"/>
              </a:rPr>
              <a:t>Implicit danger: int / int always gives an int result, even if assigned to a double</a:t>
            </a:r>
            <a:endParaRPr lang="en-US" sz="1350" dirty="0"/>
          </a:p>
          <a:p>
            <a:pPr marL="177800" indent="-177800">
              <a:spcAft>
                <a:spcPts val="800"/>
              </a:spcAft>
              <a:buSzPct val="100000"/>
              <a:buChar char="•"/>
            </a:pPr>
            <a:r>
              <a:rPr lang="en-US" sz="1350" dirty="0">
                <a:solidFill>
                  <a:srgbClr val="000000"/>
                </a:solidFill>
                <a:latin typeface="Helvetica" pitchFamily="34" charset="0"/>
                <a:ea typeface="Helvetica" pitchFamily="34" charset="-122"/>
                <a:cs typeface="Helvetica" pitchFamily="34" charset="-120"/>
              </a:rPr>
              <a:t>Explicit (C-style): (double) x   — still works, but not type-checked</a:t>
            </a:r>
            <a:endParaRPr lang="en-US" sz="1350" dirty="0"/>
          </a:p>
          <a:p>
            <a:pPr marL="177800" indent="-177800">
              <a:spcAft>
                <a:spcPts val="800"/>
              </a:spcAft>
              <a:buSzPct val="100000"/>
              <a:buChar char="•"/>
            </a:pPr>
            <a:r>
              <a:rPr lang="en-US" sz="1350" dirty="0">
                <a:solidFill>
                  <a:srgbClr val="000000"/>
                </a:solidFill>
                <a:latin typeface="Helvetica" pitchFamily="34" charset="0"/>
                <a:ea typeface="Helvetica" pitchFamily="34" charset="-122"/>
                <a:cs typeface="Helvetica" pitchFamily="34" charset="-120"/>
              </a:rPr>
              <a:t>Explicit (C++): static_cast&lt;double&gt;(x)  — checked, clearer intent</a:t>
            </a:r>
            <a:endParaRPr lang="en-US" sz="1350" dirty="0"/>
          </a:p>
          <a:p>
            <a:pPr marL="177800" indent="-177800">
              <a:spcAft>
                <a:spcPts val="800"/>
              </a:spcAft>
              <a:buSzPct val="100000"/>
              <a:buChar char="•"/>
            </a:pPr>
            <a:r>
              <a:rPr lang="en-US" sz="1350" dirty="0">
                <a:solidFill>
                  <a:srgbClr val="000000"/>
                </a:solidFill>
                <a:latin typeface="Helvetica" pitchFamily="34" charset="0"/>
                <a:ea typeface="Helvetica" pitchFamily="34" charset="-122"/>
                <a:cs typeface="Helvetica" pitchFamily="34" charset="-120"/>
              </a:rPr>
              <a:t>Other C++ casts: const_cast, dynamic_cast, reinterpret_cast (advanced use)</a:t>
            </a:r>
            <a:endParaRPr lang="en-US" sz="1350" dirty="0"/>
          </a:p>
        </p:txBody>
      </p:sp>
      <p:sp>
        <p:nvSpPr>
          <p:cNvPr id="6" name="Text 4"/>
          <p:cNvSpPr/>
          <p:nvPr/>
        </p:nvSpPr>
        <p:spPr>
          <a:xfrm>
            <a:off x="548640" y="5623560"/>
            <a:ext cx="6035040" cy="868680"/>
          </a:xfrm>
          <a:prstGeom prst="rect">
            <a:avLst/>
          </a:prstGeom>
          <a:solidFill>
            <a:srgbClr val="F2F2F2"/>
          </a:solidFill>
          <a:ln/>
        </p:spPr>
        <p:txBody>
          <a:bodyPr wrap="square" lIns="101600" tIns="101600" rIns="101600" bIns="101600" rtlCol="0" anchor="t"/>
          <a:lstStyle/>
          <a:p>
            <a:pPr marL="0" indent="0">
              <a:buNone/>
            </a:pPr>
            <a:r>
              <a:rPr lang="en-US" sz="1250" b="1" i="1" dirty="0">
                <a:solidFill>
                  <a:srgbClr val="595959"/>
                </a:solidFill>
                <a:latin typeface="Helvetica" pitchFamily="34" charset="0"/>
                <a:ea typeface="Helvetica" pitchFamily="34" charset="-122"/>
                <a:cs typeface="Helvetica" pitchFamily="34" charset="-120"/>
              </a:rPr>
              <a:t>Analogy:  </a:t>
            </a:r>
            <a:r>
              <a:rPr lang="en-US" sz="1250" i="1" dirty="0">
                <a:solidFill>
                  <a:srgbClr val="595959"/>
                </a:solidFill>
                <a:latin typeface="Helvetica" pitchFamily="34" charset="0"/>
                <a:ea typeface="Helvetica" pitchFamily="34" charset="-122"/>
                <a:cs typeface="Helvetica" pitchFamily="34" charset="-120"/>
              </a:rPr>
              <a:t>Implicit conversion is like a shop automatically rounding your change to the nearest coin without asking. An explicit cast is you deliberately asking the cashier for a specific denomination.</a:t>
            </a:r>
            <a:endParaRPr lang="en-US" sz="1250" dirty="0"/>
          </a:p>
        </p:txBody>
      </p:sp>
      <p:sp>
        <p:nvSpPr>
          <p:cNvPr id="7" name="Shape 5"/>
          <p:cNvSpPr/>
          <p:nvPr/>
        </p:nvSpPr>
        <p:spPr>
          <a:xfrm>
            <a:off x="7010400" y="1485900"/>
            <a:ext cx="4800600" cy="4709160"/>
          </a:xfrm>
          <a:prstGeom prst="rect">
            <a:avLst/>
          </a:prstGeom>
          <a:solidFill>
            <a:srgbClr val="F2F2F2"/>
          </a:solidFill>
          <a:ln w="9525">
            <a:solidFill>
              <a:srgbClr val="BFBFBF"/>
            </a:solidFill>
            <a:prstDash val="solid"/>
          </a:ln>
        </p:spPr>
      </p:sp>
      <p:sp>
        <p:nvSpPr>
          <p:cNvPr id="8" name="Shape 6"/>
          <p:cNvSpPr/>
          <p:nvPr/>
        </p:nvSpPr>
        <p:spPr>
          <a:xfrm>
            <a:off x="7284720" y="1851660"/>
            <a:ext cx="1463040" cy="640080"/>
          </a:xfrm>
          <a:prstGeom prst="rect">
            <a:avLst/>
          </a:prstGeom>
          <a:solidFill>
            <a:srgbClr val="FFFFFF"/>
          </a:solidFill>
          <a:ln w="15875">
            <a:solidFill>
              <a:srgbClr val="000000"/>
            </a:solidFill>
            <a:prstDash val="solid"/>
          </a:ln>
        </p:spPr>
      </p:sp>
      <p:sp>
        <p:nvSpPr>
          <p:cNvPr id="9" name="Text 7"/>
          <p:cNvSpPr/>
          <p:nvPr/>
        </p:nvSpPr>
        <p:spPr>
          <a:xfrm>
            <a:off x="7284720" y="1851660"/>
            <a:ext cx="1463040" cy="640080"/>
          </a:xfrm>
          <a:prstGeom prst="rect">
            <a:avLst/>
          </a:prstGeom>
          <a:noFill/>
          <a:ln/>
        </p:spPr>
        <p:txBody>
          <a:bodyPr wrap="square" rtlCol="0" anchor="ctr"/>
          <a:lstStyle/>
          <a:p>
            <a:pPr marL="0" indent="0" algn="ctr">
              <a:buNone/>
            </a:pPr>
            <a:r>
              <a:rPr lang="en-US" sz="1050" dirty="0">
                <a:solidFill>
                  <a:srgbClr val="000000"/>
                </a:solidFill>
                <a:latin typeface="Courier New" pitchFamily="34" charset="0"/>
                <a:ea typeface="Courier New" pitchFamily="34" charset="-122"/>
                <a:cs typeface="Courier New" pitchFamily="34" charset="-120"/>
              </a:rPr>
              <a:t>int a = 7</a:t>
            </a:r>
            <a:endParaRPr lang="en-US" sz="1050" dirty="0"/>
          </a:p>
        </p:txBody>
      </p:sp>
      <p:sp>
        <p:nvSpPr>
          <p:cNvPr id="10" name="Shape 8"/>
          <p:cNvSpPr/>
          <p:nvPr/>
        </p:nvSpPr>
        <p:spPr>
          <a:xfrm>
            <a:off x="8747760" y="2171700"/>
            <a:ext cx="1097280" cy="9144"/>
          </a:xfrm>
          <a:prstGeom prst="line">
            <a:avLst/>
          </a:prstGeom>
          <a:noFill/>
          <a:ln w="19050">
            <a:solidFill>
              <a:srgbClr val="000000"/>
            </a:solidFill>
            <a:prstDash val="solid"/>
            <a:tailEnd type="triangle"/>
          </a:ln>
        </p:spPr>
      </p:sp>
      <p:sp>
        <p:nvSpPr>
          <p:cNvPr id="11" name="Text 9"/>
          <p:cNvSpPr/>
          <p:nvPr/>
        </p:nvSpPr>
        <p:spPr>
          <a:xfrm>
            <a:off x="8747760" y="1623060"/>
            <a:ext cx="1097280" cy="320040"/>
          </a:xfrm>
          <a:prstGeom prst="rect">
            <a:avLst/>
          </a:prstGeom>
          <a:noFill/>
          <a:ln/>
        </p:spPr>
        <p:txBody>
          <a:bodyPr wrap="square" rtlCol="0" anchor="ctr"/>
          <a:lstStyle/>
          <a:p>
            <a:pPr marL="0" indent="0" algn="ctr">
              <a:buNone/>
            </a:pPr>
            <a:r>
              <a:rPr lang="en-US" sz="900" dirty="0">
                <a:solidFill>
                  <a:srgbClr val="595959"/>
                </a:solidFill>
                <a:latin typeface="Helvetica" pitchFamily="34" charset="0"/>
                <a:ea typeface="Helvetica" pitchFamily="34" charset="-122"/>
                <a:cs typeface="Helvetica" pitchFamily="34" charset="-120"/>
              </a:rPr>
              <a:t>implicit</a:t>
            </a:r>
            <a:endParaRPr lang="en-US" sz="900" dirty="0"/>
          </a:p>
          <a:p>
            <a:pPr marL="0" indent="0" algn="ctr">
              <a:buNone/>
            </a:pPr>
            <a:r>
              <a:rPr lang="en-US" sz="900" dirty="0">
                <a:solidFill>
                  <a:srgbClr val="595959"/>
                </a:solidFill>
                <a:latin typeface="Helvetica" pitchFamily="34" charset="0"/>
                <a:ea typeface="Helvetica" pitchFamily="34" charset="-122"/>
                <a:cs typeface="Helvetica" pitchFamily="34" charset="-120"/>
              </a:rPr>
              <a:t>widen</a:t>
            </a:r>
            <a:endParaRPr lang="en-US" sz="900" dirty="0"/>
          </a:p>
        </p:txBody>
      </p:sp>
      <p:sp>
        <p:nvSpPr>
          <p:cNvPr id="12" name="Shape 10"/>
          <p:cNvSpPr/>
          <p:nvPr/>
        </p:nvSpPr>
        <p:spPr>
          <a:xfrm>
            <a:off x="9890760" y="1851660"/>
            <a:ext cx="1554480" cy="640080"/>
          </a:xfrm>
          <a:prstGeom prst="rect">
            <a:avLst/>
          </a:prstGeom>
          <a:solidFill>
            <a:srgbClr val="FFFFFF"/>
          </a:solidFill>
          <a:ln w="15875">
            <a:solidFill>
              <a:srgbClr val="000000"/>
            </a:solidFill>
            <a:prstDash val="solid"/>
          </a:ln>
        </p:spPr>
      </p:sp>
      <p:sp>
        <p:nvSpPr>
          <p:cNvPr id="13" name="Text 11"/>
          <p:cNvSpPr/>
          <p:nvPr/>
        </p:nvSpPr>
        <p:spPr>
          <a:xfrm>
            <a:off x="9890760" y="1851660"/>
            <a:ext cx="1554480" cy="640080"/>
          </a:xfrm>
          <a:prstGeom prst="rect">
            <a:avLst/>
          </a:prstGeom>
          <a:noFill/>
          <a:ln/>
        </p:spPr>
        <p:txBody>
          <a:bodyPr wrap="square" rtlCol="0" anchor="ctr"/>
          <a:lstStyle/>
          <a:p>
            <a:pPr marL="0" indent="0" algn="ctr">
              <a:buNone/>
            </a:pPr>
            <a:r>
              <a:rPr lang="en-US" sz="1050" dirty="0">
                <a:solidFill>
                  <a:srgbClr val="000000"/>
                </a:solidFill>
                <a:latin typeface="Courier New" pitchFamily="34" charset="0"/>
                <a:ea typeface="Courier New" pitchFamily="34" charset="-122"/>
                <a:cs typeface="Courier New" pitchFamily="34" charset="-120"/>
              </a:rPr>
              <a:t>double 7.0</a:t>
            </a:r>
            <a:endParaRPr lang="en-US" sz="1050" dirty="0"/>
          </a:p>
        </p:txBody>
      </p:sp>
      <p:sp>
        <p:nvSpPr>
          <p:cNvPr id="14" name="Shape 12"/>
          <p:cNvSpPr/>
          <p:nvPr/>
        </p:nvSpPr>
        <p:spPr>
          <a:xfrm>
            <a:off x="7284720" y="3040380"/>
            <a:ext cx="4160520" cy="731520"/>
          </a:xfrm>
          <a:prstGeom prst="rect">
            <a:avLst/>
          </a:prstGeom>
          <a:solidFill>
            <a:srgbClr val="E8E8E8"/>
          </a:solidFill>
          <a:ln w="15875">
            <a:solidFill>
              <a:srgbClr val="000000"/>
            </a:solidFill>
            <a:prstDash val="solid"/>
          </a:ln>
        </p:spPr>
      </p:sp>
      <p:sp>
        <p:nvSpPr>
          <p:cNvPr id="15" name="Text 13"/>
          <p:cNvSpPr/>
          <p:nvPr/>
        </p:nvSpPr>
        <p:spPr>
          <a:xfrm>
            <a:off x="7284720" y="3040380"/>
            <a:ext cx="4160520" cy="731520"/>
          </a:xfrm>
          <a:prstGeom prst="rect">
            <a:avLst/>
          </a:prstGeom>
          <a:noFill/>
          <a:ln/>
        </p:spPr>
        <p:txBody>
          <a:bodyPr wrap="square" rtlCol="0" anchor="ctr"/>
          <a:lstStyle/>
          <a:p>
            <a:pPr marL="0" indent="0" algn="ctr">
              <a:buNone/>
            </a:pPr>
            <a:r>
              <a:rPr lang="en-US" sz="1000" dirty="0">
                <a:solidFill>
                  <a:srgbClr val="000000"/>
                </a:solidFill>
                <a:latin typeface="Courier New" pitchFamily="34" charset="0"/>
                <a:ea typeface="Courier New" pitchFamily="34" charset="-122"/>
                <a:cs typeface="Courier New" pitchFamily="34" charset="-120"/>
              </a:rPr>
              <a:t>int a=7,b=2;</a:t>
            </a:r>
            <a:endParaRPr lang="en-US" sz="1000" dirty="0"/>
          </a:p>
          <a:p>
            <a:pPr marL="0" indent="0" algn="ctr">
              <a:buNone/>
            </a:pPr>
            <a:r>
              <a:rPr lang="en-US" sz="1000" dirty="0">
                <a:solidFill>
                  <a:srgbClr val="000000"/>
                </a:solidFill>
                <a:latin typeface="Courier New" pitchFamily="34" charset="0"/>
                <a:ea typeface="Courier New" pitchFamily="34" charset="-122"/>
                <a:cs typeface="Courier New" pitchFamily="34" charset="-120"/>
              </a:rPr>
              <a:t>double r = a / b;   // r = 3.0 (!)</a:t>
            </a:r>
            <a:endParaRPr lang="en-US" sz="1000" dirty="0"/>
          </a:p>
        </p:txBody>
      </p:sp>
      <p:sp>
        <p:nvSpPr>
          <p:cNvPr id="16" name="Text 14"/>
          <p:cNvSpPr/>
          <p:nvPr/>
        </p:nvSpPr>
        <p:spPr>
          <a:xfrm>
            <a:off x="7284720" y="3817620"/>
            <a:ext cx="4251960" cy="320040"/>
          </a:xfrm>
          <a:prstGeom prst="rect">
            <a:avLst/>
          </a:prstGeom>
          <a:noFill/>
          <a:ln/>
        </p:spPr>
        <p:txBody>
          <a:bodyPr wrap="square" rtlCol="0" anchor="ctr"/>
          <a:lstStyle/>
          <a:p>
            <a:pPr marL="0" indent="0" algn="ctr">
              <a:buNone/>
            </a:pPr>
            <a:r>
              <a:rPr lang="en-US" sz="950" dirty="0">
                <a:solidFill>
                  <a:srgbClr val="595959"/>
                </a:solidFill>
                <a:latin typeface="Helvetica" pitchFamily="34" charset="0"/>
                <a:ea typeface="Helvetica" pitchFamily="34" charset="-122"/>
                <a:cs typeface="Helvetica" pitchFamily="34" charset="-120"/>
              </a:rPr>
              <a:t>int/int happens FIRST, then widens — precision already lost</a:t>
            </a:r>
            <a:endParaRPr lang="en-US" sz="950" dirty="0"/>
          </a:p>
        </p:txBody>
      </p:sp>
      <p:sp>
        <p:nvSpPr>
          <p:cNvPr id="17" name="Shape 15"/>
          <p:cNvSpPr/>
          <p:nvPr/>
        </p:nvSpPr>
        <p:spPr>
          <a:xfrm>
            <a:off x="7284720" y="4503420"/>
            <a:ext cx="4160520" cy="731520"/>
          </a:xfrm>
          <a:prstGeom prst="rect">
            <a:avLst/>
          </a:prstGeom>
          <a:solidFill>
            <a:srgbClr val="E8E8E8"/>
          </a:solidFill>
          <a:ln w="15875">
            <a:solidFill>
              <a:srgbClr val="000000"/>
            </a:solidFill>
            <a:prstDash val="solid"/>
          </a:ln>
        </p:spPr>
      </p:sp>
      <p:sp>
        <p:nvSpPr>
          <p:cNvPr id="18" name="Text 16"/>
          <p:cNvSpPr/>
          <p:nvPr/>
        </p:nvSpPr>
        <p:spPr>
          <a:xfrm>
            <a:off x="7284720" y="4503420"/>
            <a:ext cx="4160520" cy="731520"/>
          </a:xfrm>
          <a:prstGeom prst="rect">
            <a:avLst/>
          </a:prstGeom>
          <a:noFill/>
          <a:ln/>
        </p:spPr>
        <p:txBody>
          <a:bodyPr wrap="square" rtlCol="0" anchor="ctr"/>
          <a:lstStyle/>
          <a:p>
            <a:pPr marL="0" indent="0" algn="ctr">
              <a:buNone/>
            </a:pPr>
            <a:r>
              <a:rPr lang="en-US" sz="1000" dirty="0">
                <a:solidFill>
                  <a:srgbClr val="000000"/>
                </a:solidFill>
                <a:latin typeface="Courier New" pitchFamily="34" charset="0"/>
                <a:ea typeface="Courier New" pitchFamily="34" charset="-122"/>
                <a:cs typeface="Courier New" pitchFamily="34" charset="-120"/>
              </a:rPr>
              <a:t>double r =</a:t>
            </a:r>
            <a:endParaRPr lang="en-US" sz="1000" dirty="0"/>
          </a:p>
          <a:p>
            <a:pPr marL="0" indent="0" algn="ctr">
              <a:buNone/>
            </a:pPr>
            <a:r>
              <a:rPr lang="en-US" sz="1000" dirty="0">
                <a:solidFill>
                  <a:srgbClr val="000000"/>
                </a:solidFill>
                <a:latin typeface="Courier New" pitchFamily="34" charset="0"/>
                <a:ea typeface="Courier New" pitchFamily="34" charset="-122"/>
                <a:cs typeface="Courier New" pitchFamily="34" charset="-120"/>
              </a:rPr>
              <a:t>  static_cast&lt;double&gt;(a) / b;  // 3.5</a:t>
            </a:r>
            <a:endParaRPr lang="en-US" sz="1000" dirty="0"/>
          </a:p>
        </p:txBody>
      </p:sp>
      <p:sp>
        <p:nvSpPr>
          <p:cNvPr id="19" name="Text 17"/>
          <p:cNvSpPr/>
          <p:nvPr/>
        </p:nvSpPr>
        <p:spPr>
          <a:xfrm>
            <a:off x="7284720" y="5280660"/>
            <a:ext cx="4251960" cy="320040"/>
          </a:xfrm>
          <a:prstGeom prst="rect">
            <a:avLst/>
          </a:prstGeom>
          <a:noFill/>
          <a:ln/>
        </p:spPr>
        <p:txBody>
          <a:bodyPr wrap="square" rtlCol="0" anchor="ctr"/>
          <a:lstStyle/>
          <a:p>
            <a:pPr marL="0" indent="0" algn="ctr">
              <a:buNone/>
            </a:pPr>
            <a:r>
              <a:rPr lang="en-US" sz="950" dirty="0">
                <a:solidFill>
                  <a:srgbClr val="595959"/>
                </a:solidFill>
                <a:latin typeface="Helvetica" pitchFamily="34" charset="0"/>
                <a:ea typeface="Helvetica" pitchFamily="34" charset="-122"/>
                <a:cs typeface="Helvetica" pitchFamily="34" charset="-120"/>
              </a:rPr>
              <a:t>Explicit cast BEFORE the division fixes it</a:t>
            </a:r>
            <a:endParaRPr lang="en-US" sz="950" dirty="0"/>
          </a:p>
        </p:txBody>
      </p:sp>
      <p:sp>
        <p:nvSpPr>
          <p:cNvPr id="20" name="Text 0">
            <a:extLst>
              <a:ext uri="{FF2B5EF4-FFF2-40B4-BE49-F238E27FC236}">
                <a16:creationId xmlns:a16="http://schemas.microsoft.com/office/drawing/2014/main" id="{29611DC0-DD47-5D9C-2F3E-3BEFD1BB1444}"/>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
        <p:nvSpPr>
          <p:cNvPr id="24" name="Text 1">
            <a:extLst>
              <a:ext uri="{FF2B5EF4-FFF2-40B4-BE49-F238E27FC236}">
                <a16:creationId xmlns:a16="http://schemas.microsoft.com/office/drawing/2014/main" id="{EECEE844-EAC4-9C32-8C3B-9F6B17E6EDA3}"/>
              </a:ext>
            </a:extLst>
          </p:cNvPr>
          <p:cNvSpPr/>
          <p:nvPr/>
        </p:nvSpPr>
        <p:spPr>
          <a:xfrm>
            <a:off x="548640" y="874395"/>
            <a:ext cx="11262360" cy="510051"/>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Type Conversion</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
        <p:nvSpPr>
          <p:cNvPr id="6" name="TextBox 5">
            <a:extLst>
              <a:ext uri="{FF2B5EF4-FFF2-40B4-BE49-F238E27FC236}">
                <a16:creationId xmlns:a16="http://schemas.microsoft.com/office/drawing/2014/main" id="{FA69570B-741E-6A7C-98C9-8C24C5684BB2}"/>
              </a:ext>
            </a:extLst>
          </p:cNvPr>
          <p:cNvSpPr txBox="1"/>
          <p:nvPr/>
        </p:nvSpPr>
        <p:spPr>
          <a:xfrm>
            <a:off x="548640" y="1833737"/>
            <a:ext cx="11091672" cy="3931920"/>
          </a:xfrm>
          <a:prstGeom prst="rect">
            <a:avLst/>
          </a:prstGeom>
          <a:solidFill>
            <a:schemeClr val="bg1">
              <a:lumMod val="95000"/>
            </a:schemeClr>
          </a:solidFill>
          <a:ln>
            <a:solidFill>
              <a:srgbClr val="000000"/>
            </a:solidFill>
          </a:ln>
        </p:spPr>
        <p:txBody>
          <a:bodyPr wrap="square" rtlCol="0">
            <a:spAutoFit/>
          </a:bodyPr>
          <a:lstStyle/>
          <a:p>
            <a:r>
              <a:rPr lang="en-US" sz="1400" dirty="0">
                <a:latin typeface="Courier New" panose="02070309020205020404" pitchFamily="49" charset="0"/>
                <a:cs typeface="Courier New" panose="02070309020205020404" pitchFamily="49" charset="0"/>
              </a:rPr>
              <a:t>#include &lt;iostream&gt;</a:t>
            </a:r>
          </a:p>
          <a:p>
            <a:r>
              <a:rPr lang="en-US" sz="1400" dirty="0">
                <a:latin typeface="Courier New" panose="02070309020205020404" pitchFamily="49" charset="0"/>
                <a:cs typeface="Courier New" panose="02070309020205020404" pitchFamily="49" charset="0"/>
              </a:rPr>
              <a:t>using namespace std;</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int main() {</a:t>
            </a:r>
          </a:p>
          <a:p>
            <a:r>
              <a:rPr lang="en-US" sz="1400" dirty="0">
                <a:latin typeface="Courier New" panose="02070309020205020404" pitchFamily="49" charset="0"/>
                <a:cs typeface="Courier New" panose="02070309020205020404" pitchFamily="49" charset="0"/>
              </a:rPr>
              <a:t>    int a = 10;</a:t>
            </a:r>
          </a:p>
          <a:p>
            <a:r>
              <a:rPr lang="en-US" sz="1400" dirty="0">
                <a:latin typeface="Courier New" panose="02070309020205020404" pitchFamily="49" charset="0"/>
                <a:cs typeface="Courier New" panose="02070309020205020404" pitchFamily="49" charset="0"/>
              </a:rPr>
              <a:t>    double b = 3.5;</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double result = a + b;   // automatic (implicit) conversion: a promoted to double</a:t>
            </a:r>
          </a:p>
          <a:p>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cout</a:t>
            </a:r>
            <a:r>
              <a:rPr lang="en-US" sz="1400" dirty="0">
                <a:latin typeface="Courier New" panose="02070309020205020404" pitchFamily="49" charset="0"/>
                <a:cs typeface="Courier New" panose="02070309020205020404" pitchFamily="49" charset="0"/>
              </a:rPr>
              <a:t> &lt;&lt; "Implicit: " &lt;&lt; result &lt;&lt; </a:t>
            </a:r>
            <a:r>
              <a:rPr lang="en-US" sz="1400" dirty="0" err="1">
                <a:latin typeface="Courier New" panose="02070309020205020404" pitchFamily="49" charset="0"/>
                <a:cs typeface="Courier New" panose="02070309020205020404" pitchFamily="49" charset="0"/>
              </a:rPr>
              <a:t>endl</a:t>
            </a:r>
            <a:r>
              <a:rPr lang="en-US" sz="1400" dirty="0">
                <a:latin typeface="Courier New" panose="02070309020205020404" pitchFamily="49" charset="0"/>
                <a:cs typeface="Courier New" panose="02070309020205020404" pitchFamily="49" charset="0"/>
              </a:rPr>
              <a:t>;   // 13.5</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double pi = 3.14159;</a:t>
            </a:r>
          </a:p>
          <a:p>
            <a:r>
              <a:rPr lang="en-US" sz="1400" dirty="0">
                <a:latin typeface="Courier New" panose="02070309020205020404" pitchFamily="49" charset="0"/>
                <a:cs typeface="Courier New" panose="02070309020205020404" pitchFamily="49" charset="0"/>
              </a:rPr>
              <a:t>    int truncated = </a:t>
            </a:r>
            <a:r>
              <a:rPr lang="en-US" sz="1400" dirty="0" err="1">
                <a:latin typeface="Courier New" panose="02070309020205020404" pitchFamily="49" charset="0"/>
                <a:cs typeface="Courier New" panose="02070309020205020404" pitchFamily="49" charset="0"/>
              </a:rPr>
              <a:t>static_cast</a:t>
            </a:r>
            <a:r>
              <a:rPr lang="en-US" sz="1400" dirty="0">
                <a:latin typeface="Courier New" panose="02070309020205020404" pitchFamily="49" charset="0"/>
                <a:cs typeface="Courier New" panose="02070309020205020404" pitchFamily="49" charset="0"/>
              </a:rPr>
              <a:t>&lt;int&gt;(pi);     // explicit cast</a:t>
            </a:r>
          </a:p>
          <a:p>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cout</a:t>
            </a:r>
            <a:r>
              <a:rPr lang="en-US" sz="1400" dirty="0">
                <a:latin typeface="Courier New" panose="02070309020205020404" pitchFamily="49" charset="0"/>
                <a:cs typeface="Courier New" panose="02070309020205020404" pitchFamily="49" charset="0"/>
              </a:rPr>
              <a:t> &lt;&lt; "Explicit cast: " &lt;&lt; truncated &lt;&lt; </a:t>
            </a:r>
            <a:r>
              <a:rPr lang="en-US" sz="1400" dirty="0" err="1">
                <a:latin typeface="Courier New" panose="02070309020205020404" pitchFamily="49" charset="0"/>
                <a:cs typeface="Courier New" panose="02070309020205020404" pitchFamily="49" charset="0"/>
              </a:rPr>
              <a:t>endl</a:t>
            </a:r>
            <a:r>
              <a:rPr lang="en-US" sz="1400" dirty="0">
                <a:latin typeface="Courier New" panose="02070309020205020404" pitchFamily="49" charset="0"/>
                <a:cs typeface="Courier New" panose="02070309020205020404" pitchFamily="49" charset="0"/>
              </a:rPr>
              <a:t>;  // 3</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return 0;</a:t>
            </a:r>
          </a:p>
          <a:p>
            <a:r>
              <a:rPr lang="en-US" sz="1400" dirty="0">
                <a:latin typeface="Courier New" panose="02070309020205020404" pitchFamily="49" charset="0"/>
                <a:cs typeface="Courier New" panose="02070309020205020404" pitchFamily="49" charset="0"/>
              </a:rPr>
              <a:t>}</a:t>
            </a:r>
          </a:p>
        </p:txBody>
      </p:sp>
      <p:sp>
        <p:nvSpPr>
          <p:cNvPr id="7" name="Text 1">
            <a:extLst>
              <a:ext uri="{FF2B5EF4-FFF2-40B4-BE49-F238E27FC236}">
                <a16:creationId xmlns:a16="http://schemas.microsoft.com/office/drawing/2014/main" id="{3CA6A09B-CE18-EFBD-CBED-555C39C13453}"/>
              </a:ext>
            </a:extLst>
          </p:cNvPr>
          <p:cNvSpPr/>
          <p:nvPr/>
        </p:nvSpPr>
        <p:spPr>
          <a:xfrm>
            <a:off x="548640" y="874395"/>
            <a:ext cx="11262360" cy="510051"/>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Type Conversion</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731520"/>
            <a:ext cx="11091672" cy="73152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Arrays and Pointers</a:t>
            </a:r>
            <a:endParaRPr lang="en-US" sz="2200" dirty="0"/>
          </a:p>
        </p:txBody>
      </p:sp>
      <p:sp>
        <p:nvSpPr>
          <p:cNvPr id="4" name="Text 2"/>
          <p:cNvSpPr/>
          <p:nvPr/>
        </p:nvSpPr>
        <p:spPr>
          <a:xfrm>
            <a:off x="548640" y="1508760"/>
            <a:ext cx="6035040" cy="1536192"/>
          </a:xfrm>
          <a:prstGeom prst="rect">
            <a:avLst/>
          </a:prstGeom>
          <a:noFill/>
          <a:ln/>
        </p:spPr>
        <p:txBody>
          <a:bodyPr wrap="square" rtlCol="0" anchor="t"/>
          <a:lstStyle/>
          <a:p>
            <a:pPr marL="0" indent="0">
              <a:buNone/>
            </a:pPr>
            <a:r>
              <a:rPr lang="en-US" sz="1450" b="1" dirty="0">
                <a:solidFill>
                  <a:srgbClr val="000000"/>
                </a:solidFill>
                <a:latin typeface="Helvetica" pitchFamily="34" charset="0"/>
                <a:ea typeface="Helvetica" pitchFamily="34" charset="-122"/>
                <a:cs typeface="Helvetica" pitchFamily="34" charset="-120"/>
              </a:rPr>
              <a:t>Definition:  </a:t>
            </a:r>
          </a:p>
          <a:p>
            <a:pPr marL="285750" indent="-285750">
              <a:buFont typeface="Arial" panose="020B0604020202020204" pitchFamily="34" charset="0"/>
              <a:buChar char="•"/>
            </a:pPr>
            <a:r>
              <a:rPr lang="en-US" sz="1450" dirty="0">
                <a:solidFill>
                  <a:srgbClr val="000000"/>
                </a:solidFill>
                <a:latin typeface="Helvetica" pitchFamily="34" charset="0"/>
                <a:ea typeface="Helvetica" pitchFamily="34" charset="-122"/>
                <a:cs typeface="Helvetica" pitchFamily="34" charset="-120"/>
              </a:rPr>
              <a:t>An array is a fixed-size, contiguous block of elements of the same type, accessed by index. </a:t>
            </a:r>
          </a:p>
          <a:p>
            <a:pPr marL="285750" indent="-285750">
              <a:buFont typeface="Arial" panose="020B0604020202020204" pitchFamily="34" charset="0"/>
              <a:buChar char="•"/>
            </a:pPr>
            <a:r>
              <a:rPr lang="en-US" sz="1450" dirty="0">
                <a:solidFill>
                  <a:srgbClr val="000000"/>
                </a:solidFill>
                <a:latin typeface="Helvetica" pitchFamily="34" charset="0"/>
                <a:ea typeface="Helvetica" pitchFamily="34" charset="-122"/>
                <a:cs typeface="Helvetica" pitchFamily="34" charset="-120"/>
              </a:rPr>
              <a:t>A pointer is a variable that stores a memory address. </a:t>
            </a:r>
          </a:p>
          <a:p>
            <a:pPr marL="285750" indent="-285750">
              <a:buFont typeface="Arial" panose="020B0604020202020204" pitchFamily="34" charset="0"/>
              <a:buChar char="•"/>
            </a:pPr>
            <a:r>
              <a:rPr lang="en-US" sz="1450" dirty="0">
                <a:solidFill>
                  <a:srgbClr val="000000"/>
                </a:solidFill>
                <a:latin typeface="Helvetica" pitchFamily="34" charset="0"/>
                <a:ea typeface="Helvetica" pitchFamily="34" charset="-122"/>
                <a:cs typeface="Helvetica" pitchFamily="34" charset="-120"/>
              </a:rPr>
              <a:t>An array's name, in most expressions, decays into a pointer to its first element — so arr[i] and *(arr + i) mean the same thing.</a:t>
            </a:r>
            <a:endParaRPr lang="en-US" sz="1450" dirty="0"/>
          </a:p>
        </p:txBody>
      </p:sp>
      <p:sp>
        <p:nvSpPr>
          <p:cNvPr id="5" name="Text 3"/>
          <p:cNvSpPr/>
          <p:nvPr/>
        </p:nvSpPr>
        <p:spPr>
          <a:xfrm>
            <a:off x="548640" y="3495674"/>
            <a:ext cx="6035040" cy="1716405"/>
          </a:xfrm>
          <a:prstGeom prst="rect">
            <a:avLst/>
          </a:prstGeom>
          <a:noFill/>
          <a:ln/>
        </p:spPr>
        <p:txBody>
          <a:bodyPr wrap="square" rtlCol="0" anchor="t"/>
          <a:lstStyle/>
          <a:p>
            <a:pPr marL="177800" indent="-177800">
              <a:spcAft>
                <a:spcPts val="800"/>
              </a:spcAft>
              <a:buSzPct val="100000"/>
              <a:buChar char="•"/>
            </a:pPr>
            <a:r>
              <a:rPr lang="en-US" sz="1350" dirty="0">
                <a:solidFill>
                  <a:srgbClr val="000000"/>
                </a:solidFill>
                <a:latin typeface="Helvetica" pitchFamily="34" charset="0"/>
                <a:ea typeface="Helvetica" pitchFamily="34" charset="-122"/>
                <a:cs typeface="Helvetica" pitchFamily="34" charset="-120"/>
              </a:rPr>
              <a:t>int marks[5];    declares 5 contiguous ints</a:t>
            </a:r>
            <a:endParaRPr lang="en-US" sz="1350" dirty="0"/>
          </a:p>
          <a:p>
            <a:pPr marL="177800" indent="-177800">
              <a:spcAft>
                <a:spcPts val="800"/>
              </a:spcAft>
              <a:buSzPct val="100000"/>
              <a:buChar char="•"/>
            </a:pPr>
            <a:r>
              <a:rPr lang="en-US" sz="1350" dirty="0">
                <a:solidFill>
                  <a:srgbClr val="000000"/>
                </a:solidFill>
                <a:latin typeface="Helvetica" pitchFamily="34" charset="0"/>
                <a:ea typeface="Helvetica" pitchFamily="34" charset="-122"/>
                <a:cs typeface="Helvetica" pitchFamily="34" charset="-120"/>
              </a:rPr>
              <a:t>int *ptr = marks;   ptr now holds the address of marks[0]</a:t>
            </a:r>
            <a:endParaRPr lang="en-US" sz="1350" dirty="0"/>
          </a:p>
          <a:p>
            <a:pPr marL="177800" indent="-177800">
              <a:spcAft>
                <a:spcPts val="800"/>
              </a:spcAft>
              <a:buSzPct val="100000"/>
              <a:buChar char="•"/>
            </a:pPr>
            <a:r>
              <a:rPr lang="en-US" sz="1350" dirty="0">
                <a:solidFill>
                  <a:srgbClr val="000000"/>
                </a:solidFill>
                <a:latin typeface="Helvetica" pitchFamily="34" charset="0"/>
                <a:ea typeface="Helvetica" pitchFamily="34" charset="-122"/>
                <a:cs typeface="Helvetica" pitchFamily="34" charset="-120"/>
              </a:rPr>
              <a:t>marks[i]  is exactly equivalent to  *(marks + i)</a:t>
            </a:r>
            <a:endParaRPr lang="en-US" sz="1350" dirty="0"/>
          </a:p>
          <a:p>
            <a:pPr marL="177800" indent="-177800">
              <a:spcAft>
                <a:spcPts val="800"/>
              </a:spcAft>
              <a:buSzPct val="100000"/>
              <a:buChar char="•"/>
            </a:pPr>
            <a:r>
              <a:rPr lang="en-US" sz="1350" dirty="0">
                <a:solidFill>
                  <a:srgbClr val="000000"/>
                </a:solidFill>
                <a:latin typeface="Helvetica" pitchFamily="34" charset="0"/>
                <a:ea typeface="Helvetica" pitchFamily="34" charset="-122"/>
                <a:cs typeface="Helvetica" pitchFamily="34" charset="-120"/>
              </a:rPr>
              <a:t>Pointer arithmetic moves in units of the pointed-to TYPE's size, not raw bytes</a:t>
            </a:r>
            <a:endParaRPr lang="en-US" sz="1350" dirty="0"/>
          </a:p>
          <a:p>
            <a:pPr marL="177800" indent="-177800">
              <a:spcAft>
                <a:spcPts val="800"/>
              </a:spcAft>
              <a:buSzPct val="100000"/>
              <a:buChar char="•"/>
            </a:pPr>
            <a:r>
              <a:rPr lang="en-US" sz="1350" dirty="0">
                <a:solidFill>
                  <a:srgbClr val="000000"/>
                </a:solidFill>
                <a:latin typeface="Helvetica" pitchFamily="34" charset="0"/>
                <a:ea typeface="Helvetica" pitchFamily="34" charset="-122"/>
                <a:cs typeface="Helvetica" pitchFamily="34" charset="-120"/>
              </a:rPr>
              <a:t>Pointers can also point to dynamically allocated memory (Topic 5)</a:t>
            </a:r>
            <a:endParaRPr lang="en-US" sz="1350" dirty="0"/>
          </a:p>
        </p:txBody>
      </p:sp>
      <p:sp>
        <p:nvSpPr>
          <p:cNvPr id="6" name="Text 4"/>
          <p:cNvSpPr/>
          <p:nvPr/>
        </p:nvSpPr>
        <p:spPr>
          <a:xfrm>
            <a:off x="548640" y="5623560"/>
            <a:ext cx="6035040" cy="868680"/>
          </a:xfrm>
          <a:prstGeom prst="rect">
            <a:avLst/>
          </a:prstGeom>
          <a:solidFill>
            <a:srgbClr val="F2F2F2"/>
          </a:solidFill>
          <a:ln/>
        </p:spPr>
        <p:txBody>
          <a:bodyPr wrap="square" lIns="101600" tIns="101600" rIns="101600" bIns="101600" rtlCol="0" anchor="t"/>
          <a:lstStyle/>
          <a:p>
            <a:pPr marL="0" indent="0">
              <a:buNone/>
            </a:pPr>
            <a:r>
              <a:rPr lang="en-US" sz="1250" b="1" i="1" dirty="0">
                <a:solidFill>
                  <a:srgbClr val="595959"/>
                </a:solidFill>
                <a:latin typeface="Helvetica" pitchFamily="34" charset="0"/>
                <a:ea typeface="Helvetica" pitchFamily="34" charset="-122"/>
                <a:cs typeface="Helvetica" pitchFamily="34" charset="-120"/>
              </a:rPr>
              <a:t>Analogy:  </a:t>
            </a:r>
            <a:r>
              <a:rPr lang="en-US" sz="1250" i="1" dirty="0">
                <a:solidFill>
                  <a:srgbClr val="595959"/>
                </a:solidFill>
                <a:latin typeface="Helvetica" pitchFamily="34" charset="0"/>
                <a:ea typeface="Helvetica" pitchFamily="34" charset="-122"/>
                <a:cs typeface="Helvetica" pitchFamily="34" charset="-120"/>
              </a:rPr>
              <a:t>An array is a street of numbered houses built one after another. A pointer is a slip of paper with just one address on it — you can 'walk' to the next house by adding to that address.</a:t>
            </a:r>
            <a:endParaRPr lang="en-US" sz="1250" dirty="0"/>
          </a:p>
        </p:txBody>
      </p:sp>
      <p:sp>
        <p:nvSpPr>
          <p:cNvPr id="7" name="Shape 5"/>
          <p:cNvSpPr/>
          <p:nvPr/>
        </p:nvSpPr>
        <p:spPr>
          <a:xfrm>
            <a:off x="6858000" y="1508760"/>
            <a:ext cx="4800600" cy="4709160"/>
          </a:xfrm>
          <a:prstGeom prst="rect">
            <a:avLst/>
          </a:prstGeom>
          <a:solidFill>
            <a:srgbClr val="F2F2F2"/>
          </a:solidFill>
          <a:ln w="9525">
            <a:solidFill>
              <a:srgbClr val="BFBFBF"/>
            </a:solidFill>
            <a:prstDash val="solid"/>
          </a:ln>
        </p:spPr>
      </p:sp>
      <p:sp>
        <p:nvSpPr>
          <p:cNvPr id="8" name="Shape 6"/>
          <p:cNvSpPr/>
          <p:nvPr/>
        </p:nvSpPr>
        <p:spPr>
          <a:xfrm>
            <a:off x="7178040" y="2057400"/>
            <a:ext cx="658368" cy="640080"/>
          </a:xfrm>
          <a:prstGeom prst="rect">
            <a:avLst/>
          </a:prstGeom>
          <a:solidFill>
            <a:srgbClr val="FFFFFF"/>
          </a:solidFill>
          <a:ln w="15875">
            <a:solidFill>
              <a:srgbClr val="000000"/>
            </a:solidFill>
            <a:prstDash val="solid"/>
          </a:ln>
        </p:spPr>
      </p:sp>
      <p:sp>
        <p:nvSpPr>
          <p:cNvPr id="9" name="Text 7"/>
          <p:cNvSpPr/>
          <p:nvPr/>
        </p:nvSpPr>
        <p:spPr>
          <a:xfrm>
            <a:off x="7178040" y="2057400"/>
            <a:ext cx="658368" cy="640080"/>
          </a:xfrm>
          <a:prstGeom prst="rect">
            <a:avLst/>
          </a:prstGeom>
          <a:noFill/>
          <a:ln/>
        </p:spPr>
        <p:txBody>
          <a:bodyPr wrap="square" rtlCol="0" anchor="ctr"/>
          <a:lstStyle/>
          <a:p>
            <a:pPr marL="0" indent="0" algn="ctr">
              <a:buNone/>
            </a:pPr>
            <a:r>
              <a:rPr lang="en-US" sz="1100" dirty="0">
                <a:solidFill>
                  <a:srgbClr val="000000"/>
                </a:solidFill>
                <a:latin typeface="Courier New" pitchFamily="34" charset="0"/>
                <a:ea typeface="Courier New" pitchFamily="34" charset="-122"/>
                <a:cs typeface="Courier New" pitchFamily="34" charset="-120"/>
              </a:rPr>
              <a:t>56</a:t>
            </a:r>
            <a:endParaRPr lang="en-US" sz="1100" dirty="0"/>
          </a:p>
        </p:txBody>
      </p:sp>
      <p:sp>
        <p:nvSpPr>
          <p:cNvPr id="10" name="Text 8"/>
          <p:cNvSpPr/>
          <p:nvPr/>
        </p:nvSpPr>
        <p:spPr>
          <a:xfrm>
            <a:off x="7178040" y="2743200"/>
            <a:ext cx="658368" cy="320040"/>
          </a:xfrm>
          <a:prstGeom prst="rect">
            <a:avLst/>
          </a:prstGeom>
          <a:noFill/>
          <a:ln/>
        </p:spPr>
        <p:txBody>
          <a:bodyPr wrap="square" rtlCol="0" anchor="ctr"/>
          <a:lstStyle/>
          <a:p>
            <a:pPr marL="0" indent="0" algn="ctr">
              <a:buNone/>
            </a:pPr>
            <a:r>
              <a:rPr lang="en-US" sz="800" dirty="0">
                <a:solidFill>
                  <a:srgbClr val="595959"/>
                </a:solidFill>
                <a:latin typeface="Helvetica" pitchFamily="34" charset="0"/>
                <a:ea typeface="Helvetica" pitchFamily="34" charset="-122"/>
                <a:cs typeface="Helvetica" pitchFamily="34" charset="-120"/>
              </a:rPr>
              <a:t>marks[0]</a:t>
            </a:r>
            <a:endParaRPr lang="en-US" sz="800" dirty="0"/>
          </a:p>
        </p:txBody>
      </p:sp>
      <p:sp>
        <p:nvSpPr>
          <p:cNvPr id="11" name="Text 9"/>
          <p:cNvSpPr/>
          <p:nvPr/>
        </p:nvSpPr>
        <p:spPr>
          <a:xfrm>
            <a:off x="7178040" y="3044952"/>
            <a:ext cx="658368" cy="320040"/>
          </a:xfrm>
          <a:prstGeom prst="rect">
            <a:avLst/>
          </a:prstGeom>
          <a:noFill/>
          <a:ln/>
        </p:spPr>
        <p:txBody>
          <a:bodyPr wrap="square" rtlCol="0" anchor="ctr"/>
          <a:lstStyle/>
          <a:p>
            <a:pPr marL="0" indent="0" algn="ctr">
              <a:buNone/>
            </a:pPr>
            <a:r>
              <a:rPr lang="en-US" sz="800" dirty="0">
                <a:solidFill>
                  <a:srgbClr val="595959"/>
                </a:solidFill>
                <a:latin typeface="Helvetica" pitchFamily="34" charset="0"/>
                <a:ea typeface="Helvetica" pitchFamily="34" charset="-122"/>
                <a:cs typeface="Helvetica" pitchFamily="34" charset="-120"/>
              </a:rPr>
              <a:t>1000</a:t>
            </a:r>
            <a:endParaRPr lang="en-US" sz="800" dirty="0"/>
          </a:p>
        </p:txBody>
      </p:sp>
      <p:sp>
        <p:nvSpPr>
          <p:cNvPr id="12" name="Shape 10"/>
          <p:cNvSpPr/>
          <p:nvPr/>
        </p:nvSpPr>
        <p:spPr>
          <a:xfrm>
            <a:off x="7891272" y="2057400"/>
            <a:ext cx="658368" cy="640080"/>
          </a:xfrm>
          <a:prstGeom prst="rect">
            <a:avLst/>
          </a:prstGeom>
          <a:solidFill>
            <a:srgbClr val="FFFFFF"/>
          </a:solidFill>
          <a:ln w="15875">
            <a:solidFill>
              <a:srgbClr val="000000"/>
            </a:solidFill>
            <a:prstDash val="solid"/>
          </a:ln>
        </p:spPr>
      </p:sp>
      <p:sp>
        <p:nvSpPr>
          <p:cNvPr id="13" name="Text 11"/>
          <p:cNvSpPr/>
          <p:nvPr/>
        </p:nvSpPr>
        <p:spPr>
          <a:xfrm>
            <a:off x="7891272" y="2057400"/>
            <a:ext cx="658368" cy="640080"/>
          </a:xfrm>
          <a:prstGeom prst="rect">
            <a:avLst/>
          </a:prstGeom>
          <a:noFill/>
          <a:ln/>
        </p:spPr>
        <p:txBody>
          <a:bodyPr wrap="square" rtlCol="0" anchor="ctr"/>
          <a:lstStyle/>
          <a:p>
            <a:pPr marL="0" indent="0" algn="ctr">
              <a:buNone/>
            </a:pPr>
            <a:r>
              <a:rPr lang="en-US" sz="1100" dirty="0">
                <a:solidFill>
                  <a:srgbClr val="000000"/>
                </a:solidFill>
                <a:latin typeface="Courier New" pitchFamily="34" charset="0"/>
                <a:ea typeface="Courier New" pitchFamily="34" charset="-122"/>
                <a:cs typeface="Courier New" pitchFamily="34" charset="-120"/>
              </a:rPr>
              <a:t>78</a:t>
            </a:r>
            <a:endParaRPr lang="en-US" sz="1100" dirty="0"/>
          </a:p>
        </p:txBody>
      </p:sp>
      <p:sp>
        <p:nvSpPr>
          <p:cNvPr id="14" name="Text 12"/>
          <p:cNvSpPr/>
          <p:nvPr/>
        </p:nvSpPr>
        <p:spPr>
          <a:xfrm>
            <a:off x="7891272" y="2743200"/>
            <a:ext cx="658368" cy="320040"/>
          </a:xfrm>
          <a:prstGeom prst="rect">
            <a:avLst/>
          </a:prstGeom>
          <a:noFill/>
          <a:ln/>
        </p:spPr>
        <p:txBody>
          <a:bodyPr wrap="square" rtlCol="0" anchor="ctr"/>
          <a:lstStyle/>
          <a:p>
            <a:pPr marL="0" indent="0" algn="ctr">
              <a:buNone/>
            </a:pPr>
            <a:r>
              <a:rPr lang="en-US" sz="800" dirty="0">
                <a:solidFill>
                  <a:srgbClr val="595959"/>
                </a:solidFill>
                <a:latin typeface="Helvetica" pitchFamily="34" charset="0"/>
                <a:ea typeface="Helvetica" pitchFamily="34" charset="-122"/>
                <a:cs typeface="Helvetica" pitchFamily="34" charset="-120"/>
              </a:rPr>
              <a:t>marks[1]</a:t>
            </a:r>
            <a:endParaRPr lang="en-US" sz="800" dirty="0"/>
          </a:p>
        </p:txBody>
      </p:sp>
      <p:sp>
        <p:nvSpPr>
          <p:cNvPr id="15" name="Text 13"/>
          <p:cNvSpPr/>
          <p:nvPr/>
        </p:nvSpPr>
        <p:spPr>
          <a:xfrm>
            <a:off x="7891272" y="3044952"/>
            <a:ext cx="658368" cy="320040"/>
          </a:xfrm>
          <a:prstGeom prst="rect">
            <a:avLst/>
          </a:prstGeom>
          <a:noFill/>
          <a:ln/>
        </p:spPr>
        <p:txBody>
          <a:bodyPr wrap="square" rtlCol="0" anchor="ctr"/>
          <a:lstStyle/>
          <a:p>
            <a:pPr marL="0" indent="0" algn="ctr">
              <a:buNone/>
            </a:pPr>
            <a:r>
              <a:rPr lang="en-US" sz="800" dirty="0">
                <a:solidFill>
                  <a:srgbClr val="595959"/>
                </a:solidFill>
                <a:latin typeface="Helvetica" pitchFamily="34" charset="0"/>
                <a:ea typeface="Helvetica" pitchFamily="34" charset="-122"/>
                <a:cs typeface="Helvetica" pitchFamily="34" charset="-120"/>
              </a:rPr>
              <a:t>1004</a:t>
            </a:r>
            <a:endParaRPr lang="en-US" sz="800" dirty="0"/>
          </a:p>
        </p:txBody>
      </p:sp>
      <p:sp>
        <p:nvSpPr>
          <p:cNvPr id="16" name="Shape 14"/>
          <p:cNvSpPr/>
          <p:nvPr/>
        </p:nvSpPr>
        <p:spPr>
          <a:xfrm>
            <a:off x="8604504" y="2057400"/>
            <a:ext cx="658368" cy="640080"/>
          </a:xfrm>
          <a:prstGeom prst="rect">
            <a:avLst/>
          </a:prstGeom>
          <a:solidFill>
            <a:srgbClr val="FFFFFF"/>
          </a:solidFill>
          <a:ln w="15875">
            <a:solidFill>
              <a:srgbClr val="000000"/>
            </a:solidFill>
            <a:prstDash val="solid"/>
          </a:ln>
        </p:spPr>
      </p:sp>
      <p:sp>
        <p:nvSpPr>
          <p:cNvPr id="17" name="Text 15"/>
          <p:cNvSpPr/>
          <p:nvPr/>
        </p:nvSpPr>
        <p:spPr>
          <a:xfrm>
            <a:off x="8604504" y="2057400"/>
            <a:ext cx="658368" cy="640080"/>
          </a:xfrm>
          <a:prstGeom prst="rect">
            <a:avLst/>
          </a:prstGeom>
          <a:noFill/>
          <a:ln/>
        </p:spPr>
        <p:txBody>
          <a:bodyPr wrap="square" rtlCol="0" anchor="ctr"/>
          <a:lstStyle/>
          <a:p>
            <a:pPr marL="0" indent="0" algn="ctr">
              <a:buNone/>
            </a:pPr>
            <a:r>
              <a:rPr lang="en-US" sz="1100" dirty="0">
                <a:solidFill>
                  <a:srgbClr val="000000"/>
                </a:solidFill>
                <a:latin typeface="Courier New" pitchFamily="34" charset="0"/>
                <a:ea typeface="Courier New" pitchFamily="34" charset="-122"/>
                <a:cs typeface="Courier New" pitchFamily="34" charset="-120"/>
              </a:rPr>
              <a:t>90</a:t>
            </a:r>
            <a:endParaRPr lang="en-US" sz="1100" dirty="0"/>
          </a:p>
        </p:txBody>
      </p:sp>
      <p:sp>
        <p:nvSpPr>
          <p:cNvPr id="18" name="Text 16"/>
          <p:cNvSpPr/>
          <p:nvPr/>
        </p:nvSpPr>
        <p:spPr>
          <a:xfrm>
            <a:off x="8604504" y="2743200"/>
            <a:ext cx="658368" cy="320040"/>
          </a:xfrm>
          <a:prstGeom prst="rect">
            <a:avLst/>
          </a:prstGeom>
          <a:noFill/>
          <a:ln/>
        </p:spPr>
        <p:txBody>
          <a:bodyPr wrap="square" rtlCol="0" anchor="ctr"/>
          <a:lstStyle/>
          <a:p>
            <a:pPr marL="0" indent="0" algn="ctr">
              <a:buNone/>
            </a:pPr>
            <a:r>
              <a:rPr lang="en-US" sz="800" dirty="0">
                <a:solidFill>
                  <a:srgbClr val="595959"/>
                </a:solidFill>
                <a:latin typeface="Helvetica" pitchFamily="34" charset="0"/>
                <a:ea typeface="Helvetica" pitchFamily="34" charset="-122"/>
                <a:cs typeface="Helvetica" pitchFamily="34" charset="-120"/>
              </a:rPr>
              <a:t>marks[2]</a:t>
            </a:r>
            <a:endParaRPr lang="en-US" sz="800" dirty="0"/>
          </a:p>
        </p:txBody>
      </p:sp>
      <p:sp>
        <p:nvSpPr>
          <p:cNvPr id="19" name="Text 17"/>
          <p:cNvSpPr/>
          <p:nvPr/>
        </p:nvSpPr>
        <p:spPr>
          <a:xfrm>
            <a:off x="8604504" y="3044952"/>
            <a:ext cx="658368" cy="320040"/>
          </a:xfrm>
          <a:prstGeom prst="rect">
            <a:avLst/>
          </a:prstGeom>
          <a:noFill/>
          <a:ln/>
        </p:spPr>
        <p:txBody>
          <a:bodyPr wrap="square" rtlCol="0" anchor="ctr"/>
          <a:lstStyle/>
          <a:p>
            <a:pPr marL="0" indent="0" algn="ctr">
              <a:buNone/>
            </a:pPr>
            <a:r>
              <a:rPr lang="en-US" sz="800" dirty="0">
                <a:solidFill>
                  <a:srgbClr val="595959"/>
                </a:solidFill>
                <a:latin typeface="Helvetica" pitchFamily="34" charset="0"/>
                <a:ea typeface="Helvetica" pitchFamily="34" charset="-122"/>
                <a:cs typeface="Helvetica" pitchFamily="34" charset="-120"/>
              </a:rPr>
              <a:t>1008</a:t>
            </a:r>
            <a:endParaRPr lang="en-US" sz="800" dirty="0"/>
          </a:p>
        </p:txBody>
      </p:sp>
      <p:sp>
        <p:nvSpPr>
          <p:cNvPr id="20" name="Shape 18"/>
          <p:cNvSpPr/>
          <p:nvPr/>
        </p:nvSpPr>
        <p:spPr>
          <a:xfrm>
            <a:off x="9317736" y="2057400"/>
            <a:ext cx="658368" cy="640080"/>
          </a:xfrm>
          <a:prstGeom prst="rect">
            <a:avLst/>
          </a:prstGeom>
          <a:solidFill>
            <a:srgbClr val="FFFFFF"/>
          </a:solidFill>
          <a:ln w="15875">
            <a:solidFill>
              <a:srgbClr val="000000"/>
            </a:solidFill>
            <a:prstDash val="solid"/>
          </a:ln>
        </p:spPr>
      </p:sp>
      <p:sp>
        <p:nvSpPr>
          <p:cNvPr id="21" name="Text 19"/>
          <p:cNvSpPr/>
          <p:nvPr/>
        </p:nvSpPr>
        <p:spPr>
          <a:xfrm>
            <a:off x="9317736" y="2057400"/>
            <a:ext cx="658368" cy="640080"/>
          </a:xfrm>
          <a:prstGeom prst="rect">
            <a:avLst/>
          </a:prstGeom>
          <a:noFill/>
          <a:ln/>
        </p:spPr>
        <p:txBody>
          <a:bodyPr wrap="square" rtlCol="0" anchor="ctr"/>
          <a:lstStyle/>
          <a:p>
            <a:pPr marL="0" indent="0" algn="ctr">
              <a:buNone/>
            </a:pPr>
            <a:r>
              <a:rPr lang="en-US" sz="1100" dirty="0">
                <a:solidFill>
                  <a:srgbClr val="000000"/>
                </a:solidFill>
                <a:latin typeface="Courier New" pitchFamily="34" charset="0"/>
                <a:ea typeface="Courier New" pitchFamily="34" charset="-122"/>
                <a:cs typeface="Courier New" pitchFamily="34" charset="-120"/>
              </a:rPr>
              <a:t>45</a:t>
            </a:r>
            <a:endParaRPr lang="en-US" sz="1100" dirty="0"/>
          </a:p>
        </p:txBody>
      </p:sp>
      <p:sp>
        <p:nvSpPr>
          <p:cNvPr id="22" name="Text 20"/>
          <p:cNvSpPr/>
          <p:nvPr/>
        </p:nvSpPr>
        <p:spPr>
          <a:xfrm>
            <a:off x="9317736" y="2743200"/>
            <a:ext cx="658368" cy="320040"/>
          </a:xfrm>
          <a:prstGeom prst="rect">
            <a:avLst/>
          </a:prstGeom>
          <a:noFill/>
          <a:ln/>
        </p:spPr>
        <p:txBody>
          <a:bodyPr wrap="square" rtlCol="0" anchor="ctr"/>
          <a:lstStyle/>
          <a:p>
            <a:pPr marL="0" indent="0" algn="ctr">
              <a:buNone/>
            </a:pPr>
            <a:r>
              <a:rPr lang="en-US" sz="800" dirty="0">
                <a:solidFill>
                  <a:srgbClr val="595959"/>
                </a:solidFill>
                <a:latin typeface="Helvetica" pitchFamily="34" charset="0"/>
                <a:ea typeface="Helvetica" pitchFamily="34" charset="-122"/>
                <a:cs typeface="Helvetica" pitchFamily="34" charset="-120"/>
              </a:rPr>
              <a:t>marks[3]</a:t>
            </a:r>
            <a:endParaRPr lang="en-US" sz="800" dirty="0"/>
          </a:p>
        </p:txBody>
      </p:sp>
      <p:sp>
        <p:nvSpPr>
          <p:cNvPr id="23" name="Text 21"/>
          <p:cNvSpPr/>
          <p:nvPr/>
        </p:nvSpPr>
        <p:spPr>
          <a:xfrm>
            <a:off x="9317736" y="3044952"/>
            <a:ext cx="658368" cy="320040"/>
          </a:xfrm>
          <a:prstGeom prst="rect">
            <a:avLst/>
          </a:prstGeom>
          <a:noFill/>
          <a:ln/>
        </p:spPr>
        <p:txBody>
          <a:bodyPr wrap="square" rtlCol="0" anchor="ctr"/>
          <a:lstStyle/>
          <a:p>
            <a:pPr marL="0" indent="0" algn="ctr">
              <a:buNone/>
            </a:pPr>
            <a:r>
              <a:rPr lang="en-US" sz="800" dirty="0">
                <a:solidFill>
                  <a:srgbClr val="595959"/>
                </a:solidFill>
                <a:latin typeface="Helvetica" pitchFamily="34" charset="0"/>
                <a:ea typeface="Helvetica" pitchFamily="34" charset="-122"/>
                <a:cs typeface="Helvetica" pitchFamily="34" charset="-120"/>
              </a:rPr>
              <a:t>1012</a:t>
            </a:r>
            <a:endParaRPr lang="en-US" sz="800" dirty="0"/>
          </a:p>
        </p:txBody>
      </p:sp>
      <p:sp>
        <p:nvSpPr>
          <p:cNvPr id="24" name="Shape 22"/>
          <p:cNvSpPr/>
          <p:nvPr/>
        </p:nvSpPr>
        <p:spPr>
          <a:xfrm>
            <a:off x="10030968" y="2057400"/>
            <a:ext cx="658368" cy="640080"/>
          </a:xfrm>
          <a:prstGeom prst="rect">
            <a:avLst/>
          </a:prstGeom>
          <a:solidFill>
            <a:srgbClr val="FFFFFF"/>
          </a:solidFill>
          <a:ln w="15875">
            <a:solidFill>
              <a:srgbClr val="000000"/>
            </a:solidFill>
            <a:prstDash val="solid"/>
          </a:ln>
        </p:spPr>
      </p:sp>
      <p:sp>
        <p:nvSpPr>
          <p:cNvPr id="25" name="Text 23"/>
          <p:cNvSpPr/>
          <p:nvPr/>
        </p:nvSpPr>
        <p:spPr>
          <a:xfrm>
            <a:off x="10030968" y="2057400"/>
            <a:ext cx="658368" cy="640080"/>
          </a:xfrm>
          <a:prstGeom prst="rect">
            <a:avLst/>
          </a:prstGeom>
          <a:noFill/>
          <a:ln/>
        </p:spPr>
        <p:txBody>
          <a:bodyPr wrap="square" rtlCol="0" anchor="ctr"/>
          <a:lstStyle/>
          <a:p>
            <a:pPr marL="0" indent="0" algn="ctr">
              <a:buNone/>
            </a:pPr>
            <a:r>
              <a:rPr lang="en-US" sz="1100" dirty="0">
                <a:solidFill>
                  <a:srgbClr val="000000"/>
                </a:solidFill>
                <a:latin typeface="Courier New" pitchFamily="34" charset="0"/>
                <a:ea typeface="Courier New" pitchFamily="34" charset="-122"/>
                <a:cs typeface="Courier New" pitchFamily="34" charset="-120"/>
              </a:rPr>
              <a:t>88</a:t>
            </a:r>
            <a:endParaRPr lang="en-US" sz="1100" dirty="0"/>
          </a:p>
        </p:txBody>
      </p:sp>
      <p:sp>
        <p:nvSpPr>
          <p:cNvPr id="26" name="Text 24"/>
          <p:cNvSpPr/>
          <p:nvPr/>
        </p:nvSpPr>
        <p:spPr>
          <a:xfrm>
            <a:off x="10030968" y="2743200"/>
            <a:ext cx="658368" cy="320040"/>
          </a:xfrm>
          <a:prstGeom prst="rect">
            <a:avLst/>
          </a:prstGeom>
          <a:noFill/>
          <a:ln/>
        </p:spPr>
        <p:txBody>
          <a:bodyPr wrap="square" rtlCol="0" anchor="ctr"/>
          <a:lstStyle/>
          <a:p>
            <a:pPr marL="0" indent="0" algn="ctr">
              <a:buNone/>
            </a:pPr>
            <a:r>
              <a:rPr lang="en-US" sz="800" dirty="0">
                <a:solidFill>
                  <a:srgbClr val="595959"/>
                </a:solidFill>
                <a:latin typeface="Helvetica" pitchFamily="34" charset="0"/>
                <a:ea typeface="Helvetica" pitchFamily="34" charset="-122"/>
                <a:cs typeface="Helvetica" pitchFamily="34" charset="-120"/>
              </a:rPr>
              <a:t>marks[4]</a:t>
            </a:r>
            <a:endParaRPr lang="en-US" sz="800" dirty="0"/>
          </a:p>
        </p:txBody>
      </p:sp>
      <p:sp>
        <p:nvSpPr>
          <p:cNvPr id="27" name="Text 25"/>
          <p:cNvSpPr/>
          <p:nvPr/>
        </p:nvSpPr>
        <p:spPr>
          <a:xfrm>
            <a:off x="10030968" y="3044952"/>
            <a:ext cx="658368" cy="320040"/>
          </a:xfrm>
          <a:prstGeom prst="rect">
            <a:avLst/>
          </a:prstGeom>
          <a:noFill/>
          <a:ln/>
        </p:spPr>
        <p:txBody>
          <a:bodyPr wrap="square" rtlCol="0" anchor="ctr"/>
          <a:lstStyle/>
          <a:p>
            <a:pPr marL="0" indent="0" algn="ctr">
              <a:buNone/>
            </a:pPr>
            <a:r>
              <a:rPr lang="en-US" sz="800" dirty="0">
                <a:solidFill>
                  <a:srgbClr val="595959"/>
                </a:solidFill>
                <a:latin typeface="Helvetica" pitchFamily="34" charset="0"/>
                <a:ea typeface="Helvetica" pitchFamily="34" charset="-122"/>
                <a:cs typeface="Helvetica" pitchFamily="34" charset="-120"/>
              </a:rPr>
              <a:t>1016</a:t>
            </a:r>
            <a:endParaRPr lang="en-US" sz="800" dirty="0"/>
          </a:p>
        </p:txBody>
      </p:sp>
      <p:sp>
        <p:nvSpPr>
          <p:cNvPr id="28" name="Shape 26"/>
          <p:cNvSpPr/>
          <p:nvPr/>
        </p:nvSpPr>
        <p:spPr>
          <a:xfrm>
            <a:off x="7406640" y="3886200"/>
            <a:ext cx="1280160" cy="548640"/>
          </a:xfrm>
          <a:prstGeom prst="rect">
            <a:avLst/>
          </a:prstGeom>
          <a:solidFill>
            <a:srgbClr val="E8E8E8"/>
          </a:solidFill>
          <a:ln w="15875">
            <a:solidFill>
              <a:srgbClr val="000000"/>
            </a:solidFill>
            <a:prstDash val="solid"/>
          </a:ln>
        </p:spPr>
      </p:sp>
      <p:sp>
        <p:nvSpPr>
          <p:cNvPr id="29" name="Text 27"/>
          <p:cNvSpPr/>
          <p:nvPr/>
        </p:nvSpPr>
        <p:spPr>
          <a:xfrm>
            <a:off x="7406640" y="3886200"/>
            <a:ext cx="1280160" cy="548640"/>
          </a:xfrm>
          <a:prstGeom prst="rect">
            <a:avLst/>
          </a:prstGeom>
          <a:noFill/>
          <a:ln/>
        </p:spPr>
        <p:txBody>
          <a:bodyPr wrap="square" rtlCol="0" anchor="ctr"/>
          <a:lstStyle/>
          <a:p>
            <a:pPr marL="0" indent="0" algn="ctr">
              <a:buNone/>
            </a:pPr>
            <a:r>
              <a:rPr lang="en-US" sz="1100" dirty="0">
                <a:solidFill>
                  <a:srgbClr val="000000"/>
                </a:solidFill>
                <a:latin typeface="Courier New" pitchFamily="34" charset="0"/>
                <a:ea typeface="Courier New" pitchFamily="34" charset="-122"/>
                <a:cs typeface="Courier New" pitchFamily="34" charset="-120"/>
              </a:rPr>
              <a:t>ptr</a:t>
            </a:r>
            <a:endParaRPr lang="en-US" sz="1100" dirty="0"/>
          </a:p>
        </p:txBody>
      </p:sp>
      <p:sp>
        <p:nvSpPr>
          <p:cNvPr id="30" name="Shape 28"/>
          <p:cNvSpPr/>
          <p:nvPr/>
        </p:nvSpPr>
        <p:spPr>
          <a:xfrm flipH="1" flipV="1">
            <a:off x="7525512" y="2743200"/>
            <a:ext cx="246888" cy="1143000"/>
          </a:xfrm>
          <a:prstGeom prst="line">
            <a:avLst/>
          </a:prstGeom>
          <a:noFill/>
          <a:ln w="19050">
            <a:solidFill>
              <a:srgbClr val="000000"/>
            </a:solidFill>
            <a:prstDash val="solid"/>
            <a:tailEnd type="triangle"/>
          </a:ln>
        </p:spPr>
      </p:sp>
      <p:sp>
        <p:nvSpPr>
          <p:cNvPr id="31" name="Text 29"/>
          <p:cNvSpPr/>
          <p:nvPr/>
        </p:nvSpPr>
        <p:spPr>
          <a:xfrm>
            <a:off x="7132320" y="4572000"/>
            <a:ext cx="4251960" cy="320040"/>
          </a:xfrm>
          <a:prstGeom prst="rect">
            <a:avLst/>
          </a:prstGeom>
          <a:noFill/>
          <a:ln/>
        </p:spPr>
        <p:txBody>
          <a:bodyPr wrap="square" rtlCol="0" anchor="ctr"/>
          <a:lstStyle/>
          <a:p>
            <a:pPr marL="0" indent="0" algn="ctr">
              <a:buNone/>
            </a:pPr>
            <a:r>
              <a:rPr lang="en-US" sz="1000" dirty="0">
                <a:solidFill>
                  <a:srgbClr val="595959"/>
                </a:solidFill>
                <a:latin typeface="Helvetica" pitchFamily="34" charset="0"/>
                <a:ea typeface="Helvetica" pitchFamily="34" charset="-122"/>
                <a:cs typeface="Helvetica" pitchFamily="34" charset="-120"/>
              </a:rPr>
              <a:t>ptr = &amp;marks[0]  →  points at the first element</a:t>
            </a:r>
            <a:endParaRPr lang="en-US" sz="1000" dirty="0"/>
          </a:p>
        </p:txBody>
      </p:sp>
      <p:sp>
        <p:nvSpPr>
          <p:cNvPr id="32" name="Shape 30"/>
          <p:cNvSpPr/>
          <p:nvPr/>
        </p:nvSpPr>
        <p:spPr>
          <a:xfrm>
            <a:off x="7132320" y="5166360"/>
            <a:ext cx="4251960" cy="822960"/>
          </a:xfrm>
          <a:prstGeom prst="rect">
            <a:avLst/>
          </a:prstGeom>
          <a:solidFill>
            <a:srgbClr val="FFFFFF"/>
          </a:solidFill>
          <a:ln w="15875">
            <a:solidFill>
              <a:srgbClr val="000000"/>
            </a:solidFill>
            <a:prstDash val="solid"/>
          </a:ln>
        </p:spPr>
      </p:sp>
      <p:sp>
        <p:nvSpPr>
          <p:cNvPr id="33" name="Text 31"/>
          <p:cNvSpPr/>
          <p:nvPr/>
        </p:nvSpPr>
        <p:spPr>
          <a:xfrm>
            <a:off x="7132320" y="5166360"/>
            <a:ext cx="4251960" cy="822960"/>
          </a:xfrm>
          <a:prstGeom prst="rect">
            <a:avLst/>
          </a:prstGeom>
          <a:noFill/>
          <a:ln/>
        </p:spPr>
        <p:txBody>
          <a:bodyPr wrap="square" rtlCol="0" anchor="ctr"/>
          <a:lstStyle/>
          <a:p>
            <a:pPr marL="0" indent="0" algn="ctr">
              <a:buNone/>
            </a:pPr>
            <a:r>
              <a:rPr lang="en-US" sz="1100" dirty="0">
                <a:solidFill>
                  <a:srgbClr val="000000"/>
                </a:solidFill>
                <a:latin typeface="Courier New" pitchFamily="34" charset="0"/>
                <a:ea typeface="Courier New" pitchFamily="34" charset="-122"/>
                <a:cs typeface="Courier New" pitchFamily="34" charset="-120"/>
              </a:rPr>
              <a:t>*(ptr + 2)  ==  marks[2]  ==  90</a:t>
            </a:r>
            <a:endParaRPr lang="en-US" sz="1100" dirty="0"/>
          </a:p>
        </p:txBody>
      </p:sp>
      <p:sp>
        <p:nvSpPr>
          <p:cNvPr id="35" name="Text 0">
            <a:extLst>
              <a:ext uri="{FF2B5EF4-FFF2-40B4-BE49-F238E27FC236}">
                <a16:creationId xmlns:a16="http://schemas.microsoft.com/office/drawing/2014/main" id="{7E92F06D-B96A-7B50-FD55-0D9F9A7CD367}"/>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D96C14A-FCEF-1143-D1C8-08950A8EF73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29E0CC7-C628-6B0D-BEAB-9DE9DB17404B}"/>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
        <p:nvSpPr>
          <p:cNvPr id="4" name="Text 2">
            <a:extLst>
              <a:ext uri="{FF2B5EF4-FFF2-40B4-BE49-F238E27FC236}">
                <a16:creationId xmlns:a16="http://schemas.microsoft.com/office/drawing/2014/main" id="{2DB9486A-11AE-5CD4-120E-EE1A8A4E7475}"/>
              </a:ext>
            </a:extLst>
          </p:cNvPr>
          <p:cNvSpPr/>
          <p:nvPr/>
        </p:nvSpPr>
        <p:spPr>
          <a:xfrm>
            <a:off x="548640" y="1225896"/>
            <a:ext cx="11091672" cy="1928366"/>
          </a:xfrm>
          <a:prstGeom prst="rect">
            <a:avLst/>
          </a:prstGeom>
          <a:noFill/>
          <a:ln/>
        </p:spPr>
        <p:txBody>
          <a:bodyPr wrap="square" rtlCol="0" anchor="t"/>
          <a:lstStyle/>
          <a:p>
            <a:pPr marL="285750" lvl="0" indent="-285750">
              <a:buFont typeface="Arial" panose="020B0604020202020204" pitchFamily="34" charset="0"/>
              <a:buChar char="•"/>
            </a:pPr>
            <a:r>
              <a:rPr lang="en-US" sz="1600" dirty="0"/>
              <a:t>An array is a </a:t>
            </a:r>
            <a:r>
              <a:rPr lang="en-US" sz="1600" b="1" dirty="0"/>
              <a:t>fixed-size, contiguous block of memory</a:t>
            </a:r>
            <a:r>
              <a:rPr lang="en-US" sz="1600" dirty="0"/>
              <a:t>.</a:t>
            </a:r>
          </a:p>
          <a:p>
            <a:pPr marL="285750" lvl="0" indent="-285750">
              <a:buFont typeface="Arial" panose="020B0604020202020204" pitchFamily="34" charset="0"/>
              <a:buChar char="•"/>
            </a:pPr>
            <a:r>
              <a:rPr lang="en-US" sz="1600" dirty="0"/>
              <a:t>All elements in an array must be of the </a:t>
            </a:r>
            <a:r>
              <a:rPr lang="en-US" sz="1600" b="1" dirty="0"/>
              <a:t>same data type</a:t>
            </a:r>
            <a:r>
              <a:rPr lang="en-US" sz="1600" dirty="0"/>
              <a:t>.</a:t>
            </a:r>
          </a:p>
          <a:p>
            <a:pPr marL="285750" lvl="0" indent="-285750">
              <a:buFont typeface="Arial" panose="020B0604020202020204" pitchFamily="34" charset="0"/>
              <a:buChar char="•"/>
            </a:pPr>
            <a:r>
              <a:rPr lang="en-US" sz="1600" dirty="0"/>
              <a:t>Elements are accessed using an </a:t>
            </a:r>
            <a:r>
              <a:rPr lang="en-US" sz="1600" b="1" dirty="0"/>
              <a:t>index</a:t>
            </a:r>
            <a:r>
              <a:rPr lang="en-US" sz="1600" dirty="0"/>
              <a:t>, e.g., </a:t>
            </a:r>
            <a:r>
              <a:rPr lang="en-US" sz="1600" dirty="0" err="1"/>
              <a:t>arr</a:t>
            </a:r>
            <a:r>
              <a:rPr lang="en-US" sz="1600" dirty="0"/>
              <a:t>[0], </a:t>
            </a:r>
            <a:r>
              <a:rPr lang="en-US" sz="1600" dirty="0" err="1"/>
              <a:t>arr</a:t>
            </a:r>
            <a:r>
              <a:rPr lang="en-US" sz="1600" dirty="0"/>
              <a:t>[1], and so on.</a:t>
            </a:r>
          </a:p>
          <a:p>
            <a:endParaRPr lang="en-US" sz="700" dirty="0"/>
          </a:p>
          <a:p>
            <a:r>
              <a:rPr lang="en-US" sz="1600" b="1" dirty="0"/>
              <a:t>Definition</a:t>
            </a:r>
          </a:p>
          <a:p>
            <a:r>
              <a:rPr lang="en-US" sz="1600" dirty="0"/>
              <a:t>An array in C++ is a collection of elements of the same data type, stored in contiguous memory locations. These elements are accessed using an index that starts from 0. C++ arrays provide a structured way to store and manage data, making it easier to work with multiple values of the same type.</a:t>
            </a:r>
          </a:p>
        </p:txBody>
      </p:sp>
      <p:sp>
        <p:nvSpPr>
          <p:cNvPr id="9" name="Text 1">
            <a:extLst>
              <a:ext uri="{FF2B5EF4-FFF2-40B4-BE49-F238E27FC236}">
                <a16:creationId xmlns:a16="http://schemas.microsoft.com/office/drawing/2014/main" id="{B0E65520-9D74-02BB-27A2-BFA3C38F97F0}"/>
              </a:ext>
            </a:extLst>
          </p:cNvPr>
          <p:cNvSpPr/>
          <p:nvPr/>
        </p:nvSpPr>
        <p:spPr>
          <a:xfrm>
            <a:off x="548640" y="731520"/>
            <a:ext cx="11091672" cy="54864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Arrays</a:t>
            </a:r>
            <a:endParaRPr lang="en-US" sz="2200" dirty="0"/>
          </a:p>
        </p:txBody>
      </p:sp>
      <p:sp>
        <p:nvSpPr>
          <p:cNvPr id="10" name="TextBox 9">
            <a:extLst>
              <a:ext uri="{FF2B5EF4-FFF2-40B4-BE49-F238E27FC236}">
                <a16:creationId xmlns:a16="http://schemas.microsoft.com/office/drawing/2014/main" id="{F2511EC4-5F7E-04A5-FDAE-B6D87F1934C0}"/>
              </a:ext>
            </a:extLst>
          </p:cNvPr>
          <p:cNvSpPr txBox="1"/>
          <p:nvPr/>
        </p:nvSpPr>
        <p:spPr>
          <a:xfrm>
            <a:off x="618880" y="3340861"/>
            <a:ext cx="4295163" cy="307777"/>
          </a:xfrm>
          <a:prstGeom prst="rect">
            <a:avLst/>
          </a:prstGeom>
          <a:noFill/>
        </p:spPr>
        <p:txBody>
          <a:bodyPr wrap="square" rtlCol="0">
            <a:spAutoFit/>
          </a:bodyPr>
          <a:lstStyle/>
          <a:p>
            <a:r>
              <a:rPr lang="en-US" sz="1400" dirty="0" err="1">
                <a:latin typeface="Courier New" panose="02070309020205020404" pitchFamily="49" charset="0"/>
                <a:cs typeface="Courier New" panose="02070309020205020404" pitchFamily="49" charset="0"/>
              </a:rPr>
              <a:t>data_type</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array_name</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array_size</a:t>
            </a:r>
            <a:r>
              <a:rPr lang="en-US" sz="1400" dirty="0">
                <a:latin typeface="Courier New" panose="02070309020205020404" pitchFamily="49" charset="0"/>
                <a:cs typeface="Courier New" panose="02070309020205020404" pitchFamily="49" charset="0"/>
              </a:rPr>
              <a:t>];</a:t>
            </a:r>
          </a:p>
        </p:txBody>
      </p:sp>
      <p:sp>
        <p:nvSpPr>
          <p:cNvPr id="11" name="TextBox 10">
            <a:extLst>
              <a:ext uri="{FF2B5EF4-FFF2-40B4-BE49-F238E27FC236}">
                <a16:creationId xmlns:a16="http://schemas.microsoft.com/office/drawing/2014/main" id="{2B829207-79B0-CA85-322A-D99F9CE64DE8}"/>
              </a:ext>
            </a:extLst>
          </p:cNvPr>
          <p:cNvSpPr txBox="1"/>
          <p:nvPr/>
        </p:nvSpPr>
        <p:spPr>
          <a:xfrm>
            <a:off x="618880" y="3109953"/>
            <a:ext cx="725263" cy="307777"/>
          </a:xfrm>
          <a:prstGeom prst="rect">
            <a:avLst/>
          </a:prstGeom>
          <a:noFill/>
        </p:spPr>
        <p:txBody>
          <a:bodyPr wrap="none" rtlCol="0">
            <a:spAutoFit/>
          </a:bodyPr>
          <a:lstStyle/>
          <a:p>
            <a:r>
              <a:rPr lang="en-US" sz="1400" b="1" dirty="0"/>
              <a:t>Syntax:</a:t>
            </a:r>
          </a:p>
        </p:txBody>
      </p:sp>
      <p:sp>
        <p:nvSpPr>
          <p:cNvPr id="13" name="TextBox 12">
            <a:extLst>
              <a:ext uri="{FF2B5EF4-FFF2-40B4-BE49-F238E27FC236}">
                <a16:creationId xmlns:a16="http://schemas.microsoft.com/office/drawing/2014/main" id="{6D8A4B37-EBBA-4307-97AA-5DC5675EFC38}"/>
              </a:ext>
            </a:extLst>
          </p:cNvPr>
          <p:cNvSpPr txBox="1"/>
          <p:nvPr/>
        </p:nvSpPr>
        <p:spPr>
          <a:xfrm>
            <a:off x="618880" y="3648638"/>
            <a:ext cx="11091672" cy="3046988"/>
          </a:xfrm>
          <a:prstGeom prst="rect">
            <a:avLst/>
          </a:prstGeom>
          <a:solidFill>
            <a:schemeClr val="bg1">
              <a:lumMod val="95000"/>
            </a:schemeClr>
          </a:solidFill>
          <a:ln>
            <a:solidFill>
              <a:srgbClr val="000000"/>
            </a:solidFill>
          </a:ln>
        </p:spPr>
        <p:txBody>
          <a:bodyPr wrap="square" rtlCol="0">
            <a:spAutoFit/>
          </a:bodyPr>
          <a:lstStyle/>
          <a:p>
            <a:r>
              <a:rPr lang="en-US" sz="1200" dirty="0">
                <a:latin typeface="Courier New" panose="02070309020205020404" pitchFamily="49" charset="0"/>
                <a:cs typeface="Courier New" panose="02070309020205020404" pitchFamily="49" charset="0"/>
              </a:rPr>
              <a:t>#include &lt;iostream&gt;</a:t>
            </a:r>
          </a:p>
          <a:p>
            <a:r>
              <a:rPr lang="en-US" sz="1200" dirty="0">
                <a:latin typeface="Courier New" panose="02070309020205020404" pitchFamily="49" charset="0"/>
                <a:cs typeface="Courier New" panose="02070309020205020404" pitchFamily="49" charset="0"/>
              </a:rPr>
              <a:t>using namespace std;</a:t>
            </a:r>
          </a:p>
          <a:p>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int main() {</a:t>
            </a:r>
          </a:p>
          <a:p>
            <a:pPr lvl="1"/>
            <a:r>
              <a:rPr lang="en-US" sz="1200" dirty="0">
                <a:latin typeface="Courier New" panose="02070309020205020404" pitchFamily="49" charset="0"/>
                <a:cs typeface="Courier New" panose="02070309020205020404" pitchFamily="49" charset="0"/>
              </a:rPr>
              <a:t>int numbers[] = {1, 2, 3, 4, 5};</a:t>
            </a:r>
            <a:br>
              <a:rPr lang="en-US" sz="1200" dirty="0">
                <a:latin typeface="Courier New" panose="02070309020205020404" pitchFamily="49" charset="0"/>
                <a:cs typeface="Courier New" panose="02070309020205020404" pitchFamily="49" charset="0"/>
              </a:rPr>
            </a:b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int </a:t>
            </a:r>
            <a:r>
              <a:rPr lang="en-US" sz="1200" dirty="0" err="1">
                <a:latin typeface="Courier New" panose="02070309020205020404" pitchFamily="49" charset="0"/>
                <a:cs typeface="Courier New" panose="02070309020205020404" pitchFamily="49" charset="0"/>
              </a:rPr>
              <a:t>arraySize</a:t>
            </a:r>
            <a:r>
              <a:rPr lang="en-US" sz="1200" dirty="0">
                <a:latin typeface="Courier New" panose="02070309020205020404" pitchFamily="49" charset="0"/>
                <a:cs typeface="Courier New" panose="02070309020205020404" pitchFamily="49" charset="0"/>
              </a:rPr>
              <a:t> = </a:t>
            </a:r>
            <a:r>
              <a:rPr lang="en-US" sz="1200" dirty="0" err="1">
                <a:latin typeface="Courier New" panose="02070309020205020404" pitchFamily="49" charset="0"/>
                <a:cs typeface="Courier New" panose="02070309020205020404" pitchFamily="49" charset="0"/>
              </a:rPr>
              <a:t>sizeof</a:t>
            </a:r>
            <a:r>
              <a:rPr lang="en-US" sz="1200" dirty="0">
                <a:latin typeface="Courier New" panose="02070309020205020404" pitchFamily="49" charset="0"/>
                <a:cs typeface="Courier New" panose="02070309020205020404" pitchFamily="49" charset="0"/>
              </a:rPr>
              <a:t>(numbers) / </a:t>
            </a:r>
            <a:r>
              <a:rPr lang="en-US" sz="1200" dirty="0" err="1">
                <a:latin typeface="Courier New" panose="02070309020205020404" pitchFamily="49" charset="0"/>
                <a:cs typeface="Courier New" panose="02070309020205020404" pitchFamily="49" charset="0"/>
              </a:rPr>
              <a:t>sizeof</a:t>
            </a:r>
            <a:r>
              <a:rPr lang="en-US" sz="1200" dirty="0">
                <a:latin typeface="Courier New" panose="02070309020205020404" pitchFamily="49" charset="0"/>
                <a:cs typeface="Courier New" panose="02070309020205020404" pitchFamily="49" charset="0"/>
              </a:rPr>
              <a:t>(numbers[0]);</a:t>
            </a:r>
            <a:br>
              <a:rPr lang="en-US" sz="1200" dirty="0">
                <a:latin typeface="Courier New" panose="02070309020205020404" pitchFamily="49" charset="0"/>
                <a:cs typeface="Courier New" panose="02070309020205020404" pitchFamily="49" charset="0"/>
              </a:rPr>
            </a:br>
            <a:br>
              <a:rPr lang="en-US" sz="1200" dirty="0">
                <a:latin typeface="Courier New" panose="02070309020205020404" pitchFamily="49" charset="0"/>
                <a:cs typeface="Courier New" panose="02070309020205020404" pitchFamily="49" charset="0"/>
              </a:rPr>
            </a:br>
            <a:r>
              <a:rPr lang="en-US" sz="1200" dirty="0" err="1">
                <a:latin typeface="Courier New" panose="02070309020205020404" pitchFamily="49" charset="0"/>
                <a:cs typeface="Courier New" panose="02070309020205020404" pitchFamily="49" charset="0"/>
              </a:rPr>
              <a:t>cout</a:t>
            </a:r>
            <a:r>
              <a:rPr lang="en-US" sz="1200" dirty="0">
                <a:latin typeface="Courier New" panose="02070309020205020404" pitchFamily="49" charset="0"/>
                <a:cs typeface="Courier New" panose="02070309020205020404" pitchFamily="49" charset="0"/>
              </a:rPr>
              <a:t> &lt;&lt; "Iterating through the array:" &lt;&lt; </a:t>
            </a:r>
            <a:r>
              <a:rPr lang="en-US" sz="1200" dirty="0" err="1">
                <a:latin typeface="Courier New" panose="02070309020205020404" pitchFamily="49" charset="0"/>
                <a:cs typeface="Courier New" panose="02070309020205020404" pitchFamily="49" charset="0"/>
              </a:rPr>
              <a:t>endl</a:t>
            </a:r>
            <a:r>
              <a:rPr lang="en-US" sz="1200" dirty="0">
                <a:latin typeface="Courier New" panose="02070309020205020404" pitchFamily="49" charset="0"/>
                <a:cs typeface="Courier New" panose="02070309020205020404" pitchFamily="49" charset="0"/>
              </a:rPr>
              <a:t>;</a:t>
            </a:r>
            <a:br>
              <a:rPr lang="en-US" sz="1200" dirty="0">
                <a:latin typeface="Courier New" panose="02070309020205020404" pitchFamily="49" charset="0"/>
                <a:cs typeface="Courier New" panose="02070309020205020404" pitchFamily="49" charset="0"/>
              </a:rPr>
            </a:b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for (int </a:t>
            </a:r>
            <a:r>
              <a:rPr lang="en-US" sz="1200" dirty="0" err="1">
                <a:latin typeface="Courier New" panose="02070309020205020404" pitchFamily="49" charset="0"/>
                <a:cs typeface="Courier New" panose="02070309020205020404" pitchFamily="49" charset="0"/>
              </a:rPr>
              <a:t>i</a:t>
            </a:r>
            <a:r>
              <a:rPr lang="en-US" sz="1200" dirty="0">
                <a:latin typeface="Courier New" panose="02070309020205020404" pitchFamily="49" charset="0"/>
                <a:cs typeface="Courier New" panose="02070309020205020404" pitchFamily="49" charset="0"/>
              </a:rPr>
              <a:t> = 0; </a:t>
            </a:r>
            <a:r>
              <a:rPr lang="en-US" sz="1200" dirty="0" err="1">
                <a:latin typeface="Courier New" panose="02070309020205020404" pitchFamily="49" charset="0"/>
                <a:cs typeface="Courier New" panose="02070309020205020404" pitchFamily="49" charset="0"/>
              </a:rPr>
              <a:t>i</a:t>
            </a:r>
            <a:r>
              <a:rPr lang="en-US" sz="1200" dirty="0">
                <a:latin typeface="Courier New" panose="02070309020205020404" pitchFamily="49" charset="0"/>
                <a:cs typeface="Courier New" panose="02070309020205020404" pitchFamily="49" charset="0"/>
              </a:rPr>
              <a:t> &lt; </a:t>
            </a:r>
            <a:r>
              <a:rPr lang="en-US" sz="1200" dirty="0" err="1">
                <a:latin typeface="Courier New" panose="02070309020205020404" pitchFamily="49" charset="0"/>
                <a:cs typeface="Courier New" panose="02070309020205020404" pitchFamily="49" charset="0"/>
              </a:rPr>
              <a:t>arraySize</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i</a:t>
            </a:r>
            <a:r>
              <a:rPr lang="en-US" sz="1200" dirty="0">
                <a:latin typeface="Courier New" panose="02070309020205020404" pitchFamily="49" charset="0"/>
                <a:cs typeface="Courier New" panose="02070309020205020404" pitchFamily="49" charset="0"/>
              </a:rPr>
              <a:t>++) {</a:t>
            </a:r>
            <a:br>
              <a:rPr lang="en-US" sz="1200" dirty="0">
                <a:latin typeface="Courier New" panose="02070309020205020404" pitchFamily="49" charset="0"/>
                <a:cs typeface="Courier New" panose="02070309020205020404" pitchFamily="49" charset="0"/>
              </a:rPr>
            </a:br>
            <a:r>
              <a:rPr lang="en-US" sz="1200" dirty="0" err="1">
                <a:latin typeface="Courier New" panose="02070309020205020404" pitchFamily="49" charset="0"/>
                <a:cs typeface="Courier New" panose="02070309020205020404" pitchFamily="49" charset="0"/>
              </a:rPr>
              <a:t>cout</a:t>
            </a:r>
            <a:r>
              <a:rPr lang="en-US" sz="1200" dirty="0">
                <a:latin typeface="Courier New" panose="02070309020205020404" pitchFamily="49" charset="0"/>
                <a:cs typeface="Courier New" panose="02070309020205020404" pitchFamily="49" charset="0"/>
              </a:rPr>
              <a:t> &lt;&lt; "Element at index " &lt;&lt; </a:t>
            </a:r>
            <a:r>
              <a:rPr lang="en-US" sz="1200" dirty="0" err="1">
                <a:latin typeface="Courier New" panose="02070309020205020404" pitchFamily="49" charset="0"/>
                <a:cs typeface="Courier New" panose="02070309020205020404" pitchFamily="49" charset="0"/>
              </a:rPr>
              <a:t>i</a:t>
            </a:r>
            <a:r>
              <a:rPr lang="en-US" sz="1200" dirty="0">
                <a:latin typeface="Courier New" panose="02070309020205020404" pitchFamily="49" charset="0"/>
                <a:cs typeface="Courier New" panose="02070309020205020404" pitchFamily="49" charset="0"/>
              </a:rPr>
              <a:t> &lt;&lt; ": " &lt;&lt; numbers[</a:t>
            </a:r>
            <a:r>
              <a:rPr lang="en-US" sz="1200" dirty="0" err="1">
                <a:latin typeface="Courier New" panose="02070309020205020404" pitchFamily="49" charset="0"/>
                <a:cs typeface="Courier New" panose="02070309020205020404" pitchFamily="49" charset="0"/>
              </a:rPr>
              <a:t>i</a:t>
            </a:r>
            <a:r>
              <a:rPr lang="en-US" sz="1200" dirty="0">
                <a:latin typeface="Courier New" panose="02070309020205020404" pitchFamily="49" charset="0"/>
                <a:cs typeface="Courier New" panose="02070309020205020404" pitchFamily="49" charset="0"/>
              </a:rPr>
              <a:t>] &lt;&lt; </a:t>
            </a:r>
            <a:r>
              <a:rPr lang="en-US" sz="1200" dirty="0" err="1">
                <a:latin typeface="Courier New" panose="02070309020205020404" pitchFamily="49" charset="0"/>
                <a:cs typeface="Courier New" panose="02070309020205020404" pitchFamily="49" charset="0"/>
              </a:rPr>
              <a:t>endl</a:t>
            </a:r>
            <a:r>
              <a:rPr lang="en-US" sz="1200" dirty="0">
                <a:latin typeface="Courier New" panose="02070309020205020404" pitchFamily="49" charset="0"/>
                <a:cs typeface="Courier New" panose="02070309020205020404" pitchFamily="49" charset="0"/>
              </a:rPr>
              <a:t>;</a:t>
            </a: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a:t>
            </a:r>
            <a:br>
              <a:rPr lang="en-US" sz="1200" dirty="0">
                <a:latin typeface="Courier New" panose="02070309020205020404" pitchFamily="49" charset="0"/>
                <a:cs typeface="Courier New" panose="02070309020205020404" pitchFamily="49" charset="0"/>
              </a:rPr>
            </a:b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return 0;</a:t>
            </a:r>
          </a:p>
          <a:p>
            <a:r>
              <a:rPr lang="en-US" sz="12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1238125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7A11A5-816A-2730-E6EC-9969E4A2AB0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A352673-B70C-0AC4-945B-CDB161DDB3A1}"/>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
        <p:nvSpPr>
          <p:cNvPr id="4" name="Text 2">
            <a:extLst>
              <a:ext uri="{FF2B5EF4-FFF2-40B4-BE49-F238E27FC236}">
                <a16:creationId xmlns:a16="http://schemas.microsoft.com/office/drawing/2014/main" id="{66B49F07-2845-0291-A5BA-781274623F37}"/>
              </a:ext>
            </a:extLst>
          </p:cNvPr>
          <p:cNvSpPr/>
          <p:nvPr/>
        </p:nvSpPr>
        <p:spPr>
          <a:xfrm>
            <a:off x="548640" y="1797396"/>
            <a:ext cx="11091672" cy="713740"/>
          </a:xfrm>
          <a:prstGeom prst="rect">
            <a:avLst/>
          </a:prstGeom>
          <a:noFill/>
          <a:ln/>
        </p:spPr>
        <p:txBody>
          <a:bodyPr wrap="square" rtlCol="0" anchor="t"/>
          <a:lstStyle/>
          <a:p>
            <a:pPr lvl="0"/>
            <a:r>
              <a:rPr lang="en-US" dirty="0"/>
              <a:t>C++ supports multi-dimensional arrays. A 2D array is essentially an array of arrays, and accessing elements involves specifying both row and column indices.</a:t>
            </a:r>
            <a:endParaRPr lang="en-US" sz="1600" dirty="0"/>
          </a:p>
        </p:txBody>
      </p:sp>
      <p:sp>
        <p:nvSpPr>
          <p:cNvPr id="9" name="Text 1">
            <a:extLst>
              <a:ext uri="{FF2B5EF4-FFF2-40B4-BE49-F238E27FC236}">
                <a16:creationId xmlns:a16="http://schemas.microsoft.com/office/drawing/2014/main" id="{60EBB5B5-3D38-8280-7AEB-AF5CE418D961}"/>
              </a:ext>
            </a:extLst>
          </p:cNvPr>
          <p:cNvSpPr/>
          <p:nvPr/>
        </p:nvSpPr>
        <p:spPr>
          <a:xfrm>
            <a:off x="548640" y="943698"/>
            <a:ext cx="11091672" cy="54864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Multidimensional Arrays</a:t>
            </a:r>
            <a:endParaRPr lang="en-US" sz="2200" dirty="0"/>
          </a:p>
        </p:txBody>
      </p:sp>
      <p:sp>
        <p:nvSpPr>
          <p:cNvPr id="13" name="TextBox 12">
            <a:extLst>
              <a:ext uri="{FF2B5EF4-FFF2-40B4-BE49-F238E27FC236}">
                <a16:creationId xmlns:a16="http://schemas.microsoft.com/office/drawing/2014/main" id="{68169A1D-35AA-F4BE-2674-AE2F064380D1}"/>
              </a:ext>
            </a:extLst>
          </p:cNvPr>
          <p:cNvSpPr txBox="1"/>
          <p:nvPr/>
        </p:nvSpPr>
        <p:spPr>
          <a:xfrm>
            <a:off x="618880" y="2696644"/>
            <a:ext cx="11091672" cy="3600986"/>
          </a:xfrm>
          <a:prstGeom prst="rect">
            <a:avLst/>
          </a:prstGeom>
          <a:solidFill>
            <a:schemeClr val="bg1">
              <a:lumMod val="95000"/>
            </a:schemeClr>
          </a:solidFill>
          <a:ln>
            <a:solidFill>
              <a:srgbClr val="000000"/>
            </a:solidFill>
          </a:ln>
        </p:spPr>
        <p:txBody>
          <a:bodyPr wrap="square" rtlCol="0">
            <a:spAutoFit/>
          </a:bodyPr>
          <a:lstStyle/>
          <a:p>
            <a:r>
              <a:rPr lang="en-US" sz="1200" dirty="0">
                <a:latin typeface="Courier New" panose="02070309020205020404" pitchFamily="49" charset="0"/>
                <a:cs typeface="Courier New" panose="02070309020205020404" pitchFamily="49" charset="0"/>
              </a:rPr>
              <a:t>#include &lt;iostream&gt;</a:t>
            </a:r>
          </a:p>
          <a:p>
            <a:r>
              <a:rPr lang="en-US" sz="1200" dirty="0">
                <a:latin typeface="Courier New" panose="02070309020205020404" pitchFamily="49" charset="0"/>
                <a:cs typeface="Courier New" panose="02070309020205020404" pitchFamily="49" charset="0"/>
              </a:rPr>
              <a:t>using namespace std;</a:t>
            </a:r>
          </a:p>
          <a:p>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int main() {</a:t>
            </a:r>
          </a:p>
          <a:p>
            <a:pPr lvl="1"/>
            <a:r>
              <a:rPr lang="en-US" sz="1200" dirty="0">
                <a:latin typeface="Courier New" panose="02070309020205020404" pitchFamily="49" charset="0"/>
                <a:cs typeface="Courier New" panose="02070309020205020404" pitchFamily="49" charset="0"/>
              </a:rPr>
              <a:t>// Defining a 2D array</a:t>
            </a: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int </a:t>
            </a:r>
            <a:r>
              <a:rPr lang="en-US" sz="1200" dirty="0" err="1">
                <a:latin typeface="Courier New" panose="02070309020205020404" pitchFamily="49" charset="0"/>
                <a:cs typeface="Courier New" panose="02070309020205020404" pitchFamily="49" charset="0"/>
              </a:rPr>
              <a:t>multiDimArr</a:t>
            </a:r>
            <a:r>
              <a:rPr lang="en-US" sz="1200" dirty="0">
                <a:latin typeface="Courier New" panose="02070309020205020404" pitchFamily="49" charset="0"/>
                <a:cs typeface="Courier New" panose="02070309020205020404" pitchFamily="49" charset="0"/>
              </a:rPr>
              <a:t>[3][3] = {{1, 2, 3}, {4, 5, 6}, {7, 8, 9}};</a:t>
            </a:r>
            <a:br>
              <a:rPr lang="en-US" sz="1200" dirty="0">
                <a:latin typeface="Courier New" panose="02070309020205020404" pitchFamily="49" charset="0"/>
                <a:cs typeface="Courier New" panose="02070309020205020404" pitchFamily="49" charset="0"/>
              </a:rPr>
            </a:b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 Iterating through the 2D array and printing its elements</a:t>
            </a:r>
            <a:br>
              <a:rPr lang="en-US" sz="1200" dirty="0">
                <a:latin typeface="Courier New" panose="02070309020205020404" pitchFamily="49" charset="0"/>
                <a:cs typeface="Courier New" panose="02070309020205020404" pitchFamily="49" charset="0"/>
              </a:rPr>
            </a:br>
            <a:r>
              <a:rPr lang="en-US" sz="1200" dirty="0" err="1">
                <a:latin typeface="Courier New" panose="02070309020205020404" pitchFamily="49" charset="0"/>
                <a:cs typeface="Courier New" panose="02070309020205020404" pitchFamily="49" charset="0"/>
              </a:rPr>
              <a:t>cout</a:t>
            </a:r>
            <a:r>
              <a:rPr lang="en-US" sz="1200" dirty="0">
                <a:latin typeface="Courier New" panose="02070309020205020404" pitchFamily="49" charset="0"/>
                <a:cs typeface="Courier New" panose="02070309020205020404" pitchFamily="49" charset="0"/>
              </a:rPr>
              <a:t> &lt;&lt; "2D Array elements:" &lt;&lt; </a:t>
            </a:r>
            <a:r>
              <a:rPr lang="en-US" sz="1200" dirty="0" err="1">
                <a:latin typeface="Courier New" panose="02070309020205020404" pitchFamily="49" charset="0"/>
                <a:cs typeface="Courier New" panose="02070309020205020404" pitchFamily="49" charset="0"/>
              </a:rPr>
              <a:t>endl</a:t>
            </a:r>
            <a:r>
              <a:rPr lang="en-US" sz="1200" dirty="0">
                <a:latin typeface="Courier New" panose="02070309020205020404" pitchFamily="49" charset="0"/>
                <a:cs typeface="Courier New" panose="02070309020205020404" pitchFamily="49" charset="0"/>
              </a:rPr>
              <a:t>;</a:t>
            </a:r>
            <a:br>
              <a:rPr lang="en-US" sz="1200" dirty="0">
                <a:latin typeface="Courier New" panose="02070309020205020404" pitchFamily="49" charset="0"/>
                <a:cs typeface="Courier New" panose="02070309020205020404" pitchFamily="49" charset="0"/>
              </a:rPr>
            </a:br>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     for (int </a:t>
            </a:r>
            <a:r>
              <a:rPr lang="en-US" sz="1200" dirty="0" err="1">
                <a:latin typeface="Courier New" panose="02070309020205020404" pitchFamily="49" charset="0"/>
                <a:cs typeface="Courier New" panose="02070309020205020404" pitchFamily="49" charset="0"/>
              </a:rPr>
              <a:t>i</a:t>
            </a:r>
            <a:r>
              <a:rPr lang="en-US" sz="1200" dirty="0">
                <a:latin typeface="Courier New" panose="02070309020205020404" pitchFamily="49" charset="0"/>
                <a:cs typeface="Courier New" panose="02070309020205020404" pitchFamily="49" charset="0"/>
              </a:rPr>
              <a:t> = 0; </a:t>
            </a:r>
            <a:r>
              <a:rPr lang="en-US" sz="1200" dirty="0" err="1">
                <a:latin typeface="Courier New" panose="02070309020205020404" pitchFamily="49" charset="0"/>
                <a:cs typeface="Courier New" panose="02070309020205020404" pitchFamily="49" charset="0"/>
              </a:rPr>
              <a:t>i</a:t>
            </a:r>
            <a:r>
              <a:rPr lang="en-US" sz="1200" dirty="0">
                <a:latin typeface="Courier New" panose="02070309020205020404" pitchFamily="49" charset="0"/>
                <a:cs typeface="Courier New" panose="02070309020205020404" pitchFamily="49" charset="0"/>
              </a:rPr>
              <a:t> &lt; 3; ++</a:t>
            </a:r>
            <a:r>
              <a:rPr lang="en-US" sz="1200" dirty="0" err="1">
                <a:latin typeface="Courier New" panose="02070309020205020404" pitchFamily="49" charset="0"/>
                <a:cs typeface="Courier New" panose="02070309020205020404" pitchFamily="49" charset="0"/>
              </a:rPr>
              <a:t>i</a:t>
            </a:r>
            <a:r>
              <a:rPr lang="en-US" sz="1200" dirty="0">
                <a:latin typeface="Courier New" panose="02070309020205020404" pitchFamily="49" charset="0"/>
                <a:cs typeface="Courier New" panose="02070309020205020404" pitchFamily="49" charset="0"/>
              </a:rPr>
              <a:t>) {</a:t>
            </a: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	for (int j = 0; j &lt; 3; ++j) {</a:t>
            </a: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cout</a:t>
            </a:r>
            <a:r>
              <a:rPr lang="en-US" sz="1200" dirty="0">
                <a:latin typeface="Courier New" panose="02070309020205020404" pitchFamily="49" charset="0"/>
                <a:cs typeface="Courier New" panose="02070309020205020404" pitchFamily="49" charset="0"/>
              </a:rPr>
              <a:t> &lt;&lt; </a:t>
            </a:r>
            <a:r>
              <a:rPr lang="en-US" sz="1200" dirty="0" err="1">
                <a:latin typeface="Courier New" panose="02070309020205020404" pitchFamily="49" charset="0"/>
                <a:cs typeface="Courier New" panose="02070309020205020404" pitchFamily="49" charset="0"/>
              </a:rPr>
              <a:t>multiDimArr</a:t>
            </a:r>
            <a:r>
              <a:rPr lang="en-US" sz="1200" dirty="0">
                <a:latin typeface="Courier New" panose="02070309020205020404" pitchFamily="49" charset="0"/>
                <a:cs typeface="Courier New" panose="02070309020205020404" pitchFamily="49" charset="0"/>
              </a:rPr>
              <a:t>[</a:t>
            </a:r>
            <a:r>
              <a:rPr lang="en-US" sz="1200" dirty="0" err="1">
                <a:latin typeface="Courier New" panose="02070309020205020404" pitchFamily="49" charset="0"/>
                <a:cs typeface="Courier New" panose="02070309020205020404" pitchFamily="49" charset="0"/>
              </a:rPr>
              <a:t>i</a:t>
            </a:r>
            <a:r>
              <a:rPr lang="en-US" sz="1200" dirty="0">
                <a:latin typeface="Courier New" panose="02070309020205020404" pitchFamily="49" charset="0"/>
                <a:cs typeface="Courier New" panose="02070309020205020404" pitchFamily="49" charset="0"/>
              </a:rPr>
              <a:t>][j] &lt;&lt; " ";</a:t>
            </a: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	}</a:t>
            </a: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cout</a:t>
            </a:r>
            <a:r>
              <a:rPr lang="en-US" sz="1200" dirty="0">
                <a:latin typeface="Courier New" panose="02070309020205020404" pitchFamily="49" charset="0"/>
                <a:cs typeface="Courier New" panose="02070309020205020404" pitchFamily="49" charset="0"/>
              </a:rPr>
              <a:t> &lt;&lt; </a:t>
            </a:r>
            <a:r>
              <a:rPr lang="en-US" sz="1200" dirty="0" err="1">
                <a:latin typeface="Courier New" panose="02070309020205020404" pitchFamily="49" charset="0"/>
                <a:cs typeface="Courier New" panose="02070309020205020404" pitchFamily="49" charset="0"/>
              </a:rPr>
              <a:t>endl</a:t>
            </a:r>
            <a:r>
              <a:rPr lang="en-US" sz="1200" dirty="0">
                <a:latin typeface="Courier New" panose="02070309020205020404" pitchFamily="49" charset="0"/>
                <a:cs typeface="Courier New" panose="02070309020205020404" pitchFamily="49" charset="0"/>
              </a:rPr>
              <a:t>;</a:t>
            </a: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     }</a:t>
            </a:r>
            <a:br>
              <a:rPr lang="en-US" sz="1200" dirty="0">
                <a:latin typeface="Courier New" panose="02070309020205020404" pitchFamily="49" charset="0"/>
                <a:cs typeface="Courier New" panose="02070309020205020404" pitchFamily="49" charset="0"/>
              </a:rPr>
            </a:b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return 0;</a:t>
            </a:r>
          </a:p>
          <a:p>
            <a:r>
              <a:rPr lang="en-US" sz="12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4076784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38052"/>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
        <p:nvSpPr>
          <p:cNvPr id="3" name="Text 1"/>
          <p:cNvSpPr/>
          <p:nvPr/>
        </p:nvSpPr>
        <p:spPr>
          <a:xfrm>
            <a:off x="548640" y="703812"/>
            <a:ext cx="11091672" cy="54864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Pointers</a:t>
            </a:r>
            <a:endParaRPr lang="en-US" sz="2200" dirty="0"/>
          </a:p>
        </p:txBody>
      </p:sp>
      <p:sp>
        <p:nvSpPr>
          <p:cNvPr id="5" name="Text 3"/>
          <p:cNvSpPr/>
          <p:nvPr/>
        </p:nvSpPr>
        <p:spPr>
          <a:xfrm>
            <a:off x="548640" y="1193342"/>
            <a:ext cx="11181541" cy="5577840"/>
          </a:xfrm>
          <a:prstGeom prst="rect">
            <a:avLst/>
          </a:prstGeom>
          <a:noFill/>
          <a:ln/>
        </p:spPr>
        <p:txBody>
          <a:bodyPr wrap="square" rtlCol="0" anchor="t"/>
          <a:lstStyle/>
          <a:p>
            <a:r>
              <a:rPr lang="en-US" sz="1600" dirty="0"/>
              <a:t>In C++, pointers are used to store the memory addresses of variables, allowing for direct access and manipulation of memory. There are several types of pointers, each serving specific purposes:</a:t>
            </a:r>
          </a:p>
          <a:p>
            <a:endParaRPr lang="en-US" sz="700" b="1" dirty="0"/>
          </a:p>
          <a:p>
            <a:r>
              <a:rPr lang="en-US" sz="1600" b="1" dirty="0"/>
              <a:t>Declaring pointers in C++</a:t>
            </a:r>
          </a:p>
          <a:p>
            <a:pPr lvl="3"/>
            <a:r>
              <a:rPr lang="en-US" sz="1400" dirty="0" err="1">
                <a:latin typeface="Courier New" panose="02070309020205020404" pitchFamily="49" charset="0"/>
                <a:cs typeface="Courier New" panose="02070309020205020404" pitchFamily="49" charset="0"/>
              </a:rPr>
              <a:t>data_type</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pointer_name</a:t>
            </a:r>
            <a:r>
              <a:rPr lang="en-US" sz="1400" dirty="0">
                <a:latin typeface="Courier New" panose="02070309020205020404" pitchFamily="49" charset="0"/>
                <a:cs typeface="Courier New" panose="02070309020205020404" pitchFamily="49" charset="0"/>
              </a:rPr>
              <a:t>; </a:t>
            </a:r>
          </a:p>
          <a:p>
            <a:pPr lvl="3"/>
            <a:r>
              <a:rPr lang="en-US" sz="1400" dirty="0"/>
              <a:t>OR</a:t>
            </a:r>
          </a:p>
          <a:p>
            <a:pPr lvl="3"/>
            <a:r>
              <a:rPr lang="en-US" sz="1400" dirty="0" err="1">
                <a:latin typeface="Courier New" panose="02070309020205020404" pitchFamily="49" charset="0"/>
                <a:cs typeface="Courier New" panose="02070309020205020404" pitchFamily="49" charset="0"/>
              </a:rPr>
              <a:t>data_type</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pointer_name</a:t>
            </a:r>
            <a:r>
              <a:rPr lang="en-US" sz="1400" dirty="0">
                <a:latin typeface="Courier New" panose="02070309020205020404" pitchFamily="49" charset="0"/>
                <a:cs typeface="Courier New" panose="02070309020205020404" pitchFamily="49" charset="0"/>
              </a:rPr>
              <a:t>; </a:t>
            </a:r>
          </a:p>
          <a:p>
            <a:endParaRPr lang="en-US" sz="800" dirty="0"/>
          </a:p>
          <a:p>
            <a:pPr marL="742950" lvl="1" indent="-285750">
              <a:buFont typeface="Arial" panose="020B0604020202020204" pitchFamily="34" charset="0"/>
              <a:buChar char="•"/>
            </a:pPr>
            <a:r>
              <a:rPr lang="en-US" sz="1500" i="1" dirty="0"/>
              <a:t>When used in a declaration (int* </a:t>
            </a:r>
            <a:r>
              <a:rPr lang="en-US" sz="1500" i="1" dirty="0" err="1"/>
              <a:t>ptr</a:t>
            </a:r>
            <a:r>
              <a:rPr lang="en-US" sz="1500" i="1" dirty="0"/>
              <a:t>;), it informs the compiler that this variable is a pointer. </a:t>
            </a:r>
          </a:p>
          <a:p>
            <a:pPr marL="742950" lvl="1" indent="-285750">
              <a:buFont typeface="Arial" panose="020B0604020202020204" pitchFamily="34" charset="0"/>
              <a:buChar char="•"/>
            </a:pPr>
            <a:r>
              <a:rPr lang="en-US" sz="1500" i="1" dirty="0"/>
              <a:t>When used in an expression (*</a:t>
            </a:r>
            <a:r>
              <a:rPr lang="en-US" sz="1500" i="1" dirty="0" err="1"/>
              <a:t>ptr</a:t>
            </a:r>
            <a:r>
              <a:rPr lang="en-US" sz="1500" i="1" dirty="0"/>
              <a:t>), it dereferences the pointer—i.e., accesses the value stored at the memory address the pointer </a:t>
            </a:r>
          </a:p>
          <a:p>
            <a:endParaRPr lang="en-US" sz="1100" b="1" dirty="0"/>
          </a:p>
          <a:p>
            <a:r>
              <a:rPr lang="en-US" sz="1600" b="1" dirty="0"/>
              <a:t>Initializing pointers in C++</a:t>
            </a:r>
          </a:p>
          <a:p>
            <a:pPr marL="800100" lvl="1" indent="-342900">
              <a:buAutoNum type="arabicPeriod"/>
            </a:pPr>
            <a:r>
              <a:rPr lang="en-US" sz="1600" dirty="0"/>
              <a:t>Assigning an existing variable’s address </a:t>
            </a:r>
          </a:p>
          <a:p>
            <a:pPr marL="1257300" lvl="2" indent="-342900">
              <a:buFont typeface="Arial" panose="020B0604020202020204" pitchFamily="34" charset="0"/>
              <a:buChar char="•"/>
            </a:pPr>
            <a:r>
              <a:rPr lang="en-US" sz="1400" dirty="0"/>
              <a:t>The most common way to initialize a pointer is by storing the address of an already declared variable. </a:t>
            </a:r>
            <a:endParaRPr lang="en-US" sz="1400" b="1" dirty="0">
              <a:latin typeface="Courier New" panose="02070309020205020404" pitchFamily="49" charset="0"/>
              <a:cs typeface="Courier New" panose="02070309020205020404" pitchFamily="49" charset="0"/>
            </a:endParaRPr>
          </a:p>
          <a:p>
            <a:pPr lvl="1"/>
            <a:endParaRPr lang="en-US" sz="1400" b="1" dirty="0">
              <a:latin typeface="Courier New" panose="02070309020205020404" pitchFamily="49" charset="0"/>
              <a:cs typeface="Courier New" panose="02070309020205020404" pitchFamily="49" charset="0"/>
            </a:endParaRPr>
          </a:p>
          <a:p>
            <a:pPr lvl="1"/>
            <a:endParaRPr lang="en-US" sz="1400" dirty="0">
              <a:latin typeface="Courier New" panose="02070309020205020404" pitchFamily="49" charset="0"/>
              <a:cs typeface="Courier New" panose="02070309020205020404" pitchFamily="49" charset="0"/>
            </a:endParaRPr>
          </a:p>
          <a:p>
            <a:br>
              <a:rPr lang="en-US" dirty="0"/>
            </a:br>
            <a:endParaRPr lang="en-US" dirty="0"/>
          </a:p>
          <a:p>
            <a:endParaRPr lang="en-US" sz="1300" dirty="0"/>
          </a:p>
          <a:p>
            <a:pPr marL="800100" lvl="1" indent="-342900">
              <a:buFont typeface="+mj-lt"/>
              <a:buAutoNum type="arabicPeriod" startAt="2"/>
            </a:pPr>
            <a:r>
              <a:rPr lang="en-US" sz="1600" dirty="0"/>
              <a:t>Using </a:t>
            </a:r>
            <a:r>
              <a:rPr lang="en-US" sz="1600" dirty="0" err="1">
                <a:latin typeface="Courier New" panose="02070309020205020404" pitchFamily="49" charset="0"/>
                <a:cs typeface="Courier New" panose="02070309020205020404" pitchFamily="49" charset="0"/>
              </a:rPr>
              <a:t>nullptr</a:t>
            </a:r>
            <a:r>
              <a:rPr lang="en-US" sz="1600" dirty="0"/>
              <a:t> (Modern C++) </a:t>
            </a:r>
          </a:p>
          <a:p>
            <a:pPr marL="1257300" lvl="2" indent="-342900">
              <a:buFont typeface="Arial" panose="020B0604020202020204" pitchFamily="34" charset="0"/>
              <a:buChar char="•"/>
            </a:pPr>
            <a:r>
              <a:rPr lang="en-US" sz="1600" dirty="0"/>
              <a:t>declare a pointer in advance, even if we don’t yet have a variable for it to point to</a:t>
            </a:r>
          </a:p>
        </p:txBody>
      </p:sp>
      <p:sp>
        <p:nvSpPr>
          <p:cNvPr id="8" name="TextBox 7">
            <a:extLst>
              <a:ext uri="{FF2B5EF4-FFF2-40B4-BE49-F238E27FC236}">
                <a16:creationId xmlns:a16="http://schemas.microsoft.com/office/drawing/2014/main" id="{1BA748A2-3874-B3BC-1907-5C77899BA21A}"/>
              </a:ext>
            </a:extLst>
          </p:cNvPr>
          <p:cNvSpPr txBox="1"/>
          <p:nvPr/>
        </p:nvSpPr>
        <p:spPr>
          <a:xfrm>
            <a:off x="1865745" y="4233966"/>
            <a:ext cx="7222838" cy="1015663"/>
          </a:xfrm>
          <a:prstGeom prst="rect">
            <a:avLst/>
          </a:prstGeom>
          <a:solidFill>
            <a:schemeClr val="bg1">
              <a:lumMod val="95000"/>
            </a:schemeClr>
          </a:solidFill>
          <a:ln>
            <a:solidFill>
              <a:srgbClr val="000000"/>
            </a:solidFill>
          </a:ln>
        </p:spPr>
        <p:txBody>
          <a:bodyPr wrap="square" rtlCol="0">
            <a:spAutoFit/>
          </a:bodyPr>
          <a:lstStyle/>
          <a:p>
            <a:pPr lvl="3"/>
            <a:r>
              <a:rPr lang="en-US" sz="1200" dirty="0">
                <a:latin typeface="Courier New" panose="02070309020205020404" pitchFamily="49" charset="0"/>
                <a:cs typeface="Courier New" panose="02070309020205020404" pitchFamily="49" charset="0"/>
              </a:rPr>
              <a:t>int num = 20; </a:t>
            </a:r>
          </a:p>
          <a:p>
            <a:pPr lvl="3"/>
            <a:r>
              <a:rPr lang="en-US" sz="1200" dirty="0">
                <a:latin typeface="Courier New" panose="02070309020205020404" pitchFamily="49" charset="0"/>
                <a:cs typeface="Courier New" panose="02070309020205020404" pitchFamily="49" charset="0"/>
              </a:rPr>
              <a:t>int* </a:t>
            </a:r>
            <a:r>
              <a:rPr lang="en-US" sz="1200" dirty="0" err="1">
                <a:latin typeface="Courier New" panose="02070309020205020404" pitchFamily="49" charset="0"/>
                <a:cs typeface="Courier New" panose="02070309020205020404" pitchFamily="49" charset="0"/>
              </a:rPr>
              <a:t>ptr</a:t>
            </a:r>
            <a:r>
              <a:rPr lang="en-US" sz="1200" dirty="0">
                <a:latin typeface="Courier New" panose="02070309020205020404" pitchFamily="49" charset="0"/>
                <a:cs typeface="Courier New" panose="02070309020205020404" pitchFamily="49" charset="0"/>
              </a:rPr>
              <a:t> = &amp;num;                </a:t>
            </a:r>
          </a:p>
          <a:p>
            <a:pPr lvl="3"/>
            <a:r>
              <a:rPr lang="en-US" sz="1200" dirty="0" err="1">
                <a:latin typeface="Courier New" panose="02070309020205020404" pitchFamily="49" charset="0"/>
                <a:cs typeface="Courier New" panose="02070309020205020404" pitchFamily="49" charset="0"/>
              </a:rPr>
              <a:t>cout</a:t>
            </a:r>
            <a:r>
              <a:rPr lang="en-US" sz="1200" dirty="0">
                <a:latin typeface="Courier New" panose="02070309020205020404" pitchFamily="49" charset="0"/>
                <a:cs typeface="Courier New" panose="02070309020205020404" pitchFamily="49" charset="0"/>
              </a:rPr>
              <a:t> &lt;&lt; *</a:t>
            </a:r>
            <a:r>
              <a:rPr lang="en-US" sz="1200" dirty="0" err="1">
                <a:latin typeface="Courier New" panose="02070309020205020404" pitchFamily="49" charset="0"/>
                <a:cs typeface="Courier New" panose="02070309020205020404" pitchFamily="49" charset="0"/>
              </a:rPr>
              <a:t>ptr</a:t>
            </a:r>
            <a:r>
              <a:rPr lang="en-US" sz="1200" dirty="0">
                <a:latin typeface="Courier New" panose="02070309020205020404" pitchFamily="49" charset="0"/>
                <a:cs typeface="Courier New" panose="02070309020205020404" pitchFamily="49" charset="0"/>
              </a:rPr>
              <a:t> &lt;&lt; </a:t>
            </a:r>
            <a:r>
              <a:rPr lang="en-US" sz="1200" dirty="0" err="1">
                <a:latin typeface="Courier New" panose="02070309020205020404" pitchFamily="49" charset="0"/>
                <a:cs typeface="Courier New" panose="02070309020205020404" pitchFamily="49" charset="0"/>
              </a:rPr>
              <a:t>endl</a:t>
            </a:r>
            <a:r>
              <a:rPr lang="en-US" sz="1200" dirty="0">
                <a:latin typeface="Courier New" panose="02070309020205020404" pitchFamily="49" charset="0"/>
                <a:cs typeface="Courier New" panose="02070309020205020404" pitchFamily="49" charset="0"/>
              </a:rPr>
              <a:t>;     </a:t>
            </a:r>
          </a:p>
          <a:p>
            <a:pPr lvl="3"/>
            <a:r>
              <a:rPr lang="en-US" sz="1200" dirty="0">
                <a:latin typeface="Courier New" panose="02070309020205020404" pitchFamily="49" charset="0"/>
                <a:cs typeface="Courier New" panose="02070309020205020404" pitchFamily="49" charset="0"/>
              </a:rPr>
              <a:t>*</a:t>
            </a:r>
            <a:r>
              <a:rPr lang="en-US" sz="1200" dirty="0" err="1">
                <a:latin typeface="Courier New" panose="02070309020205020404" pitchFamily="49" charset="0"/>
                <a:cs typeface="Courier New" panose="02070309020205020404" pitchFamily="49" charset="0"/>
              </a:rPr>
              <a:t>ptr</a:t>
            </a:r>
            <a:r>
              <a:rPr lang="en-US" sz="1200" dirty="0">
                <a:latin typeface="Courier New" panose="02070309020205020404" pitchFamily="49" charset="0"/>
                <a:cs typeface="Courier New" panose="02070309020205020404" pitchFamily="49" charset="0"/>
              </a:rPr>
              <a:t> = 30;                            </a:t>
            </a:r>
          </a:p>
          <a:p>
            <a:pPr lvl="3"/>
            <a:r>
              <a:rPr lang="en-US" sz="1200" dirty="0" err="1">
                <a:latin typeface="Courier New" panose="02070309020205020404" pitchFamily="49" charset="0"/>
                <a:cs typeface="Courier New" panose="02070309020205020404" pitchFamily="49" charset="0"/>
              </a:rPr>
              <a:t>cout</a:t>
            </a:r>
            <a:r>
              <a:rPr lang="en-US" sz="1200" dirty="0">
                <a:latin typeface="Courier New" panose="02070309020205020404" pitchFamily="49" charset="0"/>
                <a:cs typeface="Courier New" panose="02070309020205020404" pitchFamily="49" charset="0"/>
              </a:rPr>
              <a:t> &lt;&lt; num &lt;&lt; </a:t>
            </a:r>
            <a:r>
              <a:rPr lang="en-US" sz="1200" dirty="0" err="1">
                <a:latin typeface="Courier New" panose="02070309020205020404" pitchFamily="49" charset="0"/>
                <a:cs typeface="Courier New" panose="02070309020205020404" pitchFamily="49" charset="0"/>
              </a:rPr>
              <a:t>endl</a:t>
            </a:r>
            <a:r>
              <a:rPr lang="en-US" sz="1200" dirty="0">
                <a:latin typeface="Courier New" panose="02070309020205020404" pitchFamily="49" charset="0"/>
                <a:cs typeface="Courier New" panose="02070309020205020404" pitchFamily="49" charset="0"/>
              </a:rPr>
              <a:t>;  </a:t>
            </a:r>
          </a:p>
        </p:txBody>
      </p:sp>
      <p:sp>
        <p:nvSpPr>
          <p:cNvPr id="11" name="TextBox 10">
            <a:extLst>
              <a:ext uri="{FF2B5EF4-FFF2-40B4-BE49-F238E27FC236}">
                <a16:creationId xmlns:a16="http://schemas.microsoft.com/office/drawing/2014/main" id="{42B261E6-64B9-23AE-ECC8-F2614D6A7767}"/>
              </a:ext>
            </a:extLst>
          </p:cNvPr>
          <p:cNvSpPr txBox="1"/>
          <p:nvPr/>
        </p:nvSpPr>
        <p:spPr>
          <a:xfrm>
            <a:off x="1865745" y="5828363"/>
            <a:ext cx="7222838" cy="1015663"/>
          </a:xfrm>
          <a:prstGeom prst="rect">
            <a:avLst/>
          </a:prstGeom>
          <a:solidFill>
            <a:schemeClr val="bg1">
              <a:lumMod val="95000"/>
            </a:schemeClr>
          </a:solidFill>
          <a:ln>
            <a:solidFill>
              <a:srgbClr val="000000"/>
            </a:solidFill>
          </a:ln>
        </p:spPr>
        <p:txBody>
          <a:bodyPr wrap="square" rtlCol="0">
            <a:spAutoFit/>
          </a:bodyPr>
          <a:lstStyle/>
          <a:p>
            <a:r>
              <a:rPr lang="en-US" sz="1200" dirty="0">
                <a:latin typeface="Courier New" panose="02070309020205020404" pitchFamily="49" charset="0"/>
                <a:cs typeface="Courier New" panose="02070309020205020404" pitchFamily="49" charset="0"/>
              </a:rPr>
              <a:t>int* </a:t>
            </a:r>
            <a:r>
              <a:rPr lang="en-US" sz="1200" dirty="0" err="1">
                <a:latin typeface="Courier New" panose="02070309020205020404" pitchFamily="49" charset="0"/>
                <a:cs typeface="Courier New" panose="02070309020205020404" pitchFamily="49" charset="0"/>
              </a:rPr>
              <a:t>ptr</a:t>
            </a:r>
            <a:r>
              <a:rPr lang="en-US" sz="1200" dirty="0">
                <a:latin typeface="Courier New" panose="02070309020205020404" pitchFamily="49" charset="0"/>
                <a:cs typeface="Courier New" panose="02070309020205020404" pitchFamily="49" charset="0"/>
              </a:rPr>
              <a:t> = </a:t>
            </a:r>
            <a:r>
              <a:rPr lang="en-US" sz="1200" dirty="0" err="1">
                <a:latin typeface="Courier New" panose="02070309020205020404" pitchFamily="49" charset="0"/>
                <a:cs typeface="Courier New" panose="02070309020205020404" pitchFamily="49" charset="0"/>
              </a:rPr>
              <a:t>nullptr</a:t>
            </a:r>
            <a:r>
              <a:rPr lang="en-US" sz="1200" dirty="0">
                <a:latin typeface="Courier New" panose="02070309020205020404" pitchFamily="49" charset="0"/>
                <a:cs typeface="Courier New" panose="02070309020205020404" pitchFamily="49" charset="0"/>
              </a:rPr>
              <a:t>;</a:t>
            </a:r>
          </a:p>
          <a:p>
            <a:pPr lvl="3"/>
            <a:r>
              <a:rPr lang="en-US" sz="1200" dirty="0">
                <a:latin typeface="Courier New" panose="02070309020205020404" pitchFamily="49" charset="0"/>
                <a:cs typeface="Courier New" panose="02070309020205020404" pitchFamily="49" charset="0"/>
              </a:rPr>
              <a:t> </a:t>
            </a:r>
          </a:p>
          <a:p>
            <a:r>
              <a:rPr lang="en-US" sz="1200" dirty="0">
                <a:latin typeface="Courier New" panose="02070309020205020404" pitchFamily="49" charset="0"/>
                <a:cs typeface="Courier New" panose="02070309020205020404" pitchFamily="49" charset="0"/>
              </a:rPr>
              <a:t>if (</a:t>
            </a:r>
            <a:r>
              <a:rPr lang="en-US" sz="1200" dirty="0" err="1">
                <a:latin typeface="Courier New" panose="02070309020205020404" pitchFamily="49" charset="0"/>
                <a:cs typeface="Courier New" panose="02070309020205020404" pitchFamily="49" charset="0"/>
              </a:rPr>
              <a:t>ptr</a:t>
            </a:r>
            <a:r>
              <a:rPr lang="en-US" sz="1200" dirty="0">
                <a:latin typeface="Courier New" panose="02070309020205020404" pitchFamily="49" charset="0"/>
                <a:cs typeface="Courier New" panose="02070309020205020404" pitchFamily="49" charset="0"/>
              </a:rPr>
              <a:t> != </a:t>
            </a:r>
            <a:r>
              <a:rPr lang="en-US" sz="1200" dirty="0" err="1">
                <a:latin typeface="Courier New" panose="02070309020205020404" pitchFamily="49" charset="0"/>
                <a:cs typeface="Courier New" panose="02070309020205020404" pitchFamily="49" charset="0"/>
              </a:rPr>
              <a:t>nullptr</a:t>
            </a:r>
            <a:r>
              <a:rPr lang="en-US" sz="1200" dirty="0">
                <a:latin typeface="Courier New" panose="02070309020205020404" pitchFamily="49" charset="0"/>
                <a:cs typeface="Courier New" panose="02070309020205020404" pitchFamily="49" charset="0"/>
              </a:rPr>
              <a:t>) { </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ptr</a:t>
            </a:r>
            <a:r>
              <a:rPr lang="en-US" sz="1200" dirty="0">
                <a:latin typeface="Courier New" panose="02070309020205020404" pitchFamily="49" charset="0"/>
                <a:cs typeface="Courier New" panose="02070309020205020404" pitchFamily="49" charset="0"/>
              </a:rPr>
              <a:t> = 10; </a:t>
            </a:r>
          </a:p>
          <a:p>
            <a:r>
              <a:rPr lang="en-US" sz="1200" dirty="0">
                <a:latin typeface="Courier New" panose="02070309020205020404" pitchFamily="49" charset="0"/>
                <a:cs typeface="Courier New" panose="02070309020205020404" pitchFamily="49" charset="0"/>
              </a:rPr>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3D5BA08-F262-A9B7-5428-FA7D116BB4F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21B0C06-D000-7C38-3BD0-B32A6AF1F4C8}"/>
              </a:ext>
            </a:extLst>
          </p:cNvPr>
          <p:cNvSpPr/>
          <p:nvPr/>
        </p:nvSpPr>
        <p:spPr>
          <a:xfrm>
            <a:off x="548640" y="338052"/>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
        <p:nvSpPr>
          <p:cNvPr id="3" name="Text 1">
            <a:extLst>
              <a:ext uri="{FF2B5EF4-FFF2-40B4-BE49-F238E27FC236}">
                <a16:creationId xmlns:a16="http://schemas.microsoft.com/office/drawing/2014/main" id="{35C2B03D-806A-7925-DE28-F3DC48097CA8}"/>
              </a:ext>
            </a:extLst>
          </p:cNvPr>
          <p:cNvSpPr/>
          <p:nvPr/>
        </p:nvSpPr>
        <p:spPr>
          <a:xfrm>
            <a:off x="548640" y="703812"/>
            <a:ext cx="11091672" cy="54864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Pointers</a:t>
            </a:r>
            <a:endParaRPr lang="en-US" sz="2200" dirty="0"/>
          </a:p>
        </p:txBody>
      </p:sp>
      <p:sp>
        <p:nvSpPr>
          <p:cNvPr id="5" name="Text 3">
            <a:extLst>
              <a:ext uri="{FF2B5EF4-FFF2-40B4-BE49-F238E27FC236}">
                <a16:creationId xmlns:a16="http://schemas.microsoft.com/office/drawing/2014/main" id="{406E7499-34E5-3389-2288-B0B6070D1275}"/>
              </a:ext>
            </a:extLst>
          </p:cNvPr>
          <p:cNvSpPr/>
          <p:nvPr/>
        </p:nvSpPr>
        <p:spPr>
          <a:xfrm>
            <a:off x="548640" y="1252452"/>
            <a:ext cx="11181541" cy="5577840"/>
          </a:xfrm>
          <a:prstGeom prst="rect">
            <a:avLst/>
          </a:prstGeom>
          <a:noFill/>
          <a:ln/>
        </p:spPr>
        <p:txBody>
          <a:bodyPr wrap="square" rtlCol="0" anchor="t"/>
          <a:lstStyle/>
          <a:p>
            <a:pPr lvl="1"/>
            <a:endParaRPr lang="en-US" sz="1400" dirty="0">
              <a:latin typeface="Courier New" panose="02070309020205020404" pitchFamily="49" charset="0"/>
              <a:cs typeface="Courier New" panose="02070309020205020404" pitchFamily="49" charset="0"/>
            </a:endParaRPr>
          </a:p>
          <a:p>
            <a:br>
              <a:rPr lang="en-US" dirty="0"/>
            </a:br>
            <a:endParaRPr lang="en-US" sz="1300" dirty="0"/>
          </a:p>
        </p:txBody>
      </p:sp>
      <p:sp>
        <p:nvSpPr>
          <p:cNvPr id="7" name="TextBox 6">
            <a:extLst>
              <a:ext uri="{FF2B5EF4-FFF2-40B4-BE49-F238E27FC236}">
                <a16:creationId xmlns:a16="http://schemas.microsoft.com/office/drawing/2014/main" id="{345BACC0-6891-52E3-C0AC-01CFADDAFFB6}"/>
              </a:ext>
            </a:extLst>
          </p:cNvPr>
          <p:cNvSpPr txBox="1"/>
          <p:nvPr/>
        </p:nvSpPr>
        <p:spPr>
          <a:xfrm>
            <a:off x="731520" y="1554480"/>
            <a:ext cx="10926618" cy="5078313"/>
          </a:xfrm>
          <a:prstGeom prst="rect">
            <a:avLst/>
          </a:prstGeom>
          <a:noFill/>
        </p:spPr>
        <p:txBody>
          <a:bodyPr wrap="square" rtlCol="0">
            <a:spAutoFit/>
          </a:bodyPr>
          <a:lstStyle/>
          <a:p>
            <a:pPr marL="342900" indent="-342900">
              <a:buFont typeface="+mj-lt"/>
              <a:buAutoNum type="arabicPeriod"/>
            </a:pPr>
            <a:r>
              <a:rPr lang="en-US" sz="1600" b="1" dirty="0"/>
              <a:t>Null Pointer</a:t>
            </a:r>
            <a:endParaRPr lang="en-US" sz="1600" dirty="0"/>
          </a:p>
          <a:p>
            <a:pPr lvl="1"/>
            <a:r>
              <a:rPr lang="en-US" sz="1600" dirty="0"/>
              <a:t>A pointer that doesn’t point to any valid memory address. Initialized with </a:t>
            </a:r>
            <a:r>
              <a:rPr lang="en-US" sz="1600" dirty="0" err="1"/>
              <a:t>nullptr</a:t>
            </a:r>
            <a:r>
              <a:rPr lang="en-US" sz="1600" dirty="0"/>
              <a:t> in C++11 or NULL in older C++ standards.</a:t>
            </a:r>
            <a:br>
              <a:rPr lang="en-US" dirty="0"/>
            </a:br>
            <a:r>
              <a:rPr lang="en-US" sz="1600" dirty="0"/>
              <a:t>Example:</a:t>
            </a:r>
            <a:br>
              <a:rPr lang="en-US" dirty="0"/>
            </a:br>
            <a:r>
              <a:rPr lang="en-US" dirty="0"/>
              <a:t>       </a:t>
            </a:r>
            <a:r>
              <a:rPr lang="en-US" sz="1400" b="1" dirty="0">
                <a:latin typeface="Courier New" panose="02070309020205020404" pitchFamily="49" charset="0"/>
                <a:cs typeface="Courier New" panose="02070309020205020404" pitchFamily="49" charset="0"/>
              </a:rPr>
              <a:t>int* </a:t>
            </a:r>
            <a:r>
              <a:rPr lang="en-US" sz="1400" b="1" dirty="0" err="1">
                <a:latin typeface="Courier New" panose="02070309020205020404" pitchFamily="49" charset="0"/>
                <a:cs typeface="Courier New" panose="02070309020205020404" pitchFamily="49" charset="0"/>
              </a:rPr>
              <a:t>ptr</a:t>
            </a:r>
            <a:r>
              <a:rPr lang="en-US" sz="1400" b="1" dirty="0">
                <a:latin typeface="Courier New" panose="02070309020205020404" pitchFamily="49" charset="0"/>
                <a:cs typeface="Courier New" panose="02070309020205020404" pitchFamily="49" charset="0"/>
              </a:rPr>
              <a:t> = </a:t>
            </a:r>
            <a:r>
              <a:rPr lang="en-US" sz="1400" b="1" dirty="0" err="1">
                <a:latin typeface="Courier New" panose="02070309020205020404" pitchFamily="49" charset="0"/>
                <a:cs typeface="Courier New" panose="02070309020205020404" pitchFamily="49" charset="0"/>
              </a:rPr>
              <a:t>nullptr</a:t>
            </a:r>
            <a:r>
              <a:rPr lang="en-US" sz="1400" b="1" dirty="0">
                <a:latin typeface="Courier New" panose="02070309020205020404" pitchFamily="49" charset="0"/>
                <a:cs typeface="Courier New" panose="02070309020205020404" pitchFamily="49" charset="0"/>
              </a:rPr>
              <a:t>;</a:t>
            </a:r>
          </a:p>
          <a:p>
            <a:pPr lvl="1"/>
            <a:endParaRPr lang="en-US" sz="1200" b="1" dirty="0">
              <a:latin typeface="Courier New" panose="02070309020205020404" pitchFamily="49" charset="0"/>
              <a:cs typeface="Courier New" panose="02070309020205020404" pitchFamily="49" charset="0"/>
            </a:endParaRPr>
          </a:p>
          <a:p>
            <a:pPr lvl="1"/>
            <a:endParaRPr lang="en-US" sz="800" b="1" dirty="0">
              <a:latin typeface="Courier New" panose="02070309020205020404" pitchFamily="49" charset="0"/>
              <a:cs typeface="Courier New" panose="02070309020205020404" pitchFamily="49" charset="0"/>
            </a:endParaRPr>
          </a:p>
          <a:p>
            <a:pPr marL="342900" indent="-342900">
              <a:buFont typeface="+mj-lt"/>
              <a:buAutoNum type="arabicPeriod"/>
            </a:pPr>
            <a:r>
              <a:rPr lang="en-US" sz="1600" b="1" dirty="0"/>
              <a:t>Void Pointer (Generic Pointer)</a:t>
            </a:r>
          </a:p>
          <a:p>
            <a:pPr lvl="1"/>
            <a:r>
              <a:rPr lang="en-US" sz="1600" dirty="0"/>
              <a:t>A pointer that can hold the address of any data type. Cannot be dereferenced directly and must be cast to another pointer type before use.</a:t>
            </a:r>
          </a:p>
          <a:p>
            <a:pPr lvl="1"/>
            <a:r>
              <a:rPr lang="en-US" sz="1600" dirty="0"/>
              <a:t>Example:</a:t>
            </a:r>
            <a:endParaRPr lang="en-US" dirty="0"/>
          </a:p>
          <a:p>
            <a:pPr lvl="2"/>
            <a:r>
              <a:rPr lang="en-US" sz="1400" b="1" dirty="0">
                <a:latin typeface="Courier New" panose="02070309020205020404" pitchFamily="49" charset="0"/>
                <a:cs typeface="Courier New" panose="02070309020205020404" pitchFamily="49" charset="0"/>
              </a:rPr>
              <a:t>void* </a:t>
            </a:r>
            <a:r>
              <a:rPr lang="en-US" sz="1400" b="1" dirty="0" err="1">
                <a:latin typeface="Courier New" panose="02070309020205020404" pitchFamily="49" charset="0"/>
                <a:cs typeface="Courier New" panose="02070309020205020404" pitchFamily="49" charset="0"/>
              </a:rPr>
              <a:t>ptr</a:t>
            </a:r>
            <a:r>
              <a:rPr lang="en-US" sz="1400" b="1" dirty="0">
                <a:latin typeface="Courier New" panose="02070309020205020404" pitchFamily="49" charset="0"/>
                <a:cs typeface="Courier New" panose="02070309020205020404" pitchFamily="49" charset="0"/>
              </a:rPr>
              <a:t>;</a:t>
            </a:r>
            <a:br>
              <a:rPr lang="en-US" sz="1400" b="1" dirty="0">
                <a:latin typeface="Courier New" panose="02070309020205020404" pitchFamily="49" charset="0"/>
                <a:cs typeface="Courier New" panose="02070309020205020404" pitchFamily="49" charset="0"/>
              </a:rPr>
            </a:br>
            <a:r>
              <a:rPr lang="en-US" sz="1400" b="1" dirty="0">
                <a:latin typeface="Courier New" panose="02070309020205020404" pitchFamily="49" charset="0"/>
                <a:cs typeface="Courier New" panose="02070309020205020404" pitchFamily="49" charset="0"/>
              </a:rPr>
              <a:t>int a = 10;</a:t>
            </a:r>
            <a:br>
              <a:rPr lang="en-US" sz="1400" b="1" dirty="0">
                <a:latin typeface="Courier New" panose="02070309020205020404" pitchFamily="49" charset="0"/>
                <a:cs typeface="Courier New" panose="02070309020205020404" pitchFamily="49" charset="0"/>
              </a:rPr>
            </a:br>
            <a:r>
              <a:rPr lang="en-US" sz="1400" b="1" dirty="0" err="1">
                <a:latin typeface="Courier New" panose="02070309020205020404" pitchFamily="49" charset="0"/>
                <a:cs typeface="Courier New" panose="02070309020205020404" pitchFamily="49" charset="0"/>
              </a:rPr>
              <a:t>ptr</a:t>
            </a:r>
            <a:r>
              <a:rPr lang="en-US" sz="1400" b="1" dirty="0">
                <a:latin typeface="Courier New" panose="02070309020205020404" pitchFamily="49" charset="0"/>
                <a:cs typeface="Courier New" panose="02070309020205020404" pitchFamily="49" charset="0"/>
              </a:rPr>
              <a:t> = &amp;a; // valid assignment</a:t>
            </a:r>
          </a:p>
          <a:p>
            <a:endParaRPr lang="en-US" sz="1600" b="1" dirty="0"/>
          </a:p>
          <a:p>
            <a:pPr marL="342900" indent="-342900">
              <a:buFont typeface="+mj-lt"/>
              <a:buAutoNum type="arabicPeriod" startAt="3"/>
            </a:pPr>
            <a:r>
              <a:rPr lang="en-US" sz="1600" b="1" dirty="0"/>
              <a:t>Dangling Pointer</a:t>
            </a:r>
          </a:p>
          <a:p>
            <a:pPr marL="742950" lvl="1" indent="-285750">
              <a:buFont typeface="Arial" panose="020B0604020202020204" pitchFamily="34" charset="0"/>
              <a:buChar char="•"/>
            </a:pPr>
            <a:r>
              <a:rPr lang="en-US" sz="1600" dirty="0"/>
              <a:t>A pointer that points to a memory location that has been freed or deleted.</a:t>
            </a:r>
          </a:p>
          <a:p>
            <a:pPr marL="742950" lvl="1" indent="-285750">
              <a:buFont typeface="Arial" panose="020B0604020202020204" pitchFamily="34" charset="0"/>
              <a:buChar char="•"/>
            </a:pPr>
            <a:r>
              <a:rPr lang="en-US" sz="1600" dirty="0"/>
              <a:t>Accessing a dangling pointer leads to undefined behavior.</a:t>
            </a:r>
          </a:p>
          <a:p>
            <a:pPr lvl="1"/>
            <a:r>
              <a:rPr lang="en-US" sz="1600" dirty="0"/>
              <a:t>Example:</a:t>
            </a:r>
            <a:endParaRPr lang="en-US" sz="1600" b="1" dirty="0"/>
          </a:p>
          <a:p>
            <a:pPr lvl="2"/>
            <a:r>
              <a:rPr lang="en-US" sz="1400" b="1" dirty="0">
                <a:latin typeface="Courier New" panose="02070309020205020404" pitchFamily="49" charset="0"/>
                <a:cs typeface="Courier New" panose="02070309020205020404" pitchFamily="49" charset="0"/>
              </a:rPr>
              <a:t>int* </a:t>
            </a:r>
            <a:r>
              <a:rPr lang="en-US" sz="1400" b="1" dirty="0" err="1">
                <a:latin typeface="Courier New" panose="02070309020205020404" pitchFamily="49" charset="0"/>
                <a:cs typeface="Courier New" panose="02070309020205020404" pitchFamily="49" charset="0"/>
              </a:rPr>
              <a:t>ptr</a:t>
            </a:r>
            <a:r>
              <a:rPr lang="en-US" sz="1400" b="1" dirty="0">
                <a:latin typeface="Courier New" panose="02070309020205020404" pitchFamily="49" charset="0"/>
                <a:cs typeface="Courier New" panose="02070309020205020404" pitchFamily="49" charset="0"/>
              </a:rPr>
              <a:t> = new int(5); </a:t>
            </a:r>
          </a:p>
          <a:p>
            <a:pPr lvl="2"/>
            <a:r>
              <a:rPr lang="en-US" sz="1400" b="1" dirty="0">
                <a:latin typeface="Courier New" panose="02070309020205020404" pitchFamily="49" charset="0"/>
                <a:cs typeface="Courier New" panose="02070309020205020404" pitchFamily="49" charset="0"/>
              </a:rPr>
              <a:t>delete </a:t>
            </a:r>
            <a:r>
              <a:rPr lang="en-US" sz="1400" b="1" dirty="0" err="1">
                <a:latin typeface="Courier New" panose="02070309020205020404" pitchFamily="49" charset="0"/>
                <a:cs typeface="Courier New" panose="02070309020205020404" pitchFamily="49" charset="0"/>
              </a:rPr>
              <a:t>ptr</a:t>
            </a:r>
            <a:r>
              <a:rPr lang="en-US" sz="1400" b="1" dirty="0">
                <a:latin typeface="Courier New" panose="02070309020205020404" pitchFamily="49" charset="0"/>
                <a:cs typeface="Courier New" panose="02070309020205020404" pitchFamily="49" charset="0"/>
              </a:rPr>
              <a:t>; </a:t>
            </a:r>
          </a:p>
          <a:p>
            <a:pPr lvl="1"/>
            <a:endParaRPr lang="en-US" sz="1600" b="1" dirty="0"/>
          </a:p>
        </p:txBody>
      </p:sp>
    </p:spTree>
    <p:extLst>
      <p:ext uri="{BB962C8B-B14F-4D97-AF65-F5344CB8AC3E}">
        <p14:creationId xmlns:p14="http://schemas.microsoft.com/office/powerpoint/2010/main" val="40647080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C21FDB8-9973-2B44-19E3-8BC09191892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6B3AE29-CE2A-C86E-86C2-FE106051B225}"/>
              </a:ext>
            </a:extLst>
          </p:cNvPr>
          <p:cNvSpPr/>
          <p:nvPr/>
        </p:nvSpPr>
        <p:spPr>
          <a:xfrm>
            <a:off x="548640" y="338052"/>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
        <p:nvSpPr>
          <p:cNvPr id="3" name="Text 1">
            <a:extLst>
              <a:ext uri="{FF2B5EF4-FFF2-40B4-BE49-F238E27FC236}">
                <a16:creationId xmlns:a16="http://schemas.microsoft.com/office/drawing/2014/main" id="{2BA77B78-81AA-A0F0-1F49-101601135DCD}"/>
              </a:ext>
            </a:extLst>
          </p:cNvPr>
          <p:cNvSpPr/>
          <p:nvPr/>
        </p:nvSpPr>
        <p:spPr>
          <a:xfrm>
            <a:off x="548640" y="703812"/>
            <a:ext cx="11091672" cy="54864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Pointers</a:t>
            </a:r>
            <a:endParaRPr lang="en-US" sz="2200" dirty="0"/>
          </a:p>
        </p:txBody>
      </p:sp>
      <p:sp>
        <p:nvSpPr>
          <p:cNvPr id="5" name="Text 3">
            <a:extLst>
              <a:ext uri="{FF2B5EF4-FFF2-40B4-BE49-F238E27FC236}">
                <a16:creationId xmlns:a16="http://schemas.microsoft.com/office/drawing/2014/main" id="{088738D1-8C45-B4D5-6257-265466BAD246}"/>
              </a:ext>
            </a:extLst>
          </p:cNvPr>
          <p:cNvSpPr/>
          <p:nvPr/>
        </p:nvSpPr>
        <p:spPr>
          <a:xfrm>
            <a:off x="548640" y="1252452"/>
            <a:ext cx="11181541" cy="5577840"/>
          </a:xfrm>
          <a:prstGeom prst="rect">
            <a:avLst/>
          </a:prstGeom>
          <a:noFill/>
          <a:ln/>
        </p:spPr>
        <p:txBody>
          <a:bodyPr wrap="square" rtlCol="0" anchor="t"/>
          <a:lstStyle/>
          <a:p>
            <a:pPr lvl="1"/>
            <a:endParaRPr lang="en-US" sz="1400" dirty="0">
              <a:latin typeface="Courier New" panose="02070309020205020404" pitchFamily="49" charset="0"/>
              <a:cs typeface="Courier New" panose="02070309020205020404" pitchFamily="49" charset="0"/>
            </a:endParaRPr>
          </a:p>
          <a:p>
            <a:br>
              <a:rPr lang="en-US" dirty="0"/>
            </a:br>
            <a:endParaRPr lang="en-US" sz="1300" dirty="0"/>
          </a:p>
        </p:txBody>
      </p:sp>
      <p:sp>
        <p:nvSpPr>
          <p:cNvPr id="7" name="TextBox 6">
            <a:extLst>
              <a:ext uri="{FF2B5EF4-FFF2-40B4-BE49-F238E27FC236}">
                <a16:creationId xmlns:a16="http://schemas.microsoft.com/office/drawing/2014/main" id="{85427F36-E44C-16D8-ACA1-B2210D4FD980}"/>
              </a:ext>
            </a:extLst>
          </p:cNvPr>
          <p:cNvSpPr txBox="1"/>
          <p:nvPr/>
        </p:nvSpPr>
        <p:spPr>
          <a:xfrm>
            <a:off x="731520" y="1554480"/>
            <a:ext cx="10926618" cy="4616648"/>
          </a:xfrm>
          <a:prstGeom prst="rect">
            <a:avLst/>
          </a:prstGeom>
          <a:noFill/>
        </p:spPr>
        <p:txBody>
          <a:bodyPr wrap="square" rtlCol="0">
            <a:spAutoFit/>
          </a:bodyPr>
          <a:lstStyle/>
          <a:p>
            <a:pPr marL="342900" indent="-342900">
              <a:buFont typeface="+mj-lt"/>
              <a:buAutoNum type="arabicPeriod" startAt="4"/>
            </a:pPr>
            <a:r>
              <a:rPr lang="en-US" sz="1600" b="1" dirty="0"/>
              <a:t>Wild Pointer</a:t>
            </a:r>
          </a:p>
          <a:p>
            <a:pPr marL="742950" lvl="1" indent="-285750">
              <a:buFont typeface="Arial" panose="020B0604020202020204" pitchFamily="34" charset="0"/>
              <a:buChar char="•"/>
            </a:pPr>
            <a:r>
              <a:rPr lang="en-US" sz="1600" dirty="0"/>
              <a:t>A pointer that has not been initialized to a valid address.</a:t>
            </a:r>
          </a:p>
          <a:p>
            <a:pPr marL="742950" lvl="1" indent="-285750">
              <a:buFont typeface="Arial" panose="020B0604020202020204" pitchFamily="34" charset="0"/>
              <a:buChar char="•"/>
            </a:pPr>
            <a:r>
              <a:rPr lang="en-US" sz="1600" dirty="0"/>
              <a:t>Accessing a wild pointer is also undefined and dangerous.</a:t>
            </a:r>
            <a:br>
              <a:rPr lang="en-US" dirty="0"/>
            </a:br>
            <a:r>
              <a:rPr lang="en-US" sz="1600" dirty="0"/>
              <a:t>Example:</a:t>
            </a:r>
            <a:br>
              <a:rPr lang="en-US" dirty="0"/>
            </a:br>
            <a:r>
              <a:rPr lang="en-US" dirty="0"/>
              <a:t>      </a:t>
            </a:r>
            <a:r>
              <a:rPr lang="en-US" sz="1400" b="1" dirty="0">
                <a:latin typeface="Courier New" panose="02070309020205020404" pitchFamily="49" charset="0"/>
                <a:cs typeface="Courier New" panose="02070309020205020404" pitchFamily="49" charset="0"/>
              </a:rPr>
              <a:t>int* </a:t>
            </a:r>
            <a:r>
              <a:rPr lang="en-US" sz="1400" b="1" dirty="0" err="1">
                <a:latin typeface="Courier New" panose="02070309020205020404" pitchFamily="49" charset="0"/>
                <a:cs typeface="Courier New" panose="02070309020205020404" pitchFamily="49" charset="0"/>
              </a:rPr>
              <a:t>ptr</a:t>
            </a:r>
            <a:r>
              <a:rPr lang="en-US" sz="1400" b="1" dirty="0">
                <a:latin typeface="Courier New" panose="02070309020205020404" pitchFamily="49" charset="0"/>
                <a:cs typeface="Courier New" panose="02070309020205020404" pitchFamily="49" charset="0"/>
              </a:rPr>
              <a:t>; // uninitialized pointer, potentially a wild pointer</a:t>
            </a:r>
          </a:p>
          <a:p>
            <a:pPr lvl="1"/>
            <a:endParaRPr lang="en-US" sz="1600" b="1" dirty="0"/>
          </a:p>
          <a:p>
            <a:pPr marL="342900" indent="-342900">
              <a:buFont typeface="+mj-lt"/>
              <a:buAutoNum type="arabicPeriod" startAt="5"/>
            </a:pPr>
            <a:r>
              <a:rPr lang="en-US" sz="1600" b="1" dirty="0"/>
              <a:t>Smart Pointer</a:t>
            </a:r>
          </a:p>
          <a:p>
            <a:pPr lvl="1"/>
            <a:r>
              <a:rPr lang="en-US" sz="1600" dirty="0"/>
              <a:t>Introduced in C++11 to manage dynamic memory automatically, preventing memory leaks.</a:t>
            </a:r>
          </a:p>
          <a:p>
            <a:pPr lvl="1"/>
            <a:r>
              <a:rPr lang="en-US" sz="1600" dirty="0"/>
              <a:t>Types include:</a:t>
            </a:r>
          </a:p>
          <a:p>
            <a:pPr marL="1200150" lvl="2" indent="-285750">
              <a:buFont typeface="Arial" panose="020B0604020202020204" pitchFamily="34" charset="0"/>
              <a:buChar char="•"/>
            </a:pPr>
            <a:r>
              <a:rPr lang="en-US" sz="1400" b="1" dirty="0">
                <a:latin typeface="Courier New" panose="02070309020205020404" pitchFamily="49" charset="0"/>
                <a:cs typeface="Courier New" panose="02070309020205020404" pitchFamily="49" charset="0"/>
              </a:rPr>
              <a:t>std::</a:t>
            </a:r>
            <a:r>
              <a:rPr lang="en-US" sz="1400" b="1" dirty="0" err="1">
                <a:latin typeface="Courier New" panose="02070309020205020404" pitchFamily="49" charset="0"/>
                <a:cs typeface="Courier New" panose="02070309020205020404" pitchFamily="49" charset="0"/>
              </a:rPr>
              <a:t>unique_ptr</a:t>
            </a:r>
            <a:r>
              <a:rPr lang="en-US" sz="1600" dirty="0">
                <a:latin typeface="Courier New" panose="02070309020205020404" pitchFamily="49" charset="0"/>
                <a:cs typeface="Courier New" panose="02070309020205020404" pitchFamily="49" charset="0"/>
              </a:rPr>
              <a:t>: </a:t>
            </a:r>
            <a:r>
              <a:rPr lang="en-US" sz="1600" dirty="0"/>
              <a:t>Exclusive ownership; only one </a:t>
            </a:r>
            <a:r>
              <a:rPr lang="en-US" sz="1400" b="1" dirty="0" err="1">
                <a:latin typeface="Courier New" panose="02070309020205020404" pitchFamily="49" charset="0"/>
                <a:cs typeface="Courier New" panose="02070309020205020404" pitchFamily="49" charset="0"/>
              </a:rPr>
              <a:t>unique_ptr</a:t>
            </a:r>
            <a:r>
              <a:rPr lang="en-US" sz="1400" b="1" dirty="0">
                <a:latin typeface="Courier New" panose="02070309020205020404" pitchFamily="49" charset="0"/>
                <a:cs typeface="Courier New" panose="02070309020205020404" pitchFamily="49" charset="0"/>
              </a:rPr>
              <a:t> </a:t>
            </a:r>
            <a:r>
              <a:rPr lang="en-US" sz="1600" dirty="0"/>
              <a:t>can point to a resource.</a:t>
            </a:r>
          </a:p>
          <a:p>
            <a:pPr marL="1200150" lvl="2" indent="-285750">
              <a:buFont typeface="Arial" panose="020B0604020202020204" pitchFamily="34" charset="0"/>
              <a:buChar char="•"/>
            </a:pPr>
            <a:r>
              <a:rPr lang="en-US" sz="1400" b="1" dirty="0">
                <a:latin typeface="Courier New" panose="02070309020205020404" pitchFamily="49" charset="0"/>
                <a:cs typeface="Courier New" panose="02070309020205020404" pitchFamily="49" charset="0"/>
              </a:rPr>
              <a:t>std::</a:t>
            </a:r>
            <a:r>
              <a:rPr lang="en-US" sz="1400" b="1" dirty="0" err="1">
                <a:latin typeface="Courier New" panose="02070309020205020404" pitchFamily="49" charset="0"/>
                <a:cs typeface="Courier New" panose="02070309020205020404" pitchFamily="49" charset="0"/>
              </a:rPr>
              <a:t>shared_ptr</a:t>
            </a:r>
            <a:r>
              <a:rPr lang="en-US" sz="1600" dirty="0"/>
              <a:t>: Shared ownership; multiple pointers can own the same resource.</a:t>
            </a:r>
          </a:p>
          <a:p>
            <a:pPr marL="1200150" lvl="2" indent="-285750">
              <a:buFont typeface="Arial" panose="020B0604020202020204" pitchFamily="34" charset="0"/>
              <a:buChar char="•"/>
            </a:pPr>
            <a:r>
              <a:rPr lang="en-US" sz="1400" b="1" dirty="0">
                <a:latin typeface="Courier New" panose="02070309020205020404" pitchFamily="49" charset="0"/>
                <a:cs typeface="Courier New" panose="02070309020205020404" pitchFamily="49" charset="0"/>
              </a:rPr>
              <a:t>std::</a:t>
            </a:r>
            <a:r>
              <a:rPr lang="en-US" sz="1400" b="1" dirty="0" err="1">
                <a:latin typeface="Courier New" panose="02070309020205020404" pitchFamily="49" charset="0"/>
                <a:cs typeface="Courier New" panose="02070309020205020404" pitchFamily="49" charset="0"/>
              </a:rPr>
              <a:t>weak_ptr</a:t>
            </a:r>
            <a:r>
              <a:rPr lang="en-US" sz="1400" b="1" dirty="0"/>
              <a:t>: </a:t>
            </a:r>
            <a:r>
              <a:rPr lang="en-US" sz="1600" dirty="0"/>
              <a:t>Non-owning reference to a resource managed by a </a:t>
            </a:r>
            <a:r>
              <a:rPr lang="en-US" sz="1400" b="1" dirty="0" err="1">
                <a:latin typeface="Courier New" panose="02070309020205020404" pitchFamily="49" charset="0"/>
                <a:cs typeface="Courier New" panose="02070309020205020404" pitchFamily="49" charset="0"/>
              </a:rPr>
              <a:t>shared_ptr</a:t>
            </a:r>
            <a:r>
              <a:rPr lang="en-US" sz="1400" b="1" dirty="0">
                <a:latin typeface="Courier New" panose="02070309020205020404" pitchFamily="49" charset="0"/>
                <a:cs typeface="Courier New" panose="02070309020205020404" pitchFamily="49" charset="0"/>
              </a:rPr>
              <a:t>.</a:t>
            </a:r>
          </a:p>
          <a:p>
            <a:pPr lvl="2"/>
            <a:endParaRPr lang="en-US" sz="1400" b="1" dirty="0">
              <a:latin typeface="Courier New" panose="02070309020205020404" pitchFamily="49" charset="0"/>
              <a:cs typeface="Courier New" panose="02070309020205020404" pitchFamily="49" charset="0"/>
            </a:endParaRPr>
          </a:p>
          <a:p>
            <a:pPr marL="342900" indent="-342900">
              <a:buFont typeface="+mj-lt"/>
              <a:buAutoNum type="arabicPeriod" startAt="6"/>
            </a:pPr>
            <a:r>
              <a:rPr lang="en-US" sz="1600" b="1" dirty="0"/>
              <a:t>Function Pointer</a:t>
            </a:r>
          </a:p>
          <a:p>
            <a:pPr marL="742950" lvl="1" indent="-285750">
              <a:buFont typeface="Arial" panose="020B0604020202020204" pitchFamily="34" charset="0"/>
              <a:buChar char="•"/>
            </a:pPr>
            <a:r>
              <a:rPr lang="en-US" dirty="0"/>
              <a:t>A pointer that points to a function instead of a variable.</a:t>
            </a:r>
          </a:p>
          <a:p>
            <a:pPr marL="742950" lvl="1" indent="-285750">
              <a:buFont typeface="Arial" panose="020B0604020202020204" pitchFamily="34" charset="0"/>
              <a:buChar char="•"/>
            </a:pPr>
            <a:r>
              <a:rPr lang="en-US" dirty="0"/>
              <a:t>Allows passing functions as arguments or storing functions in data structures.</a:t>
            </a:r>
            <a:br>
              <a:rPr lang="en-US" dirty="0"/>
            </a:br>
            <a:r>
              <a:rPr lang="en-US" sz="1600" dirty="0"/>
              <a:t>Example:</a:t>
            </a:r>
            <a:br>
              <a:rPr lang="en-US" dirty="0"/>
            </a:br>
            <a:r>
              <a:rPr lang="en-US" dirty="0"/>
              <a:t>                </a:t>
            </a:r>
            <a:r>
              <a:rPr lang="en-US" sz="1400" b="1" dirty="0">
                <a:latin typeface="Courier New" panose="02070309020205020404" pitchFamily="49" charset="0"/>
                <a:cs typeface="Courier New" panose="02070309020205020404" pitchFamily="49" charset="0"/>
              </a:rPr>
              <a:t>void (*</a:t>
            </a:r>
            <a:r>
              <a:rPr lang="en-US" sz="1400" b="1" dirty="0" err="1">
                <a:latin typeface="Courier New" panose="02070309020205020404" pitchFamily="49" charset="0"/>
                <a:cs typeface="Courier New" panose="02070309020205020404" pitchFamily="49" charset="0"/>
              </a:rPr>
              <a:t>funcPtr</a:t>
            </a:r>
            <a:r>
              <a:rPr lang="en-US" sz="1400" b="1" dirty="0">
                <a:latin typeface="Courier New" panose="02070309020205020404" pitchFamily="49" charset="0"/>
                <a:cs typeface="Courier New" panose="02070309020205020404" pitchFamily="49" charset="0"/>
              </a:rPr>
              <a:t>)(int) = &amp;</a:t>
            </a:r>
            <a:r>
              <a:rPr lang="en-US" sz="1400" b="1" dirty="0" err="1">
                <a:latin typeface="Courier New" panose="02070309020205020404" pitchFamily="49" charset="0"/>
                <a:cs typeface="Courier New" panose="02070309020205020404" pitchFamily="49" charset="0"/>
              </a:rPr>
              <a:t>myFunction</a:t>
            </a:r>
            <a:r>
              <a:rPr lang="en-US" sz="14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7477084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FB7587B-1BBE-6157-A614-138C56095D0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90B6CDC-CA8E-5082-34E1-8C4CD2975008}"/>
              </a:ext>
            </a:extLst>
          </p:cNvPr>
          <p:cNvSpPr/>
          <p:nvPr/>
        </p:nvSpPr>
        <p:spPr>
          <a:xfrm>
            <a:off x="548640" y="338052"/>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
        <p:nvSpPr>
          <p:cNvPr id="3" name="Text 1">
            <a:extLst>
              <a:ext uri="{FF2B5EF4-FFF2-40B4-BE49-F238E27FC236}">
                <a16:creationId xmlns:a16="http://schemas.microsoft.com/office/drawing/2014/main" id="{11BA0093-2BC4-C8F6-C8ED-CCC5465E6916}"/>
              </a:ext>
            </a:extLst>
          </p:cNvPr>
          <p:cNvSpPr/>
          <p:nvPr/>
        </p:nvSpPr>
        <p:spPr>
          <a:xfrm>
            <a:off x="548640" y="703812"/>
            <a:ext cx="11091672" cy="54864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Pointers</a:t>
            </a:r>
            <a:endParaRPr lang="en-US" sz="2200" dirty="0"/>
          </a:p>
        </p:txBody>
      </p:sp>
      <p:sp>
        <p:nvSpPr>
          <p:cNvPr id="5" name="Text 3">
            <a:extLst>
              <a:ext uri="{FF2B5EF4-FFF2-40B4-BE49-F238E27FC236}">
                <a16:creationId xmlns:a16="http://schemas.microsoft.com/office/drawing/2014/main" id="{816F684D-BED6-8EC7-4E02-8FA5E3C99E4C}"/>
              </a:ext>
            </a:extLst>
          </p:cNvPr>
          <p:cNvSpPr/>
          <p:nvPr/>
        </p:nvSpPr>
        <p:spPr>
          <a:xfrm>
            <a:off x="548640" y="1252452"/>
            <a:ext cx="11181541" cy="5577840"/>
          </a:xfrm>
          <a:prstGeom prst="rect">
            <a:avLst/>
          </a:prstGeom>
          <a:noFill/>
          <a:ln/>
        </p:spPr>
        <p:txBody>
          <a:bodyPr wrap="square" rtlCol="0" anchor="t"/>
          <a:lstStyle/>
          <a:p>
            <a:pPr lvl="1"/>
            <a:endParaRPr lang="en-US" sz="1400" dirty="0">
              <a:latin typeface="Courier New" panose="02070309020205020404" pitchFamily="49" charset="0"/>
              <a:cs typeface="Courier New" panose="02070309020205020404" pitchFamily="49" charset="0"/>
            </a:endParaRPr>
          </a:p>
          <a:p>
            <a:br>
              <a:rPr lang="en-US" dirty="0"/>
            </a:br>
            <a:endParaRPr lang="en-US" sz="1300" dirty="0"/>
          </a:p>
        </p:txBody>
      </p:sp>
      <p:sp>
        <p:nvSpPr>
          <p:cNvPr id="7" name="TextBox 6">
            <a:extLst>
              <a:ext uri="{FF2B5EF4-FFF2-40B4-BE49-F238E27FC236}">
                <a16:creationId xmlns:a16="http://schemas.microsoft.com/office/drawing/2014/main" id="{A567D4A6-3C4F-D72F-6A8C-4875CC8951A4}"/>
              </a:ext>
            </a:extLst>
          </p:cNvPr>
          <p:cNvSpPr txBox="1"/>
          <p:nvPr/>
        </p:nvSpPr>
        <p:spPr>
          <a:xfrm>
            <a:off x="731520" y="1554480"/>
            <a:ext cx="10926618" cy="5262979"/>
          </a:xfrm>
          <a:prstGeom prst="rect">
            <a:avLst/>
          </a:prstGeom>
          <a:noFill/>
        </p:spPr>
        <p:txBody>
          <a:bodyPr wrap="square" rtlCol="0">
            <a:spAutoFit/>
          </a:bodyPr>
          <a:lstStyle/>
          <a:p>
            <a:pPr marL="342900" indent="-342900">
              <a:buFont typeface="+mj-lt"/>
              <a:buAutoNum type="arabicPeriod" startAt="7"/>
            </a:pPr>
            <a:r>
              <a:rPr lang="en-US" sz="1600" b="1" dirty="0"/>
              <a:t>Constant</a:t>
            </a:r>
            <a:r>
              <a:rPr lang="en-US" b="1" dirty="0"/>
              <a:t> </a:t>
            </a:r>
            <a:r>
              <a:rPr lang="en-US" sz="1600" b="1" dirty="0"/>
              <a:t>Pointer</a:t>
            </a:r>
          </a:p>
          <a:p>
            <a:pPr marL="800100" lvl="1" indent="-342900">
              <a:buFont typeface="Arial" panose="020B0604020202020204" pitchFamily="34" charset="0"/>
              <a:buChar char="•"/>
            </a:pPr>
            <a:r>
              <a:rPr lang="en-US" sz="1600" dirty="0"/>
              <a:t>A pointer whose address cannot be changed after initialization.</a:t>
            </a:r>
          </a:p>
          <a:p>
            <a:pPr lvl="1"/>
            <a:r>
              <a:rPr lang="en-US" sz="1600" dirty="0"/>
              <a:t>        Example:</a:t>
            </a:r>
            <a:br>
              <a:rPr lang="en-US" sz="1600" dirty="0"/>
            </a:br>
            <a:r>
              <a:rPr lang="en-US" sz="1600" dirty="0"/>
              <a:t>	                </a:t>
            </a:r>
            <a:r>
              <a:rPr lang="en-US" sz="1400" b="1" dirty="0">
                <a:latin typeface="Courier New" panose="02070309020205020404" pitchFamily="49" charset="0"/>
                <a:cs typeface="Courier New" panose="02070309020205020404" pitchFamily="49" charset="0"/>
              </a:rPr>
              <a:t>int a = 10;</a:t>
            </a:r>
            <a:br>
              <a:rPr lang="en-US" sz="1400" b="1" dirty="0">
                <a:latin typeface="Courier New" panose="02070309020205020404" pitchFamily="49" charset="0"/>
                <a:cs typeface="Courier New" panose="02070309020205020404" pitchFamily="49" charset="0"/>
              </a:rPr>
            </a:br>
            <a:r>
              <a:rPr lang="en-US" sz="1400" b="1" dirty="0">
                <a:latin typeface="Courier New" panose="02070309020205020404" pitchFamily="49" charset="0"/>
                <a:cs typeface="Courier New" panose="02070309020205020404" pitchFamily="49" charset="0"/>
              </a:rPr>
              <a:t>	       int* const </a:t>
            </a:r>
            <a:r>
              <a:rPr lang="en-US" sz="1400" b="1" dirty="0" err="1">
                <a:latin typeface="Courier New" panose="02070309020205020404" pitchFamily="49" charset="0"/>
                <a:cs typeface="Courier New" panose="02070309020205020404" pitchFamily="49" charset="0"/>
              </a:rPr>
              <a:t>ptr</a:t>
            </a:r>
            <a:r>
              <a:rPr lang="en-US" sz="1400" b="1" dirty="0">
                <a:latin typeface="Courier New" panose="02070309020205020404" pitchFamily="49" charset="0"/>
                <a:cs typeface="Courier New" panose="02070309020205020404" pitchFamily="49" charset="0"/>
              </a:rPr>
              <a:t> = &amp;a; // </a:t>
            </a:r>
            <a:r>
              <a:rPr lang="en-US" sz="1400" b="1" dirty="0" err="1">
                <a:latin typeface="Courier New" panose="02070309020205020404" pitchFamily="49" charset="0"/>
                <a:cs typeface="Courier New" panose="02070309020205020404" pitchFamily="49" charset="0"/>
              </a:rPr>
              <a:t>ptr</a:t>
            </a:r>
            <a:r>
              <a:rPr lang="en-US" sz="1400" b="1" dirty="0">
                <a:latin typeface="Courier New" panose="02070309020205020404" pitchFamily="49" charset="0"/>
                <a:cs typeface="Courier New" panose="02070309020205020404" pitchFamily="49" charset="0"/>
              </a:rPr>
              <a:t> cannot point to any other address</a:t>
            </a:r>
          </a:p>
          <a:p>
            <a:pPr lvl="1"/>
            <a:endParaRPr lang="en-US" sz="1200" b="1" dirty="0"/>
          </a:p>
          <a:p>
            <a:pPr marL="342900" indent="-342900">
              <a:buFont typeface="+mj-lt"/>
              <a:buAutoNum type="arabicPeriod" startAt="8"/>
            </a:pPr>
            <a:r>
              <a:rPr lang="en-US" sz="1600" b="1" dirty="0"/>
              <a:t>Pointer to Constant</a:t>
            </a:r>
          </a:p>
          <a:p>
            <a:pPr marL="742950" lvl="1" indent="-285750">
              <a:buFont typeface="Arial" panose="020B0604020202020204" pitchFamily="34" charset="0"/>
              <a:buChar char="•"/>
            </a:pPr>
            <a:r>
              <a:rPr lang="en-US" sz="1600" dirty="0"/>
              <a:t>A pointer that points to a constant value, so the value it points to cannot be modified.</a:t>
            </a:r>
            <a:br>
              <a:rPr lang="en-US" dirty="0"/>
            </a:br>
            <a:r>
              <a:rPr lang="en-US" sz="1600" dirty="0"/>
              <a:t>Example:</a:t>
            </a:r>
            <a:br>
              <a:rPr lang="en-US" dirty="0"/>
            </a:br>
            <a:r>
              <a:rPr lang="en-US" dirty="0"/>
              <a:t>		</a:t>
            </a:r>
            <a:r>
              <a:rPr lang="en-US" sz="1400" b="1" dirty="0">
                <a:latin typeface="Courier New" panose="02070309020205020404" pitchFamily="49" charset="0"/>
                <a:cs typeface="Courier New" panose="02070309020205020404" pitchFamily="49" charset="0"/>
              </a:rPr>
              <a:t>const int* </a:t>
            </a:r>
            <a:r>
              <a:rPr lang="en-US" sz="1400" b="1" dirty="0" err="1">
                <a:latin typeface="Courier New" panose="02070309020205020404" pitchFamily="49" charset="0"/>
                <a:cs typeface="Courier New" panose="02070309020205020404" pitchFamily="49" charset="0"/>
              </a:rPr>
              <a:t>ptr</a:t>
            </a:r>
            <a:r>
              <a:rPr lang="en-US" sz="1400" b="1" dirty="0">
                <a:latin typeface="Courier New" panose="02070309020205020404" pitchFamily="49" charset="0"/>
                <a:cs typeface="Courier New" panose="02070309020205020404" pitchFamily="49" charset="0"/>
              </a:rPr>
              <a:t> = &amp;a; </a:t>
            </a:r>
          </a:p>
          <a:p>
            <a:endParaRPr lang="en-US" b="1" dirty="0"/>
          </a:p>
          <a:p>
            <a:pPr marL="342900" indent="-342900">
              <a:buFont typeface="+mj-lt"/>
              <a:buAutoNum type="arabicPeriod" startAt="9"/>
            </a:pPr>
            <a:r>
              <a:rPr lang="en-US" sz="1600" b="1" dirty="0"/>
              <a:t>Constant Pointer to Constant </a:t>
            </a:r>
          </a:p>
          <a:p>
            <a:pPr lvl="1"/>
            <a:r>
              <a:rPr lang="en-US" sz="1600" dirty="0"/>
              <a:t>A pointer that is both constant itself and points to a constant value.</a:t>
            </a:r>
          </a:p>
          <a:p>
            <a:pPr lvl="1"/>
            <a:r>
              <a:rPr lang="en-US" sz="1400" dirty="0"/>
              <a:t>Example:</a:t>
            </a:r>
            <a:br>
              <a:rPr lang="en-US" dirty="0"/>
            </a:br>
            <a:r>
              <a:rPr lang="en-US" dirty="0"/>
              <a:t>              </a:t>
            </a:r>
            <a:r>
              <a:rPr lang="en-US" sz="1400" b="1" dirty="0">
                <a:latin typeface="Courier New" panose="02070309020205020404" pitchFamily="49" charset="0"/>
                <a:cs typeface="Courier New" panose="02070309020205020404" pitchFamily="49" charset="0"/>
              </a:rPr>
              <a:t>const int* const </a:t>
            </a:r>
            <a:r>
              <a:rPr lang="en-US" sz="1400" b="1" dirty="0" err="1">
                <a:latin typeface="Courier New" panose="02070309020205020404" pitchFamily="49" charset="0"/>
                <a:cs typeface="Courier New" panose="02070309020205020404" pitchFamily="49" charset="0"/>
              </a:rPr>
              <a:t>ptr</a:t>
            </a:r>
            <a:r>
              <a:rPr lang="en-US" sz="1400" b="1" dirty="0">
                <a:latin typeface="Courier New" panose="02070309020205020404" pitchFamily="49" charset="0"/>
                <a:cs typeface="Courier New" panose="02070309020205020404" pitchFamily="49" charset="0"/>
              </a:rPr>
              <a:t> = &amp;a;</a:t>
            </a:r>
            <a:endParaRPr lang="en-US" b="1" dirty="0"/>
          </a:p>
          <a:p>
            <a:pPr marL="342900" indent="-342900">
              <a:buFont typeface="+mj-lt"/>
              <a:buAutoNum type="arabicPeriod" startAt="9"/>
            </a:pPr>
            <a:endParaRPr lang="en-US" b="1" dirty="0"/>
          </a:p>
          <a:p>
            <a:pPr marL="342900" indent="-342900">
              <a:buFont typeface="+mj-lt"/>
              <a:buAutoNum type="arabicPeriod" startAt="9"/>
            </a:pPr>
            <a:r>
              <a:rPr lang="en-US" sz="1600" b="1" dirty="0" err="1"/>
              <a:t>Nullptr</a:t>
            </a:r>
            <a:r>
              <a:rPr lang="en-US" sz="1600" b="1" dirty="0"/>
              <a:t> (C++11 onwards)</a:t>
            </a:r>
          </a:p>
          <a:p>
            <a:pPr lvl="1"/>
            <a:r>
              <a:rPr lang="en-US" sz="1600" dirty="0"/>
              <a:t>A special type of pointer literal that represents a null pointer, replacing NULL.</a:t>
            </a:r>
          </a:p>
          <a:p>
            <a:pPr lvl="1"/>
            <a:r>
              <a:rPr lang="en-US" sz="1600" dirty="0"/>
              <a:t>Safer and less ambiguous than NULL.</a:t>
            </a:r>
            <a:br>
              <a:rPr lang="en-US" sz="1600" dirty="0"/>
            </a:br>
            <a:r>
              <a:rPr lang="en-US" sz="1400" dirty="0"/>
              <a:t>Example:</a:t>
            </a:r>
            <a:br>
              <a:rPr lang="en-US" sz="1600" dirty="0"/>
            </a:br>
            <a:r>
              <a:rPr lang="en-US" sz="1600" dirty="0"/>
              <a:t>	     </a:t>
            </a:r>
            <a:r>
              <a:rPr lang="en-US" sz="1400" b="1" dirty="0">
                <a:latin typeface="Courier New" panose="02070309020205020404" pitchFamily="49" charset="0"/>
                <a:cs typeface="Courier New" panose="02070309020205020404" pitchFamily="49" charset="0"/>
              </a:rPr>
              <a:t>int* </a:t>
            </a:r>
            <a:r>
              <a:rPr lang="en-US" sz="1400" b="1" dirty="0" err="1">
                <a:latin typeface="Courier New" panose="02070309020205020404" pitchFamily="49" charset="0"/>
                <a:cs typeface="Courier New" panose="02070309020205020404" pitchFamily="49" charset="0"/>
              </a:rPr>
              <a:t>ptr</a:t>
            </a:r>
            <a:r>
              <a:rPr lang="en-US" sz="1400" b="1" dirty="0">
                <a:latin typeface="Courier New" panose="02070309020205020404" pitchFamily="49" charset="0"/>
                <a:cs typeface="Courier New" panose="02070309020205020404" pitchFamily="49" charset="0"/>
              </a:rPr>
              <a:t> = </a:t>
            </a:r>
            <a:r>
              <a:rPr lang="en-US" sz="1400" b="1" dirty="0" err="1">
                <a:latin typeface="Courier New" panose="02070309020205020404" pitchFamily="49" charset="0"/>
                <a:cs typeface="Courier New" panose="02070309020205020404" pitchFamily="49" charset="0"/>
              </a:rPr>
              <a:t>nullptr</a:t>
            </a:r>
            <a:r>
              <a:rPr lang="en-US" sz="14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464451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56DF2-1BE7-FA13-23EF-0813E1C728A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80B2299-08A8-BD37-FF31-B71BB859E2A1}"/>
              </a:ext>
            </a:extLst>
          </p:cNvPr>
          <p:cNvSpPr/>
          <p:nvPr/>
        </p:nvSpPr>
        <p:spPr>
          <a:xfrm>
            <a:off x="548640" y="338052"/>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
        <p:nvSpPr>
          <p:cNvPr id="3" name="Text 1">
            <a:extLst>
              <a:ext uri="{FF2B5EF4-FFF2-40B4-BE49-F238E27FC236}">
                <a16:creationId xmlns:a16="http://schemas.microsoft.com/office/drawing/2014/main" id="{8E01AA04-E4B6-CFB4-EAAB-933373DD578D}"/>
              </a:ext>
            </a:extLst>
          </p:cNvPr>
          <p:cNvSpPr/>
          <p:nvPr/>
        </p:nvSpPr>
        <p:spPr>
          <a:xfrm>
            <a:off x="548640" y="703812"/>
            <a:ext cx="11091672" cy="54864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Pointers</a:t>
            </a:r>
            <a:endParaRPr lang="en-US" sz="2200" dirty="0"/>
          </a:p>
        </p:txBody>
      </p:sp>
      <p:sp>
        <p:nvSpPr>
          <p:cNvPr id="5" name="Text 3">
            <a:extLst>
              <a:ext uri="{FF2B5EF4-FFF2-40B4-BE49-F238E27FC236}">
                <a16:creationId xmlns:a16="http://schemas.microsoft.com/office/drawing/2014/main" id="{D30189CD-D526-F535-846F-358047C27BAC}"/>
              </a:ext>
            </a:extLst>
          </p:cNvPr>
          <p:cNvSpPr/>
          <p:nvPr/>
        </p:nvSpPr>
        <p:spPr>
          <a:xfrm>
            <a:off x="548640" y="1252452"/>
            <a:ext cx="11181541" cy="5577840"/>
          </a:xfrm>
          <a:prstGeom prst="rect">
            <a:avLst/>
          </a:prstGeom>
          <a:noFill/>
          <a:ln/>
        </p:spPr>
        <p:txBody>
          <a:bodyPr wrap="square" rtlCol="0" anchor="t"/>
          <a:lstStyle/>
          <a:p>
            <a:pPr lvl="1"/>
            <a:endParaRPr lang="en-US" sz="1400" dirty="0">
              <a:latin typeface="Courier New" panose="02070309020205020404" pitchFamily="49" charset="0"/>
              <a:cs typeface="Courier New" panose="02070309020205020404" pitchFamily="49" charset="0"/>
            </a:endParaRPr>
          </a:p>
          <a:p>
            <a:br>
              <a:rPr lang="en-US" dirty="0"/>
            </a:br>
            <a:endParaRPr lang="en-US" sz="1300" dirty="0"/>
          </a:p>
        </p:txBody>
      </p:sp>
      <p:sp>
        <p:nvSpPr>
          <p:cNvPr id="7" name="TextBox 6">
            <a:extLst>
              <a:ext uri="{FF2B5EF4-FFF2-40B4-BE49-F238E27FC236}">
                <a16:creationId xmlns:a16="http://schemas.microsoft.com/office/drawing/2014/main" id="{BBEA4A3E-F556-C2C5-3A7A-D77E941832BC}"/>
              </a:ext>
            </a:extLst>
          </p:cNvPr>
          <p:cNvSpPr txBox="1"/>
          <p:nvPr/>
        </p:nvSpPr>
        <p:spPr>
          <a:xfrm>
            <a:off x="713694" y="1385203"/>
            <a:ext cx="10926618" cy="5016758"/>
          </a:xfrm>
          <a:prstGeom prst="rect">
            <a:avLst/>
          </a:prstGeom>
          <a:noFill/>
        </p:spPr>
        <p:txBody>
          <a:bodyPr wrap="square" rtlCol="0">
            <a:spAutoFit/>
          </a:bodyPr>
          <a:lstStyle/>
          <a:p>
            <a:r>
              <a:rPr lang="en-US" sz="1600" b="1" dirty="0">
                <a:cs typeface="Courier New" panose="02070309020205020404" pitchFamily="49" charset="0"/>
              </a:rPr>
              <a:t>this Pointer</a:t>
            </a:r>
          </a:p>
          <a:p>
            <a:pPr marL="742950" lvl="1" indent="-285750">
              <a:buFont typeface="Arial" panose="020B0604020202020204" pitchFamily="34" charset="0"/>
              <a:buChar char="•"/>
            </a:pPr>
            <a:r>
              <a:rPr lang="en-US" sz="1600" dirty="0"/>
              <a:t>The </a:t>
            </a:r>
            <a:r>
              <a:rPr lang="en-US" sz="1600" b="1" i="1" dirty="0"/>
              <a:t>this</a:t>
            </a:r>
            <a:r>
              <a:rPr lang="en-US" sz="1600" dirty="0"/>
              <a:t> pointer is an </a:t>
            </a:r>
            <a:r>
              <a:rPr lang="en-US" sz="1600" b="1" dirty="0"/>
              <a:t>implicit pointer</a:t>
            </a:r>
            <a:r>
              <a:rPr lang="en-US" sz="1600" dirty="0"/>
              <a:t> available in all </a:t>
            </a:r>
            <a:r>
              <a:rPr lang="en-US" sz="1600" b="1" dirty="0"/>
              <a:t>non-static</a:t>
            </a:r>
            <a:r>
              <a:rPr lang="en-US" sz="1600" dirty="0"/>
              <a:t> member functions of a class.</a:t>
            </a:r>
          </a:p>
          <a:p>
            <a:pPr marL="742950" lvl="1" indent="-285750">
              <a:buFont typeface="Arial" panose="020B0604020202020204" pitchFamily="34" charset="0"/>
              <a:buChar char="•"/>
            </a:pPr>
            <a:r>
              <a:rPr lang="en-US" sz="1600" dirty="0"/>
              <a:t>It holds the </a:t>
            </a:r>
            <a:r>
              <a:rPr lang="en-US" sz="1600" b="1" dirty="0"/>
              <a:t>memory address</a:t>
            </a:r>
            <a:r>
              <a:rPr lang="en-US" sz="1600" dirty="0"/>
              <a:t> of the object that invoked the member function.</a:t>
            </a:r>
          </a:p>
          <a:p>
            <a:pPr marL="742950" lvl="1" indent="-285750">
              <a:buFont typeface="Arial" panose="020B0604020202020204" pitchFamily="34" charset="0"/>
              <a:buChar char="•"/>
            </a:pPr>
            <a:r>
              <a:rPr lang="en-US" sz="1600" dirty="0"/>
              <a:t>When a member function is called on an object, the compiler </a:t>
            </a:r>
            <a:r>
              <a:rPr lang="en-US" sz="1600" b="1" dirty="0"/>
              <a:t>automatically passes</a:t>
            </a:r>
            <a:r>
              <a:rPr lang="en-US" sz="1600" dirty="0"/>
              <a:t> the object's address as a hidden parameter.</a:t>
            </a:r>
          </a:p>
          <a:p>
            <a:pPr marL="742950" lvl="1" indent="-285750">
              <a:buFont typeface="Arial" panose="020B0604020202020204" pitchFamily="34" charset="0"/>
              <a:buChar char="•"/>
            </a:pPr>
            <a:r>
              <a:rPr lang="en-US" sz="1600" dirty="0"/>
              <a:t>This hidden parameter is named</a:t>
            </a:r>
            <a:r>
              <a:rPr lang="en-US" sz="1600" b="1" i="1" dirty="0"/>
              <a:t> this</a:t>
            </a:r>
            <a:r>
              <a:rPr lang="en-US" sz="1600" dirty="0"/>
              <a:t>.</a:t>
            </a:r>
          </a:p>
          <a:p>
            <a:pPr marL="742950" lvl="1" indent="-285750">
              <a:buFont typeface="Arial" panose="020B0604020202020204" pitchFamily="34" charset="0"/>
              <a:buChar char="•"/>
            </a:pPr>
            <a:r>
              <a:rPr lang="en-US" sz="1600" dirty="0"/>
              <a:t>The </a:t>
            </a:r>
            <a:r>
              <a:rPr lang="en-US" sz="1600" b="1" i="1" dirty="0"/>
              <a:t>this</a:t>
            </a:r>
            <a:r>
              <a:rPr lang="en-US" sz="1600" dirty="0"/>
              <a:t> pointer is </a:t>
            </a:r>
            <a:r>
              <a:rPr lang="en-US" sz="1600" b="1" dirty="0"/>
              <a:t>not explicitly declared</a:t>
            </a:r>
            <a:r>
              <a:rPr lang="en-US" sz="1600" dirty="0"/>
              <a:t> by the programmer—it is provided by the compiler.</a:t>
            </a:r>
          </a:p>
          <a:p>
            <a:pPr marL="742950" lvl="1" indent="-285750">
              <a:buFont typeface="Arial" panose="020B0604020202020204" pitchFamily="34" charset="0"/>
              <a:buChar char="•"/>
            </a:pPr>
            <a:r>
              <a:rPr lang="en-US" sz="1600" dirty="0"/>
              <a:t>It is </a:t>
            </a:r>
            <a:r>
              <a:rPr lang="en-US" sz="1600" b="1" dirty="0"/>
              <a:t>not available</a:t>
            </a:r>
            <a:r>
              <a:rPr lang="en-US" sz="1600" dirty="0"/>
              <a:t> in static member functions, since static functions are not tied to any specific object instance.</a:t>
            </a:r>
          </a:p>
          <a:p>
            <a:pPr lvl="0"/>
            <a:endParaRPr lang="en-US" sz="1600" dirty="0"/>
          </a:p>
          <a:p>
            <a:pPr lvl="0"/>
            <a:r>
              <a:rPr lang="en-US" sz="1600" b="1" dirty="0"/>
              <a:t>Common uses of </a:t>
            </a:r>
            <a:r>
              <a:rPr lang="en-US" sz="1600" b="1" i="1" dirty="0"/>
              <a:t>this</a:t>
            </a:r>
            <a:r>
              <a:rPr lang="en-US" sz="1600" b="1" dirty="0"/>
              <a:t> include:</a:t>
            </a:r>
          </a:p>
          <a:p>
            <a:pPr marL="742950" lvl="1" indent="-285750">
              <a:buFont typeface="Arial" panose="020B0604020202020204" pitchFamily="34" charset="0"/>
              <a:buChar char="•"/>
            </a:pPr>
            <a:r>
              <a:rPr lang="en-US" sz="1600" dirty="0"/>
              <a:t>Resolving naming conflicts (e.g., when parameter names shadow member variables, using </a:t>
            </a:r>
            <a:r>
              <a:rPr lang="en-US" sz="1400" dirty="0">
                <a:latin typeface="Courier New" panose="02070309020205020404" pitchFamily="49" charset="0"/>
                <a:cs typeface="Courier New" panose="02070309020205020404" pitchFamily="49" charset="0"/>
              </a:rPr>
              <a:t>this-&gt;member</a:t>
            </a:r>
            <a:r>
              <a:rPr lang="en-US" sz="1600" dirty="0"/>
              <a:t>).</a:t>
            </a:r>
          </a:p>
          <a:p>
            <a:pPr marL="742950" lvl="1" indent="-285750">
              <a:buFont typeface="Arial" panose="020B0604020202020204" pitchFamily="34" charset="0"/>
              <a:buChar char="•"/>
            </a:pPr>
            <a:r>
              <a:rPr lang="en-US" sz="1600" dirty="0"/>
              <a:t>Returning the current object from a member function (e.g., </a:t>
            </a:r>
            <a:r>
              <a:rPr lang="en-US" sz="1400" dirty="0">
                <a:latin typeface="Courier New" panose="02070309020205020404" pitchFamily="49" charset="0"/>
                <a:cs typeface="Courier New" panose="02070309020205020404" pitchFamily="49" charset="0"/>
              </a:rPr>
              <a:t>return *this;</a:t>
            </a:r>
            <a:r>
              <a:rPr lang="en-US" sz="1600" dirty="0">
                <a:latin typeface="Courier New" panose="02070309020205020404" pitchFamily="49" charset="0"/>
                <a:cs typeface="Courier New" panose="02070309020205020404" pitchFamily="49" charset="0"/>
              </a:rPr>
              <a:t>).</a:t>
            </a:r>
          </a:p>
          <a:p>
            <a:pPr marL="742950" lvl="1" indent="-285750">
              <a:buFont typeface="Arial" panose="020B0604020202020204" pitchFamily="34" charset="0"/>
              <a:buChar char="•"/>
            </a:pPr>
            <a:r>
              <a:rPr lang="en-US" sz="1600" dirty="0"/>
              <a:t>Passing the current object to another function (e.g., </a:t>
            </a:r>
            <a:r>
              <a:rPr lang="en-US" sz="1400" dirty="0" err="1">
                <a:latin typeface="Courier New" panose="02070309020205020404" pitchFamily="49" charset="0"/>
                <a:cs typeface="Courier New" panose="02070309020205020404" pitchFamily="49" charset="0"/>
              </a:rPr>
              <a:t>someFunction</a:t>
            </a:r>
            <a:r>
              <a:rPr lang="en-US" sz="1400" dirty="0">
                <a:latin typeface="Courier New" panose="02070309020205020404" pitchFamily="49" charset="0"/>
                <a:cs typeface="Courier New" panose="02070309020205020404" pitchFamily="49" charset="0"/>
              </a:rPr>
              <a:t>(*this);</a:t>
            </a:r>
            <a:r>
              <a:rPr lang="en-US" sz="1600" dirty="0"/>
              <a:t>).</a:t>
            </a:r>
          </a:p>
          <a:p>
            <a:pPr lvl="0"/>
            <a:endParaRPr lang="en-US" sz="1600" dirty="0"/>
          </a:p>
          <a:p>
            <a:pPr marL="285750" lvl="0" indent="-285750">
              <a:buFont typeface="Arial" panose="020B0604020202020204" pitchFamily="34" charset="0"/>
              <a:buChar char="•"/>
            </a:pPr>
            <a:r>
              <a:rPr lang="en-US" sz="1600" dirty="0"/>
              <a:t>The </a:t>
            </a:r>
            <a:r>
              <a:rPr lang="en-US" sz="1600" b="1" i="1" dirty="0"/>
              <a:t>this</a:t>
            </a:r>
            <a:r>
              <a:rPr lang="en-US" sz="1600" dirty="0"/>
              <a:t> pointer is a </a:t>
            </a:r>
            <a:r>
              <a:rPr lang="en-US" sz="1600" b="1" dirty="0"/>
              <a:t>constant pointer</a:t>
            </a:r>
            <a:r>
              <a:rPr lang="en-US" sz="1600" dirty="0"/>
              <a:t> (i.e.,</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ClassName</a:t>
            </a:r>
            <a:r>
              <a:rPr lang="en-US" sz="1400" dirty="0">
                <a:latin typeface="Courier New" panose="02070309020205020404" pitchFamily="49" charset="0"/>
                <a:cs typeface="Courier New" panose="02070309020205020404" pitchFamily="49" charset="0"/>
              </a:rPr>
              <a:t>* const this</a:t>
            </a:r>
            <a:r>
              <a:rPr lang="en-US" sz="1600" dirty="0"/>
              <a:t>), meaning it always points to the same object and cannot be reassigned.</a:t>
            </a:r>
          </a:p>
          <a:p>
            <a:pPr marL="285750" lvl="0" indent="-285750">
              <a:buFont typeface="Arial" panose="020B0604020202020204" pitchFamily="34" charset="0"/>
              <a:buChar char="•"/>
            </a:pPr>
            <a:r>
              <a:rPr lang="en-US" sz="1600" dirty="0"/>
              <a:t>In a const member function, this becomes a </a:t>
            </a:r>
            <a:r>
              <a:rPr lang="en-US" sz="1600" b="1" dirty="0"/>
              <a:t>pointer to a constant object</a:t>
            </a:r>
            <a:r>
              <a:rPr lang="en-US" sz="1600" dirty="0"/>
              <a:t> (i.e., </a:t>
            </a:r>
            <a:r>
              <a:rPr lang="en-US" sz="1400" dirty="0">
                <a:latin typeface="Courier New" panose="02070309020205020404" pitchFamily="49" charset="0"/>
                <a:cs typeface="Courier New" panose="02070309020205020404" pitchFamily="49" charset="0"/>
              </a:rPr>
              <a:t>const </a:t>
            </a:r>
            <a:r>
              <a:rPr lang="en-US" sz="1400" dirty="0" err="1">
                <a:latin typeface="Courier New" panose="02070309020205020404" pitchFamily="49" charset="0"/>
                <a:cs typeface="Courier New" panose="02070309020205020404" pitchFamily="49" charset="0"/>
              </a:rPr>
              <a:t>ClassName</a:t>
            </a:r>
            <a:r>
              <a:rPr lang="en-US" sz="1400" dirty="0">
                <a:latin typeface="Courier New" panose="02070309020205020404" pitchFamily="49" charset="0"/>
                <a:cs typeface="Courier New" panose="02070309020205020404" pitchFamily="49" charset="0"/>
              </a:rPr>
              <a:t>* const this</a:t>
            </a:r>
            <a:r>
              <a:rPr lang="en-US" sz="1600" dirty="0"/>
              <a:t>), preventing modification of member variables.</a:t>
            </a:r>
          </a:p>
          <a:p>
            <a:endParaRPr lang="en-US" sz="1600" b="1" dirty="0">
              <a:cs typeface="Courier New" panose="02070309020205020404" pitchFamily="49" charset="0"/>
            </a:endParaRPr>
          </a:p>
          <a:p>
            <a:endParaRPr lang="en-US" sz="1600" b="1" dirty="0">
              <a:cs typeface="Courier New" panose="02070309020205020404" pitchFamily="49" charset="0"/>
            </a:endParaRPr>
          </a:p>
        </p:txBody>
      </p:sp>
    </p:spTree>
    <p:extLst>
      <p:ext uri="{BB962C8B-B14F-4D97-AF65-F5344CB8AC3E}">
        <p14:creationId xmlns:p14="http://schemas.microsoft.com/office/powerpoint/2010/main" val="24301445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22F2450-3F2A-DB0D-48B8-E6BF2EE0033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96FCFA2-36F3-7EB1-84EA-041E2F7A3205}"/>
              </a:ext>
            </a:extLst>
          </p:cNvPr>
          <p:cNvSpPr/>
          <p:nvPr/>
        </p:nvSpPr>
        <p:spPr>
          <a:xfrm>
            <a:off x="548640" y="204904"/>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
        <p:nvSpPr>
          <p:cNvPr id="4" name="Text 2">
            <a:extLst>
              <a:ext uri="{FF2B5EF4-FFF2-40B4-BE49-F238E27FC236}">
                <a16:creationId xmlns:a16="http://schemas.microsoft.com/office/drawing/2014/main" id="{F58E163B-3554-A2CF-6EB3-6DB615AA7932}"/>
              </a:ext>
            </a:extLst>
          </p:cNvPr>
          <p:cNvSpPr/>
          <p:nvPr/>
        </p:nvSpPr>
        <p:spPr>
          <a:xfrm>
            <a:off x="548640" y="1120676"/>
            <a:ext cx="11091672" cy="4616648"/>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400" dirty="0">
                <a:latin typeface="Courier New" pitchFamily="34" charset="0"/>
                <a:cs typeface="Courier New" pitchFamily="34" charset="-120"/>
              </a:rPr>
              <a:t>class Student { </a:t>
            </a:r>
          </a:p>
          <a:p>
            <a:r>
              <a:rPr lang="en-US" sz="1400" dirty="0">
                <a:latin typeface="Courier New" pitchFamily="34" charset="0"/>
                <a:cs typeface="Courier New" pitchFamily="34" charset="-120"/>
              </a:rPr>
              <a:t>	private:     </a:t>
            </a:r>
          </a:p>
          <a:p>
            <a:r>
              <a:rPr lang="en-US" sz="1400" dirty="0">
                <a:latin typeface="Courier New" pitchFamily="34" charset="0"/>
                <a:cs typeface="Courier New" pitchFamily="34" charset="-120"/>
              </a:rPr>
              <a:t>		int age;     </a:t>
            </a:r>
          </a:p>
          <a:p>
            <a:r>
              <a:rPr lang="en-US" sz="1400" dirty="0">
                <a:latin typeface="Courier New" pitchFamily="34" charset="0"/>
                <a:cs typeface="Courier New" pitchFamily="34" charset="-120"/>
              </a:rPr>
              <a:t>		std::string name;     </a:t>
            </a:r>
          </a:p>
          <a:p>
            <a:r>
              <a:rPr lang="en-US" sz="1400" dirty="0">
                <a:latin typeface="Courier New" pitchFamily="34" charset="0"/>
                <a:cs typeface="Courier New" pitchFamily="34" charset="-120"/>
              </a:rPr>
              <a:t>		double </a:t>
            </a:r>
            <a:r>
              <a:rPr lang="en-US" sz="1400" dirty="0" err="1">
                <a:latin typeface="Courier New" pitchFamily="34" charset="0"/>
                <a:cs typeface="Courier New" pitchFamily="34" charset="-120"/>
              </a:rPr>
              <a:t>gpa</a:t>
            </a:r>
            <a:r>
              <a:rPr lang="en-US" sz="1400" dirty="0">
                <a:latin typeface="Courier New" pitchFamily="34" charset="0"/>
                <a:cs typeface="Courier New" pitchFamily="34" charset="-120"/>
              </a:rPr>
              <a:t>;   </a:t>
            </a:r>
          </a:p>
          <a:p>
            <a:r>
              <a:rPr lang="en-US" sz="1400" dirty="0">
                <a:latin typeface="Courier New" pitchFamily="34" charset="0"/>
                <a:cs typeface="Courier New" pitchFamily="34" charset="-120"/>
              </a:rPr>
              <a:t>	public:     </a:t>
            </a:r>
          </a:p>
          <a:p>
            <a:r>
              <a:rPr lang="en-US" sz="1400" dirty="0">
                <a:latin typeface="Courier New" pitchFamily="34" charset="0"/>
                <a:cs typeface="Courier New" pitchFamily="34" charset="-120"/>
              </a:rPr>
              <a:t>		void </a:t>
            </a:r>
            <a:r>
              <a:rPr lang="en-US" sz="1400" dirty="0" err="1">
                <a:latin typeface="Courier New" pitchFamily="34" charset="0"/>
                <a:cs typeface="Courier New" pitchFamily="34" charset="-120"/>
              </a:rPr>
              <a:t>regularFunction</a:t>
            </a:r>
            <a:r>
              <a:rPr lang="en-US" sz="1400" dirty="0">
                <a:latin typeface="Courier New" pitchFamily="34" charset="0"/>
                <a:cs typeface="Courier New" pitchFamily="34" charset="-120"/>
              </a:rPr>
              <a:t>() {        </a:t>
            </a:r>
          </a:p>
          <a:p>
            <a:r>
              <a:rPr lang="en-US" sz="1400" dirty="0">
                <a:latin typeface="Courier New" pitchFamily="34" charset="0"/>
                <a:cs typeface="Courier New" pitchFamily="34" charset="-120"/>
              </a:rPr>
              <a:t>			 // this is of type: Student* const         </a:t>
            </a:r>
          </a:p>
          <a:p>
            <a:r>
              <a:rPr lang="en-US" sz="1400" dirty="0">
                <a:latin typeface="Courier New" pitchFamily="34" charset="0"/>
                <a:cs typeface="Courier New" pitchFamily="34" charset="-120"/>
              </a:rPr>
              <a:t>			this-&gt;age = 20;           // Can modify private members         </a:t>
            </a:r>
          </a:p>
          <a:p>
            <a:r>
              <a:rPr lang="en-US" sz="1400" dirty="0">
                <a:latin typeface="Courier New" pitchFamily="34" charset="0"/>
                <a:cs typeface="Courier New" pitchFamily="34" charset="-120"/>
              </a:rPr>
              <a:t>			this-&gt;name = "John";      // Can modify private members         </a:t>
            </a:r>
          </a:p>
          <a:p>
            <a:r>
              <a:rPr lang="en-US" sz="1400" dirty="0">
                <a:latin typeface="Courier New" pitchFamily="34" charset="0"/>
                <a:cs typeface="Courier New" pitchFamily="34" charset="-120"/>
              </a:rPr>
              <a:t>			this-&gt;</a:t>
            </a:r>
            <a:r>
              <a:rPr lang="en-US" sz="1400" dirty="0" err="1">
                <a:latin typeface="Courier New" pitchFamily="34" charset="0"/>
                <a:cs typeface="Courier New" pitchFamily="34" charset="-120"/>
              </a:rPr>
              <a:t>gpa</a:t>
            </a:r>
            <a:r>
              <a:rPr lang="en-US" sz="1400" dirty="0">
                <a:latin typeface="Courier New" pitchFamily="34" charset="0"/>
                <a:cs typeface="Courier New" pitchFamily="34" charset="-120"/>
              </a:rPr>
              <a:t> = 3.5;         // Can modify private members     </a:t>
            </a:r>
          </a:p>
          <a:p>
            <a:r>
              <a:rPr lang="en-US" sz="1400" dirty="0">
                <a:latin typeface="Courier New" pitchFamily="34" charset="0"/>
                <a:cs typeface="Courier New" pitchFamily="34" charset="-120"/>
              </a:rPr>
              <a:t>		}          </a:t>
            </a:r>
          </a:p>
          <a:p>
            <a:r>
              <a:rPr lang="en-US" sz="1400" dirty="0">
                <a:latin typeface="Courier New" pitchFamily="34" charset="0"/>
                <a:cs typeface="Courier New" pitchFamily="34" charset="-120"/>
              </a:rPr>
              <a:t>		void </a:t>
            </a:r>
            <a:r>
              <a:rPr lang="en-US" sz="1400" dirty="0" err="1">
                <a:latin typeface="Courier New" pitchFamily="34" charset="0"/>
                <a:cs typeface="Courier New" pitchFamily="34" charset="-120"/>
              </a:rPr>
              <a:t>constFunction</a:t>
            </a:r>
            <a:r>
              <a:rPr lang="en-US" sz="1400" dirty="0">
                <a:latin typeface="Courier New" pitchFamily="34" charset="0"/>
                <a:cs typeface="Courier New" pitchFamily="34" charset="-120"/>
              </a:rPr>
              <a:t>() const {         </a:t>
            </a:r>
          </a:p>
          <a:p>
            <a:pPr lvl="2"/>
            <a:r>
              <a:rPr lang="en-US" sz="1400" dirty="0">
                <a:latin typeface="Courier New" pitchFamily="34" charset="0"/>
                <a:cs typeface="Courier New" pitchFamily="34" charset="-120"/>
              </a:rPr>
              <a:t>		// this is of type: const Student* const         </a:t>
            </a:r>
          </a:p>
          <a:p>
            <a:pPr lvl="2"/>
            <a:r>
              <a:rPr lang="en-US" sz="1400" dirty="0">
                <a:latin typeface="Courier New" pitchFamily="34" charset="0"/>
                <a:cs typeface="Courier New" pitchFamily="34" charset="-120"/>
              </a:rPr>
              <a:t>		// this-&gt;age = 25;        // ERROR: Cannot modify in const function         </a:t>
            </a:r>
          </a:p>
          <a:p>
            <a:pPr lvl="2"/>
            <a:r>
              <a:rPr lang="en-US" sz="1400" dirty="0">
                <a:latin typeface="Courier New" pitchFamily="34" charset="0"/>
                <a:cs typeface="Courier New" pitchFamily="34" charset="-120"/>
              </a:rPr>
              <a:t>		int </a:t>
            </a:r>
            <a:r>
              <a:rPr lang="en-US" sz="1400" dirty="0" err="1">
                <a:latin typeface="Courier New" pitchFamily="34" charset="0"/>
                <a:cs typeface="Courier New" pitchFamily="34" charset="-120"/>
              </a:rPr>
              <a:t>currentAge</a:t>
            </a:r>
            <a:r>
              <a:rPr lang="en-US" sz="1400" dirty="0">
                <a:latin typeface="Courier New" pitchFamily="34" charset="0"/>
                <a:cs typeface="Courier New" pitchFamily="34" charset="-120"/>
              </a:rPr>
              <a:t> = this-&gt;age;     // Can read private members         </a:t>
            </a:r>
          </a:p>
          <a:p>
            <a:pPr lvl="2"/>
            <a:r>
              <a:rPr lang="en-US" sz="1400" dirty="0">
                <a:latin typeface="Courier New" pitchFamily="34" charset="0"/>
                <a:cs typeface="Courier New" pitchFamily="34" charset="-120"/>
              </a:rPr>
              <a:t>		std::string </a:t>
            </a:r>
            <a:r>
              <a:rPr lang="en-US" sz="1400" dirty="0" err="1">
                <a:latin typeface="Courier New" pitchFamily="34" charset="0"/>
                <a:cs typeface="Courier New" pitchFamily="34" charset="-120"/>
              </a:rPr>
              <a:t>currentName</a:t>
            </a:r>
            <a:r>
              <a:rPr lang="en-US" sz="1400" dirty="0">
                <a:latin typeface="Courier New" pitchFamily="34" charset="0"/>
                <a:cs typeface="Courier New" pitchFamily="34" charset="-120"/>
              </a:rPr>
              <a:t> = this-&gt;name;  // Can read private members         </a:t>
            </a:r>
          </a:p>
          <a:p>
            <a:r>
              <a:rPr lang="en-US" sz="1400" dirty="0">
                <a:latin typeface="Courier New" pitchFamily="34" charset="0"/>
                <a:cs typeface="Courier New" pitchFamily="34" charset="-120"/>
              </a:rPr>
              <a:t>			std::</a:t>
            </a:r>
            <a:r>
              <a:rPr lang="en-US" sz="1400" dirty="0" err="1">
                <a:latin typeface="Courier New" pitchFamily="34" charset="0"/>
                <a:cs typeface="Courier New" pitchFamily="34" charset="-120"/>
              </a:rPr>
              <a:t>cout</a:t>
            </a:r>
            <a:r>
              <a:rPr lang="en-US" sz="1400" dirty="0">
                <a:latin typeface="Courier New" pitchFamily="34" charset="0"/>
                <a:cs typeface="Courier New" pitchFamily="34" charset="-120"/>
              </a:rPr>
              <a:t> &lt;&lt; "Age: " &lt;&lt; this-&gt;age &lt;&lt; std::</a:t>
            </a:r>
            <a:r>
              <a:rPr lang="en-US" sz="1400" dirty="0" err="1">
                <a:latin typeface="Courier New" pitchFamily="34" charset="0"/>
                <a:cs typeface="Courier New" pitchFamily="34" charset="-120"/>
              </a:rPr>
              <a:t>endl</a:t>
            </a:r>
            <a:r>
              <a:rPr lang="en-US" sz="1400" dirty="0">
                <a:latin typeface="Courier New" pitchFamily="34" charset="0"/>
                <a:cs typeface="Courier New" pitchFamily="34" charset="-120"/>
              </a:rPr>
              <a:t>;  // Can access for reading     </a:t>
            </a:r>
          </a:p>
          <a:p>
            <a:r>
              <a:rPr lang="en-US" sz="1400" dirty="0">
                <a:latin typeface="Courier New" pitchFamily="34" charset="0"/>
                <a:cs typeface="Courier New" pitchFamily="34" charset="-120"/>
              </a:rPr>
              <a:t>		} </a:t>
            </a:r>
          </a:p>
          <a:p>
            <a:r>
              <a:rPr lang="en-US" sz="1400" dirty="0">
                <a:latin typeface="Courier New" pitchFamily="34" charset="0"/>
                <a:cs typeface="Courier New" pitchFamily="34" charset="-120"/>
              </a:rPr>
              <a:t>}; </a:t>
            </a:r>
          </a:p>
        </p:txBody>
      </p:sp>
      <p:sp>
        <p:nvSpPr>
          <p:cNvPr id="7" name="Text 1">
            <a:extLst>
              <a:ext uri="{FF2B5EF4-FFF2-40B4-BE49-F238E27FC236}">
                <a16:creationId xmlns:a16="http://schemas.microsoft.com/office/drawing/2014/main" id="{D56FC860-E476-118F-7499-0BAD10894D46}"/>
              </a:ext>
            </a:extLst>
          </p:cNvPr>
          <p:cNvSpPr/>
          <p:nvPr/>
        </p:nvSpPr>
        <p:spPr>
          <a:xfrm>
            <a:off x="548640" y="570664"/>
            <a:ext cx="11091672" cy="36576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Pointers</a:t>
            </a:r>
            <a:endParaRPr lang="en-US" sz="2200" dirty="0"/>
          </a:p>
        </p:txBody>
      </p:sp>
    </p:spTree>
    <p:extLst>
      <p:ext uri="{BB962C8B-B14F-4D97-AF65-F5344CB8AC3E}">
        <p14:creationId xmlns:p14="http://schemas.microsoft.com/office/powerpoint/2010/main" val="35043617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EE1ED0A-91BD-1E5E-C76D-068F1A8B30B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0092EC0-7063-D3AF-039C-CF9659FA271C}"/>
              </a:ext>
            </a:extLst>
          </p:cNvPr>
          <p:cNvSpPr/>
          <p:nvPr/>
        </p:nvSpPr>
        <p:spPr>
          <a:xfrm>
            <a:off x="548640" y="204904"/>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
        <p:nvSpPr>
          <p:cNvPr id="4" name="Text 2">
            <a:extLst>
              <a:ext uri="{FF2B5EF4-FFF2-40B4-BE49-F238E27FC236}">
                <a16:creationId xmlns:a16="http://schemas.microsoft.com/office/drawing/2014/main" id="{54FB031D-216E-46E5-69FA-D66A490570AD}"/>
              </a:ext>
            </a:extLst>
          </p:cNvPr>
          <p:cNvSpPr/>
          <p:nvPr/>
        </p:nvSpPr>
        <p:spPr>
          <a:xfrm>
            <a:off x="548640" y="920982"/>
            <a:ext cx="11091672" cy="5760720"/>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400" dirty="0">
                <a:latin typeface="Courier New" pitchFamily="34" charset="0"/>
                <a:cs typeface="Courier New" pitchFamily="34" charset="-120"/>
              </a:rPr>
              <a:t>class Person {</a:t>
            </a:r>
          </a:p>
          <a:p>
            <a:r>
              <a:rPr lang="en-US" sz="1400" dirty="0">
                <a:latin typeface="Courier New" pitchFamily="34" charset="0"/>
                <a:cs typeface="Courier New" pitchFamily="34" charset="-120"/>
              </a:rPr>
              <a:t>        private:</a:t>
            </a:r>
          </a:p>
          <a:p>
            <a:r>
              <a:rPr lang="en-US" sz="1400" dirty="0">
                <a:latin typeface="Courier New" pitchFamily="34" charset="0"/>
                <a:cs typeface="Courier New" pitchFamily="34" charset="-120"/>
              </a:rPr>
              <a:t>            string name;</a:t>
            </a:r>
          </a:p>
          <a:p>
            <a:r>
              <a:rPr lang="en-US" sz="1400" dirty="0">
                <a:latin typeface="Courier New" pitchFamily="34" charset="0"/>
                <a:cs typeface="Courier New" pitchFamily="34" charset="-120"/>
              </a:rPr>
              <a:t>            int age;</a:t>
            </a:r>
          </a:p>
          <a:p>
            <a:r>
              <a:rPr lang="en-US" sz="1400" dirty="0">
                <a:latin typeface="Courier New" pitchFamily="34" charset="0"/>
                <a:cs typeface="Courier New" pitchFamily="34" charset="-120"/>
              </a:rPr>
              <a:t>        public:</a:t>
            </a:r>
          </a:p>
          <a:p>
            <a:r>
              <a:rPr lang="en-US" sz="1400" dirty="0">
                <a:latin typeface="Courier New" pitchFamily="34" charset="0"/>
                <a:cs typeface="Courier New" pitchFamily="34" charset="-120"/>
              </a:rPr>
              <a:t>            Person(const std::string&amp; name, int age) {</a:t>
            </a:r>
          </a:p>
          <a:p>
            <a:r>
              <a:rPr lang="en-US" sz="1400" dirty="0">
                <a:latin typeface="Courier New" pitchFamily="34" charset="0"/>
                <a:cs typeface="Courier New" pitchFamily="34" charset="-120"/>
              </a:rPr>
              <a:t>            this-&gt;name = name;</a:t>
            </a:r>
          </a:p>
          <a:p>
            <a:r>
              <a:rPr lang="en-US" sz="1400" dirty="0">
                <a:latin typeface="Courier New" pitchFamily="34" charset="0"/>
                <a:cs typeface="Courier New" pitchFamily="34" charset="-120"/>
              </a:rPr>
              <a:t>            this-&gt;age = age;</a:t>
            </a:r>
          </a:p>
          <a:p>
            <a:r>
              <a:rPr lang="en-US" sz="1400" dirty="0">
                <a:latin typeface="Courier New" pitchFamily="34" charset="0"/>
                <a:cs typeface="Courier New" pitchFamily="34" charset="-120"/>
              </a:rPr>
              <a:t>            }</a:t>
            </a:r>
          </a:p>
          <a:p>
            <a:r>
              <a:rPr lang="en-US" sz="1400" dirty="0">
                <a:latin typeface="Courier New" pitchFamily="34" charset="0"/>
                <a:cs typeface="Courier New" pitchFamily="34" charset="-120"/>
              </a:rPr>
              <a:t>            void </a:t>
            </a:r>
            <a:r>
              <a:rPr lang="en-US" sz="1400" dirty="0" err="1">
                <a:latin typeface="Courier New" pitchFamily="34" charset="0"/>
                <a:cs typeface="Courier New" pitchFamily="34" charset="-120"/>
              </a:rPr>
              <a:t>displayInfo</a:t>
            </a:r>
            <a:r>
              <a:rPr lang="en-US" sz="1400" dirty="0">
                <a:latin typeface="Courier New" pitchFamily="34" charset="0"/>
                <a:cs typeface="Courier New" pitchFamily="34" charset="-120"/>
              </a:rPr>
              <a:t>() {</a:t>
            </a:r>
          </a:p>
          <a:p>
            <a:r>
              <a:rPr lang="en-US" sz="1400" dirty="0">
                <a:latin typeface="Courier New" pitchFamily="34" charset="0"/>
                <a:cs typeface="Courier New" pitchFamily="34" charset="-120"/>
              </a:rPr>
              <a:t>            std::</a:t>
            </a:r>
            <a:r>
              <a:rPr lang="en-US" sz="1400" dirty="0" err="1">
                <a:latin typeface="Courier New" pitchFamily="34" charset="0"/>
                <a:cs typeface="Courier New" pitchFamily="34" charset="-120"/>
              </a:rPr>
              <a:t>cout</a:t>
            </a:r>
            <a:r>
              <a:rPr lang="en-US" sz="1400" dirty="0">
                <a:latin typeface="Courier New" pitchFamily="34" charset="0"/>
                <a:cs typeface="Courier New" pitchFamily="34" charset="-120"/>
              </a:rPr>
              <a:t> &lt;&lt; "Name: " &lt;&lt; this-&gt;name &lt;&lt; std::</a:t>
            </a:r>
            <a:r>
              <a:rPr lang="en-US" sz="1400" dirty="0" err="1">
                <a:latin typeface="Courier New" pitchFamily="34" charset="0"/>
                <a:cs typeface="Courier New" pitchFamily="34" charset="-120"/>
              </a:rPr>
              <a:t>endl</a:t>
            </a:r>
            <a:r>
              <a:rPr lang="en-US" sz="1400" dirty="0">
                <a:latin typeface="Courier New" pitchFamily="34" charset="0"/>
                <a:cs typeface="Courier New" pitchFamily="34" charset="-120"/>
              </a:rPr>
              <a:t>;</a:t>
            </a:r>
          </a:p>
          <a:p>
            <a:r>
              <a:rPr lang="en-US" sz="1400" dirty="0">
                <a:latin typeface="Courier New" pitchFamily="34" charset="0"/>
                <a:cs typeface="Courier New" pitchFamily="34" charset="-120"/>
              </a:rPr>
              <a:t>            std::</a:t>
            </a:r>
            <a:r>
              <a:rPr lang="en-US" sz="1400" dirty="0" err="1">
                <a:latin typeface="Courier New" pitchFamily="34" charset="0"/>
                <a:cs typeface="Courier New" pitchFamily="34" charset="-120"/>
              </a:rPr>
              <a:t>cout</a:t>
            </a:r>
            <a:r>
              <a:rPr lang="en-US" sz="1400" dirty="0">
                <a:latin typeface="Courier New" pitchFamily="34" charset="0"/>
                <a:cs typeface="Courier New" pitchFamily="34" charset="-120"/>
              </a:rPr>
              <a:t> &lt;&lt; "Age: " &lt;&lt; this-&gt;age &lt;&lt; std::</a:t>
            </a:r>
            <a:r>
              <a:rPr lang="en-US" sz="1400" dirty="0" err="1">
                <a:latin typeface="Courier New" pitchFamily="34" charset="0"/>
                <a:cs typeface="Courier New" pitchFamily="34" charset="-120"/>
              </a:rPr>
              <a:t>endl</a:t>
            </a:r>
            <a:r>
              <a:rPr lang="en-US" sz="1400" dirty="0">
                <a:latin typeface="Courier New" pitchFamily="34" charset="0"/>
                <a:cs typeface="Courier New" pitchFamily="34" charset="-120"/>
              </a:rPr>
              <a:t>;</a:t>
            </a:r>
          </a:p>
          <a:p>
            <a:r>
              <a:rPr lang="en-US" sz="1400" dirty="0">
                <a:latin typeface="Courier New" pitchFamily="34" charset="0"/>
                <a:cs typeface="Courier New" pitchFamily="34" charset="-120"/>
              </a:rPr>
              <a:t>            }</a:t>
            </a:r>
          </a:p>
          <a:p>
            <a:r>
              <a:rPr lang="en-US" sz="1400" dirty="0">
                <a:latin typeface="Courier New" pitchFamily="34" charset="0"/>
                <a:cs typeface="Courier New" pitchFamily="34" charset="-120"/>
              </a:rPr>
              <a:t>            void </a:t>
            </a:r>
            <a:r>
              <a:rPr lang="en-US" sz="1400" dirty="0" err="1">
                <a:latin typeface="Courier New" pitchFamily="34" charset="0"/>
                <a:cs typeface="Courier New" pitchFamily="34" charset="-120"/>
              </a:rPr>
              <a:t>updateAge</a:t>
            </a:r>
            <a:r>
              <a:rPr lang="en-US" sz="1400" dirty="0">
                <a:latin typeface="Courier New" pitchFamily="34" charset="0"/>
                <a:cs typeface="Courier New" pitchFamily="34" charset="-120"/>
              </a:rPr>
              <a:t>(int </a:t>
            </a:r>
            <a:r>
              <a:rPr lang="en-US" sz="1400" dirty="0" err="1">
                <a:latin typeface="Courier New" pitchFamily="34" charset="0"/>
                <a:cs typeface="Courier New" pitchFamily="34" charset="-120"/>
              </a:rPr>
              <a:t>newAge</a:t>
            </a:r>
            <a:r>
              <a:rPr lang="en-US" sz="1400" dirty="0">
                <a:latin typeface="Courier New" pitchFamily="34" charset="0"/>
                <a:cs typeface="Courier New" pitchFamily="34" charset="-120"/>
              </a:rPr>
              <a:t>) {</a:t>
            </a:r>
          </a:p>
          <a:p>
            <a:r>
              <a:rPr lang="en-US" sz="1400" dirty="0">
                <a:latin typeface="Courier New" pitchFamily="34" charset="0"/>
                <a:cs typeface="Courier New" pitchFamily="34" charset="-120"/>
              </a:rPr>
              <a:t>            this-&gt;age = </a:t>
            </a:r>
            <a:r>
              <a:rPr lang="en-US" sz="1400" dirty="0" err="1">
                <a:latin typeface="Courier New" pitchFamily="34" charset="0"/>
                <a:cs typeface="Courier New" pitchFamily="34" charset="-120"/>
              </a:rPr>
              <a:t>newAge</a:t>
            </a:r>
            <a:r>
              <a:rPr lang="en-US" sz="1400" dirty="0">
                <a:latin typeface="Courier New" pitchFamily="34" charset="0"/>
                <a:cs typeface="Courier New" pitchFamily="34" charset="-120"/>
              </a:rPr>
              <a:t>;</a:t>
            </a:r>
          </a:p>
          <a:p>
            <a:r>
              <a:rPr lang="en-US" sz="1400" dirty="0">
                <a:latin typeface="Courier New" pitchFamily="34" charset="0"/>
                <a:cs typeface="Courier New" pitchFamily="34" charset="-120"/>
              </a:rPr>
              <a:t>            }</a:t>
            </a:r>
          </a:p>
          <a:p>
            <a:r>
              <a:rPr lang="en-US" sz="1400" dirty="0">
                <a:latin typeface="Courier New" pitchFamily="34" charset="0"/>
                <a:cs typeface="Courier New" pitchFamily="34" charset="-120"/>
              </a:rPr>
              <a:t>    };</a:t>
            </a:r>
          </a:p>
          <a:p>
            <a:r>
              <a:rPr lang="en-US" sz="1400" dirty="0">
                <a:latin typeface="Courier New" pitchFamily="34" charset="0"/>
                <a:cs typeface="Courier New" pitchFamily="34" charset="-120"/>
              </a:rPr>
              <a:t>int main() {</a:t>
            </a:r>
          </a:p>
          <a:p>
            <a:endParaRPr lang="en-US" sz="1400" dirty="0">
              <a:latin typeface="Courier New" pitchFamily="34" charset="0"/>
              <a:cs typeface="Courier New" pitchFamily="34" charset="-120"/>
            </a:endParaRPr>
          </a:p>
          <a:p>
            <a:r>
              <a:rPr lang="en-US" sz="1400" dirty="0">
                <a:latin typeface="Courier New" pitchFamily="34" charset="0"/>
                <a:cs typeface="Courier New" pitchFamily="34" charset="-120"/>
              </a:rPr>
              <a:t>	Person person(“Kapil", 19);</a:t>
            </a:r>
          </a:p>
          <a:p>
            <a:r>
              <a:rPr lang="en-US" sz="1400" dirty="0">
                <a:latin typeface="Courier New" pitchFamily="34" charset="0"/>
                <a:cs typeface="Courier New" pitchFamily="34" charset="-120"/>
              </a:rPr>
              <a:t>    	</a:t>
            </a:r>
            <a:r>
              <a:rPr lang="en-US" sz="1400" dirty="0" err="1">
                <a:latin typeface="Courier New" pitchFamily="34" charset="0"/>
                <a:cs typeface="Courier New" pitchFamily="34" charset="-120"/>
              </a:rPr>
              <a:t>person.displayInfo</a:t>
            </a:r>
            <a:r>
              <a:rPr lang="en-US" sz="1400" dirty="0">
                <a:latin typeface="Courier New" pitchFamily="34" charset="0"/>
                <a:cs typeface="Courier New" pitchFamily="34" charset="-120"/>
              </a:rPr>
              <a:t>();</a:t>
            </a:r>
          </a:p>
          <a:p>
            <a:r>
              <a:rPr lang="en-US" sz="1400" dirty="0">
                <a:latin typeface="Courier New" pitchFamily="34" charset="0"/>
                <a:cs typeface="Courier New" pitchFamily="34" charset="-120"/>
              </a:rPr>
              <a:t>    	</a:t>
            </a:r>
            <a:r>
              <a:rPr lang="en-US" sz="1400" dirty="0" err="1">
                <a:latin typeface="Courier New" pitchFamily="34" charset="0"/>
                <a:cs typeface="Courier New" pitchFamily="34" charset="-120"/>
              </a:rPr>
              <a:t>person.updateAge</a:t>
            </a:r>
            <a:r>
              <a:rPr lang="en-US" sz="1400" dirty="0">
                <a:latin typeface="Courier New" pitchFamily="34" charset="0"/>
                <a:cs typeface="Courier New" pitchFamily="34" charset="-120"/>
              </a:rPr>
              <a:t>(20);</a:t>
            </a:r>
          </a:p>
          <a:p>
            <a:r>
              <a:rPr lang="en-US" sz="1400" dirty="0">
                <a:latin typeface="Courier New" pitchFamily="34" charset="0"/>
                <a:cs typeface="Courier New" pitchFamily="34" charset="-120"/>
              </a:rPr>
              <a:t>    	</a:t>
            </a:r>
            <a:r>
              <a:rPr lang="en-US" sz="1400" dirty="0" err="1">
                <a:latin typeface="Courier New" pitchFamily="34" charset="0"/>
                <a:cs typeface="Courier New" pitchFamily="34" charset="-120"/>
              </a:rPr>
              <a:t>cout</a:t>
            </a:r>
            <a:r>
              <a:rPr lang="en-US" sz="1400" dirty="0">
                <a:latin typeface="Courier New" pitchFamily="34" charset="0"/>
                <a:cs typeface="Courier New" pitchFamily="34" charset="-120"/>
              </a:rPr>
              <a:t> &lt;&lt; "After updating age:" &lt;&lt; </a:t>
            </a:r>
            <a:r>
              <a:rPr lang="en-US" sz="1400" dirty="0" err="1">
                <a:latin typeface="Courier New" pitchFamily="34" charset="0"/>
                <a:cs typeface="Courier New" pitchFamily="34" charset="-120"/>
              </a:rPr>
              <a:t>endl</a:t>
            </a:r>
            <a:r>
              <a:rPr lang="en-US" sz="1400" dirty="0">
                <a:latin typeface="Courier New" pitchFamily="34" charset="0"/>
                <a:cs typeface="Courier New" pitchFamily="34" charset="-120"/>
              </a:rPr>
              <a:t>;</a:t>
            </a:r>
          </a:p>
          <a:p>
            <a:r>
              <a:rPr lang="en-US" sz="1400" dirty="0">
                <a:latin typeface="Courier New" pitchFamily="34" charset="0"/>
                <a:cs typeface="Courier New" pitchFamily="34" charset="-120"/>
              </a:rPr>
              <a:t>    	</a:t>
            </a:r>
            <a:r>
              <a:rPr lang="en-US" sz="1400" dirty="0" err="1">
                <a:latin typeface="Courier New" pitchFamily="34" charset="0"/>
                <a:cs typeface="Courier New" pitchFamily="34" charset="-120"/>
              </a:rPr>
              <a:t>person.displayInfo</a:t>
            </a:r>
            <a:r>
              <a:rPr lang="en-US" sz="1400" dirty="0">
                <a:latin typeface="Courier New" pitchFamily="34" charset="0"/>
                <a:cs typeface="Courier New" pitchFamily="34" charset="-120"/>
              </a:rPr>
              <a:t>();</a:t>
            </a:r>
          </a:p>
          <a:p>
            <a:r>
              <a:rPr lang="en-US" sz="1400" dirty="0">
                <a:latin typeface="Courier New" pitchFamily="34" charset="0"/>
                <a:cs typeface="Courier New" pitchFamily="34" charset="-120"/>
              </a:rPr>
              <a:t>    	return 0;</a:t>
            </a:r>
          </a:p>
          <a:p>
            <a:r>
              <a:rPr lang="en-US" sz="1400" dirty="0">
                <a:latin typeface="Courier New" pitchFamily="34" charset="0"/>
                <a:cs typeface="Courier New" pitchFamily="34" charset="-120"/>
              </a:rPr>
              <a:t>}</a:t>
            </a:r>
          </a:p>
        </p:txBody>
      </p:sp>
      <p:sp>
        <p:nvSpPr>
          <p:cNvPr id="7" name="Text 1">
            <a:extLst>
              <a:ext uri="{FF2B5EF4-FFF2-40B4-BE49-F238E27FC236}">
                <a16:creationId xmlns:a16="http://schemas.microsoft.com/office/drawing/2014/main" id="{725A4FD4-5A4A-B714-60F6-A8E081E293A2}"/>
              </a:ext>
            </a:extLst>
          </p:cNvPr>
          <p:cNvSpPr/>
          <p:nvPr/>
        </p:nvSpPr>
        <p:spPr>
          <a:xfrm>
            <a:off x="548640" y="570664"/>
            <a:ext cx="11091672" cy="36576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Pointers</a:t>
            </a:r>
            <a:endParaRPr lang="en-US" sz="2200" dirty="0"/>
          </a:p>
        </p:txBody>
      </p:sp>
    </p:spTree>
    <p:extLst>
      <p:ext uri="{BB962C8B-B14F-4D97-AF65-F5344CB8AC3E}">
        <p14:creationId xmlns:p14="http://schemas.microsoft.com/office/powerpoint/2010/main" val="28955863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023BB56-82AB-1DAC-E116-C6DE58CDB85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C1A35D3-8BEF-225F-3879-8762BD86786E}"/>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
        <p:nvSpPr>
          <p:cNvPr id="3" name="Text 1">
            <a:extLst>
              <a:ext uri="{FF2B5EF4-FFF2-40B4-BE49-F238E27FC236}">
                <a16:creationId xmlns:a16="http://schemas.microsoft.com/office/drawing/2014/main" id="{974FD425-603C-D93B-2802-571EE11FEA24}"/>
              </a:ext>
            </a:extLst>
          </p:cNvPr>
          <p:cNvSpPr/>
          <p:nvPr/>
        </p:nvSpPr>
        <p:spPr>
          <a:xfrm>
            <a:off x="548640" y="731520"/>
            <a:ext cx="11091672" cy="54864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Arrays and Pointers</a:t>
            </a:r>
            <a:endParaRPr lang="en-US" sz="2200" dirty="0"/>
          </a:p>
        </p:txBody>
      </p:sp>
      <p:sp>
        <p:nvSpPr>
          <p:cNvPr id="4" name="Text 2">
            <a:extLst>
              <a:ext uri="{FF2B5EF4-FFF2-40B4-BE49-F238E27FC236}">
                <a16:creationId xmlns:a16="http://schemas.microsoft.com/office/drawing/2014/main" id="{A9212329-0649-BBF9-A7A6-368EF120A09D}"/>
              </a:ext>
            </a:extLst>
          </p:cNvPr>
          <p:cNvSpPr/>
          <p:nvPr/>
        </p:nvSpPr>
        <p:spPr>
          <a:xfrm>
            <a:off x="548640" y="1417320"/>
            <a:ext cx="11091672" cy="4480560"/>
          </a:xfrm>
          <a:prstGeom prst="rect">
            <a:avLst/>
          </a:prstGeom>
          <a:solidFill>
            <a:srgbClr val="F2F2F2"/>
          </a:solidFill>
          <a:ln w="9525">
            <a:solidFill>
              <a:srgbClr val="000000"/>
            </a:solidFill>
          </a:ln>
        </p:spPr>
        <p:txBody>
          <a:bodyPr wrap="square" lIns="152400" tIns="152400" rIns="152400" bIns="152400" rtlCol="0" anchor="t">
            <a:spAutoFit/>
          </a:bodyPr>
          <a:lstStyle/>
          <a:p>
            <a:pPr marL="0" indent="0">
              <a:buNone/>
            </a:pPr>
            <a:r>
              <a:rPr lang="en-US" sz="1250" dirty="0">
                <a:solidFill>
                  <a:srgbClr val="000000"/>
                </a:solidFill>
                <a:latin typeface="Courier New" pitchFamily="34" charset="0"/>
                <a:ea typeface="Courier New" pitchFamily="34" charset="-122"/>
                <a:cs typeface="Courier New" pitchFamily="34" charset="-120"/>
              </a:rPr>
              <a:t>int marks[5] = {56, 78, 90, 45, 88};</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int *ptr = marks;         // ptr holds address of marks[0]</a:t>
            </a:r>
            <a:endParaRPr lang="en-US" sz="1250" dirty="0"/>
          </a:p>
          <a:p>
            <a:pPr marL="0" indent="0">
              <a:buNone/>
            </a:pP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for (int i = 0; i &lt; 5; i++)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cout &lt;&lt; "marks[" &lt;&lt; i &lt;&lt; "] = " &lt;&lt; *(ptr + i) &lt;&lt; endl;</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*(ptr+i) is exactly equivalent to marks[i]</a:t>
            </a:r>
            <a:endParaRPr lang="en-US" sz="1250" dirty="0"/>
          </a:p>
        </p:txBody>
      </p:sp>
      <p:sp>
        <p:nvSpPr>
          <p:cNvPr id="5" name="Text 3">
            <a:extLst>
              <a:ext uri="{FF2B5EF4-FFF2-40B4-BE49-F238E27FC236}">
                <a16:creationId xmlns:a16="http://schemas.microsoft.com/office/drawing/2014/main" id="{EC0E8214-7F2E-C5EA-FED2-7C812325A190}"/>
              </a:ext>
            </a:extLst>
          </p:cNvPr>
          <p:cNvSpPr/>
          <p:nvPr/>
        </p:nvSpPr>
        <p:spPr>
          <a:xfrm>
            <a:off x="548640" y="5943600"/>
            <a:ext cx="11091672" cy="640080"/>
          </a:xfrm>
          <a:prstGeom prst="rect">
            <a:avLst/>
          </a:prstGeom>
          <a:noFill/>
          <a:ln/>
        </p:spPr>
        <p:txBody>
          <a:bodyPr wrap="square" rtlCol="0" anchor="t"/>
          <a:lstStyle/>
          <a:p>
            <a:pPr marL="0" indent="0">
              <a:buNone/>
            </a:pPr>
            <a:r>
              <a:rPr lang="en-US" sz="1300" i="1" dirty="0">
                <a:solidFill>
                  <a:srgbClr val="595959"/>
                </a:solidFill>
                <a:latin typeface="Helvetica" pitchFamily="34" charset="0"/>
                <a:ea typeface="Helvetica" pitchFamily="34" charset="-122"/>
                <a:cs typeface="Helvetica" pitchFamily="34" charset="-120"/>
              </a:rPr>
              <a:t>new / delete: C++-native heap allocation. Always pair new[] with delete[].</a:t>
            </a:r>
            <a:endParaRPr lang="en-US" sz="1300" dirty="0"/>
          </a:p>
        </p:txBody>
      </p:sp>
    </p:spTree>
    <p:extLst>
      <p:ext uri="{BB962C8B-B14F-4D97-AF65-F5344CB8AC3E}">
        <p14:creationId xmlns:p14="http://schemas.microsoft.com/office/powerpoint/2010/main" val="4917201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29D80D7-74A9-F2EB-9A2B-0127A67F071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AFB0060-DB9B-31E8-9C53-64DB89A43C4C}"/>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
        <p:nvSpPr>
          <p:cNvPr id="3" name="Text 1">
            <a:extLst>
              <a:ext uri="{FF2B5EF4-FFF2-40B4-BE49-F238E27FC236}">
                <a16:creationId xmlns:a16="http://schemas.microsoft.com/office/drawing/2014/main" id="{C0E552BA-8BA7-E7F0-E262-5F531AF62AD7}"/>
              </a:ext>
            </a:extLst>
          </p:cNvPr>
          <p:cNvSpPr/>
          <p:nvPr/>
        </p:nvSpPr>
        <p:spPr>
          <a:xfrm>
            <a:off x="548640" y="731520"/>
            <a:ext cx="11091672" cy="640080"/>
          </a:xfrm>
          <a:prstGeom prst="rect">
            <a:avLst/>
          </a:prstGeom>
          <a:noFill/>
          <a:ln/>
        </p:spPr>
        <p:txBody>
          <a:bodyPr wrap="square" rtlCol="0" anchor="ctr"/>
          <a:lstStyle/>
          <a:p>
            <a:pPr marL="0" indent="0">
              <a:buNone/>
            </a:pPr>
            <a:r>
              <a:rPr lang="en-US" sz="2200" b="1" dirty="0">
                <a:solidFill>
                  <a:srgbClr val="000000"/>
                </a:solidFill>
                <a:latin typeface="Helvetica" pitchFamily="34" charset="0"/>
                <a:cs typeface="Helvetica" pitchFamily="34" charset="-120"/>
              </a:rPr>
              <a:t>Memory</a:t>
            </a:r>
            <a:r>
              <a:rPr lang="en-US" sz="2600" dirty="0"/>
              <a:t> </a:t>
            </a:r>
            <a:r>
              <a:rPr lang="en-US" sz="2200" b="1" dirty="0">
                <a:solidFill>
                  <a:srgbClr val="000000"/>
                </a:solidFill>
                <a:latin typeface="Helvetica" pitchFamily="34" charset="0"/>
                <a:cs typeface="Helvetica" pitchFamily="34" charset="-120"/>
              </a:rPr>
              <a:t>Management</a:t>
            </a:r>
            <a:r>
              <a:rPr lang="en-US" sz="2600" dirty="0"/>
              <a:t> </a:t>
            </a:r>
            <a:r>
              <a:rPr lang="en-US" sz="2200" b="1" dirty="0">
                <a:solidFill>
                  <a:srgbClr val="000000"/>
                </a:solidFill>
                <a:latin typeface="Helvetica" pitchFamily="34" charset="0"/>
                <a:cs typeface="Helvetica" pitchFamily="34" charset="-120"/>
              </a:rPr>
              <a:t>in C++</a:t>
            </a:r>
          </a:p>
        </p:txBody>
      </p:sp>
      <p:sp>
        <p:nvSpPr>
          <p:cNvPr id="4" name="Text 2">
            <a:extLst>
              <a:ext uri="{FF2B5EF4-FFF2-40B4-BE49-F238E27FC236}">
                <a16:creationId xmlns:a16="http://schemas.microsoft.com/office/drawing/2014/main" id="{7F35A415-F1D9-C730-C5D7-B4A5D3650564}"/>
              </a:ext>
            </a:extLst>
          </p:cNvPr>
          <p:cNvSpPr/>
          <p:nvPr/>
        </p:nvSpPr>
        <p:spPr>
          <a:xfrm>
            <a:off x="548640" y="1411316"/>
            <a:ext cx="11091672" cy="4846320"/>
          </a:xfrm>
          <a:prstGeom prst="rect">
            <a:avLst/>
          </a:prstGeom>
          <a:noFill/>
          <a:ln/>
        </p:spPr>
        <p:txBody>
          <a:bodyPr wrap="square" rtlCol="0" anchor="t"/>
          <a:lstStyle/>
          <a:p>
            <a:pPr marL="285750" lvl="0" indent="-285750">
              <a:buFont typeface="Arial" panose="020B0604020202020204" pitchFamily="34" charset="0"/>
              <a:buChar char="•"/>
            </a:pPr>
            <a:r>
              <a:rPr lang="en-US" sz="1400" dirty="0"/>
              <a:t>Memory in C++ is managed through </a:t>
            </a:r>
            <a:r>
              <a:rPr lang="en-US" sz="1400" b="1" dirty="0"/>
              <a:t>allocation</a:t>
            </a:r>
            <a:r>
              <a:rPr lang="en-US" sz="1400" dirty="0"/>
              <a:t> (reserving memory) and </a:t>
            </a:r>
            <a:r>
              <a:rPr lang="en-US" sz="1400" b="1" dirty="0"/>
              <a:t>deallocation</a:t>
            </a:r>
            <a:r>
              <a:rPr lang="en-US" sz="1400" dirty="0"/>
              <a:t> (releasing memory) for program data and objects.</a:t>
            </a:r>
          </a:p>
          <a:p>
            <a:pPr marL="285750" lvl="0" indent="-285750">
              <a:buFont typeface="Arial" panose="020B0604020202020204" pitchFamily="34" charset="0"/>
              <a:buChar char="•"/>
            </a:pPr>
            <a:r>
              <a:rPr lang="en-US" sz="1400" b="1" dirty="0"/>
              <a:t>Static memory allocation</a:t>
            </a:r>
            <a:r>
              <a:rPr lang="en-US" sz="1400" dirty="0"/>
              <a:t> occurs at </a:t>
            </a:r>
            <a:r>
              <a:rPr lang="en-US" sz="1400" b="1" dirty="0"/>
              <a:t>compile-time</a:t>
            </a:r>
            <a:r>
              <a:rPr lang="en-US" sz="1400" dirty="0"/>
              <a:t> (e.g., global variables, static variables, stack-allocated local variables).</a:t>
            </a:r>
          </a:p>
          <a:p>
            <a:pPr marL="285750" lvl="0" indent="-285750">
              <a:buFont typeface="Arial" panose="020B0604020202020204" pitchFamily="34" charset="0"/>
              <a:buChar char="•"/>
            </a:pPr>
            <a:r>
              <a:rPr lang="en-US" sz="1400" b="1" dirty="0"/>
              <a:t>Dynamic memory allocation</a:t>
            </a:r>
            <a:r>
              <a:rPr lang="en-US" sz="1400" dirty="0"/>
              <a:t> occurs at </a:t>
            </a:r>
            <a:r>
              <a:rPr lang="en-US" sz="1400" b="1" dirty="0"/>
              <a:t>runtime</a:t>
            </a:r>
            <a:r>
              <a:rPr lang="en-US" sz="1400" dirty="0"/>
              <a:t>, providing greater flexibility in memory usage.</a:t>
            </a:r>
          </a:p>
          <a:p>
            <a:pPr marL="285750" lvl="0" indent="-285750">
              <a:buFont typeface="Arial" panose="020B0604020202020204" pitchFamily="34" charset="0"/>
              <a:buChar char="•"/>
            </a:pPr>
            <a:r>
              <a:rPr lang="en-US" sz="1400" dirty="0"/>
              <a:t>Dynamic memory is allocated on the </a:t>
            </a:r>
            <a:r>
              <a:rPr lang="en-US" sz="1400" b="1" dirty="0"/>
              <a:t>heap</a:t>
            </a:r>
            <a:r>
              <a:rPr lang="en-US" sz="1400" dirty="0"/>
              <a:t> (also called the free store).</a:t>
            </a:r>
          </a:p>
          <a:p>
            <a:pPr marL="285750" lvl="0" indent="-285750">
              <a:buFont typeface="Arial" panose="020B0604020202020204" pitchFamily="34" charset="0"/>
              <a:buChar char="•"/>
            </a:pPr>
            <a:r>
              <a:rPr lang="en-US" sz="1400" dirty="0"/>
              <a:t>Dynamic allocation uses operators like:</a:t>
            </a:r>
          </a:p>
          <a:p>
            <a:pPr marL="742950" lvl="1" indent="-285750">
              <a:buFont typeface="Wingdings" panose="05000000000000000000" pitchFamily="2" charset="2"/>
              <a:buChar char="ü"/>
            </a:pPr>
            <a:r>
              <a:rPr lang="en-US" sz="1600" b="1" dirty="0"/>
              <a:t>new (C++ style)</a:t>
            </a:r>
          </a:p>
          <a:p>
            <a:pPr marL="742950" lvl="1" indent="-285750">
              <a:buFont typeface="Wingdings" panose="05000000000000000000" pitchFamily="2" charset="2"/>
              <a:buChar char="ü"/>
            </a:pPr>
            <a:r>
              <a:rPr lang="en-US" sz="1400" dirty="0"/>
              <a:t>malloc() (C style, but still usable in C++)</a:t>
            </a:r>
          </a:p>
          <a:p>
            <a:pPr marL="285750" lvl="0" indent="-285750">
              <a:buFont typeface="Arial" panose="020B0604020202020204" pitchFamily="34" charset="0"/>
              <a:buChar char="•"/>
            </a:pPr>
            <a:r>
              <a:rPr lang="en-US" sz="1400" dirty="0"/>
              <a:t>Memory allocated dynamically </a:t>
            </a:r>
            <a:r>
              <a:rPr lang="en-US" sz="1400" b="1" dirty="0"/>
              <a:t>persists until explicitly deallocated</a:t>
            </a:r>
            <a:r>
              <a:rPr lang="en-US" sz="1400" dirty="0"/>
              <a:t> by the programmer.</a:t>
            </a:r>
          </a:p>
          <a:p>
            <a:pPr marL="285750" lvl="0" indent="-285750">
              <a:buFont typeface="Arial" panose="020B0604020202020204" pitchFamily="34" charset="0"/>
              <a:buChar char="•"/>
            </a:pPr>
            <a:r>
              <a:rPr lang="en-US" sz="1400" dirty="0"/>
              <a:t>Deallocation is done using:</a:t>
            </a:r>
          </a:p>
          <a:p>
            <a:pPr marL="742950" lvl="1" indent="-285750">
              <a:buFont typeface="Wingdings" panose="05000000000000000000" pitchFamily="2" charset="2"/>
              <a:buChar char="ü"/>
            </a:pPr>
            <a:r>
              <a:rPr lang="en-US" sz="1600" b="1" dirty="0"/>
              <a:t>delete (for memory allocated with new)</a:t>
            </a:r>
          </a:p>
          <a:p>
            <a:pPr marL="742950" lvl="1" indent="-285750">
              <a:buFont typeface="Wingdings" panose="05000000000000000000" pitchFamily="2" charset="2"/>
              <a:buChar char="ü"/>
            </a:pPr>
            <a:r>
              <a:rPr lang="en-US" sz="1400" dirty="0"/>
              <a:t>free() (for memory allocated with malloc())</a:t>
            </a:r>
          </a:p>
          <a:p>
            <a:pPr marL="285750" lvl="0" indent="-285750">
              <a:buFont typeface="Arial" panose="020B0604020202020204" pitchFamily="34" charset="0"/>
              <a:buChar char="•"/>
            </a:pPr>
            <a:r>
              <a:rPr lang="en-US" sz="1400" dirty="0"/>
              <a:t>Dynamic memory requires </a:t>
            </a:r>
            <a:r>
              <a:rPr lang="en-US" sz="1400" b="1" dirty="0"/>
              <a:t>explicit management</a:t>
            </a:r>
            <a:r>
              <a:rPr lang="en-US" sz="1400" dirty="0"/>
              <a:t> to prevent:</a:t>
            </a:r>
          </a:p>
          <a:p>
            <a:pPr marL="742950" lvl="1" indent="-285750">
              <a:buFont typeface="Wingdings" panose="05000000000000000000" pitchFamily="2" charset="2"/>
              <a:buChar char="ü"/>
            </a:pPr>
            <a:r>
              <a:rPr lang="en-US" sz="1400" b="1" dirty="0"/>
              <a:t>Memory leaks</a:t>
            </a:r>
            <a:r>
              <a:rPr lang="en-US" sz="1400" dirty="0"/>
              <a:t> (allocated memory that is never freed)</a:t>
            </a:r>
          </a:p>
          <a:p>
            <a:pPr marL="742950" lvl="1" indent="-285750">
              <a:buFont typeface="Wingdings" panose="05000000000000000000" pitchFamily="2" charset="2"/>
              <a:buChar char="ü"/>
            </a:pPr>
            <a:r>
              <a:rPr lang="en-US" sz="1400" b="1" dirty="0"/>
              <a:t>Dangling pointers</a:t>
            </a:r>
            <a:r>
              <a:rPr lang="en-US" sz="1400" dirty="0"/>
              <a:t> (pointers pointing to freed memory)</a:t>
            </a:r>
          </a:p>
          <a:p>
            <a:pPr marL="742950" lvl="1" indent="-285750">
              <a:buFont typeface="Wingdings" panose="05000000000000000000" pitchFamily="2" charset="2"/>
              <a:buChar char="ü"/>
            </a:pPr>
            <a:r>
              <a:rPr lang="en-US" sz="1400" b="1" dirty="0"/>
              <a:t>Double deletes</a:t>
            </a:r>
            <a:r>
              <a:rPr lang="en-US" sz="1400" dirty="0"/>
              <a:t> (freeing the same memory twice)</a:t>
            </a:r>
          </a:p>
          <a:p>
            <a:pPr marL="285750" lvl="0" indent="-285750">
              <a:buFont typeface="Arial" panose="020B0604020202020204" pitchFamily="34" charset="0"/>
              <a:buChar char="•"/>
            </a:pPr>
            <a:r>
              <a:rPr lang="en-US" sz="1400" dirty="0"/>
              <a:t>Static memory is </a:t>
            </a:r>
            <a:r>
              <a:rPr lang="en-US" sz="1400" b="1" dirty="0"/>
              <a:t>automatically managed</a:t>
            </a:r>
            <a:r>
              <a:rPr lang="en-US" sz="1400" dirty="0"/>
              <a:t> by the compiler and does not require manual deallocation.</a:t>
            </a:r>
          </a:p>
          <a:p>
            <a:pPr marL="285750" lvl="0" indent="-285750">
              <a:buFont typeface="Arial" panose="020B0604020202020204" pitchFamily="34" charset="0"/>
              <a:buChar char="•"/>
            </a:pPr>
            <a:r>
              <a:rPr lang="en-US" sz="1400" dirty="0"/>
              <a:t>Static memory has a </a:t>
            </a:r>
            <a:r>
              <a:rPr lang="en-US" sz="1400" b="1" dirty="0"/>
              <a:t>fixed size</a:t>
            </a:r>
            <a:r>
              <a:rPr lang="en-US" sz="1400" dirty="0"/>
              <a:t> determined at compile time, whereas dynamic memory can be sized at runtime based on program needs.</a:t>
            </a:r>
          </a:p>
          <a:p>
            <a:pPr marL="285750" lvl="0" indent="-285750">
              <a:buFont typeface="Arial" panose="020B0604020202020204" pitchFamily="34" charset="0"/>
              <a:buChar char="•"/>
            </a:pPr>
            <a:r>
              <a:rPr lang="en-US" sz="1400" dirty="0"/>
              <a:t>Dynamic allocation is essential for creating:</a:t>
            </a:r>
          </a:p>
          <a:p>
            <a:pPr marL="742950" lvl="1" indent="-285750">
              <a:buFont typeface="Wingdings" panose="05000000000000000000" pitchFamily="2" charset="2"/>
              <a:buChar char="ü"/>
            </a:pPr>
            <a:r>
              <a:rPr lang="en-US" sz="1400" dirty="0"/>
              <a:t>Variable-sized data structures</a:t>
            </a:r>
          </a:p>
          <a:p>
            <a:pPr marL="742950" lvl="1" indent="-285750">
              <a:buFont typeface="Wingdings" panose="05000000000000000000" pitchFamily="2" charset="2"/>
              <a:buChar char="ü"/>
            </a:pPr>
            <a:r>
              <a:rPr lang="en-US" sz="1400" dirty="0"/>
              <a:t>Objects whose lifetime must outlast the scope in which they were created</a:t>
            </a:r>
          </a:p>
          <a:p>
            <a:pPr marL="742950" lvl="1" indent="-285750">
              <a:buFont typeface="Wingdings" panose="05000000000000000000" pitchFamily="2" charset="2"/>
              <a:buChar char="ü"/>
            </a:pPr>
            <a:r>
              <a:rPr lang="en-US" sz="1400" dirty="0"/>
              <a:t>Dynamic data structures like linked lists, trees, and graphs</a:t>
            </a:r>
          </a:p>
          <a:p>
            <a:pPr>
              <a:spcAft>
                <a:spcPts val="1400"/>
              </a:spcAft>
              <a:buSzPct val="100000"/>
            </a:pPr>
            <a:endParaRPr lang="en-US" sz="1550" dirty="0"/>
          </a:p>
        </p:txBody>
      </p:sp>
    </p:spTree>
    <p:extLst>
      <p:ext uri="{BB962C8B-B14F-4D97-AF65-F5344CB8AC3E}">
        <p14:creationId xmlns:p14="http://schemas.microsoft.com/office/powerpoint/2010/main" val="41067486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558CF-7B42-E351-C05D-E88B5071DD5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C022F06-F582-791C-AD96-80224C4E600B}"/>
              </a:ext>
            </a:extLst>
          </p:cNvPr>
          <p:cNvSpPr/>
          <p:nvPr/>
        </p:nvSpPr>
        <p:spPr>
          <a:xfrm>
            <a:off x="548640" y="338052"/>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
        <p:nvSpPr>
          <p:cNvPr id="3" name="Text 1">
            <a:extLst>
              <a:ext uri="{FF2B5EF4-FFF2-40B4-BE49-F238E27FC236}">
                <a16:creationId xmlns:a16="http://schemas.microsoft.com/office/drawing/2014/main" id="{40900668-1AAC-D71C-C827-0D5F5D2515E4}"/>
              </a:ext>
            </a:extLst>
          </p:cNvPr>
          <p:cNvSpPr/>
          <p:nvPr/>
        </p:nvSpPr>
        <p:spPr>
          <a:xfrm>
            <a:off x="548640" y="703812"/>
            <a:ext cx="11091672" cy="54864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New and Delete Operator</a:t>
            </a:r>
            <a:endParaRPr lang="en-US" sz="2200" dirty="0"/>
          </a:p>
        </p:txBody>
      </p:sp>
      <p:sp>
        <p:nvSpPr>
          <p:cNvPr id="5" name="Text 3">
            <a:extLst>
              <a:ext uri="{FF2B5EF4-FFF2-40B4-BE49-F238E27FC236}">
                <a16:creationId xmlns:a16="http://schemas.microsoft.com/office/drawing/2014/main" id="{E4DC7F68-DF00-62FF-4BFA-54D6399A2BE6}"/>
              </a:ext>
            </a:extLst>
          </p:cNvPr>
          <p:cNvSpPr/>
          <p:nvPr/>
        </p:nvSpPr>
        <p:spPr>
          <a:xfrm>
            <a:off x="548640" y="1252452"/>
            <a:ext cx="11181541" cy="5577840"/>
          </a:xfrm>
          <a:prstGeom prst="rect">
            <a:avLst/>
          </a:prstGeom>
          <a:noFill/>
          <a:ln/>
        </p:spPr>
        <p:txBody>
          <a:bodyPr wrap="square" rtlCol="0" anchor="t"/>
          <a:lstStyle/>
          <a:p>
            <a:pPr lvl="1"/>
            <a:endParaRPr lang="en-US" sz="1400" dirty="0">
              <a:latin typeface="Courier New" panose="02070309020205020404" pitchFamily="49" charset="0"/>
              <a:cs typeface="Courier New" panose="02070309020205020404" pitchFamily="49" charset="0"/>
            </a:endParaRPr>
          </a:p>
          <a:p>
            <a:br>
              <a:rPr lang="en-US" dirty="0"/>
            </a:br>
            <a:endParaRPr lang="en-US" sz="1300" dirty="0"/>
          </a:p>
        </p:txBody>
      </p:sp>
      <p:sp>
        <p:nvSpPr>
          <p:cNvPr id="7" name="TextBox 6">
            <a:extLst>
              <a:ext uri="{FF2B5EF4-FFF2-40B4-BE49-F238E27FC236}">
                <a16:creationId xmlns:a16="http://schemas.microsoft.com/office/drawing/2014/main" id="{77543EED-A002-BCA9-784E-C07206D6A62C}"/>
              </a:ext>
            </a:extLst>
          </p:cNvPr>
          <p:cNvSpPr txBox="1"/>
          <p:nvPr/>
        </p:nvSpPr>
        <p:spPr>
          <a:xfrm>
            <a:off x="631167" y="2493198"/>
            <a:ext cx="10926618" cy="3600986"/>
          </a:xfrm>
          <a:prstGeom prst="rect">
            <a:avLst/>
          </a:prstGeom>
          <a:noFill/>
        </p:spPr>
        <p:txBody>
          <a:bodyPr wrap="square" rtlCol="0">
            <a:spAutoFit/>
          </a:bodyPr>
          <a:lstStyle/>
          <a:p>
            <a:r>
              <a:rPr lang="en-US" sz="1600" b="1" dirty="0">
                <a:cs typeface="Courier New" panose="02070309020205020404" pitchFamily="49" charset="0"/>
              </a:rPr>
              <a:t>New </a:t>
            </a:r>
            <a:r>
              <a:rPr lang="en-US" sz="1600" b="1" dirty="0">
                <a:solidFill>
                  <a:srgbClr val="000000"/>
                </a:solidFill>
                <a:latin typeface="Helvetica" pitchFamily="34" charset="0"/>
                <a:ea typeface="Helvetica" pitchFamily="34" charset="-122"/>
                <a:cs typeface="Helvetica" pitchFamily="34" charset="-120"/>
              </a:rPr>
              <a:t>Operator</a:t>
            </a:r>
            <a:endParaRPr lang="en-US" sz="1600" b="1" dirty="0">
              <a:cs typeface="Courier New" panose="02070309020205020404" pitchFamily="49" charset="0"/>
            </a:endParaRPr>
          </a:p>
          <a:p>
            <a:pPr marL="742950" lvl="1" indent="-285750">
              <a:buFont typeface="Arial" panose="020B0604020202020204" pitchFamily="34" charset="0"/>
              <a:buChar char="•"/>
            </a:pPr>
            <a:r>
              <a:rPr lang="en-US" dirty="0"/>
              <a:t>The new operator in C++ is used for </a:t>
            </a:r>
            <a:r>
              <a:rPr lang="en-US" b="1" dirty="0"/>
              <a:t>dynamic memory allocation</a:t>
            </a:r>
            <a:r>
              <a:rPr lang="en-US" dirty="0"/>
              <a:t>.</a:t>
            </a:r>
          </a:p>
          <a:p>
            <a:pPr marL="742950" lvl="1" indent="-285750">
              <a:buFont typeface="Arial" panose="020B0604020202020204" pitchFamily="34" charset="0"/>
              <a:buChar char="•"/>
            </a:pPr>
            <a:r>
              <a:rPr lang="en-US" dirty="0"/>
              <a:t>It allocates memory for a </a:t>
            </a:r>
            <a:r>
              <a:rPr lang="en-US" b="1" dirty="0"/>
              <a:t>variable</a:t>
            </a:r>
            <a:r>
              <a:rPr lang="en-US" dirty="0"/>
              <a:t> or an </a:t>
            </a:r>
            <a:r>
              <a:rPr lang="en-US" b="1" dirty="0"/>
              <a:t>array of variables</a:t>
            </a:r>
            <a:r>
              <a:rPr lang="en-US" dirty="0"/>
              <a:t> at </a:t>
            </a:r>
            <a:r>
              <a:rPr lang="en-US" b="1" dirty="0"/>
              <a:t>runtime</a:t>
            </a:r>
            <a:r>
              <a:rPr lang="en-US" dirty="0"/>
              <a:t>.</a:t>
            </a:r>
          </a:p>
          <a:p>
            <a:pPr marL="742950" lvl="1" indent="-285750">
              <a:buFont typeface="Arial" panose="020B0604020202020204" pitchFamily="34" charset="0"/>
              <a:buChar char="•"/>
            </a:pPr>
            <a:r>
              <a:rPr lang="en-US" dirty="0"/>
              <a:t>Dynamic allocation with </a:t>
            </a:r>
            <a:r>
              <a:rPr lang="en-US" sz="1600" b="1" i="1" dirty="0">
                <a:latin typeface="Courier New" panose="02070309020205020404" pitchFamily="49" charset="0"/>
                <a:cs typeface="Courier New" panose="02070309020205020404" pitchFamily="49" charset="0"/>
              </a:rPr>
              <a:t>new</a:t>
            </a:r>
            <a:r>
              <a:rPr lang="en-US" dirty="0"/>
              <a:t> provides </a:t>
            </a:r>
            <a:r>
              <a:rPr lang="en-US" b="1" dirty="0"/>
              <a:t>flexibility</a:t>
            </a:r>
            <a:r>
              <a:rPr lang="en-US" dirty="0"/>
              <a:t> in managing memory during program execution.</a:t>
            </a:r>
          </a:p>
          <a:p>
            <a:pPr marL="742950" lvl="1" indent="-285750">
              <a:buFont typeface="Arial" panose="020B0604020202020204" pitchFamily="34" charset="0"/>
              <a:buChar char="•"/>
            </a:pPr>
            <a:r>
              <a:rPr lang="en-US" dirty="0"/>
              <a:t>Memory allocated with </a:t>
            </a:r>
            <a:r>
              <a:rPr lang="en-US" sz="1600" b="1" i="1" dirty="0">
                <a:latin typeface="Courier New" panose="02070309020205020404" pitchFamily="49" charset="0"/>
                <a:cs typeface="Courier New" panose="02070309020205020404" pitchFamily="49" charset="0"/>
              </a:rPr>
              <a:t>new</a:t>
            </a:r>
            <a:r>
              <a:rPr lang="en-US" dirty="0"/>
              <a:t> </a:t>
            </a:r>
            <a:r>
              <a:rPr lang="en-US" b="1" dirty="0"/>
              <a:t>persists</a:t>
            </a:r>
            <a:r>
              <a:rPr lang="en-US" dirty="0"/>
              <a:t> until it is explicitly deallocated by the programmer.</a:t>
            </a:r>
          </a:p>
          <a:p>
            <a:pPr marL="742950" lvl="1" indent="-285750">
              <a:buFont typeface="Arial" panose="020B0604020202020204" pitchFamily="34" charset="0"/>
              <a:buChar char="•"/>
            </a:pPr>
            <a:r>
              <a:rPr lang="en-US" dirty="0"/>
              <a:t>To free memory allocated with </a:t>
            </a:r>
            <a:r>
              <a:rPr lang="en-US" sz="1600" b="1" i="1" dirty="0">
                <a:latin typeface="Courier New" panose="02070309020205020404" pitchFamily="49" charset="0"/>
                <a:cs typeface="Courier New" panose="02070309020205020404" pitchFamily="49" charset="0"/>
              </a:rPr>
              <a:t>new</a:t>
            </a:r>
            <a:r>
              <a:rPr lang="en-US" dirty="0"/>
              <a:t>, the </a:t>
            </a:r>
            <a:r>
              <a:rPr lang="en-US" sz="1600" b="1" i="1" dirty="0">
                <a:latin typeface="Courier New" panose="02070309020205020404" pitchFamily="49" charset="0"/>
                <a:cs typeface="Courier New" panose="02070309020205020404" pitchFamily="49" charset="0"/>
              </a:rPr>
              <a:t>delete</a:t>
            </a:r>
            <a:r>
              <a:rPr lang="en-US" b="1" dirty="0"/>
              <a:t> operator</a:t>
            </a:r>
            <a:r>
              <a:rPr lang="en-US" dirty="0"/>
              <a:t> must be used.</a:t>
            </a:r>
          </a:p>
          <a:p>
            <a:pPr marL="742950" lvl="1" indent="-285750">
              <a:buFont typeface="Arial" panose="020B0604020202020204" pitchFamily="34" charset="0"/>
              <a:buChar char="•"/>
            </a:pPr>
            <a:r>
              <a:rPr lang="en-US" dirty="0"/>
              <a:t>If memory allocated with </a:t>
            </a:r>
            <a:r>
              <a:rPr lang="en-US" sz="1600" b="1" i="1" dirty="0">
                <a:latin typeface="Courier New" panose="02070309020205020404" pitchFamily="49" charset="0"/>
                <a:cs typeface="Courier New" panose="02070309020205020404" pitchFamily="49" charset="0"/>
              </a:rPr>
              <a:t>new </a:t>
            </a:r>
            <a:r>
              <a:rPr lang="en-US" dirty="0"/>
              <a:t>is not deallocated, it leads to a memory leak.</a:t>
            </a:r>
          </a:p>
          <a:p>
            <a:pPr marL="742950" lvl="1" indent="-285750">
              <a:buFont typeface="Arial" panose="020B0604020202020204" pitchFamily="34" charset="0"/>
              <a:buChar char="•"/>
            </a:pPr>
            <a:r>
              <a:rPr lang="en-US" dirty="0"/>
              <a:t>Using </a:t>
            </a:r>
            <a:r>
              <a:rPr lang="en-US" sz="1600" b="1" i="1" dirty="0">
                <a:latin typeface="Courier New" panose="02070309020205020404" pitchFamily="49" charset="0"/>
                <a:cs typeface="Courier New" panose="02070309020205020404" pitchFamily="49" charset="0"/>
              </a:rPr>
              <a:t>new</a:t>
            </a:r>
            <a:r>
              <a:rPr lang="en-US" dirty="0"/>
              <a:t> is essential when the size of data is not known at compile-time.</a:t>
            </a:r>
          </a:p>
          <a:p>
            <a:pPr marL="742950" lvl="1" indent="-285750">
              <a:buFont typeface="Arial" panose="020B0604020202020204" pitchFamily="34" charset="0"/>
              <a:buChar char="•"/>
            </a:pPr>
            <a:r>
              <a:rPr lang="en-US" sz="1600" b="1" i="1" dirty="0">
                <a:latin typeface="Courier New" panose="02070309020205020404" pitchFamily="49" charset="0"/>
                <a:cs typeface="Courier New" panose="02070309020205020404" pitchFamily="49" charset="0"/>
              </a:rPr>
              <a:t>new</a:t>
            </a:r>
            <a:r>
              <a:rPr lang="en-US" dirty="0"/>
              <a:t> returns a pointer to the starting address of the allocated memory block.</a:t>
            </a:r>
          </a:p>
          <a:p>
            <a:pPr marL="742950" lvl="1" indent="-285750">
              <a:buFont typeface="Arial" panose="020B0604020202020204" pitchFamily="34" charset="0"/>
              <a:buChar char="•"/>
            </a:pPr>
            <a:r>
              <a:rPr lang="en-US" dirty="0"/>
              <a:t>For arrays,</a:t>
            </a:r>
            <a:r>
              <a:rPr lang="en-US" b="1" i="1" dirty="0">
                <a:latin typeface="Courier New" panose="02070309020205020404" pitchFamily="49" charset="0"/>
                <a:cs typeface="Courier New" panose="02070309020205020404" pitchFamily="49" charset="0"/>
              </a:rPr>
              <a:t> </a:t>
            </a:r>
            <a:r>
              <a:rPr lang="en-US" sz="1600" b="1" i="1" dirty="0">
                <a:latin typeface="Courier New" panose="02070309020205020404" pitchFamily="49" charset="0"/>
                <a:cs typeface="Courier New" panose="02070309020205020404" pitchFamily="49" charset="0"/>
              </a:rPr>
              <a:t>new[] </a:t>
            </a:r>
            <a:r>
              <a:rPr lang="en-US" dirty="0"/>
              <a:t>is used, and </a:t>
            </a:r>
            <a:r>
              <a:rPr lang="en-US" sz="1600" b="1" i="1" dirty="0">
                <a:latin typeface="Courier New" panose="02070309020205020404" pitchFamily="49" charset="0"/>
                <a:cs typeface="Courier New" panose="02070309020205020404" pitchFamily="49" charset="0"/>
              </a:rPr>
              <a:t>delete[] </a:t>
            </a:r>
            <a:r>
              <a:rPr lang="en-US" dirty="0"/>
              <a:t>must be used to deallocate them properly.</a:t>
            </a:r>
          </a:p>
          <a:p>
            <a:pPr marL="742950" lvl="1" indent="-285750">
              <a:buFont typeface="Arial" panose="020B0604020202020204" pitchFamily="34" charset="0"/>
              <a:buChar char="•"/>
            </a:pPr>
            <a:endParaRPr lang="en-US" dirty="0"/>
          </a:p>
          <a:p>
            <a:endParaRPr lang="en-US" sz="1600" b="1" dirty="0">
              <a:cs typeface="Courier New" panose="02070309020205020404" pitchFamily="49" charset="0"/>
            </a:endParaRPr>
          </a:p>
          <a:p>
            <a:endParaRPr lang="en-US" sz="1600" b="1" dirty="0">
              <a:cs typeface="Courier New" panose="02070309020205020404" pitchFamily="49" charset="0"/>
            </a:endParaRPr>
          </a:p>
        </p:txBody>
      </p:sp>
      <p:sp>
        <p:nvSpPr>
          <p:cNvPr id="4" name="TextBox 3">
            <a:extLst>
              <a:ext uri="{FF2B5EF4-FFF2-40B4-BE49-F238E27FC236}">
                <a16:creationId xmlns:a16="http://schemas.microsoft.com/office/drawing/2014/main" id="{42B9BAB1-0B7F-9FFD-F53C-F2367332C2EB}"/>
              </a:ext>
            </a:extLst>
          </p:cNvPr>
          <p:cNvSpPr txBox="1"/>
          <p:nvPr/>
        </p:nvSpPr>
        <p:spPr>
          <a:xfrm>
            <a:off x="631166" y="1252452"/>
            <a:ext cx="11009145" cy="830997"/>
          </a:xfrm>
          <a:prstGeom prst="rect">
            <a:avLst/>
          </a:prstGeom>
          <a:noFill/>
        </p:spPr>
        <p:txBody>
          <a:bodyPr wrap="square" rtlCol="0">
            <a:spAutoFit/>
          </a:bodyPr>
          <a:lstStyle/>
          <a:p>
            <a:r>
              <a:rPr lang="en-US" sz="1600" b="1" dirty="0"/>
              <a:t>new</a:t>
            </a:r>
            <a:r>
              <a:rPr lang="en-US" sz="1600" dirty="0"/>
              <a:t> and </a:t>
            </a:r>
            <a:r>
              <a:rPr lang="en-US" sz="1600" b="1" dirty="0"/>
              <a:t>delete</a:t>
            </a:r>
            <a:r>
              <a:rPr lang="en-US" sz="1600" dirty="0"/>
              <a:t> are the C++-native way to manage dynamic (heap) memory. new allocates memory for an object or array and, unlike malloc, also calls the constructor; delete frees the memory and calls the destructor. Every new must be matched by exactly one delete (and new[] by delete[]) to avoid memory leaks.</a:t>
            </a:r>
          </a:p>
        </p:txBody>
      </p:sp>
      <p:sp>
        <p:nvSpPr>
          <p:cNvPr id="8" name="TextBox 7">
            <a:extLst>
              <a:ext uri="{FF2B5EF4-FFF2-40B4-BE49-F238E27FC236}">
                <a16:creationId xmlns:a16="http://schemas.microsoft.com/office/drawing/2014/main" id="{194DAEAA-77D1-F8A6-AFAB-976784522FAA}"/>
              </a:ext>
            </a:extLst>
          </p:cNvPr>
          <p:cNvSpPr txBox="1"/>
          <p:nvPr/>
        </p:nvSpPr>
        <p:spPr>
          <a:xfrm>
            <a:off x="1487055" y="5460617"/>
            <a:ext cx="7222838" cy="276999"/>
          </a:xfrm>
          <a:prstGeom prst="rect">
            <a:avLst/>
          </a:prstGeom>
          <a:solidFill>
            <a:schemeClr val="bg1">
              <a:lumMod val="95000"/>
            </a:schemeClr>
          </a:solidFill>
          <a:ln>
            <a:solidFill>
              <a:srgbClr val="000000"/>
            </a:solidFill>
          </a:ln>
        </p:spPr>
        <p:txBody>
          <a:bodyPr wrap="square" rtlCol="0">
            <a:spAutoFit/>
          </a:bodyPr>
          <a:lstStyle/>
          <a:p>
            <a:r>
              <a:rPr lang="en-US" sz="1200" dirty="0">
                <a:latin typeface="Courier New" panose="02070309020205020404" pitchFamily="49" charset="0"/>
                <a:cs typeface="Courier New" panose="02070309020205020404" pitchFamily="49" charset="0"/>
              </a:rPr>
              <a:t>&lt;</a:t>
            </a:r>
            <a:r>
              <a:rPr lang="en-US" sz="1200" dirty="0" err="1">
                <a:latin typeface="Courier New" panose="02070309020205020404" pitchFamily="49" charset="0"/>
                <a:cs typeface="Courier New" panose="02070309020205020404" pitchFamily="49" charset="0"/>
              </a:rPr>
              <a:t>data_type</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pointer_name</a:t>
            </a:r>
            <a:r>
              <a:rPr lang="en-US" sz="1200" dirty="0">
                <a:latin typeface="Courier New" panose="02070309020205020404" pitchFamily="49" charset="0"/>
                <a:cs typeface="Courier New" panose="02070309020205020404" pitchFamily="49" charset="0"/>
              </a:rPr>
              <a:t>&gt; = new &lt;</a:t>
            </a:r>
            <a:r>
              <a:rPr lang="en-US" sz="1200" dirty="0" err="1">
                <a:latin typeface="Courier New" panose="02070309020205020404" pitchFamily="49" charset="0"/>
                <a:cs typeface="Courier New" panose="02070309020205020404" pitchFamily="49" charset="0"/>
              </a:rPr>
              <a:t>data_type</a:t>
            </a:r>
            <a:r>
              <a:rPr lang="en-US" sz="1200" dirty="0">
                <a:latin typeface="Courier New" panose="02070309020205020404" pitchFamily="49" charset="0"/>
                <a:cs typeface="Courier New" panose="02070309020205020404" pitchFamily="49" charset="0"/>
              </a:rPr>
              <a:t>&gt;</a:t>
            </a:r>
          </a:p>
        </p:txBody>
      </p:sp>
    </p:spTree>
    <p:extLst>
      <p:ext uri="{BB962C8B-B14F-4D97-AF65-F5344CB8AC3E}">
        <p14:creationId xmlns:p14="http://schemas.microsoft.com/office/powerpoint/2010/main" val="12231268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227CE-6502-0C42-8FF9-8897BDDB048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5A5A605-558D-119D-61E3-81A4EA09F6CD}"/>
              </a:ext>
            </a:extLst>
          </p:cNvPr>
          <p:cNvSpPr/>
          <p:nvPr/>
        </p:nvSpPr>
        <p:spPr>
          <a:xfrm>
            <a:off x="548640" y="356524"/>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
        <p:nvSpPr>
          <p:cNvPr id="4" name="Text 2">
            <a:extLst>
              <a:ext uri="{FF2B5EF4-FFF2-40B4-BE49-F238E27FC236}">
                <a16:creationId xmlns:a16="http://schemas.microsoft.com/office/drawing/2014/main" id="{86FE706B-8AC7-04BB-B8C9-BEA16AF07E3B}"/>
              </a:ext>
            </a:extLst>
          </p:cNvPr>
          <p:cNvSpPr/>
          <p:nvPr/>
        </p:nvSpPr>
        <p:spPr>
          <a:xfrm>
            <a:off x="548640" y="1417320"/>
            <a:ext cx="11091672" cy="4732065"/>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250" dirty="0">
                <a:solidFill>
                  <a:srgbClr val="000000"/>
                </a:solidFill>
                <a:latin typeface="Courier New" pitchFamily="34" charset="0"/>
                <a:cs typeface="Courier New" pitchFamily="34" charset="-120"/>
              </a:rPr>
              <a:t>#include &lt;iostream&gt;</a:t>
            </a:r>
          </a:p>
          <a:p>
            <a:r>
              <a:rPr lang="en-US" sz="1250" dirty="0">
                <a:solidFill>
                  <a:srgbClr val="000000"/>
                </a:solidFill>
                <a:latin typeface="Courier New" pitchFamily="34" charset="0"/>
                <a:cs typeface="Courier New" pitchFamily="34" charset="-120"/>
              </a:rPr>
              <a:t>using namespace std;</a:t>
            </a:r>
          </a:p>
          <a:p>
            <a:pPr marL="0" indent="0">
              <a:buNone/>
            </a:pPr>
            <a:endParaRPr lang="en-US" sz="1250" dirty="0">
              <a:solidFill>
                <a:srgbClr val="000000"/>
              </a:solidFill>
              <a:latin typeface="Courier New" pitchFamily="34" charset="0"/>
              <a:ea typeface="Courier New" pitchFamily="34" charset="-122"/>
              <a:cs typeface="Courier New" pitchFamily="34" charset="-120"/>
            </a:endParaRPr>
          </a:p>
          <a:p>
            <a:pPr marL="0" indent="0">
              <a:buNone/>
            </a:pPr>
            <a:endParaRPr lang="en-US" sz="1250" dirty="0">
              <a:solidFill>
                <a:srgbClr val="000000"/>
              </a:solidFill>
              <a:latin typeface="Courier New" pitchFamily="34" charset="0"/>
              <a:cs typeface="Courier New" pitchFamily="34" charset="-120"/>
            </a:endParaRPr>
          </a:p>
          <a:p>
            <a:r>
              <a:rPr lang="en-US" sz="1250" dirty="0">
                <a:solidFill>
                  <a:srgbClr val="000000"/>
                </a:solidFill>
                <a:latin typeface="Courier New" pitchFamily="34" charset="0"/>
                <a:cs typeface="Courier New" pitchFamily="34" charset="-120"/>
              </a:rPr>
              <a:t>int main() {</a:t>
            </a:r>
          </a:p>
          <a:p>
            <a:endParaRPr lang="en-US" sz="1250" dirty="0">
              <a:solidFill>
                <a:srgbClr val="000000"/>
              </a:solidFill>
              <a:latin typeface="Courier New" pitchFamily="34" charset="0"/>
              <a:cs typeface="Courier New" pitchFamily="34" charset="-120"/>
            </a:endParaRPr>
          </a:p>
          <a:p>
            <a:r>
              <a:rPr lang="en-US" sz="1250" dirty="0">
                <a:solidFill>
                  <a:srgbClr val="000000"/>
                </a:solidFill>
                <a:latin typeface="Courier New" pitchFamily="34" charset="0"/>
                <a:cs typeface="Courier New" pitchFamily="34" charset="-120"/>
              </a:rPr>
              <a:t>   </a:t>
            </a:r>
            <a:r>
              <a:rPr lang="en-US" sz="1250" dirty="0" err="1">
                <a:solidFill>
                  <a:srgbClr val="000000"/>
                </a:solidFill>
                <a:latin typeface="Courier New" pitchFamily="34" charset="0"/>
                <a:cs typeface="Courier New" pitchFamily="34" charset="-120"/>
              </a:rPr>
              <a:t>cout</a:t>
            </a:r>
            <a:r>
              <a:rPr lang="en-US" sz="1250" dirty="0">
                <a:solidFill>
                  <a:srgbClr val="000000"/>
                </a:solidFill>
                <a:latin typeface="Courier New" pitchFamily="34" charset="0"/>
                <a:cs typeface="Courier New" pitchFamily="34" charset="-120"/>
              </a:rPr>
              <a:t> &lt;&lt; "\</a:t>
            </a:r>
            <a:r>
              <a:rPr lang="en-US" sz="1250" dirty="0" err="1">
                <a:solidFill>
                  <a:srgbClr val="000000"/>
                </a:solidFill>
                <a:latin typeface="Courier New" pitchFamily="34" charset="0"/>
                <a:cs typeface="Courier New" pitchFamily="34" charset="-120"/>
              </a:rPr>
              <a:t>nPointer</a:t>
            </a:r>
            <a:r>
              <a:rPr lang="en-US" sz="1250" dirty="0">
                <a:solidFill>
                  <a:srgbClr val="000000"/>
                </a:solidFill>
                <a:latin typeface="Courier New" pitchFamily="34" charset="0"/>
                <a:cs typeface="Courier New" pitchFamily="34" charset="-120"/>
              </a:rPr>
              <a:t> with new keyword" &lt;&lt; </a:t>
            </a:r>
            <a:r>
              <a:rPr lang="en-US" sz="1250" dirty="0" err="1">
                <a:solidFill>
                  <a:srgbClr val="000000"/>
                </a:solidFill>
                <a:latin typeface="Courier New" pitchFamily="34" charset="0"/>
                <a:cs typeface="Courier New" pitchFamily="34" charset="-120"/>
              </a:rPr>
              <a:t>endl</a:t>
            </a:r>
            <a:r>
              <a:rPr lang="en-US" sz="1250" dirty="0">
                <a:solidFill>
                  <a:srgbClr val="000000"/>
                </a:solidFill>
                <a:latin typeface="Courier New" pitchFamily="34" charset="0"/>
                <a:cs typeface="Courier New" pitchFamily="34" charset="-120"/>
              </a:rPr>
              <a:t>;</a:t>
            </a:r>
          </a:p>
          <a:p>
            <a:r>
              <a:rPr lang="en-US" sz="1250" dirty="0">
                <a:solidFill>
                  <a:srgbClr val="000000"/>
                </a:solidFill>
                <a:latin typeface="Courier New" pitchFamily="34" charset="0"/>
                <a:cs typeface="Courier New" pitchFamily="34" charset="-120"/>
              </a:rPr>
              <a:t>   </a:t>
            </a:r>
            <a:r>
              <a:rPr lang="en-US" sz="1250" dirty="0" err="1">
                <a:solidFill>
                  <a:srgbClr val="000000"/>
                </a:solidFill>
                <a:latin typeface="Courier New" pitchFamily="34" charset="0"/>
                <a:cs typeface="Courier New" pitchFamily="34" charset="-120"/>
              </a:rPr>
              <a:t>cout</a:t>
            </a:r>
            <a:r>
              <a:rPr lang="en-US" sz="1250" dirty="0">
                <a:solidFill>
                  <a:srgbClr val="000000"/>
                </a:solidFill>
                <a:latin typeface="Courier New" pitchFamily="34" charset="0"/>
                <a:cs typeface="Courier New" pitchFamily="34" charset="-120"/>
              </a:rPr>
              <a:t> &lt;&lt; "-------------------------" &lt;&lt; </a:t>
            </a:r>
            <a:r>
              <a:rPr lang="en-US" sz="1250" dirty="0" err="1">
                <a:solidFill>
                  <a:srgbClr val="000000"/>
                </a:solidFill>
                <a:latin typeface="Courier New" pitchFamily="34" charset="0"/>
                <a:cs typeface="Courier New" pitchFamily="34" charset="-120"/>
              </a:rPr>
              <a:t>endl</a:t>
            </a:r>
            <a:r>
              <a:rPr lang="en-US" sz="1250" dirty="0">
                <a:solidFill>
                  <a:srgbClr val="000000"/>
                </a:solidFill>
                <a:latin typeface="Courier New" pitchFamily="34" charset="0"/>
                <a:cs typeface="Courier New" pitchFamily="34" charset="-120"/>
              </a:rPr>
              <a:t>;</a:t>
            </a:r>
          </a:p>
          <a:p>
            <a:br>
              <a:rPr lang="en-US" sz="1250" dirty="0">
                <a:solidFill>
                  <a:srgbClr val="000000"/>
                </a:solidFill>
                <a:latin typeface="Courier New" pitchFamily="34" charset="0"/>
                <a:cs typeface="Courier New" pitchFamily="34" charset="-120"/>
              </a:rPr>
            </a:br>
            <a:endParaRPr lang="en-US" sz="1250" dirty="0">
              <a:solidFill>
                <a:srgbClr val="000000"/>
              </a:solidFill>
              <a:latin typeface="Courier New" pitchFamily="34" charset="0"/>
              <a:cs typeface="Courier New" pitchFamily="34" charset="-120"/>
            </a:endParaRPr>
          </a:p>
          <a:p>
            <a:r>
              <a:rPr lang="en-US" sz="1250" dirty="0">
                <a:solidFill>
                  <a:srgbClr val="000000"/>
                </a:solidFill>
                <a:latin typeface="Courier New" pitchFamily="34" charset="0"/>
                <a:cs typeface="Courier New" pitchFamily="34" charset="-120"/>
              </a:rPr>
              <a:t>   int *</a:t>
            </a:r>
            <a:r>
              <a:rPr lang="en-US" sz="1250" dirty="0" err="1">
                <a:solidFill>
                  <a:srgbClr val="000000"/>
                </a:solidFill>
                <a:latin typeface="Courier New" pitchFamily="34" charset="0"/>
                <a:cs typeface="Courier New" pitchFamily="34" charset="-120"/>
              </a:rPr>
              <a:t>ptr</a:t>
            </a:r>
            <a:r>
              <a:rPr lang="en-US" sz="1250" dirty="0">
                <a:solidFill>
                  <a:srgbClr val="000000"/>
                </a:solidFill>
                <a:latin typeface="Courier New" pitchFamily="34" charset="0"/>
                <a:cs typeface="Courier New" pitchFamily="34" charset="-120"/>
              </a:rPr>
              <a:t> = new int; // dynamically allocating memory for an integer</a:t>
            </a:r>
          </a:p>
          <a:p>
            <a:r>
              <a:rPr lang="en-US" sz="1250" dirty="0">
                <a:solidFill>
                  <a:srgbClr val="000000"/>
                </a:solidFill>
                <a:latin typeface="Courier New" pitchFamily="34" charset="0"/>
                <a:cs typeface="Courier New" pitchFamily="34" charset="-120"/>
              </a:rPr>
              <a:t>   *</a:t>
            </a:r>
            <a:r>
              <a:rPr lang="en-US" sz="1250" dirty="0" err="1">
                <a:solidFill>
                  <a:srgbClr val="000000"/>
                </a:solidFill>
                <a:latin typeface="Courier New" pitchFamily="34" charset="0"/>
                <a:cs typeface="Courier New" pitchFamily="34" charset="-120"/>
              </a:rPr>
              <a:t>ptr</a:t>
            </a:r>
            <a:r>
              <a:rPr lang="en-US" sz="1250" dirty="0">
                <a:solidFill>
                  <a:srgbClr val="000000"/>
                </a:solidFill>
                <a:latin typeface="Courier New" pitchFamily="34" charset="0"/>
                <a:cs typeface="Courier New" pitchFamily="34" charset="-120"/>
              </a:rPr>
              <a:t> = 42; // assigning a value to the allocated memory</a:t>
            </a:r>
          </a:p>
          <a:p>
            <a:r>
              <a:rPr lang="en-US" sz="1250" dirty="0">
                <a:solidFill>
                  <a:srgbClr val="000000"/>
                </a:solidFill>
                <a:latin typeface="Courier New" pitchFamily="34" charset="0"/>
                <a:cs typeface="Courier New" pitchFamily="34" charset="-120"/>
              </a:rPr>
              <a:t>   </a:t>
            </a:r>
          </a:p>
          <a:p>
            <a:r>
              <a:rPr lang="en-US" sz="1250" dirty="0">
                <a:solidFill>
                  <a:srgbClr val="000000"/>
                </a:solidFill>
                <a:latin typeface="Courier New" pitchFamily="34" charset="0"/>
                <a:cs typeface="Courier New" pitchFamily="34" charset="-120"/>
              </a:rPr>
              <a:t>   </a:t>
            </a:r>
            <a:r>
              <a:rPr lang="en-US" sz="1250" dirty="0" err="1">
                <a:solidFill>
                  <a:srgbClr val="000000"/>
                </a:solidFill>
                <a:latin typeface="Courier New" pitchFamily="34" charset="0"/>
                <a:cs typeface="Courier New" pitchFamily="34" charset="-120"/>
              </a:rPr>
              <a:t>cout</a:t>
            </a:r>
            <a:r>
              <a:rPr lang="en-US" sz="1250" dirty="0">
                <a:solidFill>
                  <a:srgbClr val="000000"/>
                </a:solidFill>
                <a:latin typeface="Courier New" pitchFamily="34" charset="0"/>
                <a:cs typeface="Courier New" pitchFamily="34" charset="-120"/>
              </a:rPr>
              <a:t> &lt;&lt; "Value of *</a:t>
            </a:r>
            <a:r>
              <a:rPr lang="en-US" sz="1250" dirty="0" err="1">
                <a:solidFill>
                  <a:srgbClr val="000000"/>
                </a:solidFill>
                <a:latin typeface="Courier New" pitchFamily="34" charset="0"/>
                <a:cs typeface="Courier New" pitchFamily="34" charset="-120"/>
              </a:rPr>
              <a:t>ptr</a:t>
            </a:r>
            <a:r>
              <a:rPr lang="en-US" sz="1250" dirty="0">
                <a:solidFill>
                  <a:srgbClr val="000000"/>
                </a:solidFill>
                <a:latin typeface="Courier New" pitchFamily="34" charset="0"/>
                <a:cs typeface="Courier New" pitchFamily="34" charset="-120"/>
              </a:rPr>
              <a:t>: " &lt;&lt; *</a:t>
            </a:r>
            <a:r>
              <a:rPr lang="en-US" sz="1250" dirty="0" err="1">
                <a:solidFill>
                  <a:srgbClr val="000000"/>
                </a:solidFill>
                <a:latin typeface="Courier New" pitchFamily="34" charset="0"/>
                <a:cs typeface="Courier New" pitchFamily="34" charset="-120"/>
              </a:rPr>
              <a:t>ptr</a:t>
            </a:r>
            <a:r>
              <a:rPr lang="en-US" sz="1250" dirty="0">
                <a:solidFill>
                  <a:srgbClr val="000000"/>
                </a:solidFill>
                <a:latin typeface="Courier New" pitchFamily="34" charset="0"/>
                <a:cs typeface="Courier New" pitchFamily="34" charset="-120"/>
              </a:rPr>
              <a:t> &lt;&lt; </a:t>
            </a:r>
            <a:r>
              <a:rPr lang="en-US" sz="1250" dirty="0" err="1">
                <a:solidFill>
                  <a:srgbClr val="000000"/>
                </a:solidFill>
                <a:latin typeface="Courier New" pitchFamily="34" charset="0"/>
                <a:cs typeface="Courier New" pitchFamily="34" charset="-120"/>
              </a:rPr>
              <a:t>endl</a:t>
            </a:r>
            <a:r>
              <a:rPr lang="en-US" sz="1250" dirty="0">
                <a:solidFill>
                  <a:srgbClr val="000000"/>
                </a:solidFill>
                <a:latin typeface="Courier New" pitchFamily="34" charset="0"/>
                <a:cs typeface="Courier New" pitchFamily="34" charset="-120"/>
              </a:rPr>
              <a:t>;</a:t>
            </a:r>
          </a:p>
          <a:p>
            <a:br>
              <a:rPr lang="en-US" sz="1250" dirty="0">
                <a:solidFill>
                  <a:srgbClr val="000000"/>
                </a:solidFill>
                <a:latin typeface="Courier New" pitchFamily="34" charset="0"/>
                <a:cs typeface="Courier New" pitchFamily="34" charset="-120"/>
              </a:rPr>
            </a:br>
            <a:br>
              <a:rPr lang="en-US" sz="1250" dirty="0">
                <a:solidFill>
                  <a:srgbClr val="000000"/>
                </a:solidFill>
                <a:latin typeface="Courier New" pitchFamily="34" charset="0"/>
                <a:cs typeface="Courier New" pitchFamily="34" charset="-120"/>
              </a:rPr>
            </a:br>
            <a:endParaRPr lang="en-US" sz="1250" dirty="0">
              <a:solidFill>
                <a:srgbClr val="000000"/>
              </a:solidFill>
              <a:latin typeface="Courier New" pitchFamily="34" charset="0"/>
              <a:cs typeface="Courier New" pitchFamily="34" charset="-120"/>
            </a:endParaRPr>
          </a:p>
          <a:p>
            <a:r>
              <a:rPr lang="en-US" sz="1250" dirty="0">
                <a:solidFill>
                  <a:srgbClr val="000000"/>
                </a:solidFill>
                <a:latin typeface="Courier New" pitchFamily="34" charset="0"/>
                <a:cs typeface="Courier New" pitchFamily="34" charset="-120"/>
              </a:rPr>
              <a:t>   delete </a:t>
            </a:r>
            <a:r>
              <a:rPr lang="en-US" sz="1250" dirty="0" err="1">
                <a:solidFill>
                  <a:srgbClr val="000000"/>
                </a:solidFill>
                <a:latin typeface="Courier New" pitchFamily="34" charset="0"/>
                <a:cs typeface="Courier New" pitchFamily="34" charset="-120"/>
              </a:rPr>
              <a:t>ptr</a:t>
            </a:r>
            <a:r>
              <a:rPr lang="en-US" sz="1250" dirty="0">
                <a:solidFill>
                  <a:srgbClr val="000000"/>
                </a:solidFill>
                <a:latin typeface="Courier New" pitchFamily="34" charset="0"/>
                <a:cs typeface="Courier New" pitchFamily="34" charset="-120"/>
              </a:rPr>
              <a:t>; // deallocating the memory</a:t>
            </a:r>
          </a:p>
          <a:p>
            <a:endParaRPr lang="en-US" sz="1250" dirty="0">
              <a:solidFill>
                <a:srgbClr val="000000"/>
              </a:solidFill>
              <a:latin typeface="Courier New" pitchFamily="34" charset="0"/>
              <a:cs typeface="Courier New" pitchFamily="34" charset="-120"/>
            </a:endParaRPr>
          </a:p>
          <a:p>
            <a:r>
              <a:rPr lang="en-US" sz="1250" dirty="0">
                <a:solidFill>
                  <a:srgbClr val="000000"/>
                </a:solidFill>
                <a:latin typeface="Courier New" pitchFamily="34" charset="0"/>
                <a:cs typeface="Courier New" pitchFamily="34" charset="-120"/>
              </a:rPr>
              <a:t>return 0;</a:t>
            </a:r>
          </a:p>
          <a:p>
            <a:endParaRPr lang="en-US" sz="1250" dirty="0">
              <a:solidFill>
                <a:srgbClr val="000000"/>
              </a:solidFill>
              <a:latin typeface="Courier New" pitchFamily="34" charset="0"/>
              <a:cs typeface="Courier New" pitchFamily="34" charset="-120"/>
            </a:endParaRPr>
          </a:p>
          <a:p>
            <a:r>
              <a:rPr lang="en-US" sz="1250" dirty="0">
                <a:solidFill>
                  <a:srgbClr val="000000"/>
                </a:solidFill>
                <a:latin typeface="Courier New" pitchFamily="34" charset="0"/>
                <a:cs typeface="Courier New" pitchFamily="34" charset="-120"/>
              </a:rPr>
              <a:t>}</a:t>
            </a:r>
          </a:p>
          <a:p>
            <a:pPr marL="0" indent="0">
              <a:buNone/>
            </a:pPr>
            <a:endParaRPr lang="en-US" sz="1250" dirty="0"/>
          </a:p>
        </p:txBody>
      </p:sp>
      <p:sp>
        <p:nvSpPr>
          <p:cNvPr id="9" name="Text 1">
            <a:extLst>
              <a:ext uri="{FF2B5EF4-FFF2-40B4-BE49-F238E27FC236}">
                <a16:creationId xmlns:a16="http://schemas.microsoft.com/office/drawing/2014/main" id="{03F50071-B6EC-82CF-F0FF-E9754D47A589}"/>
              </a:ext>
            </a:extLst>
          </p:cNvPr>
          <p:cNvSpPr/>
          <p:nvPr/>
        </p:nvSpPr>
        <p:spPr>
          <a:xfrm>
            <a:off x="548640" y="703812"/>
            <a:ext cx="11091672" cy="54864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New and Delete Operator</a:t>
            </a:r>
            <a:endParaRPr lang="en-US" sz="2200" dirty="0"/>
          </a:p>
        </p:txBody>
      </p:sp>
    </p:spTree>
    <p:extLst>
      <p:ext uri="{BB962C8B-B14F-4D97-AF65-F5344CB8AC3E}">
        <p14:creationId xmlns:p14="http://schemas.microsoft.com/office/powerpoint/2010/main" val="24780303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2531C-9A43-2E5A-C378-57C82A86569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FFFFEA9-0480-6A60-2144-5F5EDF2FBE57}"/>
              </a:ext>
            </a:extLst>
          </p:cNvPr>
          <p:cNvSpPr/>
          <p:nvPr/>
        </p:nvSpPr>
        <p:spPr>
          <a:xfrm>
            <a:off x="548640" y="338052"/>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
        <p:nvSpPr>
          <p:cNvPr id="3" name="Text 1">
            <a:extLst>
              <a:ext uri="{FF2B5EF4-FFF2-40B4-BE49-F238E27FC236}">
                <a16:creationId xmlns:a16="http://schemas.microsoft.com/office/drawing/2014/main" id="{2D0D7E2B-1F5E-4320-40DA-8421912E758C}"/>
              </a:ext>
            </a:extLst>
          </p:cNvPr>
          <p:cNvSpPr/>
          <p:nvPr/>
        </p:nvSpPr>
        <p:spPr>
          <a:xfrm>
            <a:off x="548640" y="703812"/>
            <a:ext cx="11091672" cy="54864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New and Delete Operator</a:t>
            </a:r>
            <a:endParaRPr lang="en-US" sz="2200" dirty="0"/>
          </a:p>
        </p:txBody>
      </p:sp>
      <p:sp>
        <p:nvSpPr>
          <p:cNvPr id="5" name="Text 3">
            <a:extLst>
              <a:ext uri="{FF2B5EF4-FFF2-40B4-BE49-F238E27FC236}">
                <a16:creationId xmlns:a16="http://schemas.microsoft.com/office/drawing/2014/main" id="{0C7EA414-59B9-22C8-319A-50EB2D3B5209}"/>
              </a:ext>
            </a:extLst>
          </p:cNvPr>
          <p:cNvSpPr/>
          <p:nvPr/>
        </p:nvSpPr>
        <p:spPr>
          <a:xfrm>
            <a:off x="548640" y="1252452"/>
            <a:ext cx="11181541" cy="5577840"/>
          </a:xfrm>
          <a:prstGeom prst="rect">
            <a:avLst/>
          </a:prstGeom>
          <a:noFill/>
          <a:ln/>
        </p:spPr>
        <p:txBody>
          <a:bodyPr wrap="square" rtlCol="0" anchor="t"/>
          <a:lstStyle/>
          <a:p>
            <a:pPr lvl="1"/>
            <a:endParaRPr lang="en-US" sz="1400" dirty="0">
              <a:latin typeface="Courier New" panose="02070309020205020404" pitchFamily="49" charset="0"/>
              <a:cs typeface="Courier New" panose="02070309020205020404" pitchFamily="49" charset="0"/>
            </a:endParaRPr>
          </a:p>
          <a:p>
            <a:br>
              <a:rPr lang="en-US" dirty="0"/>
            </a:br>
            <a:endParaRPr lang="en-US" sz="1300" dirty="0"/>
          </a:p>
        </p:txBody>
      </p:sp>
      <p:sp>
        <p:nvSpPr>
          <p:cNvPr id="7" name="TextBox 6">
            <a:extLst>
              <a:ext uri="{FF2B5EF4-FFF2-40B4-BE49-F238E27FC236}">
                <a16:creationId xmlns:a16="http://schemas.microsoft.com/office/drawing/2014/main" id="{290EE1F3-BFA0-9967-B190-C8575203EE31}"/>
              </a:ext>
            </a:extLst>
          </p:cNvPr>
          <p:cNvSpPr txBox="1"/>
          <p:nvPr/>
        </p:nvSpPr>
        <p:spPr>
          <a:xfrm>
            <a:off x="548640" y="1439680"/>
            <a:ext cx="10926618" cy="3323987"/>
          </a:xfrm>
          <a:prstGeom prst="rect">
            <a:avLst/>
          </a:prstGeom>
          <a:noFill/>
        </p:spPr>
        <p:txBody>
          <a:bodyPr wrap="square" rtlCol="0">
            <a:spAutoFit/>
          </a:bodyPr>
          <a:lstStyle/>
          <a:p>
            <a:r>
              <a:rPr lang="en-US" sz="1600" b="1" dirty="0">
                <a:cs typeface="Courier New" panose="02070309020205020404" pitchFamily="49" charset="0"/>
              </a:rPr>
              <a:t>delete </a:t>
            </a:r>
            <a:r>
              <a:rPr lang="en-US" sz="1600" b="1" dirty="0">
                <a:solidFill>
                  <a:srgbClr val="000000"/>
                </a:solidFill>
                <a:latin typeface="Helvetica" pitchFamily="34" charset="0"/>
                <a:ea typeface="Helvetica" pitchFamily="34" charset="-122"/>
                <a:cs typeface="Helvetica" pitchFamily="34" charset="-120"/>
              </a:rPr>
              <a:t>Operator</a:t>
            </a:r>
            <a:endParaRPr lang="en-US" sz="1600" b="1" dirty="0">
              <a:cs typeface="Courier New" panose="02070309020205020404" pitchFamily="49" charset="0"/>
            </a:endParaRPr>
          </a:p>
          <a:p>
            <a:pPr marL="742950" lvl="1" indent="-285750">
              <a:buFont typeface="Arial" panose="020B0604020202020204" pitchFamily="34" charset="0"/>
              <a:buChar char="•"/>
            </a:pPr>
            <a:r>
              <a:rPr lang="en-US" sz="1600" dirty="0"/>
              <a:t>The programmer is responsible for deallocating dynamically allocated memory when it is no longer needed.</a:t>
            </a:r>
          </a:p>
          <a:p>
            <a:pPr marL="742950" lvl="1" indent="-285750">
              <a:buFont typeface="Arial" panose="020B0604020202020204" pitchFamily="34" charset="0"/>
              <a:buChar char="•"/>
            </a:pPr>
            <a:r>
              <a:rPr lang="en-US" sz="1600" dirty="0"/>
              <a:t>When a dynamically allocated variable is no longer required, the programmer can free its memory using the </a:t>
            </a:r>
            <a:r>
              <a:rPr lang="en-US" sz="1600" b="1" i="1" dirty="0">
                <a:latin typeface="Courier New" panose="02070309020205020404" pitchFamily="49" charset="0"/>
                <a:cs typeface="Courier New" panose="02070309020205020404" pitchFamily="49" charset="0"/>
              </a:rPr>
              <a:t>delete</a:t>
            </a:r>
            <a:r>
              <a:rPr lang="en-US" sz="1600" dirty="0"/>
              <a:t> operator.</a:t>
            </a:r>
          </a:p>
          <a:p>
            <a:pPr marL="742950" lvl="1" indent="-285750">
              <a:buFont typeface="Arial" panose="020B0604020202020204" pitchFamily="34" charset="0"/>
              <a:buChar char="•"/>
            </a:pPr>
            <a:r>
              <a:rPr lang="en-US" sz="1600" dirty="0"/>
              <a:t>The </a:t>
            </a:r>
            <a:r>
              <a:rPr lang="en-US" sz="1600" b="1" i="1" dirty="0">
                <a:latin typeface="Courier New" panose="02070309020205020404" pitchFamily="49" charset="0"/>
                <a:cs typeface="Courier New" panose="02070309020205020404" pitchFamily="49" charset="0"/>
              </a:rPr>
              <a:t>delete</a:t>
            </a:r>
            <a:r>
              <a:rPr lang="en-US" sz="1600" dirty="0"/>
              <a:t> operator releases the memory back to the free store (heap) for reuse.</a:t>
            </a:r>
          </a:p>
          <a:p>
            <a:pPr marL="742950" lvl="1" indent="-285750">
              <a:buFont typeface="Arial" panose="020B0604020202020204" pitchFamily="34" charset="0"/>
              <a:buChar char="•"/>
            </a:pPr>
            <a:r>
              <a:rPr lang="en-US" sz="1600" dirty="0"/>
              <a:t>This process is known as </a:t>
            </a:r>
            <a:r>
              <a:rPr lang="en-US" sz="1600" b="1" dirty="0"/>
              <a:t>memory deallocation</a:t>
            </a:r>
            <a:r>
              <a:rPr lang="en-US" sz="1600" dirty="0"/>
              <a:t>.</a:t>
            </a:r>
          </a:p>
          <a:p>
            <a:pPr marL="742950" lvl="1" indent="-285750">
              <a:buFont typeface="Arial" panose="020B0604020202020204" pitchFamily="34" charset="0"/>
              <a:buChar char="•"/>
            </a:pPr>
            <a:r>
              <a:rPr lang="en-US" sz="1600" dirty="0"/>
              <a:t>Deallocating memory returns it to the operating system for future use.</a:t>
            </a:r>
          </a:p>
          <a:p>
            <a:pPr marL="742950" lvl="1" indent="-285750">
              <a:buFont typeface="Arial" panose="020B0604020202020204" pitchFamily="34" charset="0"/>
              <a:buChar char="•"/>
            </a:pPr>
            <a:r>
              <a:rPr lang="en-US" sz="1600" dirty="0"/>
              <a:t>Even if the programmer forgets to deallocate, the memory is </a:t>
            </a:r>
            <a:r>
              <a:rPr lang="en-US" sz="1600" b="1" dirty="0"/>
              <a:t>automatically deallocated</a:t>
            </a:r>
            <a:r>
              <a:rPr lang="en-US" sz="1600" dirty="0"/>
              <a:t> when the program terminates.</a:t>
            </a:r>
          </a:p>
          <a:p>
            <a:pPr marL="742950" lvl="1" indent="-285750">
              <a:buFont typeface="Arial" panose="020B0604020202020204" pitchFamily="34" charset="0"/>
              <a:buChar char="•"/>
            </a:pPr>
            <a:r>
              <a:rPr lang="en-US" sz="1600" dirty="0"/>
              <a:t>Proper use of </a:t>
            </a:r>
            <a:r>
              <a:rPr lang="en-US" sz="1600" b="1" i="1" dirty="0">
                <a:latin typeface="Courier New" panose="02070309020205020404" pitchFamily="49" charset="0"/>
                <a:cs typeface="Courier New" panose="02070309020205020404" pitchFamily="49" charset="0"/>
              </a:rPr>
              <a:t>delete </a:t>
            </a:r>
            <a:r>
              <a:rPr lang="en-US" sz="1600" dirty="0"/>
              <a:t>helps prevent memory leaks and ensures efficient memory management.</a:t>
            </a:r>
          </a:p>
          <a:p>
            <a:pPr marL="742950" lvl="1" indent="-285750">
              <a:buFont typeface="Arial" panose="020B0604020202020204" pitchFamily="34" charset="0"/>
              <a:buChar char="•"/>
            </a:pPr>
            <a:r>
              <a:rPr lang="en-US" sz="1600" dirty="0"/>
              <a:t>For dynamically allocated arrays, the</a:t>
            </a:r>
            <a:r>
              <a:rPr lang="en-US" sz="1600" b="1" i="1" dirty="0">
                <a:latin typeface="Courier New" panose="02070309020205020404" pitchFamily="49" charset="0"/>
                <a:cs typeface="Courier New" panose="02070309020205020404" pitchFamily="49" charset="0"/>
              </a:rPr>
              <a:t> delete[] </a:t>
            </a:r>
            <a:r>
              <a:rPr lang="en-US" sz="1600" dirty="0"/>
              <a:t>operator must be used to deallocate memory correctly.</a:t>
            </a:r>
          </a:p>
          <a:p>
            <a:pPr lvl="1"/>
            <a:endParaRPr lang="en-US" dirty="0"/>
          </a:p>
          <a:p>
            <a:endParaRPr lang="en-US" sz="1600" b="1" dirty="0">
              <a:cs typeface="Courier New" panose="02070309020205020404" pitchFamily="49" charset="0"/>
            </a:endParaRPr>
          </a:p>
          <a:p>
            <a:endParaRPr lang="en-US" sz="1600" b="1" dirty="0">
              <a:cs typeface="Courier New" panose="02070309020205020404" pitchFamily="49" charset="0"/>
            </a:endParaRPr>
          </a:p>
        </p:txBody>
      </p:sp>
      <p:sp>
        <p:nvSpPr>
          <p:cNvPr id="8" name="TextBox 7">
            <a:extLst>
              <a:ext uri="{FF2B5EF4-FFF2-40B4-BE49-F238E27FC236}">
                <a16:creationId xmlns:a16="http://schemas.microsoft.com/office/drawing/2014/main" id="{61CE62BA-0392-C212-18F1-CC99BF34107E}"/>
              </a:ext>
            </a:extLst>
          </p:cNvPr>
          <p:cNvSpPr txBox="1"/>
          <p:nvPr/>
        </p:nvSpPr>
        <p:spPr>
          <a:xfrm>
            <a:off x="1293092" y="4486668"/>
            <a:ext cx="7222838" cy="276999"/>
          </a:xfrm>
          <a:prstGeom prst="rect">
            <a:avLst/>
          </a:prstGeom>
          <a:solidFill>
            <a:schemeClr val="bg1">
              <a:lumMod val="95000"/>
            </a:schemeClr>
          </a:solidFill>
          <a:ln>
            <a:solidFill>
              <a:srgbClr val="000000"/>
            </a:solidFill>
          </a:ln>
        </p:spPr>
        <p:txBody>
          <a:bodyPr wrap="square" rtlCol="0">
            <a:spAutoFit/>
          </a:bodyPr>
          <a:lstStyle/>
          <a:p>
            <a:r>
              <a:rPr lang="en-US" sz="1200" dirty="0">
                <a:latin typeface="Courier New" panose="02070309020205020404" pitchFamily="49" charset="0"/>
                <a:cs typeface="Courier New" panose="02070309020205020404" pitchFamily="49" charset="0"/>
              </a:rPr>
              <a:t>delete </a:t>
            </a:r>
            <a:r>
              <a:rPr lang="en-US" sz="1200" dirty="0" err="1">
                <a:latin typeface="Courier New" panose="02070309020205020404" pitchFamily="49" charset="0"/>
                <a:cs typeface="Courier New" panose="02070309020205020404" pitchFamily="49" charset="0"/>
              </a:rPr>
              <a:t>pointer_variable</a:t>
            </a:r>
            <a:r>
              <a:rPr lang="en-US" sz="12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0251986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9267D-4319-DC05-C9C0-7F1D0817857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DDE56BC-80B6-6F59-1DDC-78E322DAA89F}"/>
              </a:ext>
            </a:extLst>
          </p:cNvPr>
          <p:cNvSpPr/>
          <p:nvPr/>
        </p:nvSpPr>
        <p:spPr>
          <a:xfrm>
            <a:off x="548640" y="356524"/>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
        <p:nvSpPr>
          <p:cNvPr id="4" name="Text 2">
            <a:extLst>
              <a:ext uri="{FF2B5EF4-FFF2-40B4-BE49-F238E27FC236}">
                <a16:creationId xmlns:a16="http://schemas.microsoft.com/office/drawing/2014/main" id="{977020CB-759B-8872-B108-B45A1C95FD28}"/>
              </a:ext>
            </a:extLst>
          </p:cNvPr>
          <p:cNvSpPr/>
          <p:nvPr/>
        </p:nvSpPr>
        <p:spPr>
          <a:xfrm>
            <a:off x="548640" y="1417320"/>
            <a:ext cx="11091672" cy="4693593"/>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250" dirty="0">
                <a:solidFill>
                  <a:srgbClr val="000000"/>
                </a:solidFill>
                <a:latin typeface="Courier New" pitchFamily="34" charset="0"/>
                <a:cs typeface="Courier New" pitchFamily="34" charset="-120"/>
              </a:rPr>
              <a:t>#include &lt;iostream&gt;</a:t>
            </a:r>
          </a:p>
          <a:p>
            <a:r>
              <a:rPr lang="en-US" sz="1250" dirty="0">
                <a:solidFill>
                  <a:srgbClr val="000000"/>
                </a:solidFill>
                <a:latin typeface="Courier New" pitchFamily="34" charset="0"/>
                <a:cs typeface="Courier New" pitchFamily="34" charset="-120"/>
              </a:rPr>
              <a:t>using namespace std;</a:t>
            </a:r>
          </a:p>
          <a:p>
            <a:pPr marL="0" indent="0">
              <a:buNone/>
            </a:pPr>
            <a:endParaRPr lang="en-US" sz="1250" dirty="0">
              <a:solidFill>
                <a:srgbClr val="000000"/>
              </a:solidFill>
              <a:latin typeface="Courier New" pitchFamily="34" charset="0"/>
              <a:ea typeface="Courier New" pitchFamily="34" charset="-122"/>
              <a:cs typeface="Courier New" pitchFamily="34" charset="-120"/>
            </a:endParaRPr>
          </a:p>
          <a:p>
            <a:r>
              <a:rPr lang="en-US" sz="1250" dirty="0">
                <a:solidFill>
                  <a:srgbClr val="000000"/>
                </a:solidFill>
                <a:latin typeface="Courier New" pitchFamily="34" charset="0"/>
                <a:cs typeface="Courier New" pitchFamily="34" charset="-120"/>
              </a:rPr>
              <a:t>int main() {</a:t>
            </a:r>
          </a:p>
          <a:p>
            <a:endParaRPr lang="en-US" sz="1250" dirty="0">
              <a:solidFill>
                <a:srgbClr val="000000"/>
              </a:solidFill>
              <a:latin typeface="Courier New" pitchFamily="34" charset="0"/>
              <a:cs typeface="Courier New" pitchFamily="34" charset="-120"/>
            </a:endParaRPr>
          </a:p>
          <a:p>
            <a:pPr lvl="1"/>
            <a:r>
              <a:rPr lang="en-US" sz="1250" dirty="0">
                <a:solidFill>
                  <a:srgbClr val="000000"/>
                </a:solidFill>
                <a:latin typeface="Courier New" pitchFamily="34" charset="0"/>
                <a:cs typeface="Courier New" pitchFamily="34" charset="-120"/>
              </a:rPr>
              <a:t>int* </a:t>
            </a:r>
            <a:r>
              <a:rPr lang="en-US" sz="1250" dirty="0" err="1">
                <a:solidFill>
                  <a:srgbClr val="000000"/>
                </a:solidFill>
                <a:latin typeface="Courier New" pitchFamily="34" charset="0"/>
                <a:cs typeface="Courier New" pitchFamily="34" charset="-120"/>
              </a:rPr>
              <a:t>arr</a:t>
            </a:r>
            <a:r>
              <a:rPr lang="en-US" sz="1250" dirty="0">
                <a:solidFill>
                  <a:srgbClr val="000000"/>
                </a:solidFill>
                <a:latin typeface="Courier New" pitchFamily="34" charset="0"/>
                <a:cs typeface="Courier New" pitchFamily="34" charset="-120"/>
              </a:rPr>
              <a:t> = new int[5]; // Allocates memory for an array of 5 integers</a:t>
            </a:r>
          </a:p>
          <a:p>
            <a:pPr lvl="1"/>
            <a:endParaRPr lang="en-US" sz="1250" dirty="0">
              <a:solidFill>
                <a:srgbClr val="000000"/>
              </a:solidFill>
              <a:latin typeface="Courier New" pitchFamily="34" charset="0"/>
              <a:cs typeface="Courier New" pitchFamily="34" charset="-120"/>
            </a:endParaRPr>
          </a:p>
          <a:p>
            <a:pPr lvl="1"/>
            <a:r>
              <a:rPr lang="en-US" sz="1250" dirty="0">
                <a:solidFill>
                  <a:srgbClr val="000000"/>
                </a:solidFill>
                <a:latin typeface="Courier New" pitchFamily="34" charset="0"/>
                <a:cs typeface="Courier New" pitchFamily="34" charset="-120"/>
              </a:rPr>
              <a:t>for(int </a:t>
            </a:r>
            <a:r>
              <a:rPr lang="en-US" sz="1250" dirty="0" err="1">
                <a:solidFill>
                  <a:srgbClr val="000000"/>
                </a:solidFill>
                <a:latin typeface="Courier New" pitchFamily="34" charset="0"/>
                <a:cs typeface="Courier New" pitchFamily="34" charset="-120"/>
              </a:rPr>
              <a:t>i</a:t>
            </a:r>
            <a:r>
              <a:rPr lang="en-US" sz="1250" dirty="0">
                <a:solidFill>
                  <a:srgbClr val="000000"/>
                </a:solidFill>
                <a:latin typeface="Courier New" pitchFamily="34" charset="0"/>
                <a:cs typeface="Courier New" pitchFamily="34" charset="-120"/>
              </a:rPr>
              <a:t> = 0; </a:t>
            </a:r>
            <a:r>
              <a:rPr lang="en-US" sz="1250" dirty="0" err="1">
                <a:solidFill>
                  <a:srgbClr val="000000"/>
                </a:solidFill>
                <a:latin typeface="Courier New" pitchFamily="34" charset="0"/>
                <a:cs typeface="Courier New" pitchFamily="34" charset="-120"/>
              </a:rPr>
              <a:t>i</a:t>
            </a:r>
            <a:r>
              <a:rPr lang="en-US" sz="1250" dirty="0">
                <a:solidFill>
                  <a:srgbClr val="000000"/>
                </a:solidFill>
                <a:latin typeface="Courier New" pitchFamily="34" charset="0"/>
                <a:cs typeface="Courier New" pitchFamily="34" charset="-120"/>
              </a:rPr>
              <a:t> &lt; 5; ++</a:t>
            </a:r>
            <a:r>
              <a:rPr lang="en-US" sz="1250" dirty="0" err="1">
                <a:solidFill>
                  <a:srgbClr val="000000"/>
                </a:solidFill>
                <a:latin typeface="Courier New" pitchFamily="34" charset="0"/>
                <a:cs typeface="Courier New" pitchFamily="34" charset="-120"/>
              </a:rPr>
              <a:t>i</a:t>
            </a:r>
            <a:r>
              <a:rPr lang="en-US" sz="1250" dirty="0">
                <a:solidFill>
                  <a:srgbClr val="000000"/>
                </a:solidFill>
                <a:latin typeface="Courier New" pitchFamily="34" charset="0"/>
                <a:cs typeface="Courier New" pitchFamily="34" charset="-120"/>
              </a:rPr>
              <a:t>) {</a:t>
            </a:r>
          </a:p>
          <a:p>
            <a:pPr lvl="1"/>
            <a:r>
              <a:rPr lang="en-US" sz="1250" dirty="0">
                <a:solidFill>
                  <a:srgbClr val="000000"/>
                </a:solidFill>
                <a:latin typeface="Courier New" pitchFamily="34" charset="0"/>
                <a:cs typeface="Courier New" pitchFamily="34" charset="-120"/>
              </a:rPr>
              <a:t>	</a:t>
            </a:r>
            <a:r>
              <a:rPr lang="en-US" sz="1250" dirty="0" err="1">
                <a:solidFill>
                  <a:srgbClr val="000000"/>
                </a:solidFill>
                <a:latin typeface="Courier New" pitchFamily="34" charset="0"/>
                <a:cs typeface="Courier New" pitchFamily="34" charset="-120"/>
              </a:rPr>
              <a:t>arr</a:t>
            </a:r>
            <a:r>
              <a:rPr lang="en-US" sz="1250" dirty="0">
                <a:solidFill>
                  <a:srgbClr val="000000"/>
                </a:solidFill>
                <a:latin typeface="Courier New" pitchFamily="34" charset="0"/>
                <a:cs typeface="Courier New" pitchFamily="34" charset="-120"/>
              </a:rPr>
              <a:t>[</a:t>
            </a:r>
            <a:r>
              <a:rPr lang="en-US" sz="1250" dirty="0" err="1">
                <a:solidFill>
                  <a:srgbClr val="000000"/>
                </a:solidFill>
                <a:latin typeface="Courier New" pitchFamily="34" charset="0"/>
                <a:cs typeface="Courier New" pitchFamily="34" charset="-120"/>
              </a:rPr>
              <a:t>i</a:t>
            </a:r>
            <a:r>
              <a:rPr lang="en-US" sz="1250" dirty="0">
                <a:solidFill>
                  <a:srgbClr val="000000"/>
                </a:solidFill>
                <a:latin typeface="Courier New" pitchFamily="34" charset="0"/>
                <a:cs typeface="Courier New" pitchFamily="34" charset="-120"/>
              </a:rPr>
              <a:t>] = </a:t>
            </a:r>
            <a:r>
              <a:rPr lang="en-US" sz="1250" dirty="0" err="1">
                <a:solidFill>
                  <a:srgbClr val="000000"/>
                </a:solidFill>
                <a:latin typeface="Courier New" pitchFamily="34" charset="0"/>
                <a:cs typeface="Courier New" pitchFamily="34" charset="-120"/>
              </a:rPr>
              <a:t>i</a:t>
            </a:r>
            <a:r>
              <a:rPr lang="en-US" sz="1250" dirty="0">
                <a:solidFill>
                  <a:srgbClr val="000000"/>
                </a:solidFill>
                <a:latin typeface="Courier New" pitchFamily="34" charset="0"/>
                <a:cs typeface="Courier New" pitchFamily="34" charset="-120"/>
              </a:rPr>
              <a:t> + 1; // Assigns values to the array</a:t>
            </a:r>
          </a:p>
          <a:p>
            <a:pPr lvl="1"/>
            <a:endParaRPr lang="en-US" sz="1000" dirty="0">
              <a:solidFill>
                <a:srgbClr val="000000"/>
              </a:solidFill>
              <a:latin typeface="Courier New" pitchFamily="34" charset="0"/>
              <a:cs typeface="Courier New" pitchFamily="34" charset="-120"/>
            </a:endParaRPr>
          </a:p>
          <a:p>
            <a:pPr lvl="1"/>
            <a:r>
              <a:rPr lang="en-US" sz="1250" dirty="0">
                <a:solidFill>
                  <a:srgbClr val="000000"/>
                </a:solidFill>
                <a:latin typeface="Courier New" pitchFamily="34" charset="0"/>
                <a:cs typeface="Courier New" pitchFamily="34" charset="-120"/>
              </a:rPr>
              <a:t>}</a:t>
            </a:r>
          </a:p>
          <a:p>
            <a:pPr lvl="1"/>
            <a:r>
              <a:rPr lang="en-US" sz="1250" dirty="0">
                <a:solidFill>
                  <a:srgbClr val="000000"/>
                </a:solidFill>
                <a:latin typeface="Courier New" pitchFamily="34" charset="0"/>
                <a:cs typeface="Courier New" pitchFamily="34" charset="-120"/>
              </a:rPr>
              <a:t>for(int </a:t>
            </a:r>
            <a:r>
              <a:rPr lang="en-US" sz="1250" dirty="0" err="1">
                <a:solidFill>
                  <a:srgbClr val="000000"/>
                </a:solidFill>
                <a:latin typeface="Courier New" pitchFamily="34" charset="0"/>
                <a:cs typeface="Courier New" pitchFamily="34" charset="-120"/>
              </a:rPr>
              <a:t>i</a:t>
            </a:r>
            <a:r>
              <a:rPr lang="en-US" sz="1250" dirty="0">
                <a:solidFill>
                  <a:srgbClr val="000000"/>
                </a:solidFill>
                <a:latin typeface="Courier New" pitchFamily="34" charset="0"/>
                <a:cs typeface="Courier New" pitchFamily="34" charset="-120"/>
              </a:rPr>
              <a:t> = 0; </a:t>
            </a:r>
            <a:r>
              <a:rPr lang="en-US" sz="1250" dirty="0" err="1">
                <a:solidFill>
                  <a:srgbClr val="000000"/>
                </a:solidFill>
                <a:latin typeface="Courier New" pitchFamily="34" charset="0"/>
                <a:cs typeface="Courier New" pitchFamily="34" charset="-120"/>
              </a:rPr>
              <a:t>i</a:t>
            </a:r>
            <a:r>
              <a:rPr lang="en-US" sz="1250" dirty="0">
                <a:solidFill>
                  <a:srgbClr val="000000"/>
                </a:solidFill>
                <a:latin typeface="Courier New" pitchFamily="34" charset="0"/>
                <a:cs typeface="Courier New" pitchFamily="34" charset="-120"/>
              </a:rPr>
              <a:t> &lt; 5; ++</a:t>
            </a:r>
            <a:r>
              <a:rPr lang="en-US" sz="1250" dirty="0" err="1">
                <a:solidFill>
                  <a:srgbClr val="000000"/>
                </a:solidFill>
                <a:latin typeface="Courier New" pitchFamily="34" charset="0"/>
                <a:cs typeface="Courier New" pitchFamily="34" charset="-120"/>
              </a:rPr>
              <a:t>i</a:t>
            </a:r>
            <a:r>
              <a:rPr lang="en-US" sz="1250" dirty="0">
                <a:solidFill>
                  <a:srgbClr val="000000"/>
                </a:solidFill>
                <a:latin typeface="Courier New" pitchFamily="34" charset="0"/>
                <a:cs typeface="Courier New" pitchFamily="34" charset="-120"/>
              </a:rPr>
              <a:t>) {</a:t>
            </a:r>
          </a:p>
          <a:p>
            <a:pPr lvl="1"/>
            <a:r>
              <a:rPr lang="en-US" sz="1250" dirty="0">
                <a:solidFill>
                  <a:srgbClr val="000000"/>
                </a:solidFill>
                <a:latin typeface="Courier New" pitchFamily="34" charset="0"/>
                <a:cs typeface="Courier New" pitchFamily="34" charset="-120"/>
              </a:rPr>
              <a:t>	std::</a:t>
            </a:r>
            <a:r>
              <a:rPr lang="en-US" sz="1250" dirty="0" err="1">
                <a:solidFill>
                  <a:srgbClr val="000000"/>
                </a:solidFill>
                <a:latin typeface="Courier New" pitchFamily="34" charset="0"/>
                <a:cs typeface="Courier New" pitchFamily="34" charset="-120"/>
              </a:rPr>
              <a:t>cout</a:t>
            </a:r>
            <a:r>
              <a:rPr lang="en-US" sz="1250" dirty="0">
                <a:solidFill>
                  <a:srgbClr val="000000"/>
                </a:solidFill>
                <a:latin typeface="Courier New" pitchFamily="34" charset="0"/>
                <a:cs typeface="Courier New" pitchFamily="34" charset="-120"/>
              </a:rPr>
              <a:t> &lt;&lt; </a:t>
            </a:r>
            <a:r>
              <a:rPr lang="en-US" sz="1250" dirty="0" err="1">
                <a:solidFill>
                  <a:srgbClr val="000000"/>
                </a:solidFill>
                <a:latin typeface="Courier New" pitchFamily="34" charset="0"/>
                <a:cs typeface="Courier New" pitchFamily="34" charset="-120"/>
              </a:rPr>
              <a:t>arr</a:t>
            </a:r>
            <a:r>
              <a:rPr lang="en-US" sz="1250" dirty="0">
                <a:solidFill>
                  <a:srgbClr val="000000"/>
                </a:solidFill>
                <a:latin typeface="Courier New" pitchFamily="34" charset="0"/>
                <a:cs typeface="Courier New" pitchFamily="34" charset="-120"/>
              </a:rPr>
              <a:t>[</a:t>
            </a:r>
            <a:r>
              <a:rPr lang="en-US" sz="1250" dirty="0" err="1">
                <a:solidFill>
                  <a:srgbClr val="000000"/>
                </a:solidFill>
                <a:latin typeface="Courier New" pitchFamily="34" charset="0"/>
                <a:cs typeface="Courier New" pitchFamily="34" charset="-120"/>
              </a:rPr>
              <a:t>i</a:t>
            </a:r>
            <a:r>
              <a:rPr lang="en-US" sz="1250" dirty="0">
                <a:solidFill>
                  <a:srgbClr val="000000"/>
                </a:solidFill>
                <a:latin typeface="Courier New" pitchFamily="34" charset="0"/>
                <a:cs typeface="Courier New" pitchFamily="34" charset="-120"/>
              </a:rPr>
              <a:t>] &lt;&lt; " ";</a:t>
            </a:r>
          </a:p>
          <a:p>
            <a:pPr lvl="1"/>
            <a:r>
              <a:rPr lang="en-US" sz="1250" dirty="0">
                <a:solidFill>
                  <a:srgbClr val="000000"/>
                </a:solidFill>
                <a:latin typeface="Courier New" pitchFamily="34" charset="0"/>
                <a:cs typeface="Courier New" pitchFamily="34" charset="-120"/>
              </a:rPr>
              <a:t>}</a:t>
            </a:r>
          </a:p>
          <a:p>
            <a:pPr lvl="1"/>
            <a:endParaRPr lang="en-US" sz="1250" dirty="0">
              <a:solidFill>
                <a:srgbClr val="000000"/>
              </a:solidFill>
              <a:latin typeface="Courier New" pitchFamily="34" charset="0"/>
              <a:cs typeface="Courier New" pitchFamily="34" charset="-120"/>
            </a:endParaRPr>
          </a:p>
          <a:p>
            <a:pPr lvl="1"/>
            <a:r>
              <a:rPr lang="en-US" sz="1250" dirty="0">
                <a:solidFill>
                  <a:srgbClr val="000000"/>
                </a:solidFill>
                <a:latin typeface="Courier New" pitchFamily="34" charset="0"/>
                <a:cs typeface="Courier New" pitchFamily="34" charset="-120"/>
              </a:rPr>
              <a:t>std::</a:t>
            </a:r>
            <a:r>
              <a:rPr lang="en-US" sz="1250" dirty="0" err="1">
                <a:solidFill>
                  <a:srgbClr val="000000"/>
                </a:solidFill>
                <a:latin typeface="Courier New" pitchFamily="34" charset="0"/>
                <a:cs typeface="Courier New" pitchFamily="34" charset="-120"/>
              </a:rPr>
              <a:t>cout</a:t>
            </a:r>
            <a:r>
              <a:rPr lang="en-US" sz="1250" dirty="0">
                <a:solidFill>
                  <a:srgbClr val="000000"/>
                </a:solidFill>
                <a:latin typeface="Courier New" pitchFamily="34" charset="0"/>
                <a:cs typeface="Courier New" pitchFamily="34" charset="-120"/>
              </a:rPr>
              <a:t> &lt;&lt; std::</a:t>
            </a:r>
            <a:r>
              <a:rPr lang="en-US" sz="1250" dirty="0" err="1">
                <a:solidFill>
                  <a:srgbClr val="000000"/>
                </a:solidFill>
                <a:latin typeface="Courier New" pitchFamily="34" charset="0"/>
                <a:cs typeface="Courier New" pitchFamily="34" charset="-120"/>
              </a:rPr>
              <a:t>endl</a:t>
            </a:r>
            <a:r>
              <a:rPr lang="en-US" sz="1250" dirty="0">
                <a:solidFill>
                  <a:srgbClr val="000000"/>
                </a:solidFill>
                <a:latin typeface="Courier New" pitchFamily="34" charset="0"/>
                <a:cs typeface="Courier New" pitchFamily="34" charset="-120"/>
              </a:rPr>
              <a:t>;</a:t>
            </a:r>
          </a:p>
          <a:p>
            <a:pPr lvl="1"/>
            <a:endParaRPr lang="en-US" sz="1250" dirty="0">
              <a:solidFill>
                <a:srgbClr val="000000"/>
              </a:solidFill>
              <a:latin typeface="Courier New" pitchFamily="34" charset="0"/>
              <a:cs typeface="Courier New" pitchFamily="34" charset="-120"/>
            </a:endParaRPr>
          </a:p>
          <a:p>
            <a:pPr lvl="1"/>
            <a:r>
              <a:rPr lang="en-US" sz="1250" dirty="0">
                <a:solidFill>
                  <a:srgbClr val="000000"/>
                </a:solidFill>
                <a:latin typeface="Courier New" pitchFamily="34" charset="0"/>
                <a:cs typeface="Courier New" pitchFamily="34" charset="-120"/>
              </a:rPr>
              <a:t>delete[] </a:t>
            </a:r>
            <a:r>
              <a:rPr lang="en-US" sz="1250" dirty="0" err="1">
                <a:solidFill>
                  <a:srgbClr val="000000"/>
                </a:solidFill>
                <a:latin typeface="Courier New" pitchFamily="34" charset="0"/>
                <a:cs typeface="Courier New" pitchFamily="34" charset="-120"/>
              </a:rPr>
              <a:t>arr</a:t>
            </a:r>
            <a:r>
              <a:rPr lang="en-US" sz="1250" dirty="0">
                <a:solidFill>
                  <a:srgbClr val="000000"/>
                </a:solidFill>
                <a:latin typeface="Courier New" pitchFamily="34" charset="0"/>
                <a:cs typeface="Courier New" pitchFamily="34" charset="-120"/>
              </a:rPr>
              <a:t>; // Deallocates the memory for the array</a:t>
            </a:r>
          </a:p>
          <a:p>
            <a:endParaRPr lang="en-US" sz="1250" dirty="0">
              <a:solidFill>
                <a:srgbClr val="000000"/>
              </a:solidFill>
              <a:latin typeface="Courier New" pitchFamily="34" charset="0"/>
              <a:cs typeface="Courier New" pitchFamily="34" charset="-120"/>
            </a:endParaRPr>
          </a:p>
          <a:p>
            <a:r>
              <a:rPr lang="en-US" sz="1250" dirty="0">
                <a:solidFill>
                  <a:srgbClr val="000000"/>
                </a:solidFill>
                <a:latin typeface="Courier New" pitchFamily="34" charset="0"/>
                <a:cs typeface="Courier New" pitchFamily="34" charset="-120"/>
              </a:rPr>
              <a:t>return 0;</a:t>
            </a:r>
          </a:p>
          <a:p>
            <a:endParaRPr lang="en-US" sz="1250" dirty="0">
              <a:solidFill>
                <a:srgbClr val="000000"/>
              </a:solidFill>
              <a:latin typeface="Courier New" pitchFamily="34" charset="0"/>
              <a:cs typeface="Courier New" pitchFamily="34" charset="-120"/>
            </a:endParaRPr>
          </a:p>
          <a:p>
            <a:r>
              <a:rPr lang="en-US" sz="1250" dirty="0">
                <a:solidFill>
                  <a:srgbClr val="000000"/>
                </a:solidFill>
                <a:latin typeface="Courier New" pitchFamily="34" charset="0"/>
                <a:cs typeface="Courier New" pitchFamily="34" charset="-120"/>
              </a:rPr>
              <a:t>}</a:t>
            </a:r>
          </a:p>
          <a:p>
            <a:pPr marL="0" indent="0">
              <a:buNone/>
            </a:pPr>
            <a:endParaRPr lang="en-US" sz="1250" dirty="0"/>
          </a:p>
        </p:txBody>
      </p:sp>
      <p:sp>
        <p:nvSpPr>
          <p:cNvPr id="9" name="Text 1">
            <a:extLst>
              <a:ext uri="{FF2B5EF4-FFF2-40B4-BE49-F238E27FC236}">
                <a16:creationId xmlns:a16="http://schemas.microsoft.com/office/drawing/2014/main" id="{EA50FB8B-E126-758E-99FC-FE3E2032FBF5}"/>
              </a:ext>
            </a:extLst>
          </p:cNvPr>
          <p:cNvSpPr/>
          <p:nvPr/>
        </p:nvSpPr>
        <p:spPr>
          <a:xfrm>
            <a:off x="548640" y="703812"/>
            <a:ext cx="11091672" cy="54864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New and Delete Operator</a:t>
            </a:r>
            <a:endParaRPr lang="en-US" sz="2200" dirty="0"/>
          </a:p>
        </p:txBody>
      </p:sp>
    </p:spTree>
    <p:extLst>
      <p:ext uri="{BB962C8B-B14F-4D97-AF65-F5344CB8AC3E}">
        <p14:creationId xmlns:p14="http://schemas.microsoft.com/office/powerpoint/2010/main" val="5784888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3095D-D602-7B29-13E3-985C9D165E3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6B4AF1F-1C87-6D87-1FD6-3DCEAF12FB6A}"/>
              </a:ext>
            </a:extLst>
          </p:cNvPr>
          <p:cNvSpPr/>
          <p:nvPr/>
        </p:nvSpPr>
        <p:spPr>
          <a:xfrm>
            <a:off x="548640" y="356524"/>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
        <p:nvSpPr>
          <p:cNvPr id="4" name="Text 2">
            <a:extLst>
              <a:ext uri="{FF2B5EF4-FFF2-40B4-BE49-F238E27FC236}">
                <a16:creationId xmlns:a16="http://schemas.microsoft.com/office/drawing/2014/main" id="{0D3DC405-D769-9A3E-E8F1-DF58CB8D73BD}"/>
              </a:ext>
            </a:extLst>
          </p:cNvPr>
          <p:cNvSpPr/>
          <p:nvPr/>
        </p:nvSpPr>
        <p:spPr>
          <a:xfrm>
            <a:off x="668713" y="4480560"/>
            <a:ext cx="11091672" cy="2286000"/>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400" dirty="0">
                <a:latin typeface="Courier New" panose="02070309020205020404" pitchFamily="49" charset="0"/>
                <a:cs typeface="Courier New" panose="02070309020205020404" pitchFamily="49" charset="0"/>
              </a:rPr>
              <a:t>#include &lt;iostream&gt;</a:t>
            </a:r>
          </a:p>
          <a:p>
            <a:r>
              <a:rPr lang="en-US" sz="1400" dirty="0">
                <a:latin typeface="Courier New" panose="02070309020205020404" pitchFamily="49" charset="0"/>
                <a:cs typeface="Courier New" panose="02070309020205020404" pitchFamily="49" charset="0"/>
              </a:rPr>
              <a:t>#include &lt;</a:t>
            </a:r>
            <a:r>
              <a:rPr lang="en-US" sz="1400" dirty="0" err="1">
                <a:latin typeface="Courier New" panose="02070309020205020404" pitchFamily="49" charset="0"/>
                <a:cs typeface="Courier New" panose="02070309020205020404" pitchFamily="49" charset="0"/>
              </a:rPr>
              <a:t>iomanip</a:t>
            </a:r>
            <a:r>
              <a:rPr lang="en-US" sz="1400" dirty="0">
                <a:latin typeface="Courier New" panose="02070309020205020404" pitchFamily="49" charset="0"/>
                <a:cs typeface="Courier New" panose="02070309020205020404" pitchFamily="49" charset="0"/>
              </a:rPr>
              <a:t>&gt;</a:t>
            </a:r>
          </a:p>
          <a:p>
            <a:r>
              <a:rPr lang="en-US" sz="1400" dirty="0">
                <a:latin typeface="Courier New" panose="02070309020205020404" pitchFamily="49" charset="0"/>
                <a:cs typeface="Courier New" panose="02070309020205020404" pitchFamily="49" charset="0"/>
              </a:rPr>
              <a:t>using namespace std;</a:t>
            </a:r>
          </a:p>
          <a:p>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int main() {</a:t>
            </a:r>
          </a:p>
          <a:p>
            <a:r>
              <a:rPr lang="en-US" sz="1400" dirty="0">
                <a:latin typeface="Courier New" panose="02070309020205020404" pitchFamily="49" charset="0"/>
                <a:cs typeface="Courier New" panose="02070309020205020404" pitchFamily="49" charset="0"/>
              </a:rPr>
              <a:t>    double pi = 3.14159265;</a:t>
            </a:r>
          </a:p>
          <a:p>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cout</a:t>
            </a:r>
            <a:r>
              <a:rPr lang="en-US" sz="1400" dirty="0">
                <a:latin typeface="Courier New" panose="02070309020205020404" pitchFamily="49" charset="0"/>
                <a:cs typeface="Courier New" panose="02070309020205020404" pitchFamily="49" charset="0"/>
              </a:rPr>
              <a:t> &lt;&lt; fixed &lt;&lt; </a:t>
            </a:r>
            <a:r>
              <a:rPr lang="en-US" sz="1400" dirty="0" err="1">
                <a:latin typeface="Courier New" panose="02070309020205020404" pitchFamily="49" charset="0"/>
                <a:cs typeface="Courier New" panose="02070309020205020404" pitchFamily="49" charset="0"/>
              </a:rPr>
              <a:t>setprecision</a:t>
            </a:r>
            <a:r>
              <a:rPr lang="en-US" sz="1400" dirty="0">
                <a:latin typeface="Courier New" panose="02070309020205020404" pitchFamily="49" charset="0"/>
                <a:cs typeface="Courier New" panose="02070309020205020404" pitchFamily="49" charset="0"/>
              </a:rPr>
              <a:t>(2);</a:t>
            </a:r>
          </a:p>
          <a:p>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cout</a:t>
            </a:r>
            <a:r>
              <a:rPr lang="en-US" sz="1400" dirty="0">
                <a:latin typeface="Courier New" panose="02070309020205020404" pitchFamily="49" charset="0"/>
                <a:cs typeface="Courier New" panose="02070309020205020404" pitchFamily="49" charset="0"/>
              </a:rPr>
              <a:t> &lt;&lt; </a:t>
            </a:r>
            <a:r>
              <a:rPr lang="en-US" sz="1400" dirty="0" err="1">
                <a:latin typeface="Courier New" panose="02070309020205020404" pitchFamily="49" charset="0"/>
                <a:cs typeface="Courier New" panose="02070309020205020404" pitchFamily="49" charset="0"/>
              </a:rPr>
              <a:t>setw</a:t>
            </a:r>
            <a:r>
              <a:rPr lang="en-US" sz="1400" dirty="0">
                <a:latin typeface="Courier New" panose="02070309020205020404" pitchFamily="49" charset="0"/>
                <a:cs typeface="Courier New" panose="02070309020205020404" pitchFamily="49" charset="0"/>
              </a:rPr>
              <a:t>(10) &lt;&lt; "Pi is" &lt;&lt; </a:t>
            </a:r>
            <a:r>
              <a:rPr lang="en-US" sz="1400" dirty="0" err="1">
                <a:latin typeface="Courier New" panose="02070309020205020404" pitchFamily="49" charset="0"/>
                <a:cs typeface="Courier New" panose="02070309020205020404" pitchFamily="49" charset="0"/>
              </a:rPr>
              <a:t>setw</a:t>
            </a:r>
            <a:r>
              <a:rPr lang="en-US" sz="1400" dirty="0">
                <a:latin typeface="Courier New" panose="02070309020205020404" pitchFamily="49" charset="0"/>
                <a:cs typeface="Courier New" panose="02070309020205020404" pitchFamily="49" charset="0"/>
              </a:rPr>
              <a:t>(8) &lt;&lt; pi &lt;&lt; </a:t>
            </a:r>
            <a:r>
              <a:rPr lang="en-US" sz="1400" dirty="0" err="1">
                <a:latin typeface="Courier New" panose="02070309020205020404" pitchFamily="49" charset="0"/>
                <a:cs typeface="Courier New" panose="02070309020205020404" pitchFamily="49" charset="0"/>
              </a:rPr>
              <a:t>endl</a:t>
            </a:r>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    return 0;</a:t>
            </a:r>
          </a:p>
          <a:p>
            <a:r>
              <a:rPr lang="en-US" sz="1400" dirty="0">
                <a:latin typeface="Courier New" panose="02070309020205020404" pitchFamily="49" charset="0"/>
                <a:cs typeface="Courier New" panose="02070309020205020404" pitchFamily="49" charset="0"/>
              </a:rPr>
              <a:t>}</a:t>
            </a:r>
          </a:p>
        </p:txBody>
      </p:sp>
      <p:sp>
        <p:nvSpPr>
          <p:cNvPr id="9" name="Text 1">
            <a:extLst>
              <a:ext uri="{FF2B5EF4-FFF2-40B4-BE49-F238E27FC236}">
                <a16:creationId xmlns:a16="http://schemas.microsoft.com/office/drawing/2014/main" id="{422A7581-BE77-F448-E5BF-84977D6B7D8E}"/>
              </a:ext>
            </a:extLst>
          </p:cNvPr>
          <p:cNvSpPr/>
          <p:nvPr/>
        </p:nvSpPr>
        <p:spPr>
          <a:xfrm>
            <a:off x="548640" y="703812"/>
            <a:ext cx="11091672" cy="54864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Manipulator</a:t>
            </a:r>
            <a:endParaRPr lang="en-US" sz="2200" dirty="0"/>
          </a:p>
        </p:txBody>
      </p:sp>
      <p:sp>
        <p:nvSpPr>
          <p:cNvPr id="3" name="TextBox 2">
            <a:extLst>
              <a:ext uri="{FF2B5EF4-FFF2-40B4-BE49-F238E27FC236}">
                <a16:creationId xmlns:a16="http://schemas.microsoft.com/office/drawing/2014/main" id="{69D0FFBB-5083-4AAB-E104-47B7A16F6AF4}"/>
              </a:ext>
            </a:extLst>
          </p:cNvPr>
          <p:cNvSpPr txBox="1"/>
          <p:nvPr/>
        </p:nvSpPr>
        <p:spPr>
          <a:xfrm>
            <a:off x="668713" y="1293467"/>
            <a:ext cx="11091672" cy="3046988"/>
          </a:xfrm>
          <a:prstGeom prst="rect">
            <a:avLst/>
          </a:prstGeom>
          <a:noFill/>
        </p:spPr>
        <p:txBody>
          <a:bodyPr wrap="square" rtlCol="0">
            <a:spAutoFit/>
          </a:bodyPr>
          <a:lstStyle/>
          <a:p>
            <a:pPr marL="285750" lvl="0" indent="-285750">
              <a:buFont typeface="Arial" panose="020B0604020202020204" pitchFamily="34" charset="0"/>
              <a:buChar char="•"/>
            </a:pPr>
            <a:r>
              <a:rPr lang="en-US" sz="1600" dirty="0"/>
              <a:t>Manipulators are </a:t>
            </a:r>
            <a:r>
              <a:rPr lang="en-US" sz="1600" b="1" dirty="0"/>
              <a:t>functions</a:t>
            </a:r>
            <a:r>
              <a:rPr lang="en-US" sz="1600" dirty="0"/>
              <a:t> used to control the formatting of input/output streams in C++.</a:t>
            </a:r>
          </a:p>
          <a:p>
            <a:pPr marL="285750" lvl="0" indent="-285750">
              <a:buFont typeface="Arial" panose="020B0604020202020204" pitchFamily="34" charset="0"/>
              <a:buChar char="•"/>
            </a:pPr>
            <a:r>
              <a:rPr lang="en-US" sz="1600" dirty="0"/>
              <a:t>They are declared in the </a:t>
            </a:r>
            <a:r>
              <a:rPr lang="en-US" sz="1600" dirty="0">
                <a:latin typeface="Courier New" panose="02070309020205020404" pitchFamily="49" charset="0"/>
                <a:cs typeface="Courier New" panose="02070309020205020404" pitchFamily="49" charset="0"/>
              </a:rPr>
              <a:t>&lt;</a:t>
            </a:r>
            <a:r>
              <a:rPr lang="en-US" sz="1600" dirty="0" err="1">
                <a:latin typeface="Courier New" panose="02070309020205020404" pitchFamily="49" charset="0"/>
                <a:cs typeface="Courier New" panose="02070309020205020404" pitchFamily="49" charset="0"/>
              </a:rPr>
              <a:t>iomanip</a:t>
            </a:r>
            <a:r>
              <a:rPr lang="en-US" sz="1600" dirty="0">
                <a:latin typeface="Courier New" panose="02070309020205020404" pitchFamily="49" charset="0"/>
                <a:cs typeface="Courier New" panose="02070309020205020404" pitchFamily="49" charset="0"/>
              </a:rPr>
              <a:t>&gt; </a:t>
            </a:r>
            <a:r>
              <a:rPr lang="en-US" sz="1600" dirty="0"/>
              <a:t>header (some basic ones are also available in </a:t>
            </a:r>
            <a:r>
              <a:rPr lang="en-US" sz="1600" dirty="0">
                <a:latin typeface="Courier New" panose="02070309020205020404" pitchFamily="49" charset="0"/>
                <a:cs typeface="Courier New" panose="02070309020205020404" pitchFamily="49" charset="0"/>
              </a:rPr>
              <a:t>&lt;iostream&gt;).</a:t>
            </a:r>
          </a:p>
          <a:p>
            <a:pPr marL="285750" lvl="0" indent="-285750">
              <a:buFont typeface="Arial" panose="020B0604020202020204" pitchFamily="34" charset="0"/>
              <a:buChar char="•"/>
            </a:pPr>
            <a:r>
              <a:rPr lang="en-US" sz="1600" dirty="0"/>
              <a:t>Manipulators are applied using the </a:t>
            </a:r>
            <a:r>
              <a:rPr lang="en-US" sz="1600" b="1" dirty="0"/>
              <a:t>insertion operator (</a:t>
            </a:r>
            <a:r>
              <a:rPr lang="en-US" sz="1600" dirty="0">
                <a:latin typeface="Courier New" panose="02070309020205020404" pitchFamily="49" charset="0"/>
                <a:cs typeface="Courier New" panose="02070309020205020404" pitchFamily="49" charset="0"/>
              </a:rPr>
              <a:t>&lt;&lt;</a:t>
            </a:r>
            <a:r>
              <a:rPr lang="en-US" sz="1600" b="1" dirty="0"/>
              <a:t>)</a:t>
            </a:r>
            <a:r>
              <a:rPr lang="en-US" sz="1600" dirty="0"/>
              <a:t> alongside the stream.</a:t>
            </a:r>
          </a:p>
          <a:p>
            <a:pPr marL="285750" lvl="0" indent="-285750">
              <a:buFont typeface="Arial" panose="020B0604020202020204" pitchFamily="34" charset="0"/>
              <a:buChar char="•"/>
            </a:pPr>
            <a:r>
              <a:rPr lang="en-US" sz="1600" dirty="0"/>
              <a:t>They </a:t>
            </a:r>
            <a:r>
              <a:rPr lang="en-US" sz="1600" b="1" dirty="0"/>
              <a:t>change the formatting state</a:t>
            </a:r>
            <a:r>
              <a:rPr lang="en-US" sz="1600" dirty="0"/>
              <a:t> of the stream, affecting how subsequent data is displayed.</a:t>
            </a:r>
          </a:p>
          <a:p>
            <a:r>
              <a:rPr lang="en-US" sz="1600" b="1" dirty="0"/>
              <a:t>Common manipulators include:</a:t>
            </a:r>
            <a:endParaRPr lang="en-US" sz="1600" dirty="0"/>
          </a:p>
          <a:p>
            <a:pPr marL="742950" lvl="1" indent="-285750">
              <a:buFont typeface="Wingdings" panose="05000000000000000000" pitchFamily="2" charset="2"/>
              <a:buChar char="ü"/>
            </a:pPr>
            <a:r>
              <a:rPr lang="en-US" sz="1600" dirty="0" err="1">
                <a:latin typeface="Courier New" panose="02070309020205020404" pitchFamily="49" charset="0"/>
                <a:cs typeface="Courier New" panose="02070309020205020404" pitchFamily="49" charset="0"/>
              </a:rPr>
              <a:t>endl</a:t>
            </a:r>
            <a:r>
              <a:rPr lang="en-US" sz="1600" dirty="0"/>
              <a:t> – Inserts a newline character and </a:t>
            </a:r>
            <a:r>
              <a:rPr lang="en-US" sz="1600" b="1" dirty="0"/>
              <a:t>flushes</a:t>
            </a:r>
            <a:r>
              <a:rPr lang="en-US" sz="1600" dirty="0"/>
              <a:t> the output buffer.</a:t>
            </a:r>
          </a:p>
          <a:p>
            <a:pPr marL="742950" lvl="1" indent="-285750">
              <a:buFont typeface="Wingdings" panose="05000000000000000000" pitchFamily="2" charset="2"/>
              <a:buChar char="ü"/>
            </a:pPr>
            <a:r>
              <a:rPr lang="en-US" sz="1600" dirty="0" err="1">
                <a:latin typeface="Courier New" panose="02070309020205020404" pitchFamily="49" charset="0"/>
                <a:cs typeface="Courier New" panose="02070309020205020404" pitchFamily="49" charset="0"/>
              </a:rPr>
              <a:t>setw</a:t>
            </a:r>
            <a:r>
              <a:rPr lang="en-US" sz="1600" dirty="0">
                <a:latin typeface="Courier New" panose="02070309020205020404" pitchFamily="49" charset="0"/>
                <a:cs typeface="Courier New" panose="02070309020205020404" pitchFamily="49" charset="0"/>
              </a:rPr>
              <a:t>(n) </a:t>
            </a:r>
            <a:r>
              <a:rPr lang="en-US" sz="1600" dirty="0"/>
              <a:t>– Sets the </a:t>
            </a:r>
            <a:r>
              <a:rPr lang="en-US" sz="1600" b="1" dirty="0"/>
              <a:t>field width</a:t>
            </a:r>
            <a:r>
              <a:rPr lang="en-US" sz="1600" dirty="0"/>
              <a:t> to </a:t>
            </a:r>
            <a:r>
              <a:rPr lang="en-US" sz="1600" dirty="0">
                <a:latin typeface="Courier New" panose="02070309020205020404" pitchFamily="49" charset="0"/>
                <a:cs typeface="Courier New" panose="02070309020205020404" pitchFamily="49" charset="0"/>
              </a:rPr>
              <a:t>n</a:t>
            </a:r>
            <a:r>
              <a:rPr lang="en-US" sz="1600" dirty="0"/>
              <a:t> characters for the </a:t>
            </a:r>
            <a:r>
              <a:rPr lang="en-US" sz="1600" b="1" dirty="0"/>
              <a:t>next</a:t>
            </a:r>
            <a:r>
              <a:rPr lang="en-US" sz="1600" dirty="0"/>
              <a:t> item only.</a:t>
            </a:r>
          </a:p>
          <a:p>
            <a:pPr marL="742950" lvl="1" indent="-285750">
              <a:buFont typeface="Wingdings" panose="05000000000000000000" pitchFamily="2" charset="2"/>
              <a:buChar char="ü"/>
            </a:pPr>
            <a:r>
              <a:rPr lang="en-US" sz="1600" dirty="0" err="1">
                <a:latin typeface="Courier New" panose="02070309020205020404" pitchFamily="49" charset="0"/>
                <a:cs typeface="Courier New" panose="02070309020205020404" pitchFamily="49" charset="0"/>
              </a:rPr>
              <a:t>setprecision</a:t>
            </a:r>
            <a:r>
              <a:rPr lang="en-US" sz="1600" dirty="0">
                <a:latin typeface="Courier New" panose="02070309020205020404" pitchFamily="49" charset="0"/>
                <a:cs typeface="Courier New" panose="02070309020205020404" pitchFamily="49" charset="0"/>
              </a:rPr>
              <a:t>(n) </a:t>
            </a:r>
            <a:r>
              <a:rPr lang="en-US" sz="1600" dirty="0"/>
              <a:t>– Sets the </a:t>
            </a:r>
            <a:r>
              <a:rPr lang="en-US" sz="1600" b="1" dirty="0"/>
              <a:t>number of digits</a:t>
            </a:r>
            <a:r>
              <a:rPr lang="en-US" sz="1600" dirty="0"/>
              <a:t> shown for floating-point numbers.</a:t>
            </a:r>
          </a:p>
          <a:p>
            <a:pPr marL="742950" lvl="1" indent="-285750">
              <a:buFont typeface="Wingdings" panose="05000000000000000000" pitchFamily="2" charset="2"/>
              <a:buChar char="ü"/>
            </a:pPr>
            <a:r>
              <a:rPr lang="en-US" sz="1600" dirty="0">
                <a:latin typeface="Courier New" panose="02070309020205020404" pitchFamily="49" charset="0"/>
                <a:cs typeface="Courier New" panose="02070309020205020404" pitchFamily="49" charset="0"/>
              </a:rPr>
              <a:t>fixed</a:t>
            </a:r>
            <a:r>
              <a:rPr lang="en-US" sz="1600" dirty="0"/>
              <a:t> – Forces floating-point numbers to be displayed in </a:t>
            </a:r>
            <a:r>
              <a:rPr lang="en-US" sz="1600" b="1" dirty="0"/>
              <a:t>fixed-point notation</a:t>
            </a:r>
            <a:r>
              <a:rPr lang="en-US" sz="1600" dirty="0"/>
              <a:t> (e.g., 123.45 instead of 1.2345e+02).</a:t>
            </a:r>
          </a:p>
          <a:p>
            <a:pPr marL="742950" lvl="1" indent="-285750">
              <a:buFont typeface="Wingdings" panose="05000000000000000000" pitchFamily="2" charset="2"/>
              <a:buChar char="ü"/>
            </a:pPr>
            <a:r>
              <a:rPr lang="en-US" sz="1600" dirty="0" err="1">
                <a:latin typeface="Courier New" panose="02070309020205020404" pitchFamily="49" charset="0"/>
                <a:cs typeface="Courier New" panose="02070309020205020404" pitchFamily="49" charset="0"/>
              </a:rPr>
              <a:t>setfill</a:t>
            </a:r>
            <a:r>
              <a:rPr lang="en-US" sz="1600" dirty="0">
                <a:latin typeface="Courier New" panose="02070309020205020404" pitchFamily="49" charset="0"/>
                <a:cs typeface="Courier New" panose="02070309020205020404" pitchFamily="49" charset="0"/>
              </a:rPr>
              <a:t>(c) </a:t>
            </a:r>
            <a:r>
              <a:rPr lang="en-US" sz="1600" dirty="0"/>
              <a:t>– Sets the </a:t>
            </a:r>
            <a:r>
              <a:rPr lang="en-US" sz="1600" b="1" dirty="0"/>
              <a:t>padding character</a:t>
            </a:r>
            <a:r>
              <a:rPr lang="en-US" sz="1600" dirty="0"/>
              <a:t> to </a:t>
            </a:r>
            <a:r>
              <a:rPr lang="en-US" sz="1600" dirty="0">
                <a:latin typeface="Courier New" panose="02070309020205020404" pitchFamily="49" charset="0"/>
                <a:cs typeface="Courier New" panose="02070309020205020404" pitchFamily="49" charset="0"/>
              </a:rPr>
              <a:t>c</a:t>
            </a:r>
            <a:r>
              <a:rPr lang="en-US" sz="1600" dirty="0"/>
              <a:t> when the output field width is larger than the content.</a:t>
            </a:r>
          </a:p>
          <a:p>
            <a:pPr marL="742950" lvl="1" indent="-285750">
              <a:buFont typeface="Wingdings" panose="05000000000000000000" pitchFamily="2" charset="2"/>
              <a:buChar char="ü"/>
            </a:pPr>
            <a:r>
              <a:rPr lang="en-US" sz="1600" dirty="0"/>
              <a:t>Some manipulators (like </a:t>
            </a:r>
            <a:r>
              <a:rPr lang="en-US" sz="1600" dirty="0">
                <a:latin typeface="Courier New" panose="02070309020205020404" pitchFamily="49" charset="0"/>
                <a:cs typeface="Courier New" panose="02070309020205020404" pitchFamily="49" charset="0"/>
              </a:rPr>
              <a:t>fixed </a:t>
            </a:r>
            <a:r>
              <a:rPr lang="en-US" sz="1600" dirty="0"/>
              <a:t>and </a:t>
            </a:r>
            <a:r>
              <a:rPr lang="en-US" sz="1600" dirty="0" err="1">
                <a:latin typeface="Courier New" panose="02070309020205020404" pitchFamily="49" charset="0"/>
                <a:cs typeface="Courier New" panose="02070309020205020404" pitchFamily="49" charset="0"/>
              </a:rPr>
              <a:t>endl</a:t>
            </a:r>
            <a:r>
              <a:rPr lang="en-US" sz="1600" dirty="0"/>
              <a:t>) are </a:t>
            </a:r>
            <a:r>
              <a:rPr lang="en-US" sz="1600" b="1" dirty="0"/>
              <a:t>sticky</a:t>
            </a:r>
            <a:r>
              <a:rPr lang="en-US" sz="1600" dirty="0"/>
              <a:t> – they remain in effect until changed.</a:t>
            </a:r>
          </a:p>
          <a:p>
            <a:pPr marL="742950" lvl="1" indent="-285750">
              <a:buFont typeface="Wingdings" panose="05000000000000000000" pitchFamily="2" charset="2"/>
              <a:buChar char="ü"/>
            </a:pPr>
            <a:r>
              <a:rPr lang="en-US" sz="1600" dirty="0"/>
              <a:t>Others (like </a:t>
            </a:r>
            <a:r>
              <a:rPr lang="en-US" sz="1600" dirty="0" err="1">
                <a:latin typeface="Courier New" panose="02070309020205020404" pitchFamily="49" charset="0"/>
                <a:cs typeface="Courier New" panose="02070309020205020404" pitchFamily="49" charset="0"/>
              </a:rPr>
              <a:t>setw</a:t>
            </a:r>
            <a:r>
              <a:rPr lang="en-US" sz="1600" dirty="0"/>
              <a:t>) are </a:t>
            </a:r>
            <a:r>
              <a:rPr lang="en-US" sz="1600" b="1" dirty="0"/>
              <a:t>non-sticky</a:t>
            </a:r>
            <a:r>
              <a:rPr lang="en-US" sz="1600" dirty="0"/>
              <a:t> – they apply only to the very next output operation.</a:t>
            </a:r>
          </a:p>
        </p:txBody>
      </p:sp>
    </p:spTree>
    <p:extLst>
      <p:ext uri="{BB962C8B-B14F-4D97-AF65-F5344CB8AC3E}">
        <p14:creationId xmlns:p14="http://schemas.microsoft.com/office/powerpoint/2010/main" val="16257110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EB343-3DE4-9305-8FC8-939A5F92B93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2A879AB-4D64-28E5-86DA-6535B4325726}"/>
              </a:ext>
            </a:extLst>
          </p:cNvPr>
          <p:cNvSpPr/>
          <p:nvPr/>
        </p:nvSpPr>
        <p:spPr>
          <a:xfrm>
            <a:off x="548640" y="356524"/>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
        <p:nvSpPr>
          <p:cNvPr id="4" name="Text 2">
            <a:extLst>
              <a:ext uri="{FF2B5EF4-FFF2-40B4-BE49-F238E27FC236}">
                <a16:creationId xmlns:a16="http://schemas.microsoft.com/office/drawing/2014/main" id="{A4CBF101-193C-A2D5-9988-8DEF0334099B}"/>
              </a:ext>
            </a:extLst>
          </p:cNvPr>
          <p:cNvSpPr/>
          <p:nvPr/>
        </p:nvSpPr>
        <p:spPr>
          <a:xfrm>
            <a:off x="653487" y="4633270"/>
            <a:ext cx="11091672" cy="954107"/>
          </a:xfrm>
          <a:prstGeom prst="rect">
            <a:avLst/>
          </a:prstGeom>
          <a:solidFill>
            <a:srgbClr val="F2F2F2"/>
          </a:solidFill>
          <a:ln w="9525">
            <a:solidFill>
              <a:srgbClr val="000000"/>
            </a:solidFill>
          </a:ln>
        </p:spPr>
        <p:txBody>
          <a:bodyPr wrap="square" lIns="152400" tIns="152400" rIns="152400" bIns="152400" rtlCol="0" anchor="t">
            <a:spAutoFit/>
          </a:bodyPr>
          <a:lstStyle/>
          <a:p>
            <a:pPr latinLnBrk="1"/>
            <a:r>
              <a:rPr lang="en-US" sz="1400" dirty="0">
                <a:latin typeface="Courier New" panose="02070309020205020404" pitchFamily="49" charset="0"/>
                <a:cs typeface="Courier New" panose="02070309020205020404" pitchFamily="49" charset="0"/>
              </a:rPr>
              <a:t>const int MAX_SIZE = 100;</a:t>
            </a:r>
          </a:p>
          <a:p>
            <a:pPr latinLnBrk="1"/>
            <a:r>
              <a:rPr lang="en-US" sz="1400" dirty="0">
                <a:latin typeface="Courier New" panose="02070309020205020404" pitchFamily="49" charset="0"/>
                <a:cs typeface="Courier New" panose="02070309020205020404" pitchFamily="49" charset="0"/>
              </a:rPr>
              <a:t>const float PI = 3.14159;</a:t>
            </a:r>
          </a:p>
          <a:p>
            <a:pPr latinLnBrk="1"/>
            <a:r>
              <a:rPr lang="en-US" sz="1400" dirty="0">
                <a:latin typeface="Courier New" panose="02070309020205020404" pitchFamily="49" charset="0"/>
                <a:cs typeface="Courier New" panose="02070309020205020404" pitchFamily="49" charset="0"/>
              </a:rPr>
              <a:t>const string NAME = "Saroj Dahal";</a:t>
            </a:r>
          </a:p>
        </p:txBody>
      </p:sp>
      <p:sp>
        <p:nvSpPr>
          <p:cNvPr id="9" name="Text 1">
            <a:extLst>
              <a:ext uri="{FF2B5EF4-FFF2-40B4-BE49-F238E27FC236}">
                <a16:creationId xmlns:a16="http://schemas.microsoft.com/office/drawing/2014/main" id="{6D7EA0B0-859E-7335-4FDF-8C8F7D01372F}"/>
              </a:ext>
            </a:extLst>
          </p:cNvPr>
          <p:cNvSpPr/>
          <p:nvPr/>
        </p:nvSpPr>
        <p:spPr>
          <a:xfrm>
            <a:off x="548640" y="703812"/>
            <a:ext cx="11091672" cy="54864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Constant</a:t>
            </a:r>
            <a:endParaRPr lang="en-US" sz="2200" dirty="0"/>
          </a:p>
        </p:txBody>
      </p:sp>
      <p:sp>
        <p:nvSpPr>
          <p:cNvPr id="3" name="TextBox 2">
            <a:extLst>
              <a:ext uri="{FF2B5EF4-FFF2-40B4-BE49-F238E27FC236}">
                <a16:creationId xmlns:a16="http://schemas.microsoft.com/office/drawing/2014/main" id="{BE9278DA-FDC4-0376-F71A-69304FF2D6B9}"/>
              </a:ext>
            </a:extLst>
          </p:cNvPr>
          <p:cNvSpPr txBox="1"/>
          <p:nvPr/>
        </p:nvSpPr>
        <p:spPr>
          <a:xfrm>
            <a:off x="668713" y="1293467"/>
            <a:ext cx="11091672" cy="584775"/>
          </a:xfrm>
          <a:prstGeom prst="rect">
            <a:avLst/>
          </a:prstGeom>
          <a:noFill/>
        </p:spPr>
        <p:txBody>
          <a:bodyPr wrap="square" rtlCol="0">
            <a:spAutoFit/>
          </a:bodyPr>
          <a:lstStyle/>
          <a:p>
            <a:pPr lvl="0"/>
            <a:r>
              <a:rPr lang="en-US" sz="1600" dirty="0"/>
              <a:t>The const keyword in C++ is a </a:t>
            </a:r>
            <a:r>
              <a:rPr lang="en-US" sz="1600" b="1" dirty="0"/>
              <a:t>type qualifier</a:t>
            </a:r>
            <a:r>
              <a:rPr lang="en-US" sz="1600" dirty="0"/>
              <a:t> that makes a variable or object </a:t>
            </a:r>
            <a:r>
              <a:rPr lang="en-US" sz="1600" b="1" dirty="0"/>
              <a:t>immutable</a:t>
            </a:r>
            <a:r>
              <a:rPr lang="en-US" sz="1600" dirty="0"/>
              <a:t> (read-only). It's a promise to the compiler that the value won't change after initialization.</a:t>
            </a:r>
            <a:endParaRPr lang="en-US" sz="1400" dirty="0"/>
          </a:p>
        </p:txBody>
      </p:sp>
      <p:sp>
        <p:nvSpPr>
          <p:cNvPr id="6" name="TextBox 5">
            <a:extLst>
              <a:ext uri="{FF2B5EF4-FFF2-40B4-BE49-F238E27FC236}">
                <a16:creationId xmlns:a16="http://schemas.microsoft.com/office/drawing/2014/main" id="{EDCEB31A-D94E-984B-3E72-FEA376F52223}"/>
              </a:ext>
            </a:extLst>
          </p:cNvPr>
          <p:cNvSpPr txBox="1"/>
          <p:nvPr/>
        </p:nvSpPr>
        <p:spPr>
          <a:xfrm>
            <a:off x="653487" y="1854016"/>
            <a:ext cx="6094602" cy="364331"/>
          </a:xfrm>
          <a:prstGeom prst="rect">
            <a:avLst/>
          </a:prstGeom>
          <a:noFill/>
        </p:spPr>
        <p:txBody>
          <a:bodyPr wrap="square">
            <a:spAutoFit/>
          </a:bodyPr>
          <a:lstStyle/>
          <a:p>
            <a:pPr marL="0" marR="0" indent="0" algn="l">
              <a:lnSpc>
                <a:spcPts val="2250"/>
              </a:lnSpc>
              <a:spcBef>
                <a:spcPts val="2400"/>
              </a:spcBef>
              <a:spcAft>
                <a:spcPts val="1200"/>
              </a:spcAft>
              <a:buNone/>
            </a:pPr>
            <a:r>
              <a:rPr lang="en-US" sz="1500" b="1" dirty="0">
                <a:solidFill>
                  <a:srgbClr val="0F1115"/>
                </a:solidFill>
                <a:effectLst/>
                <a:latin typeface="quote-cjk-patch"/>
              </a:rPr>
              <a:t>Why Use </a:t>
            </a:r>
            <a:r>
              <a:rPr lang="en-US" sz="1500" b="1" dirty="0">
                <a:solidFill>
                  <a:srgbClr val="0F1115"/>
                </a:solidFill>
                <a:effectLst/>
                <a:latin typeface="Menlo"/>
              </a:rPr>
              <a:t>const</a:t>
            </a:r>
            <a:r>
              <a:rPr lang="en-US" sz="1500" b="1" dirty="0">
                <a:solidFill>
                  <a:srgbClr val="0F1115"/>
                </a:solidFill>
                <a:effectLst/>
                <a:latin typeface="quote-cjk-patch"/>
              </a:rPr>
              <a:t>?</a:t>
            </a:r>
          </a:p>
        </p:txBody>
      </p:sp>
      <p:graphicFrame>
        <p:nvGraphicFramePr>
          <p:cNvPr id="7" name="Table 6">
            <a:extLst>
              <a:ext uri="{FF2B5EF4-FFF2-40B4-BE49-F238E27FC236}">
                <a16:creationId xmlns:a16="http://schemas.microsoft.com/office/drawing/2014/main" id="{77E039E6-F127-B14F-D5B2-4C0B155BCA3B}"/>
              </a:ext>
            </a:extLst>
          </p:cNvPr>
          <p:cNvGraphicFramePr>
            <a:graphicFrameLocks noGrp="1"/>
          </p:cNvGraphicFramePr>
          <p:nvPr>
            <p:extLst>
              <p:ext uri="{D42A27DB-BD31-4B8C-83A1-F6EECF244321}">
                <p14:modId xmlns:p14="http://schemas.microsoft.com/office/powerpoint/2010/main" val="311474428"/>
              </p:ext>
            </p:extLst>
          </p:nvPr>
        </p:nvGraphicFramePr>
        <p:xfrm>
          <a:off x="668713" y="2194121"/>
          <a:ext cx="4775200" cy="2074164"/>
        </p:xfrm>
        <a:graphic>
          <a:graphicData uri="http://schemas.openxmlformats.org/drawingml/2006/table">
            <a:tbl>
              <a:tblPr>
                <a:tableStyleId>{5C22544A-7EE6-4342-B048-85BDC9FD1C3A}</a:tableStyleId>
              </a:tblPr>
              <a:tblGrid>
                <a:gridCol w="2387600">
                  <a:extLst>
                    <a:ext uri="{9D8B030D-6E8A-4147-A177-3AD203B41FA5}">
                      <a16:colId xmlns:a16="http://schemas.microsoft.com/office/drawing/2014/main" val="2194030736"/>
                    </a:ext>
                  </a:extLst>
                </a:gridCol>
                <a:gridCol w="2387600">
                  <a:extLst>
                    <a:ext uri="{9D8B030D-6E8A-4147-A177-3AD203B41FA5}">
                      <a16:colId xmlns:a16="http://schemas.microsoft.com/office/drawing/2014/main" val="1668460650"/>
                    </a:ext>
                  </a:extLst>
                </a:gridCol>
              </a:tblGrid>
              <a:tr h="0">
                <a:tc>
                  <a:txBody>
                    <a:bodyPr/>
                    <a:lstStyle/>
                    <a:p>
                      <a:pPr algn="l">
                        <a:lnSpc>
                          <a:spcPts val="1875"/>
                        </a:lnSpc>
                        <a:buNone/>
                      </a:pPr>
                      <a:r>
                        <a:rPr lang="en-US" sz="1125" b="1" dirty="0">
                          <a:solidFill>
                            <a:srgbClr val="0F1115"/>
                          </a:solidFill>
                          <a:effectLst/>
                        </a:rPr>
                        <a:t>Benefit</a:t>
                      </a:r>
                      <a:endParaRPr lang="en-US" sz="1125" b="1" i="0" dirty="0">
                        <a:solidFill>
                          <a:srgbClr val="0F1115"/>
                        </a:solidFill>
                        <a:effectLst/>
                        <a:latin typeface="quote-cjk-patch"/>
                      </a:endParaRPr>
                    </a:p>
                  </a:txBody>
                  <a:tcPr marR="101600" marT="63500" marB="635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l">
                        <a:lnSpc>
                          <a:spcPts val="1875"/>
                        </a:lnSpc>
                        <a:buNone/>
                      </a:pPr>
                      <a:r>
                        <a:rPr lang="en-US" sz="1125" b="1" dirty="0">
                          <a:solidFill>
                            <a:srgbClr val="0F1115"/>
                          </a:solidFill>
                          <a:effectLst/>
                        </a:rPr>
                        <a:t>Explanation</a:t>
                      </a:r>
                      <a:endParaRPr lang="en-US" sz="1125" b="1" i="0" dirty="0">
                        <a:solidFill>
                          <a:srgbClr val="0F1115"/>
                        </a:solidFill>
                        <a:effectLst/>
                        <a:latin typeface="quote-cjk-patch"/>
                      </a:endParaRPr>
                    </a:p>
                  </a:txBody>
                  <a:tcPr marL="101600" marR="101600" marT="63500" marB="635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787406616"/>
                  </a:ext>
                </a:extLst>
              </a:tr>
              <a:tr h="0">
                <a:tc>
                  <a:txBody>
                    <a:bodyPr/>
                    <a:lstStyle/>
                    <a:p>
                      <a:pPr algn="l">
                        <a:lnSpc>
                          <a:spcPts val="1875"/>
                        </a:lnSpc>
                        <a:buNone/>
                      </a:pPr>
                      <a:r>
                        <a:rPr lang="en-US" sz="1125" b="1" dirty="0">
                          <a:solidFill>
                            <a:srgbClr val="0F1115"/>
                          </a:solidFill>
                          <a:effectLst/>
                        </a:rPr>
                        <a:t>Safety</a:t>
                      </a:r>
                      <a:endParaRPr lang="en-US" sz="1125" b="0" i="0" dirty="0">
                        <a:solidFill>
                          <a:srgbClr val="0F1115"/>
                        </a:solidFill>
                        <a:effectLst/>
                        <a:latin typeface="quote-cjk-patch"/>
                      </a:endParaRPr>
                    </a:p>
                  </a:txBody>
                  <a:tcPr marR="101600" marT="63500" marB="63500" anchor="ctr">
                    <a:lnL w="12700" cap="flat" cmpd="sng" algn="ctr">
                      <a:solidFill>
                        <a:schemeClr val="tx1"/>
                      </a:solidFill>
                      <a:prstDash val="solid"/>
                      <a:round/>
                      <a:headEnd type="none" w="med" len="med"/>
                      <a:tailEnd type="none" w="med" len="med"/>
                    </a:lnL>
                  </a:tcPr>
                </a:tc>
                <a:tc>
                  <a:txBody>
                    <a:bodyPr/>
                    <a:lstStyle/>
                    <a:p>
                      <a:pPr algn="l">
                        <a:lnSpc>
                          <a:spcPts val="1875"/>
                        </a:lnSpc>
                        <a:buNone/>
                      </a:pPr>
                      <a:r>
                        <a:rPr lang="en-US" sz="1125" b="0">
                          <a:solidFill>
                            <a:srgbClr val="0F1115"/>
                          </a:solidFill>
                          <a:effectLst/>
                        </a:rPr>
                        <a:t>Prevents accidental modification</a:t>
                      </a:r>
                      <a:endParaRPr lang="en-US" sz="1125" b="0" i="0">
                        <a:solidFill>
                          <a:srgbClr val="0F1115"/>
                        </a:solidFill>
                        <a:effectLst/>
                        <a:latin typeface="quote-cjk-patch"/>
                      </a:endParaRPr>
                    </a:p>
                  </a:txBody>
                  <a:tcPr marL="101600" marT="63500" marB="6350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414906046"/>
                  </a:ext>
                </a:extLst>
              </a:tr>
              <a:tr h="0">
                <a:tc>
                  <a:txBody>
                    <a:bodyPr/>
                    <a:lstStyle/>
                    <a:p>
                      <a:pPr algn="l">
                        <a:lnSpc>
                          <a:spcPts val="1875"/>
                        </a:lnSpc>
                        <a:buNone/>
                      </a:pPr>
                      <a:r>
                        <a:rPr lang="en-US" sz="1125" b="1">
                          <a:solidFill>
                            <a:srgbClr val="0F1115"/>
                          </a:solidFill>
                          <a:effectLst/>
                        </a:rPr>
                        <a:t>Clarity</a:t>
                      </a:r>
                      <a:endParaRPr lang="en-US" sz="1125" b="0" i="0">
                        <a:solidFill>
                          <a:srgbClr val="0F1115"/>
                        </a:solidFill>
                        <a:effectLst/>
                        <a:latin typeface="quote-cjk-patch"/>
                      </a:endParaRPr>
                    </a:p>
                  </a:txBody>
                  <a:tcPr marR="101600" marT="63500" marB="63500" anchor="ctr">
                    <a:lnL w="12700" cap="flat" cmpd="sng" algn="ctr">
                      <a:solidFill>
                        <a:schemeClr val="tx1"/>
                      </a:solidFill>
                      <a:prstDash val="solid"/>
                      <a:round/>
                      <a:headEnd type="none" w="med" len="med"/>
                      <a:tailEnd type="none" w="med" len="med"/>
                    </a:lnL>
                  </a:tcPr>
                </a:tc>
                <a:tc>
                  <a:txBody>
                    <a:bodyPr/>
                    <a:lstStyle/>
                    <a:p>
                      <a:pPr algn="l">
                        <a:lnSpc>
                          <a:spcPts val="1875"/>
                        </a:lnSpc>
                        <a:buNone/>
                      </a:pPr>
                      <a:r>
                        <a:rPr lang="en-US" sz="1125" b="0">
                          <a:solidFill>
                            <a:srgbClr val="0F1115"/>
                          </a:solidFill>
                          <a:effectLst/>
                        </a:rPr>
                        <a:t>Documents intent in code</a:t>
                      </a:r>
                      <a:endParaRPr lang="en-US" sz="1125" b="0" i="0">
                        <a:solidFill>
                          <a:srgbClr val="0F1115"/>
                        </a:solidFill>
                        <a:effectLst/>
                        <a:latin typeface="quote-cjk-patch"/>
                      </a:endParaRPr>
                    </a:p>
                  </a:txBody>
                  <a:tcPr marL="101600" marT="63500" marB="6350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65468631"/>
                  </a:ext>
                </a:extLst>
              </a:tr>
              <a:tr h="0">
                <a:tc>
                  <a:txBody>
                    <a:bodyPr/>
                    <a:lstStyle/>
                    <a:p>
                      <a:pPr algn="l">
                        <a:lnSpc>
                          <a:spcPts val="1875"/>
                        </a:lnSpc>
                        <a:buNone/>
                      </a:pPr>
                      <a:r>
                        <a:rPr lang="en-US" sz="1125" b="1">
                          <a:solidFill>
                            <a:srgbClr val="0F1115"/>
                          </a:solidFill>
                          <a:effectLst/>
                        </a:rPr>
                        <a:t>Optimization</a:t>
                      </a:r>
                      <a:endParaRPr lang="en-US" sz="1125" b="0" i="0">
                        <a:solidFill>
                          <a:srgbClr val="0F1115"/>
                        </a:solidFill>
                        <a:effectLst/>
                        <a:latin typeface="quote-cjk-patch"/>
                      </a:endParaRPr>
                    </a:p>
                  </a:txBody>
                  <a:tcPr marR="101600" marT="63500" marB="63500" anchor="ctr">
                    <a:lnL w="12700" cap="flat" cmpd="sng" algn="ctr">
                      <a:solidFill>
                        <a:schemeClr val="tx1"/>
                      </a:solidFill>
                      <a:prstDash val="solid"/>
                      <a:round/>
                      <a:headEnd type="none" w="med" len="med"/>
                      <a:tailEnd type="none" w="med" len="med"/>
                    </a:lnL>
                  </a:tcPr>
                </a:tc>
                <a:tc>
                  <a:txBody>
                    <a:bodyPr/>
                    <a:lstStyle/>
                    <a:p>
                      <a:pPr algn="l">
                        <a:lnSpc>
                          <a:spcPts val="1875"/>
                        </a:lnSpc>
                        <a:buNone/>
                      </a:pPr>
                      <a:r>
                        <a:rPr lang="en-US" sz="1125" b="0">
                          <a:solidFill>
                            <a:srgbClr val="0F1115"/>
                          </a:solidFill>
                          <a:effectLst/>
                        </a:rPr>
                        <a:t>Enables compiler optimizations</a:t>
                      </a:r>
                      <a:endParaRPr lang="en-US" sz="1125" b="0" i="0">
                        <a:solidFill>
                          <a:srgbClr val="0F1115"/>
                        </a:solidFill>
                        <a:effectLst/>
                        <a:latin typeface="quote-cjk-patch"/>
                      </a:endParaRPr>
                    </a:p>
                  </a:txBody>
                  <a:tcPr marL="101600" marT="63500" marB="6350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955417054"/>
                  </a:ext>
                </a:extLst>
              </a:tr>
              <a:tr h="0">
                <a:tc>
                  <a:txBody>
                    <a:bodyPr/>
                    <a:lstStyle/>
                    <a:p>
                      <a:pPr algn="l">
                        <a:lnSpc>
                          <a:spcPts val="1875"/>
                        </a:lnSpc>
                        <a:buNone/>
                      </a:pPr>
                      <a:r>
                        <a:rPr lang="en-US" sz="1125" b="1">
                          <a:solidFill>
                            <a:srgbClr val="0F1115"/>
                          </a:solidFill>
                          <a:effectLst/>
                        </a:rPr>
                        <a:t>Correctness</a:t>
                      </a:r>
                      <a:endParaRPr lang="en-US" sz="1125" b="0" i="0">
                        <a:solidFill>
                          <a:srgbClr val="0F1115"/>
                        </a:solidFill>
                        <a:effectLst/>
                        <a:latin typeface="quote-cjk-patch"/>
                      </a:endParaRPr>
                    </a:p>
                  </a:txBody>
                  <a:tcPr marR="101600" marT="63500" marB="63500" anchor="ctr">
                    <a:lnL w="12700" cap="flat" cmpd="sng" algn="ctr">
                      <a:solidFill>
                        <a:schemeClr val="tx1"/>
                      </a:solidFill>
                      <a:prstDash val="solid"/>
                      <a:round/>
                      <a:headEnd type="none" w="med" len="med"/>
                      <a:tailEnd type="none" w="med" len="med"/>
                    </a:lnL>
                  </a:tcPr>
                </a:tc>
                <a:tc>
                  <a:txBody>
                    <a:bodyPr/>
                    <a:lstStyle/>
                    <a:p>
                      <a:pPr algn="l">
                        <a:lnSpc>
                          <a:spcPts val="1875"/>
                        </a:lnSpc>
                        <a:buNone/>
                      </a:pPr>
                      <a:r>
                        <a:rPr lang="en-US" sz="1125" b="0">
                          <a:solidFill>
                            <a:srgbClr val="0F1115"/>
                          </a:solidFill>
                          <a:effectLst/>
                        </a:rPr>
                        <a:t>Enforces design constraints</a:t>
                      </a:r>
                      <a:endParaRPr lang="en-US" sz="1125" b="0" i="0">
                        <a:solidFill>
                          <a:srgbClr val="0F1115"/>
                        </a:solidFill>
                        <a:effectLst/>
                        <a:latin typeface="quote-cjk-patch"/>
                      </a:endParaRPr>
                    </a:p>
                  </a:txBody>
                  <a:tcPr marL="101600" marT="63500" marB="6350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686723715"/>
                  </a:ext>
                </a:extLst>
              </a:tr>
              <a:tr h="0">
                <a:tc>
                  <a:txBody>
                    <a:bodyPr/>
                    <a:lstStyle/>
                    <a:p>
                      <a:pPr algn="l">
                        <a:lnSpc>
                          <a:spcPts val="1875"/>
                        </a:lnSpc>
                        <a:buNone/>
                      </a:pPr>
                      <a:r>
                        <a:rPr lang="en-US" sz="1125" b="1">
                          <a:solidFill>
                            <a:srgbClr val="0F1115"/>
                          </a:solidFill>
                          <a:effectLst/>
                        </a:rPr>
                        <a:t>Thread Safety</a:t>
                      </a:r>
                      <a:endParaRPr lang="en-US" sz="1125" b="0" i="0">
                        <a:solidFill>
                          <a:srgbClr val="0F1115"/>
                        </a:solidFill>
                        <a:effectLst/>
                        <a:latin typeface="quote-cjk-patch"/>
                      </a:endParaRPr>
                    </a:p>
                  </a:txBody>
                  <a:tcPr marR="101600" marT="63500" marB="6350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l">
                        <a:lnSpc>
                          <a:spcPts val="1875"/>
                        </a:lnSpc>
                        <a:buNone/>
                      </a:pPr>
                      <a:r>
                        <a:rPr lang="en-US" sz="1125" b="0" dirty="0">
                          <a:solidFill>
                            <a:srgbClr val="0F1115"/>
                          </a:solidFill>
                          <a:effectLst/>
                        </a:rPr>
                        <a:t>Immutable objects are thread-safe</a:t>
                      </a:r>
                      <a:endParaRPr lang="en-US" sz="1125" b="0" i="0" dirty="0">
                        <a:solidFill>
                          <a:srgbClr val="0F1115"/>
                        </a:solidFill>
                        <a:effectLst/>
                        <a:latin typeface="quote-cjk-patch"/>
                      </a:endParaRPr>
                    </a:p>
                  </a:txBody>
                  <a:tcPr marL="101600" marT="63500" marB="635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2615096"/>
                  </a:ext>
                </a:extLst>
              </a:tr>
            </a:tbl>
          </a:graphicData>
        </a:graphic>
      </p:graphicFrame>
      <p:sp>
        <p:nvSpPr>
          <p:cNvPr id="10" name="TextBox 9">
            <a:extLst>
              <a:ext uri="{FF2B5EF4-FFF2-40B4-BE49-F238E27FC236}">
                <a16:creationId xmlns:a16="http://schemas.microsoft.com/office/drawing/2014/main" id="{9DC82A2A-876B-4BB6-EADB-FFC8CCC95E60}"/>
              </a:ext>
            </a:extLst>
          </p:cNvPr>
          <p:cNvSpPr txBox="1"/>
          <p:nvPr/>
        </p:nvSpPr>
        <p:spPr>
          <a:xfrm>
            <a:off x="653487" y="4326721"/>
            <a:ext cx="6094602" cy="364331"/>
          </a:xfrm>
          <a:prstGeom prst="rect">
            <a:avLst/>
          </a:prstGeom>
          <a:noFill/>
        </p:spPr>
        <p:txBody>
          <a:bodyPr wrap="square">
            <a:spAutoFit/>
          </a:bodyPr>
          <a:lstStyle/>
          <a:p>
            <a:pPr marL="0" marR="0" indent="0" algn="l">
              <a:lnSpc>
                <a:spcPts val="2250"/>
              </a:lnSpc>
              <a:spcBef>
                <a:spcPts val="2400"/>
              </a:spcBef>
              <a:spcAft>
                <a:spcPts val="1200"/>
              </a:spcAft>
              <a:buNone/>
            </a:pPr>
            <a:r>
              <a:rPr lang="en-US" sz="1400" b="1" dirty="0">
                <a:solidFill>
                  <a:srgbClr val="0F1115"/>
                </a:solidFill>
                <a:effectLst/>
              </a:rPr>
              <a:t>Basic Syntax</a:t>
            </a:r>
          </a:p>
        </p:txBody>
      </p:sp>
      <p:sp>
        <p:nvSpPr>
          <p:cNvPr id="12" name="Text 2">
            <a:extLst>
              <a:ext uri="{FF2B5EF4-FFF2-40B4-BE49-F238E27FC236}">
                <a16:creationId xmlns:a16="http://schemas.microsoft.com/office/drawing/2014/main" id="{DCDAC098-0C0E-40BA-7025-C8E985819FCA}"/>
              </a:ext>
            </a:extLst>
          </p:cNvPr>
          <p:cNvSpPr/>
          <p:nvPr/>
        </p:nvSpPr>
        <p:spPr>
          <a:xfrm>
            <a:off x="653487" y="5870337"/>
            <a:ext cx="11091672" cy="738664"/>
          </a:xfrm>
          <a:prstGeom prst="rect">
            <a:avLst/>
          </a:prstGeom>
          <a:solidFill>
            <a:srgbClr val="F2F2F2"/>
          </a:solidFill>
          <a:ln w="9525">
            <a:solidFill>
              <a:srgbClr val="000000"/>
            </a:solidFill>
          </a:ln>
        </p:spPr>
        <p:txBody>
          <a:bodyPr wrap="square" lIns="152400" tIns="152400" rIns="152400" bIns="152400" rtlCol="0" anchor="t">
            <a:spAutoFit/>
          </a:bodyPr>
          <a:lstStyle/>
          <a:p>
            <a:pPr latinLnBrk="1"/>
            <a:r>
              <a:rPr lang="en-US" sz="1400" dirty="0">
                <a:latin typeface="Courier New" panose="02070309020205020404" pitchFamily="49" charset="0"/>
                <a:cs typeface="Courier New" panose="02070309020205020404" pitchFamily="49" charset="0"/>
              </a:rPr>
              <a:t>const int x;        </a:t>
            </a:r>
            <a:r>
              <a:rPr lang="en-US" sz="1400" i="1" dirty="0">
                <a:latin typeface="Courier New" panose="02070309020205020404" pitchFamily="49" charset="0"/>
                <a:cs typeface="Courier New" panose="02070309020205020404" pitchFamily="49" charset="0"/>
              </a:rPr>
              <a:t>// </a:t>
            </a:r>
            <a:r>
              <a:rPr lang="en-US" sz="1400" dirty="0">
                <a:latin typeface="Courier New" panose="02070309020205020404" pitchFamily="49" charset="0"/>
                <a:cs typeface="Courier New" panose="02070309020205020404" pitchFamily="49" charset="0"/>
              </a:rPr>
              <a:t>❌</a:t>
            </a:r>
            <a:r>
              <a:rPr lang="en-US" sz="1400" i="1" dirty="0">
                <a:latin typeface="Courier New" panose="02070309020205020404" pitchFamily="49" charset="0"/>
                <a:cs typeface="Courier New" panose="02070309020205020404" pitchFamily="49" charset="0"/>
              </a:rPr>
              <a:t> ERROR: uninitialized const</a:t>
            </a:r>
            <a:endParaRPr lang="en-US" sz="1400" dirty="0">
              <a:latin typeface="Courier New" panose="02070309020205020404" pitchFamily="49" charset="0"/>
              <a:cs typeface="Courier New" panose="02070309020205020404" pitchFamily="49" charset="0"/>
            </a:endParaRPr>
          </a:p>
          <a:p>
            <a:pPr latinLnBrk="1"/>
            <a:r>
              <a:rPr lang="en-US" sz="1400" dirty="0">
                <a:latin typeface="Courier New" panose="02070309020205020404" pitchFamily="49" charset="0"/>
                <a:cs typeface="Courier New" panose="02070309020205020404" pitchFamily="49" charset="0"/>
              </a:rPr>
              <a:t>const int y = 10;   </a:t>
            </a:r>
            <a:r>
              <a:rPr lang="en-US" sz="1400" i="1" dirty="0">
                <a:latin typeface="Courier New" panose="02070309020205020404" pitchFamily="49" charset="0"/>
                <a:cs typeface="Courier New" panose="02070309020205020404" pitchFamily="49" charset="0"/>
              </a:rPr>
              <a:t>// </a:t>
            </a:r>
            <a:r>
              <a:rPr lang="en-US" sz="1400" dirty="0">
                <a:latin typeface="Courier New" panose="02070309020205020404" pitchFamily="49" charset="0"/>
                <a:cs typeface="Courier New" panose="02070309020205020404" pitchFamily="49" charset="0"/>
              </a:rPr>
              <a:t>✅</a:t>
            </a:r>
            <a:r>
              <a:rPr lang="en-US" sz="1400" i="1" dirty="0">
                <a:latin typeface="Courier New" panose="02070309020205020404" pitchFamily="49" charset="0"/>
                <a:cs typeface="Courier New" panose="02070309020205020404" pitchFamily="49" charset="0"/>
              </a:rPr>
              <a:t> Correct: initialized</a:t>
            </a:r>
            <a:endParaRPr lang="en-US" sz="1400" dirty="0">
              <a:latin typeface="Courier New" panose="02070309020205020404" pitchFamily="49" charset="0"/>
              <a:cs typeface="Courier New" panose="02070309020205020404" pitchFamily="49" charset="0"/>
            </a:endParaRPr>
          </a:p>
        </p:txBody>
      </p:sp>
      <p:sp>
        <p:nvSpPr>
          <p:cNvPr id="14" name="TextBox 13">
            <a:extLst>
              <a:ext uri="{FF2B5EF4-FFF2-40B4-BE49-F238E27FC236}">
                <a16:creationId xmlns:a16="http://schemas.microsoft.com/office/drawing/2014/main" id="{6CFE8359-C990-7A6D-21A0-36F56605E054}"/>
              </a:ext>
            </a:extLst>
          </p:cNvPr>
          <p:cNvSpPr txBox="1"/>
          <p:nvPr/>
        </p:nvSpPr>
        <p:spPr>
          <a:xfrm>
            <a:off x="653487" y="5597232"/>
            <a:ext cx="6094602" cy="307777"/>
          </a:xfrm>
          <a:prstGeom prst="rect">
            <a:avLst/>
          </a:prstGeom>
          <a:noFill/>
        </p:spPr>
        <p:txBody>
          <a:bodyPr wrap="square">
            <a:spAutoFit/>
          </a:bodyPr>
          <a:lstStyle/>
          <a:p>
            <a:pPr marL="0" marR="0" indent="0" algn="l">
              <a:spcBef>
                <a:spcPts val="2400"/>
              </a:spcBef>
              <a:spcAft>
                <a:spcPts val="1200"/>
              </a:spcAft>
              <a:buNone/>
            </a:pPr>
            <a:r>
              <a:rPr lang="en-US" sz="1400" b="1" dirty="0">
                <a:solidFill>
                  <a:srgbClr val="0F1115"/>
                </a:solidFill>
                <a:effectLst/>
              </a:rPr>
              <a:t>Must be initialized</a:t>
            </a:r>
          </a:p>
        </p:txBody>
      </p:sp>
    </p:spTree>
    <p:extLst>
      <p:ext uri="{BB962C8B-B14F-4D97-AF65-F5344CB8AC3E}">
        <p14:creationId xmlns:p14="http://schemas.microsoft.com/office/powerpoint/2010/main" val="33636706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45DA9-745E-4AF6-1F9E-17174BB87C1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A8FCF68-CF7E-128A-E112-337F2F63DCED}"/>
              </a:ext>
            </a:extLst>
          </p:cNvPr>
          <p:cNvSpPr/>
          <p:nvPr/>
        </p:nvSpPr>
        <p:spPr>
          <a:xfrm>
            <a:off x="548640" y="28187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
        <p:nvSpPr>
          <p:cNvPr id="3" name="Text 1">
            <a:extLst>
              <a:ext uri="{FF2B5EF4-FFF2-40B4-BE49-F238E27FC236}">
                <a16:creationId xmlns:a16="http://schemas.microsoft.com/office/drawing/2014/main" id="{C56EFA6B-27C1-83D7-6A64-AB1552EFDC0D}"/>
              </a:ext>
            </a:extLst>
          </p:cNvPr>
          <p:cNvSpPr/>
          <p:nvPr/>
        </p:nvSpPr>
        <p:spPr>
          <a:xfrm>
            <a:off x="548640" y="649308"/>
            <a:ext cx="11091672" cy="54864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Constant</a:t>
            </a:r>
            <a:endParaRPr lang="en-US" sz="2200" dirty="0"/>
          </a:p>
        </p:txBody>
      </p:sp>
      <p:sp>
        <p:nvSpPr>
          <p:cNvPr id="4" name="Text 2">
            <a:extLst>
              <a:ext uri="{FF2B5EF4-FFF2-40B4-BE49-F238E27FC236}">
                <a16:creationId xmlns:a16="http://schemas.microsoft.com/office/drawing/2014/main" id="{3922B1F3-3862-1037-FBF5-49BD519AD9C1}"/>
              </a:ext>
            </a:extLst>
          </p:cNvPr>
          <p:cNvSpPr/>
          <p:nvPr/>
        </p:nvSpPr>
        <p:spPr>
          <a:xfrm>
            <a:off x="615752" y="1292324"/>
            <a:ext cx="11091672" cy="5486400"/>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200" dirty="0">
                <a:latin typeface="Courier New" panose="02070309020205020404" pitchFamily="49" charset="0"/>
                <a:cs typeface="Courier New" panose="02070309020205020404" pitchFamily="49" charset="0"/>
              </a:rPr>
              <a:t>#include &lt;iostream&gt;</a:t>
            </a:r>
          </a:p>
          <a:p>
            <a:r>
              <a:rPr lang="en-US" sz="1200" dirty="0">
                <a:latin typeface="Courier New" panose="02070309020205020404" pitchFamily="49" charset="0"/>
                <a:cs typeface="Courier New" panose="02070309020205020404" pitchFamily="49" charset="0"/>
              </a:rPr>
              <a:t>using namespace std;</a:t>
            </a:r>
          </a:p>
          <a:p>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class student {</a:t>
            </a:r>
          </a:p>
          <a:p>
            <a:r>
              <a:rPr lang="en-US" sz="1200" dirty="0">
                <a:latin typeface="Courier New" panose="02070309020205020404" pitchFamily="49" charset="0"/>
                <a:cs typeface="Courier New" panose="02070309020205020404" pitchFamily="49" charset="0"/>
              </a:rPr>
              <a:t>public:</a:t>
            </a:r>
          </a:p>
          <a:p>
            <a:r>
              <a:rPr lang="en-US" sz="1200" dirty="0">
                <a:latin typeface="Courier New" panose="02070309020205020404" pitchFamily="49" charset="0"/>
                <a:cs typeface="Courier New" panose="02070309020205020404" pitchFamily="49" charset="0"/>
              </a:rPr>
              <a:t>    int n;</a:t>
            </a:r>
          </a:p>
          <a:p>
            <a:r>
              <a:rPr lang="en-US" sz="1200" dirty="0">
                <a:latin typeface="Courier New" panose="02070309020205020404" pitchFamily="49" charset="0"/>
                <a:cs typeface="Courier New" panose="02070309020205020404" pitchFamily="49" charset="0"/>
              </a:rPr>
              <a:t>    // Constructor</a:t>
            </a:r>
          </a:p>
          <a:p>
            <a:r>
              <a:rPr lang="en-US" sz="1200" dirty="0">
                <a:latin typeface="Courier New" panose="02070309020205020404" pitchFamily="49" charset="0"/>
                <a:cs typeface="Courier New" panose="02070309020205020404" pitchFamily="49" charset="0"/>
              </a:rPr>
              <a:t>    student(int a) : n(a) {}</a:t>
            </a:r>
          </a:p>
          <a:p>
            <a:r>
              <a:rPr lang="en-US" sz="1200" dirty="0">
                <a:latin typeface="Courier New" panose="02070309020205020404" pitchFamily="49" charset="0"/>
                <a:cs typeface="Courier New" panose="02070309020205020404" pitchFamily="49" charset="0"/>
              </a:rPr>
              <a:t>    </a:t>
            </a:r>
          </a:p>
          <a:p>
            <a:r>
              <a:rPr lang="en-US" sz="1200" dirty="0">
                <a:latin typeface="Courier New" panose="02070309020205020404" pitchFamily="49" charset="0"/>
                <a:cs typeface="Courier New" panose="02070309020205020404" pitchFamily="49" charset="0"/>
              </a:rPr>
              <a:t>    // Const member function to display n</a:t>
            </a:r>
          </a:p>
          <a:p>
            <a:r>
              <a:rPr lang="en-US" sz="1200" dirty="0">
                <a:latin typeface="Courier New" panose="02070309020205020404" pitchFamily="49" charset="0"/>
                <a:cs typeface="Courier New" panose="02070309020205020404" pitchFamily="49" charset="0"/>
              </a:rPr>
              <a:t>    void show() const {</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cout</a:t>
            </a:r>
            <a:r>
              <a:rPr lang="en-US" sz="1200" dirty="0">
                <a:latin typeface="Courier New" panose="02070309020205020404" pitchFamily="49" charset="0"/>
                <a:cs typeface="Courier New" panose="02070309020205020404" pitchFamily="49" charset="0"/>
              </a:rPr>
              <a:t> &lt;&lt; n &lt;&lt; </a:t>
            </a:r>
            <a:r>
              <a:rPr lang="en-US" sz="1200" dirty="0" err="1">
                <a:latin typeface="Courier New" panose="02070309020205020404" pitchFamily="49" charset="0"/>
                <a:cs typeface="Courier New" panose="02070309020205020404" pitchFamily="49" charset="0"/>
              </a:rPr>
              <a:t>endl</a:t>
            </a:r>
            <a:r>
              <a:rPr lang="en-US" sz="1200" dirty="0">
                <a:latin typeface="Courier New" panose="02070309020205020404" pitchFamily="49" charset="0"/>
                <a:cs typeface="Courier New" panose="02070309020205020404" pitchFamily="49" charset="0"/>
              </a:rPr>
              <a:t>;</a:t>
            </a:r>
          </a:p>
          <a:p>
            <a:r>
              <a:rPr lang="en-US" sz="1200" dirty="0">
                <a:latin typeface="Courier New" panose="02070309020205020404" pitchFamily="49" charset="0"/>
                <a:cs typeface="Courier New" panose="02070309020205020404" pitchFamily="49" charset="0"/>
              </a:rPr>
              <a:t>    }</a:t>
            </a:r>
          </a:p>
          <a:p>
            <a:r>
              <a:rPr lang="en-US" sz="1200" dirty="0">
                <a:latin typeface="Courier New" panose="02070309020205020404" pitchFamily="49" charset="0"/>
                <a:cs typeface="Courier New" panose="02070309020205020404" pitchFamily="49" charset="0"/>
              </a:rPr>
              <a:t>    </a:t>
            </a:r>
          </a:p>
          <a:p>
            <a:r>
              <a:rPr lang="en-US" sz="1200" dirty="0">
                <a:latin typeface="Courier New" panose="02070309020205020404" pitchFamily="49" charset="0"/>
                <a:cs typeface="Courier New" panose="02070309020205020404" pitchFamily="49" charset="0"/>
              </a:rPr>
              <a:t>    // Modify function (corrected logic)</a:t>
            </a:r>
          </a:p>
          <a:p>
            <a:r>
              <a:rPr lang="en-US" sz="1200" dirty="0">
                <a:latin typeface="Courier New" panose="02070309020205020404" pitchFamily="49" charset="0"/>
                <a:cs typeface="Courier New" panose="02070309020205020404" pitchFamily="49" charset="0"/>
              </a:rPr>
              <a:t>    void modify(int a) {</a:t>
            </a:r>
          </a:p>
          <a:p>
            <a:r>
              <a:rPr lang="en-US" sz="1200" dirty="0">
                <a:latin typeface="Courier New" panose="02070309020205020404" pitchFamily="49" charset="0"/>
                <a:cs typeface="Courier New" panose="02070309020205020404" pitchFamily="49" charset="0"/>
              </a:rPr>
              <a:t>        n = a;  // Assuming 'q' was meant to be 'n'</a:t>
            </a:r>
          </a:p>
          <a:p>
            <a:r>
              <a:rPr lang="en-US" sz="1200" dirty="0">
                <a:latin typeface="Courier New" panose="02070309020205020404" pitchFamily="49" charset="0"/>
                <a:cs typeface="Courier New" panose="02070309020205020404" pitchFamily="49" charset="0"/>
              </a:rPr>
              <a:t>    }</a:t>
            </a:r>
          </a:p>
          <a:p>
            <a:r>
              <a:rPr lang="en-US" sz="1200" dirty="0">
                <a:latin typeface="Courier New" panose="02070309020205020404" pitchFamily="49" charset="0"/>
                <a:cs typeface="Courier New" panose="02070309020205020404" pitchFamily="49" charset="0"/>
              </a:rPr>
              <a:t>};</a:t>
            </a:r>
          </a:p>
          <a:p>
            <a:r>
              <a:rPr lang="en-US" sz="1200" dirty="0">
                <a:latin typeface="Courier New" panose="02070309020205020404" pitchFamily="49" charset="0"/>
                <a:cs typeface="Courier New" panose="02070309020205020404" pitchFamily="49" charset="0"/>
              </a:rPr>
              <a:t>int main() {</a:t>
            </a:r>
          </a:p>
          <a:p>
            <a:r>
              <a:rPr lang="en-US" sz="1200" dirty="0">
                <a:latin typeface="Courier New" panose="02070309020205020404" pitchFamily="49" charset="0"/>
                <a:cs typeface="Courier New" panose="02070309020205020404" pitchFamily="49" charset="0"/>
              </a:rPr>
              <a:t>    // Create student object with value 50</a:t>
            </a:r>
          </a:p>
          <a:p>
            <a:r>
              <a:rPr lang="en-US" sz="1200" dirty="0">
                <a:latin typeface="Courier New" panose="02070309020205020404" pitchFamily="49" charset="0"/>
                <a:cs typeface="Courier New" panose="02070309020205020404" pitchFamily="49" charset="0"/>
              </a:rPr>
              <a:t>    student s1(10);</a:t>
            </a:r>
          </a:p>
          <a:p>
            <a:r>
              <a:rPr lang="en-US" sz="1200" dirty="0">
                <a:latin typeface="Courier New" panose="02070309020205020404" pitchFamily="49" charset="0"/>
                <a:cs typeface="Courier New" panose="02070309020205020404" pitchFamily="49" charset="0"/>
              </a:rPr>
              <a:t>    s1.modify(20);  // Modify n to 20</a:t>
            </a:r>
          </a:p>
          <a:p>
            <a:r>
              <a:rPr lang="en-US" sz="1200" dirty="0">
                <a:latin typeface="Courier New" panose="02070309020205020404" pitchFamily="49" charset="0"/>
                <a:cs typeface="Courier New" panose="02070309020205020404" pitchFamily="49" charset="0"/>
              </a:rPr>
              <a:t>    </a:t>
            </a:r>
          </a:p>
          <a:p>
            <a:r>
              <a:rPr lang="en-US" sz="1200" dirty="0">
                <a:latin typeface="Courier New" panose="02070309020205020404" pitchFamily="49" charset="0"/>
                <a:cs typeface="Courier New" panose="02070309020205020404" pitchFamily="49" charset="0"/>
              </a:rPr>
              <a:t>    student s2(30);  // Const object can only call const functions</a:t>
            </a:r>
          </a:p>
          <a:p>
            <a:r>
              <a:rPr lang="en-US" sz="1200" dirty="0">
                <a:latin typeface="Courier New" panose="02070309020205020404" pitchFamily="49" charset="0"/>
                <a:cs typeface="Courier New" panose="02070309020205020404" pitchFamily="49" charset="0"/>
              </a:rPr>
              <a:t>    s2.show();</a:t>
            </a:r>
          </a:p>
          <a:p>
            <a:r>
              <a:rPr lang="en-US" sz="1200" dirty="0">
                <a:latin typeface="Courier New" panose="02070309020205020404" pitchFamily="49" charset="0"/>
                <a:cs typeface="Courier New" panose="02070309020205020404" pitchFamily="49" charset="0"/>
              </a:rPr>
              <a:t>   </a:t>
            </a:r>
          </a:p>
          <a:p>
            <a:r>
              <a:rPr lang="en-US" sz="1200" dirty="0">
                <a:latin typeface="Courier New" panose="02070309020205020404" pitchFamily="49" charset="0"/>
                <a:cs typeface="Courier New" panose="02070309020205020404" pitchFamily="49" charset="0"/>
              </a:rPr>
              <a:t>    return 0;</a:t>
            </a:r>
          </a:p>
          <a:p>
            <a:r>
              <a:rPr lang="en-US" sz="12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5246102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83FD0-D6A7-7794-7E77-4DEBF340C03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0FE4AE1-45A7-06DA-25DE-37F1C9C7E113}"/>
              </a:ext>
            </a:extLst>
          </p:cNvPr>
          <p:cNvSpPr/>
          <p:nvPr/>
        </p:nvSpPr>
        <p:spPr>
          <a:xfrm>
            <a:off x="548640" y="28187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
        <p:nvSpPr>
          <p:cNvPr id="3" name="Text 1">
            <a:extLst>
              <a:ext uri="{FF2B5EF4-FFF2-40B4-BE49-F238E27FC236}">
                <a16:creationId xmlns:a16="http://schemas.microsoft.com/office/drawing/2014/main" id="{CEFA44C2-DC0F-63D4-0B3A-3315F8D881F9}"/>
              </a:ext>
            </a:extLst>
          </p:cNvPr>
          <p:cNvSpPr/>
          <p:nvPr/>
        </p:nvSpPr>
        <p:spPr>
          <a:xfrm>
            <a:off x="548640" y="649308"/>
            <a:ext cx="11091672" cy="54864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Enumeration</a:t>
            </a:r>
            <a:endParaRPr lang="en-US" sz="2200" dirty="0"/>
          </a:p>
        </p:txBody>
      </p:sp>
      <p:sp>
        <p:nvSpPr>
          <p:cNvPr id="4" name="Text 2">
            <a:extLst>
              <a:ext uri="{FF2B5EF4-FFF2-40B4-BE49-F238E27FC236}">
                <a16:creationId xmlns:a16="http://schemas.microsoft.com/office/drawing/2014/main" id="{BA3AC4B2-BDDF-05E1-1E48-55BA4786611D}"/>
              </a:ext>
            </a:extLst>
          </p:cNvPr>
          <p:cNvSpPr/>
          <p:nvPr/>
        </p:nvSpPr>
        <p:spPr>
          <a:xfrm>
            <a:off x="668713" y="2383311"/>
            <a:ext cx="11091672" cy="1231106"/>
          </a:xfrm>
          <a:prstGeom prst="rect">
            <a:avLst/>
          </a:prstGeom>
          <a:solidFill>
            <a:srgbClr val="F2F2F2"/>
          </a:solidFill>
          <a:ln w="9525">
            <a:solidFill>
              <a:srgbClr val="000000"/>
            </a:solidFill>
          </a:ln>
        </p:spPr>
        <p:txBody>
          <a:bodyPr wrap="square" lIns="152400" tIns="152400" rIns="152400" bIns="152400" rtlCol="0" anchor="t">
            <a:spAutoFit/>
          </a:bodyPr>
          <a:lstStyle/>
          <a:p>
            <a:pPr latinLnBrk="1"/>
            <a:r>
              <a:rPr lang="en-US" sz="1200" dirty="0" err="1">
                <a:latin typeface="Courier New" panose="02070309020205020404" pitchFamily="49" charset="0"/>
                <a:cs typeface="Courier New" panose="02070309020205020404" pitchFamily="49" charset="0"/>
              </a:rPr>
              <a:t>enum</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EnumName</a:t>
            </a:r>
            <a:r>
              <a:rPr lang="en-US" sz="1200" dirty="0">
                <a:latin typeface="Courier New" panose="02070309020205020404" pitchFamily="49" charset="0"/>
                <a:cs typeface="Courier New" panose="02070309020205020404" pitchFamily="49" charset="0"/>
              </a:rPr>
              <a:t> {</a:t>
            </a:r>
          </a:p>
          <a:p>
            <a:pPr latinLnBrk="1"/>
            <a:r>
              <a:rPr lang="en-US" sz="1200" dirty="0">
                <a:latin typeface="Courier New" panose="02070309020205020404" pitchFamily="49" charset="0"/>
                <a:cs typeface="Courier New" panose="02070309020205020404" pitchFamily="49" charset="0"/>
              </a:rPr>
              <a:t>    CONSTANT1,</a:t>
            </a:r>
          </a:p>
          <a:p>
            <a:pPr latinLnBrk="1"/>
            <a:r>
              <a:rPr lang="en-US" sz="1200" dirty="0">
                <a:latin typeface="Courier New" panose="02070309020205020404" pitchFamily="49" charset="0"/>
                <a:cs typeface="Courier New" panose="02070309020205020404" pitchFamily="49" charset="0"/>
              </a:rPr>
              <a:t>    CONSTANT2,</a:t>
            </a:r>
          </a:p>
          <a:p>
            <a:pPr latinLnBrk="1"/>
            <a:r>
              <a:rPr lang="en-US" sz="1200" dirty="0">
                <a:latin typeface="Courier New" panose="02070309020205020404" pitchFamily="49" charset="0"/>
                <a:cs typeface="Courier New" panose="02070309020205020404" pitchFamily="49" charset="0"/>
              </a:rPr>
              <a:t>    CONSTANT3</a:t>
            </a:r>
          </a:p>
          <a:p>
            <a:pPr latinLnBrk="1"/>
            <a:r>
              <a:rPr lang="en-US" sz="1200" dirty="0">
                <a:latin typeface="Courier New" panose="02070309020205020404" pitchFamily="49" charset="0"/>
                <a:cs typeface="Courier New" panose="02070309020205020404" pitchFamily="49" charset="0"/>
              </a:rPr>
              <a:t>};</a:t>
            </a:r>
          </a:p>
        </p:txBody>
      </p:sp>
      <p:sp>
        <p:nvSpPr>
          <p:cNvPr id="6" name="TextBox 5">
            <a:extLst>
              <a:ext uri="{FF2B5EF4-FFF2-40B4-BE49-F238E27FC236}">
                <a16:creationId xmlns:a16="http://schemas.microsoft.com/office/drawing/2014/main" id="{FED58F3A-2F34-960B-A388-172F34F6FED5}"/>
              </a:ext>
            </a:extLst>
          </p:cNvPr>
          <p:cNvSpPr txBox="1"/>
          <p:nvPr/>
        </p:nvSpPr>
        <p:spPr>
          <a:xfrm>
            <a:off x="668713" y="1293467"/>
            <a:ext cx="11091672" cy="861774"/>
          </a:xfrm>
          <a:prstGeom prst="rect">
            <a:avLst/>
          </a:prstGeom>
          <a:noFill/>
        </p:spPr>
        <p:txBody>
          <a:bodyPr wrap="square" rtlCol="0">
            <a:spAutoFit/>
          </a:bodyPr>
          <a:lstStyle/>
          <a:p>
            <a:pPr marL="285750" lvl="0" indent="-285750">
              <a:buFont typeface="Arial" panose="020B0604020202020204" pitchFamily="34" charset="0"/>
              <a:buChar char="•"/>
            </a:pPr>
            <a:r>
              <a:rPr lang="en-US" sz="1600" dirty="0"/>
              <a:t>An </a:t>
            </a:r>
            <a:r>
              <a:rPr lang="en-US" sz="1600" b="1" dirty="0"/>
              <a:t>enumeration</a:t>
            </a:r>
            <a:r>
              <a:rPr lang="en-US" sz="1600" dirty="0"/>
              <a:t> (</a:t>
            </a:r>
            <a:r>
              <a:rPr lang="en-US" sz="1600" dirty="0" err="1"/>
              <a:t>enum</a:t>
            </a:r>
            <a:r>
              <a:rPr lang="en-US" sz="1600" dirty="0"/>
              <a:t>) is a user-defined data type that consists of a set of </a:t>
            </a:r>
            <a:r>
              <a:rPr lang="en-US" sz="1600" b="1" dirty="0"/>
              <a:t>named integral constants</a:t>
            </a:r>
            <a:r>
              <a:rPr lang="en-US" sz="1600" dirty="0"/>
              <a:t>.</a:t>
            </a:r>
          </a:p>
          <a:p>
            <a:pPr marL="285750" lvl="0" indent="-285750">
              <a:buFont typeface="Arial" panose="020B0604020202020204" pitchFamily="34" charset="0"/>
              <a:buChar char="•"/>
            </a:pPr>
            <a:r>
              <a:rPr lang="en-US" sz="1600" dirty="0"/>
              <a:t>It allows you to assign meaningful names to integer values, making code more </a:t>
            </a:r>
            <a:r>
              <a:rPr lang="en-US" sz="1600" b="1" dirty="0"/>
              <a:t>readable</a:t>
            </a:r>
            <a:r>
              <a:rPr lang="en-US" sz="1600" dirty="0"/>
              <a:t> and </a:t>
            </a:r>
            <a:r>
              <a:rPr lang="en-US" sz="1600" b="1" dirty="0"/>
              <a:t>maintainable</a:t>
            </a:r>
            <a:r>
              <a:rPr lang="en-US" sz="1600" dirty="0"/>
              <a:t>.</a:t>
            </a:r>
          </a:p>
          <a:p>
            <a:pPr marL="285750" lvl="0" indent="-285750">
              <a:buFont typeface="Arial" panose="020B0604020202020204" pitchFamily="34" charset="0"/>
              <a:buChar char="•"/>
            </a:pPr>
            <a:r>
              <a:rPr lang="en-US" sz="1600" dirty="0"/>
              <a:t>Enums are defined using the </a:t>
            </a:r>
            <a:r>
              <a:rPr lang="en-US" sz="1600" dirty="0" err="1"/>
              <a:t>enum</a:t>
            </a:r>
            <a:r>
              <a:rPr lang="en-US" sz="1600" dirty="0"/>
              <a:t> keyword.</a:t>
            </a:r>
          </a:p>
        </p:txBody>
      </p:sp>
      <p:sp>
        <p:nvSpPr>
          <p:cNvPr id="7" name="TextBox 6">
            <a:extLst>
              <a:ext uri="{FF2B5EF4-FFF2-40B4-BE49-F238E27FC236}">
                <a16:creationId xmlns:a16="http://schemas.microsoft.com/office/drawing/2014/main" id="{4D97432A-6C2A-0A53-F2C4-F5CE78412023}"/>
              </a:ext>
            </a:extLst>
          </p:cNvPr>
          <p:cNvSpPr txBox="1"/>
          <p:nvPr/>
        </p:nvSpPr>
        <p:spPr>
          <a:xfrm>
            <a:off x="668713" y="2096871"/>
            <a:ext cx="675570" cy="307777"/>
          </a:xfrm>
          <a:prstGeom prst="rect">
            <a:avLst/>
          </a:prstGeom>
          <a:noFill/>
        </p:spPr>
        <p:txBody>
          <a:bodyPr wrap="none" rtlCol="0">
            <a:spAutoFit/>
          </a:bodyPr>
          <a:lstStyle/>
          <a:p>
            <a:r>
              <a:rPr lang="en-US" sz="1400" b="1" dirty="0"/>
              <a:t>Syntax</a:t>
            </a:r>
          </a:p>
        </p:txBody>
      </p:sp>
      <p:sp>
        <p:nvSpPr>
          <p:cNvPr id="9" name="TextBox 8">
            <a:extLst>
              <a:ext uri="{FF2B5EF4-FFF2-40B4-BE49-F238E27FC236}">
                <a16:creationId xmlns:a16="http://schemas.microsoft.com/office/drawing/2014/main" id="{9D1DCAE1-7849-4DEB-047F-1A43D5C263F1}"/>
              </a:ext>
            </a:extLst>
          </p:cNvPr>
          <p:cNvSpPr txBox="1"/>
          <p:nvPr/>
        </p:nvSpPr>
        <p:spPr>
          <a:xfrm>
            <a:off x="630211" y="3759290"/>
            <a:ext cx="2067874" cy="307777"/>
          </a:xfrm>
          <a:prstGeom prst="rect">
            <a:avLst/>
          </a:prstGeom>
          <a:noFill/>
        </p:spPr>
        <p:txBody>
          <a:bodyPr wrap="none" rtlCol="0">
            <a:spAutoFit/>
          </a:bodyPr>
          <a:lstStyle/>
          <a:p>
            <a:r>
              <a:rPr lang="en-US" sz="1400" b="1" dirty="0"/>
              <a:t>Important Characteristics</a:t>
            </a:r>
          </a:p>
        </p:txBody>
      </p:sp>
      <p:sp>
        <p:nvSpPr>
          <p:cNvPr id="11" name="TextBox 10">
            <a:extLst>
              <a:ext uri="{FF2B5EF4-FFF2-40B4-BE49-F238E27FC236}">
                <a16:creationId xmlns:a16="http://schemas.microsoft.com/office/drawing/2014/main" id="{E71DC24F-FBD1-996C-5C3E-1601463DCE1C}"/>
              </a:ext>
            </a:extLst>
          </p:cNvPr>
          <p:cNvSpPr txBox="1"/>
          <p:nvPr/>
        </p:nvSpPr>
        <p:spPr>
          <a:xfrm>
            <a:off x="748717" y="4101449"/>
            <a:ext cx="10215694" cy="1579920"/>
          </a:xfrm>
          <a:prstGeom prst="rect">
            <a:avLst/>
          </a:prstGeom>
          <a:noFill/>
        </p:spPr>
        <p:txBody>
          <a:bodyPr wrap="square">
            <a:spAutoFit/>
          </a:bodyPr>
          <a:lstStyle/>
          <a:p>
            <a:pPr marL="0" marR="0" lvl="0" indent="-342900" algn="l">
              <a:spcBef>
                <a:spcPts val="1200"/>
              </a:spcBef>
              <a:buFont typeface="Arial" panose="020B0604020202020204" pitchFamily="34" charset="0"/>
              <a:buChar char="•"/>
            </a:pPr>
            <a:r>
              <a:rPr lang="en-US" sz="1600" dirty="0"/>
              <a:t>By default, the first enumerator has the value </a:t>
            </a:r>
            <a:r>
              <a:rPr lang="en-US" sz="1600" b="1" dirty="0"/>
              <a:t>0</a:t>
            </a:r>
            <a:r>
              <a:rPr lang="en-US" sz="1600" dirty="0"/>
              <a:t>, and each subsequent one increases by </a:t>
            </a:r>
            <a:r>
              <a:rPr lang="en-US" sz="1600" b="1" dirty="0"/>
              <a:t>1</a:t>
            </a:r>
            <a:r>
              <a:rPr lang="en-US" sz="1600" dirty="0"/>
              <a:t>.</a:t>
            </a:r>
          </a:p>
          <a:p>
            <a:pPr marL="0" marR="0" lvl="0" indent="-342900" algn="l">
              <a:spcBef>
                <a:spcPts val="450"/>
              </a:spcBef>
              <a:buFont typeface="Arial" panose="020B0604020202020204" pitchFamily="34" charset="0"/>
              <a:buChar char="•"/>
            </a:pPr>
            <a:r>
              <a:rPr lang="en-US" sz="1600" dirty="0"/>
              <a:t>You can explicitly assign values to enumerators.</a:t>
            </a:r>
          </a:p>
          <a:p>
            <a:pPr marL="0" marR="0" lvl="0" indent="-342900" algn="l">
              <a:spcBef>
                <a:spcPts val="450"/>
              </a:spcBef>
              <a:buFont typeface="Arial" panose="020B0604020202020204" pitchFamily="34" charset="0"/>
              <a:buChar char="•"/>
            </a:pPr>
            <a:r>
              <a:rPr lang="en-US" sz="1600" dirty="0"/>
              <a:t>Enumerators are </a:t>
            </a:r>
            <a:r>
              <a:rPr lang="en-US" sz="1600" b="1" dirty="0"/>
              <a:t>compile-time constants.</a:t>
            </a:r>
          </a:p>
          <a:p>
            <a:pPr marL="0" marR="0" lvl="0" indent="-342900" algn="l">
              <a:spcBef>
                <a:spcPts val="450"/>
              </a:spcBef>
              <a:buFont typeface="Arial" panose="020B0604020202020204" pitchFamily="34" charset="0"/>
              <a:buChar char="•"/>
            </a:pPr>
            <a:r>
              <a:rPr lang="en-US" sz="1600" dirty="0"/>
              <a:t>Enumeration types are </a:t>
            </a:r>
            <a:r>
              <a:rPr lang="en-US" sz="1600" b="1" dirty="0"/>
              <a:t>distinct types </a:t>
            </a:r>
            <a:r>
              <a:rPr lang="en-US" sz="1600" dirty="0"/>
              <a:t>in C++ (stronger type checking than in C).</a:t>
            </a:r>
          </a:p>
          <a:p>
            <a:pPr marL="0" marR="0" lvl="0" indent="-342900" algn="l">
              <a:spcBef>
                <a:spcPts val="450"/>
              </a:spcBef>
              <a:buFont typeface="Arial" panose="020B0604020202020204" pitchFamily="34" charset="0"/>
              <a:buChar char="•"/>
            </a:pPr>
            <a:r>
              <a:rPr lang="en-US" sz="1600" dirty="0"/>
              <a:t>Enums can be used in </a:t>
            </a:r>
            <a:r>
              <a:rPr lang="en-US" sz="1600" b="1" dirty="0"/>
              <a:t>switch statements, loops, </a:t>
            </a:r>
            <a:r>
              <a:rPr lang="en-US" sz="1600" dirty="0"/>
              <a:t>and as </a:t>
            </a:r>
            <a:r>
              <a:rPr lang="en-US" sz="1600" b="1" dirty="0"/>
              <a:t>function parameters</a:t>
            </a:r>
            <a:r>
              <a:rPr lang="en-US" sz="1600" dirty="0"/>
              <a:t>.</a:t>
            </a:r>
          </a:p>
        </p:txBody>
      </p:sp>
    </p:spTree>
    <p:extLst>
      <p:ext uri="{BB962C8B-B14F-4D97-AF65-F5344CB8AC3E}">
        <p14:creationId xmlns:p14="http://schemas.microsoft.com/office/powerpoint/2010/main" val="10243680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1BD98-614C-0CF5-A192-33A1A772FE7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AE522E7-FDA3-C01D-C7B3-E86448A06856}"/>
              </a:ext>
            </a:extLst>
          </p:cNvPr>
          <p:cNvSpPr/>
          <p:nvPr/>
        </p:nvSpPr>
        <p:spPr>
          <a:xfrm>
            <a:off x="548640" y="28187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a:t>
            </a:r>
            <a:endParaRPr lang="en-US" sz="1400" dirty="0"/>
          </a:p>
        </p:txBody>
      </p:sp>
      <p:sp>
        <p:nvSpPr>
          <p:cNvPr id="4" name="Text 2">
            <a:extLst>
              <a:ext uri="{FF2B5EF4-FFF2-40B4-BE49-F238E27FC236}">
                <a16:creationId xmlns:a16="http://schemas.microsoft.com/office/drawing/2014/main" id="{387E0363-206C-9B82-9967-81C5B6F1956F}"/>
              </a:ext>
            </a:extLst>
          </p:cNvPr>
          <p:cNvSpPr/>
          <p:nvPr/>
        </p:nvSpPr>
        <p:spPr>
          <a:xfrm>
            <a:off x="615752" y="1292324"/>
            <a:ext cx="11091672" cy="5478423"/>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200" dirty="0">
                <a:latin typeface="Courier New" panose="02070309020205020404" pitchFamily="49" charset="0"/>
                <a:cs typeface="Courier New" panose="02070309020205020404" pitchFamily="49" charset="0"/>
              </a:rPr>
              <a:t>#include &lt;iostream&gt;</a:t>
            </a:r>
          </a:p>
          <a:p>
            <a:r>
              <a:rPr lang="en-US" sz="1200" dirty="0">
                <a:latin typeface="Courier New" panose="02070309020205020404" pitchFamily="49" charset="0"/>
                <a:cs typeface="Courier New" panose="02070309020205020404" pitchFamily="49" charset="0"/>
              </a:rPr>
              <a:t>using namespace std;</a:t>
            </a:r>
          </a:p>
          <a:p>
            <a:endParaRPr lang="en-US" sz="1200" dirty="0">
              <a:latin typeface="Courier New" panose="02070309020205020404" pitchFamily="49" charset="0"/>
              <a:cs typeface="Courier New" panose="02070309020205020404" pitchFamily="49" charset="0"/>
            </a:endParaRPr>
          </a:p>
          <a:p>
            <a:pPr latinLnBrk="1"/>
            <a:r>
              <a:rPr lang="en-US" sz="1200" dirty="0">
                <a:latin typeface="Courier New" panose="02070309020205020404" pitchFamily="49" charset="0"/>
                <a:cs typeface="Courier New" panose="02070309020205020404" pitchFamily="49" charset="0"/>
              </a:rPr>
              <a:t>// Define an enumeration for days of the week</a:t>
            </a:r>
          </a:p>
          <a:p>
            <a:pPr latinLnBrk="1"/>
            <a:r>
              <a:rPr lang="en-US" sz="1200" dirty="0" err="1">
                <a:latin typeface="Courier New" panose="02070309020205020404" pitchFamily="49" charset="0"/>
                <a:cs typeface="Courier New" panose="02070309020205020404" pitchFamily="49" charset="0"/>
              </a:rPr>
              <a:t>enum</a:t>
            </a:r>
            <a:r>
              <a:rPr lang="en-US" sz="1200" dirty="0">
                <a:latin typeface="Courier New" panose="02070309020205020404" pitchFamily="49" charset="0"/>
                <a:cs typeface="Courier New" panose="02070309020205020404" pitchFamily="49" charset="0"/>
              </a:rPr>
              <a:t> Days {</a:t>
            </a:r>
          </a:p>
          <a:p>
            <a:pPr latinLnBrk="1"/>
            <a:r>
              <a:rPr lang="en-US" sz="1200" dirty="0">
                <a:latin typeface="Courier New" panose="02070309020205020404" pitchFamily="49" charset="0"/>
                <a:cs typeface="Courier New" panose="02070309020205020404" pitchFamily="49" charset="0"/>
              </a:rPr>
              <a:t>    Monday,    // 0</a:t>
            </a:r>
          </a:p>
          <a:p>
            <a:pPr latinLnBrk="1"/>
            <a:r>
              <a:rPr lang="en-US" sz="1200" dirty="0">
                <a:latin typeface="Courier New" panose="02070309020205020404" pitchFamily="49" charset="0"/>
                <a:cs typeface="Courier New" panose="02070309020205020404" pitchFamily="49" charset="0"/>
              </a:rPr>
              <a:t>    Tuesday,   // 1</a:t>
            </a:r>
          </a:p>
          <a:p>
            <a:pPr latinLnBrk="1"/>
            <a:r>
              <a:rPr lang="en-US" sz="1200" dirty="0">
                <a:latin typeface="Courier New" panose="02070309020205020404" pitchFamily="49" charset="0"/>
                <a:cs typeface="Courier New" panose="02070309020205020404" pitchFamily="49" charset="0"/>
              </a:rPr>
              <a:t>    Wednesday, // 2</a:t>
            </a:r>
          </a:p>
          <a:p>
            <a:pPr latinLnBrk="1"/>
            <a:r>
              <a:rPr lang="en-US" sz="1200" dirty="0">
                <a:latin typeface="Courier New" panose="02070309020205020404" pitchFamily="49" charset="0"/>
                <a:cs typeface="Courier New" panose="02070309020205020404" pitchFamily="49" charset="0"/>
              </a:rPr>
              <a:t>    Thursday,  // 3</a:t>
            </a:r>
          </a:p>
          <a:p>
            <a:pPr latinLnBrk="1"/>
            <a:r>
              <a:rPr lang="en-US" sz="1200" dirty="0">
                <a:latin typeface="Courier New" panose="02070309020205020404" pitchFamily="49" charset="0"/>
                <a:cs typeface="Courier New" panose="02070309020205020404" pitchFamily="49" charset="0"/>
              </a:rPr>
              <a:t>    Friday,    // 4</a:t>
            </a:r>
          </a:p>
          <a:p>
            <a:pPr latinLnBrk="1"/>
            <a:r>
              <a:rPr lang="en-US" sz="1200" dirty="0">
                <a:latin typeface="Courier New" panose="02070309020205020404" pitchFamily="49" charset="0"/>
                <a:cs typeface="Courier New" panose="02070309020205020404" pitchFamily="49" charset="0"/>
              </a:rPr>
              <a:t>    Saturday,  // 5</a:t>
            </a:r>
          </a:p>
          <a:p>
            <a:pPr latinLnBrk="1"/>
            <a:r>
              <a:rPr lang="en-US" sz="1200" dirty="0">
                <a:latin typeface="Courier New" panose="02070309020205020404" pitchFamily="49" charset="0"/>
                <a:cs typeface="Courier New" panose="02070309020205020404" pitchFamily="49" charset="0"/>
              </a:rPr>
              <a:t>    Sunday     // 6</a:t>
            </a:r>
          </a:p>
          <a:p>
            <a:pPr latinLnBrk="1"/>
            <a:r>
              <a:rPr lang="en-US" sz="1200" dirty="0">
                <a:latin typeface="Courier New" panose="02070309020205020404" pitchFamily="49" charset="0"/>
                <a:cs typeface="Courier New" panose="02070309020205020404" pitchFamily="49" charset="0"/>
              </a:rPr>
              <a:t>};</a:t>
            </a:r>
          </a:p>
          <a:p>
            <a:r>
              <a:rPr lang="en-US" sz="1200" dirty="0">
                <a:latin typeface="Courier New" panose="02070309020205020404" pitchFamily="49" charset="0"/>
                <a:cs typeface="Courier New" panose="02070309020205020404" pitchFamily="49" charset="0"/>
              </a:rPr>
              <a:t>int main() {</a:t>
            </a:r>
          </a:p>
          <a:p>
            <a:pPr latinLnBrk="1"/>
            <a:r>
              <a:rPr lang="en-US" sz="1200" dirty="0">
                <a:latin typeface="Courier New" panose="02070309020205020404" pitchFamily="49" charset="0"/>
                <a:cs typeface="Courier New" panose="02070309020205020404" pitchFamily="49" charset="0"/>
              </a:rPr>
              <a:t>// Declare a variable of type Days</a:t>
            </a:r>
          </a:p>
          <a:p>
            <a:pPr latinLnBrk="1"/>
            <a:r>
              <a:rPr lang="en-US" sz="1200" dirty="0">
                <a:latin typeface="Courier New" panose="02070309020205020404" pitchFamily="49" charset="0"/>
                <a:cs typeface="Courier New" panose="02070309020205020404" pitchFamily="49" charset="0"/>
              </a:rPr>
              <a:t>    Days today = Wednesday;</a:t>
            </a:r>
          </a:p>
          <a:p>
            <a:pPr latinLnBrk="1"/>
            <a:endParaRPr lang="en-US" sz="1200" dirty="0">
              <a:latin typeface="Courier New" panose="02070309020205020404" pitchFamily="49" charset="0"/>
              <a:cs typeface="Courier New" panose="02070309020205020404" pitchFamily="49" charset="0"/>
            </a:endParaRPr>
          </a:p>
          <a:p>
            <a:pPr latinLnBrk="1"/>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cout</a:t>
            </a:r>
            <a:r>
              <a:rPr lang="en-US" sz="1200" dirty="0">
                <a:latin typeface="Courier New" panose="02070309020205020404" pitchFamily="49" charset="0"/>
                <a:cs typeface="Courier New" panose="02070309020205020404" pitchFamily="49" charset="0"/>
              </a:rPr>
              <a:t> &lt;&lt; "Today is: " &lt;&lt; today &lt;&lt; </a:t>
            </a:r>
            <a:r>
              <a:rPr lang="en-US" sz="1200" dirty="0" err="1">
                <a:latin typeface="Courier New" panose="02070309020205020404" pitchFamily="49" charset="0"/>
                <a:cs typeface="Courier New" panose="02070309020205020404" pitchFamily="49" charset="0"/>
              </a:rPr>
              <a:t>endl</a:t>
            </a:r>
            <a:r>
              <a:rPr lang="en-US" sz="1200" dirty="0">
                <a:latin typeface="Courier New" panose="02070309020205020404" pitchFamily="49" charset="0"/>
                <a:cs typeface="Courier New" panose="02070309020205020404" pitchFamily="49" charset="0"/>
              </a:rPr>
              <a:t>;       // Outputs integer value (2)</a:t>
            </a:r>
          </a:p>
          <a:p>
            <a:pPr latinLnBrk="1"/>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cout</a:t>
            </a:r>
            <a:r>
              <a:rPr lang="en-US" sz="1200" dirty="0">
                <a:latin typeface="Courier New" panose="02070309020205020404" pitchFamily="49" charset="0"/>
                <a:cs typeface="Courier New" panose="02070309020205020404" pitchFamily="49" charset="0"/>
              </a:rPr>
              <a:t> &lt;&lt; "Wednesday has value: " &lt;&lt; Wednesday &lt;&lt; </a:t>
            </a:r>
            <a:r>
              <a:rPr lang="en-US" sz="1200" dirty="0" err="1">
                <a:latin typeface="Courier New" panose="02070309020205020404" pitchFamily="49" charset="0"/>
                <a:cs typeface="Courier New" panose="02070309020205020404" pitchFamily="49" charset="0"/>
              </a:rPr>
              <a:t>endl</a:t>
            </a:r>
            <a:r>
              <a:rPr lang="en-US" sz="1200" dirty="0">
                <a:latin typeface="Courier New" panose="02070309020205020404" pitchFamily="49" charset="0"/>
                <a:cs typeface="Courier New" panose="02070309020205020404" pitchFamily="49" charset="0"/>
              </a:rPr>
              <a:t>;</a:t>
            </a:r>
          </a:p>
          <a:p>
            <a:pPr latinLnBrk="1"/>
            <a:endParaRPr lang="en-US" sz="1200" dirty="0">
              <a:latin typeface="Courier New" panose="02070309020205020404" pitchFamily="49" charset="0"/>
              <a:cs typeface="Courier New" panose="02070309020205020404" pitchFamily="49" charset="0"/>
            </a:endParaRPr>
          </a:p>
          <a:p>
            <a:pPr latinLnBrk="1"/>
            <a:r>
              <a:rPr lang="en-US" sz="1200" dirty="0">
                <a:latin typeface="Courier New" panose="02070309020205020404" pitchFamily="49" charset="0"/>
                <a:cs typeface="Courier New" panose="02070309020205020404" pitchFamily="49" charset="0"/>
              </a:rPr>
              <a:t>    // Using </a:t>
            </a:r>
            <a:r>
              <a:rPr lang="en-US" sz="1200" dirty="0" err="1">
                <a:latin typeface="Courier New" panose="02070309020205020404" pitchFamily="49" charset="0"/>
                <a:cs typeface="Courier New" panose="02070309020205020404" pitchFamily="49" charset="0"/>
              </a:rPr>
              <a:t>enum</a:t>
            </a:r>
            <a:r>
              <a:rPr lang="en-US" sz="1200" dirty="0">
                <a:latin typeface="Courier New" panose="02070309020205020404" pitchFamily="49" charset="0"/>
                <a:cs typeface="Courier New" panose="02070309020205020404" pitchFamily="49" charset="0"/>
              </a:rPr>
              <a:t> in a loop</a:t>
            </a:r>
          </a:p>
          <a:p>
            <a:pPr latinLnBrk="1"/>
            <a:r>
              <a:rPr lang="en-US" sz="1200" dirty="0">
                <a:latin typeface="Courier New" panose="02070309020205020404" pitchFamily="49" charset="0"/>
                <a:cs typeface="Courier New" panose="02070309020205020404" pitchFamily="49" charset="0"/>
              </a:rPr>
              <a:t>    for (int </a:t>
            </a:r>
            <a:r>
              <a:rPr lang="en-US" sz="1200" dirty="0" err="1">
                <a:latin typeface="Courier New" panose="02070309020205020404" pitchFamily="49" charset="0"/>
                <a:cs typeface="Courier New" panose="02070309020205020404" pitchFamily="49" charset="0"/>
              </a:rPr>
              <a:t>i</a:t>
            </a:r>
            <a:r>
              <a:rPr lang="en-US" sz="1200" dirty="0">
                <a:latin typeface="Courier New" panose="02070309020205020404" pitchFamily="49" charset="0"/>
                <a:cs typeface="Courier New" panose="02070309020205020404" pitchFamily="49" charset="0"/>
              </a:rPr>
              <a:t> = Monday; </a:t>
            </a:r>
            <a:r>
              <a:rPr lang="en-US" sz="1200" dirty="0" err="1">
                <a:latin typeface="Courier New" panose="02070309020205020404" pitchFamily="49" charset="0"/>
                <a:cs typeface="Courier New" panose="02070309020205020404" pitchFamily="49" charset="0"/>
              </a:rPr>
              <a:t>i</a:t>
            </a:r>
            <a:r>
              <a:rPr lang="en-US" sz="1200" dirty="0">
                <a:latin typeface="Courier New" panose="02070309020205020404" pitchFamily="49" charset="0"/>
                <a:cs typeface="Courier New" panose="02070309020205020404" pitchFamily="49" charset="0"/>
              </a:rPr>
              <a:t> &lt;= Sunday; </a:t>
            </a:r>
            <a:r>
              <a:rPr lang="en-US" sz="1200" dirty="0" err="1">
                <a:latin typeface="Courier New" panose="02070309020205020404" pitchFamily="49" charset="0"/>
                <a:cs typeface="Courier New" panose="02070309020205020404" pitchFamily="49" charset="0"/>
              </a:rPr>
              <a:t>i</a:t>
            </a:r>
            <a:r>
              <a:rPr lang="en-US" sz="1200" dirty="0">
                <a:latin typeface="Courier New" panose="02070309020205020404" pitchFamily="49" charset="0"/>
                <a:cs typeface="Courier New" panose="02070309020205020404" pitchFamily="49" charset="0"/>
              </a:rPr>
              <a:t>++) {</a:t>
            </a:r>
          </a:p>
          <a:p>
            <a:pPr latinLnBrk="1"/>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cout</a:t>
            </a:r>
            <a:r>
              <a:rPr lang="en-US" sz="1200" dirty="0">
                <a:latin typeface="Courier New" panose="02070309020205020404" pitchFamily="49" charset="0"/>
                <a:cs typeface="Courier New" panose="02070309020205020404" pitchFamily="49" charset="0"/>
              </a:rPr>
              <a:t> &lt;&lt; "Day " &lt;&lt; </a:t>
            </a:r>
            <a:r>
              <a:rPr lang="en-US" sz="1200" dirty="0" err="1">
                <a:latin typeface="Courier New" panose="02070309020205020404" pitchFamily="49" charset="0"/>
                <a:cs typeface="Courier New" panose="02070309020205020404" pitchFamily="49" charset="0"/>
              </a:rPr>
              <a:t>i</a:t>
            </a:r>
            <a:r>
              <a:rPr lang="en-US" sz="1200" dirty="0">
                <a:latin typeface="Courier New" panose="02070309020205020404" pitchFamily="49" charset="0"/>
                <a:cs typeface="Courier New" panose="02070309020205020404" pitchFamily="49" charset="0"/>
              </a:rPr>
              <a:t> &lt;&lt; </a:t>
            </a:r>
            <a:r>
              <a:rPr lang="en-US" sz="1200" dirty="0" err="1">
                <a:latin typeface="Courier New" panose="02070309020205020404" pitchFamily="49" charset="0"/>
                <a:cs typeface="Courier New" panose="02070309020205020404" pitchFamily="49" charset="0"/>
              </a:rPr>
              <a:t>endl</a:t>
            </a:r>
            <a:r>
              <a:rPr lang="en-US" sz="1200" dirty="0">
                <a:latin typeface="Courier New" panose="02070309020205020404" pitchFamily="49" charset="0"/>
                <a:cs typeface="Courier New" panose="02070309020205020404" pitchFamily="49" charset="0"/>
              </a:rPr>
              <a:t>;</a:t>
            </a:r>
          </a:p>
          <a:p>
            <a:pPr latinLnBrk="1"/>
            <a:r>
              <a:rPr lang="en-US" sz="1200" dirty="0">
                <a:latin typeface="Courier New" panose="02070309020205020404" pitchFamily="49" charset="0"/>
                <a:cs typeface="Courier New" panose="02070309020205020404" pitchFamily="49" charset="0"/>
              </a:rPr>
              <a:t>    }</a:t>
            </a:r>
          </a:p>
          <a:p>
            <a:br>
              <a:rPr lang="en-US" sz="1200" dirty="0"/>
            </a:br>
            <a:r>
              <a:rPr lang="en-US" sz="1200" dirty="0">
                <a:latin typeface="Courier New" panose="02070309020205020404" pitchFamily="49" charset="0"/>
                <a:cs typeface="Courier New" panose="02070309020205020404" pitchFamily="49" charset="0"/>
              </a:rPr>
              <a:t>   </a:t>
            </a:r>
          </a:p>
          <a:p>
            <a:r>
              <a:rPr lang="en-US" sz="1200" dirty="0">
                <a:latin typeface="Courier New" panose="02070309020205020404" pitchFamily="49" charset="0"/>
                <a:cs typeface="Courier New" panose="02070309020205020404" pitchFamily="49" charset="0"/>
              </a:rPr>
              <a:t>    return 0;</a:t>
            </a:r>
          </a:p>
          <a:p>
            <a:r>
              <a:rPr lang="en-US" sz="1200" dirty="0">
                <a:latin typeface="Courier New" panose="02070309020205020404" pitchFamily="49" charset="0"/>
                <a:cs typeface="Courier New" panose="02070309020205020404" pitchFamily="49" charset="0"/>
              </a:rPr>
              <a:t>}</a:t>
            </a:r>
          </a:p>
        </p:txBody>
      </p:sp>
      <p:sp>
        <p:nvSpPr>
          <p:cNvPr id="6" name="Text 1">
            <a:extLst>
              <a:ext uri="{FF2B5EF4-FFF2-40B4-BE49-F238E27FC236}">
                <a16:creationId xmlns:a16="http://schemas.microsoft.com/office/drawing/2014/main" id="{A932BE67-1683-2CEF-DD35-44260B371791}"/>
              </a:ext>
            </a:extLst>
          </p:cNvPr>
          <p:cNvSpPr/>
          <p:nvPr/>
        </p:nvSpPr>
        <p:spPr>
          <a:xfrm>
            <a:off x="548640" y="649308"/>
            <a:ext cx="11091672" cy="54864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Enumeration</a:t>
            </a:r>
            <a:endParaRPr lang="en-US" sz="2200" dirty="0"/>
          </a:p>
        </p:txBody>
      </p:sp>
    </p:spTree>
    <p:extLst>
      <p:ext uri="{BB962C8B-B14F-4D97-AF65-F5344CB8AC3E}">
        <p14:creationId xmlns:p14="http://schemas.microsoft.com/office/powerpoint/2010/main" val="30249282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C59616EF-378D-FABE-F9F4-18DCA9C8463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48BFC01-267E-3474-649C-B27AE159B212}"/>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2 — REVIEW</a:t>
            </a:r>
            <a:endParaRPr lang="en-US" sz="1400" dirty="0"/>
          </a:p>
        </p:txBody>
      </p:sp>
      <p:sp>
        <p:nvSpPr>
          <p:cNvPr id="3" name="Text 1">
            <a:extLst>
              <a:ext uri="{FF2B5EF4-FFF2-40B4-BE49-F238E27FC236}">
                <a16:creationId xmlns:a16="http://schemas.microsoft.com/office/drawing/2014/main" id="{57B17BC9-1A8C-ECA2-B3EE-E1A45FF8D879}"/>
              </a:ext>
            </a:extLst>
          </p:cNvPr>
          <p:cNvSpPr/>
          <p:nvPr/>
        </p:nvSpPr>
        <p:spPr>
          <a:xfrm>
            <a:off x="548640" y="731520"/>
            <a:ext cx="11091672" cy="640080"/>
          </a:xfrm>
          <a:prstGeom prst="rect">
            <a:avLst/>
          </a:prstGeom>
          <a:noFill/>
          <a:ln/>
        </p:spPr>
        <p:txBody>
          <a:bodyPr wrap="square" rtlCol="0" anchor="ctr"/>
          <a:lstStyle/>
          <a:p>
            <a:pPr marL="0" indent="0">
              <a:buNone/>
            </a:pPr>
            <a:r>
              <a:rPr lang="en-US" sz="2600" b="1" dirty="0">
                <a:solidFill>
                  <a:srgbClr val="000000"/>
                </a:solidFill>
                <a:latin typeface="Helvetica" pitchFamily="34" charset="0"/>
                <a:ea typeface="Helvetica" pitchFamily="34" charset="-122"/>
                <a:cs typeface="Helvetica" pitchFamily="34" charset="-120"/>
              </a:rPr>
              <a:t>Practice &amp; Exam-style Questions</a:t>
            </a:r>
            <a:endParaRPr lang="en-US" sz="2600" dirty="0"/>
          </a:p>
        </p:txBody>
      </p:sp>
      <p:sp>
        <p:nvSpPr>
          <p:cNvPr id="4" name="Text 2">
            <a:extLst>
              <a:ext uri="{FF2B5EF4-FFF2-40B4-BE49-F238E27FC236}">
                <a16:creationId xmlns:a16="http://schemas.microsoft.com/office/drawing/2014/main" id="{A9740B5B-96D2-60F1-D749-979CF1D4CE86}"/>
              </a:ext>
            </a:extLst>
          </p:cNvPr>
          <p:cNvSpPr/>
          <p:nvPr/>
        </p:nvSpPr>
        <p:spPr>
          <a:xfrm>
            <a:off x="548640" y="1554480"/>
            <a:ext cx="11091672" cy="1774874"/>
          </a:xfrm>
          <a:prstGeom prst="rect">
            <a:avLst/>
          </a:prstGeom>
          <a:noFill/>
          <a:ln/>
        </p:spPr>
        <p:txBody>
          <a:bodyPr wrap="square" rtlCol="0" anchor="t"/>
          <a:lstStyle/>
          <a:p>
            <a:pPr marL="304800" indent="-304800">
              <a:spcAft>
                <a:spcPts val="600"/>
              </a:spcAft>
              <a:buSzPct val="100000"/>
              <a:buFont typeface="+mj-lt"/>
              <a:buAutoNum type="arabicPeriod"/>
            </a:pPr>
            <a:r>
              <a:rPr lang="en-US" sz="1600" dirty="0">
                <a:solidFill>
                  <a:srgbClr val="000000"/>
                </a:solidFill>
                <a:ea typeface="Helvetica" pitchFamily="34" charset="-122"/>
                <a:cs typeface="Helvetica" pitchFamily="34" charset="-120"/>
              </a:rPr>
              <a:t>Explain implicit vs explicit type conversion with an example.</a:t>
            </a:r>
            <a:endParaRPr lang="en-US" sz="1600" dirty="0"/>
          </a:p>
          <a:p>
            <a:pPr marL="304800" indent="-304800">
              <a:spcAft>
                <a:spcPts val="600"/>
              </a:spcAft>
              <a:buSzPct val="100000"/>
              <a:buFont typeface="+mj-lt"/>
              <a:buAutoNum type="arabicPeriod"/>
            </a:pPr>
            <a:r>
              <a:rPr lang="en-US" sz="1600" dirty="0">
                <a:solidFill>
                  <a:srgbClr val="000000"/>
                </a:solidFill>
                <a:cs typeface="Helvetica" pitchFamily="34" charset="-120"/>
              </a:rPr>
              <a:t>Explain new and delete with a program; compare to malloc/free.</a:t>
            </a:r>
          </a:p>
          <a:p>
            <a:pPr marL="304800" indent="-304800">
              <a:spcAft>
                <a:spcPts val="600"/>
              </a:spcAft>
              <a:buSzPct val="100000"/>
              <a:buFont typeface="+mj-lt"/>
              <a:buAutoNum type="arabicPeriod"/>
            </a:pPr>
            <a:r>
              <a:rPr lang="en-US" sz="1600" dirty="0">
                <a:solidFill>
                  <a:srgbClr val="000000"/>
                </a:solidFill>
                <a:cs typeface="Helvetica" pitchFamily="34" charset="-120"/>
              </a:rPr>
              <a:t>What is the relationship between arrays and pointers in C++? Demonstrate with a program that reverses an array using pointer arithmetic only (no indexing).</a:t>
            </a:r>
          </a:p>
          <a:p>
            <a:pPr marL="304800" indent="-304800">
              <a:spcAft>
                <a:spcPts val="600"/>
              </a:spcAft>
              <a:buSzPct val="100000"/>
              <a:buFont typeface="+mj-lt"/>
              <a:buAutoNum type="arabicPeriod"/>
            </a:pPr>
            <a:r>
              <a:rPr lang="en-US" sz="1600" dirty="0">
                <a:solidFill>
                  <a:srgbClr val="000000"/>
                </a:solidFill>
                <a:ea typeface="Helvetica" pitchFamily="34" charset="-122"/>
                <a:cs typeface="Helvetica" pitchFamily="34" charset="-120"/>
              </a:rPr>
              <a:t>Differentiate #define and const.</a:t>
            </a:r>
            <a:endParaRPr lang="en-US" sz="1600" dirty="0"/>
          </a:p>
          <a:p>
            <a:pPr marL="304800" indent="-304800">
              <a:spcAft>
                <a:spcPts val="600"/>
              </a:spcAft>
              <a:buSzPct val="100000"/>
              <a:buFont typeface="+mj-lt"/>
              <a:buAutoNum type="arabicPeriod"/>
            </a:pPr>
            <a:r>
              <a:rPr lang="en-US" sz="1600" dirty="0">
                <a:solidFill>
                  <a:srgbClr val="000000"/>
                </a:solidFill>
                <a:ea typeface="Helvetica" pitchFamily="34" charset="-122"/>
                <a:cs typeface="Helvetica" pitchFamily="34" charset="-120"/>
              </a:rPr>
              <a:t>Explain any three manipulators with examples.</a:t>
            </a:r>
            <a:endParaRPr lang="en-US" sz="1600" dirty="0"/>
          </a:p>
        </p:txBody>
      </p:sp>
      <p:sp>
        <p:nvSpPr>
          <p:cNvPr id="6" name="Shape 6">
            <a:extLst>
              <a:ext uri="{FF2B5EF4-FFF2-40B4-BE49-F238E27FC236}">
                <a16:creationId xmlns:a16="http://schemas.microsoft.com/office/drawing/2014/main" id="{055DF771-6E3D-6BCF-F493-3FA23AECC522}"/>
              </a:ext>
            </a:extLst>
          </p:cNvPr>
          <p:cNvSpPr/>
          <p:nvPr/>
        </p:nvSpPr>
        <p:spPr>
          <a:xfrm>
            <a:off x="1" y="5210907"/>
            <a:ext cx="12192000" cy="1691640"/>
          </a:xfrm>
          <a:prstGeom prst="rect">
            <a:avLst/>
          </a:prstGeom>
          <a:solidFill>
            <a:schemeClr val="tx2">
              <a:lumMod val="75000"/>
            </a:schemeClr>
          </a:solidFill>
          <a:ln/>
        </p:spPr>
        <p:txBody>
          <a:bodyPr/>
          <a:lstStyle/>
          <a:p>
            <a:endParaRPr lang="en-US" dirty="0"/>
          </a:p>
        </p:txBody>
      </p:sp>
      <p:sp>
        <p:nvSpPr>
          <p:cNvPr id="8" name="Text 7">
            <a:extLst>
              <a:ext uri="{FF2B5EF4-FFF2-40B4-BE49-F238E27FC236}">
                <a16:creationId xmlns:a16="http://schemas.microsoft.com/office/drawing/2014/main" id="{D79BA8B7-C816-2239-5212-2996BC227096}"/>
              </a:ext>
            </a:extLst>
          </p:cNvPr>
          <p:cNvSpPr/>
          <p:nvPr/>
        </p:nvSpPr>
        <p:spPr>
          <a:xfrm>
            <a:off x="226692" y="5302347"/>
            <a:ext cx="11514667" cy="320040"/>
          </a:xfrm>
          <a:prstGeom prst="rect">
            <a:avLst/>
          </a:prstGeom>
          <a:noFill/>
          <a:ln/>
        </p:spPr>
        <p:txBody>
          <a:bodyPr wrap="square" rtlCol="0" anchor="ctr"/>
          <a:lstStyle/>
          <a:p>
            <a:pPr marL="0" indent="0">
              <a:buNone/>
            </a:pPr>
            <a:r>
              <a:rPr lang="en-US" sz="1300" b="1" dirty="0">
                <a:solidFill>
                  <a:srgbClr val="FF9999"/>
                </a:solidFill>
                <a:latin typeface="Calibri" pitchFamily="34" charset="0"/>
                <a:ea typeface="Calibri" pitchFamily="34" charset="-122"/>
                <a:cs typeface="Calibri" pitchFamily="34" charset="-120"/>
              </a:rPr>
              <a:t>📋  </a:t>
            </a:r>
            <a:r>
              <a:rPr lang="en-US" sz="1300" b="1" dirty="0">
                <a:solidFill>
                  <a:schemeClr val="bg1">
                    <a:lumMod val="95000"/>
                  </a:schemeClr>
                </a:solidFill>
                <a:latin typeface="Calibri" pitchFamily="34" charset="0"/>
                <a:ea typeface="Calibri" pitchFamily="34" charset="-122"/>
                <a:cs typeface="Calibri" pitchFamily="34" charset="-120"/>
              </a:rPr>
              <a:t>Probable Exam Question</a:t>
            </a:r>
            <a:endParaRPr lang="en-US" sz="1300" dirty="0">
              <a:solidFill>
                <a:schemeClr val="bg1">
                  <a:lumMod val="95000"/>
                </a:schemeClr>
              </a:solidFill>
            </a:endParaRPr>
          </a:p>
        </p:txBody>
      </p:sp>
      <p:sp>
        <p:nvSpPr>
          <p:cNvPr id="10" name="Text 8">
            <a:extLst>
              <a:ext uri="{FF2B5EF4-FFF2-40B4-BE49-F238E27FC236}">
                <a16:creationId xmlns:a16="http://schemas.microsoft.com/office/drawing/2014/main" id="{888C78E5-B43B-FA0F-2C8B-1F8B8C24CD7C}"/>
              </a:ext>
            </a:extLst>
          </p:cNvPr>
          <p:cNvSpPr/>
          <p:nvPr/>
        </p:nvSpPr>
        <p:spPr>
          <a:xfrm>
            <a:off x="226692" y="5668107"/>
            <a:ext cx="11514667" cy="458373"/>
          </a:xfrm>
          <a:prstGeom prst="rect">
            <a:avLst/>
          </a:prstGeom>
          <a:noFill/>
          <a:ln/>
        </p:spPr>
        <p:txBody>
          <a:bodyPr wrap="square" rtlCol="0" anchor="ctr"/>
          <a:lstStyle/>
          <a:p>
            <a:pPr lvl="0"/>
            <a:r>
              <a:rPr lang="en-US" sz="1300" dirty="0">
                <a:solidFill>
                  <a:schemeClr val="bg1">
                    <a:lumMod val="95000"/>
                  </a:schemeClr>
                </a:solidFill>
                <a:latin typeface="Calibri" pitchFamily="34" charset="0"/>
                <a:ea typeface="Calibri" pitchFamily="34" charset="-122"/>
                <a:cs typeface="Calibri" pitchFamily="34" charset="-120"/>
              </a:rPr>
              <a:t>Q1: </a:t>
            </a:r>
            <a:r>
              <a:rPr lang="en-US" sz="1300" dirty="0">
                <a:solidFill>
                  <a:schemeClr val="bg1">
                    <a:lumMod val="95000"/>
                  </a:schemeClr>
                </a:solidFill>
                <a:latin typeface="Calibri" pitchFamily="34" charset="0"/>
                <a:cs typeface="Calibri" pitchFamily="34" charset="-120"/>
              </a:rPr>
              <a:t>What is type casting? Explain with an example the difference between implicit and explicit type conversion.</a:t>
            </a:r>
          </a:p>
          <a:p>
            <a:r>
              <a:rPr lang="en-US" sz="1300" dirty="0">
                <a:solidFill>
                  <a:schemeClr val="bg1">
                    <a:lumMod val="95000"/>
                  </a:schemeClr>
                </a:solidFill>
                <a:latin typeface="Calibri" pitchFamily="34" charset="0"/>
                <a:ea typeface="Calibri" pitchFamily="34" charset="-122"/>
                <a:cs typeface="Calibri" pitchFamily="34" charset="-120"/>
              </a:rPr>
              <a:t>Q2:</a:t>
            </a:r>
            <a:r>
              <a:rPr lang="en-US" sz="1300" dirty="0">
                <a:solidFill>
                  <a:srgbClr val="FFCCCC"/>
                </a:solidFill>
                <a:latin typeface="Calibri" pitchFamily="34" charset="0"/>
                <a:ea typeface="Calibri" pitchFamily="34" charset="-122"/>
                <a:cs typeface="Calibri" pitchFamily="34" charset="-120"/>
              </a:rPr>
              <a:t> </a:t>
            </a:r>
            <a:r>
              <a:rPr lang="en-US" sz="1300" dirty="0">
                <a:solidFill>
                  <a:schemeClr val="bg1">
                    <a:lumMod val="95000"/>
                  </a:schemeClr>
                </a:solidFill>
                <a:latin typeface="Calibri" pitchFamily="34" charset="0"/>
                <a:cs typeface="Calibri" pitchFamily="34" charset="-120"/>
              </a:rPr>
              <a:t>Explain reference variables and scope resolution operator with examples. Write a program using </a:t>
            </a:r>
            <a:r>
              <a:rPr lang="en-US" sz="1300" dirty="0" err="1">
                <a:solidFill>
                  <a:schemeClr val="bg1">
                    <a:lumMod val="95000"/>
                  </a:schemeClr>
                </a:solidFill>
                <a:latin typeface="Calibri" pitchFamily="34" charset="0"/>
                <a:cs typeface="Calibri" pitchFamily="34" charset="-120"/>
              </a:rPr>
              <a:t>setw</a:t>
            </a:r>
            <a:r>
              <a:rPr lang="en-US" sz="1300" dirty="0">
                <a:solidFill>
                  <a:schemeClr val="bg1">
                    <a:lumMod val="95000"/>
                  </a:schemeClr>
                </a:solidFill>
                <a:latin typeface="Calibri" pitchFamily="34" charset="0"/>
                <a:cs typeface="Calibri" pitchFamily="34" charset="-120"/>
              </a:rPr>
              <a:t>, </a:t>
            </a:r>
            <a:r>
              <a:rPr lang="en-US" sz="1300" dirty="0" err="1">
                <a:solidFill>
                  <a:schemeClr val="bg1">
                    <a:lumMod val="95000"/>
                  </a:schemeClr>
                </a:solidFill>
                <a:latin typeface="Calibri" pitchFamily="34" charset="0"/>
                <a:cs typeface="Calibri" pitchFamily="34" charset="-120"/>
              </a:rPr>
              <a:t>setprecision</a:t>
            </a:r>
            <a:r>
              <a:rPr lang="en-US" sz="1300" dirty="0">
                <a:solidFill>
                  <a:schemeClr val="bg1">
                    <a:lumMod val="95000"/>
                  </a:schemeClr>
                </a:solidFill>
                <a:latin typeface="Calibri" pitchFamily="34" charset="0"/>
                <a:cs typeface="Calibri" pitchFamily="34" charset="-120"/>
              </a:rPr>
              <a:t>, and </a:t>
            </a:r>
            <a:r>
              <a:rPr lang="en-US" sz="1300" dirty="0" err="1">
                <a:solidFill>
                  <a:schemeClr val="bg1">
                    <a:lumMod val="95000"/>
                  </a:schemeClr>
                </a:solidFill>
                <a:latin typeface="Calibri" pitchFamily="34" charset="0"/>
                <a:cs typeface="Calibri" pitchFamily="34" charset="-120"/>
              </a:rPr>
              <a:t>setfill</a:t>
            </a:r>
            <a:r>
              <a:rPr lang="en-US" sz="1300" dirty="0">
                <a:solidFill>
                  <a:schemeClr val="bg1">
                    <a:lumMod val="95000"/>
                  </a:schemeClr>
                </a:solidFill>
                <a:latin typeface="Calibri" pitchFamily="34" charset="0"/>
                <a:cs typeface="Calibri" pitchFamily="34" charset="-120"/>
              </a:rPr>
              <a:t>. [PU Exam 2021]</a:t>
            </a:r>
          </a:p>
        </p:txBody>
      </p:sp>
    </p:spTree>
    <p:extLst>
      <p:ext uri="{BB962C8B-B14F-4D97-AF65-F5344CB8AC3E}">
        <p14:creationId xmlns:p14="http://schemas.microsoft.com/office/powerpoint/2010/main" val="7656741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5">
    <p:bg>
      <p:bgPr>
        <a:solidFill>
          <a:schemeClr val="tx2">
            <a:lumMod val="75000"/>
          </a:schemeClr>
        </a:solidFill>
        <a:effectLst/>
      </p:bgPr>
    </p:bg>
    <p:spTree>
      <p:nvGrpSpPr>
        <p:cNvPr id="1" name=""/>
        <p:cNvGrpSpPr/>
        <p:nvPr/>
      </p:nvGrpSpPr>
      <p:grpSpPr>
        <a:xfrm>
          <a:off x="0" y="0"/>
          <a:ext cx="0" cy="0"/>
          <a:chOff x="0" y="0"/>
          <a:chExt cx="0" cy="0"/>
        </a:xfrm>
      </p:grpSpPr>
      <p:sp>
        <p:nvSpPr>
          <p:cNvPr id="2" name="Text 0"/>
          <p:cNvSpPr/>
          <p:nvPr/>
        </p:nvSpPr>
        <p:spPr>
          <a:xfrm>
            <a:off x="548640" y="2103120"/>
            <a:ext cx="11091672" cy="548640"/>
          </a:xfrm>
          <a:prstGeom prst="rect">
            <a:avLst/>
          </a:prstGeom>
          <a:noFill/>
          <a:ln/>
        </p:spPr>
        <p:txBody>
          <a:bodyPr wrap="square" rtlCol="0" anchor="ctr"/>
          <a:lstStyle/>
          <a:p>
            <a:pPr marL="0" indent="0">
              <a:buNone/>
            </a:pPr>
            <a:r>
              <a:rPr lang="en-US" sz="1800" b="1" kern="0" spc="200" dirty="0">
                <a:solidFill>
                  <a:srgbClr val="BFBFBF"/>
                </a:solidFill>
                <a:latin typeface="Helvetica" pitchFamily="34" charset="0"/>
                <a:ea typeface="Helvetica" pitchFamily="34" charset="-122"/>
                <a:cs typeface="Helvetica" pitchFamily="34" charset="-120"/>
              </a:rPr>
              <a:t>CHAPTER 3</a:t>
            </a:r>
            <a:endParaRPr lang="en-US" sz="1800" dirty="0"/>
          </a:p>
        </p:txBody>
      </p:sp>
      <p:sp>
        <p:nvSpPr>
          <p:cNvPr id="3" name="Text 1"/>
          <p:cNvSpPr/>
          <p:nvPr/>
        </p:nvSpPr>
        <p:spPr>
          <a:xfrm>
            <a:off x="548640" y="2651760"/>
            <a:ext cx="11091672" cy="1280160"/>
          </a:xfrm>
          <a:prstGeom prst="rect">
            <a:avLst/>
          </a:prstGeom>
          <a:noFill/>
          <a:ln/>
        </p:spPr>
        <p:txBody>
          <a:bodyPr wrap="square" rtlCol="0" anchor="ctr"/>
          <a:lstStyle/>
          <a:p>
            <a:pPr marL="0" indent="0">
              <a:buNone/>
            </a:pPr>
            <a:r>
              <a:rPr lang="en-US" sz="3600" b="1" dirty="0">
                <a:solidFill>
                  <a:srgbClr val="FFFFFF"/>
                </a:solidFill>
                <a:latin typeface="Helvetica" pitchFamily="34" charset="0"/>
                <a:ea typeface="Helvetica" pitchFamily="34" charset="-122"/>
                <a:cs typeface="Helvetica" pitchFamily="34" charset="-120"/>
              </a:rPr>
              <a:t>Functions Used in C++</a:t>
            </a:r>
            <a:endParaRPr lang="en-US" sz="3600" dirty="0"/>
          </a:p>
        </p:txBody>
      </p:sp>
      <p:sp>
        <p:nvSpPr>
          <p:cNvPr id="4" name="Text 2"/>
          <p:cNvSpPr/>
          <p:nvPr/>
        </p:nvSpPr>
        <p:spPr>
          <a:xfrm>
            <a:off x="548640" y="4023360"/>
            <a:ext cx="11091672" cy="2011680"/>
          </a:xfrm>
          <a:prstGeom prst="rect">
            <a:avLst/>
          </a:prstGeom>
          <a:noFill/>
          <a:ln/>
        </p:spPr>
        <p:txBody>
          <a:bodyPr wrap="square" rtlCol="0" anchor="t"/>
          <a:lstStyle/>
          <a:p>
            <a:pPr marL="0" indent="0">
              <a:buNone/>
            </a:pPr>
            <a:r>
              <a:rPr lang="en-US" sz="1500" dirty="0">
                <a:solidFill>
                  <a:srgbClr val="D9D9D9"/>
                </a:solidFill>
                <a:latin typeface="Helvetica" pitchFamily="34" charset="0"/>
                <a:ea typeface="Helvetica" pitchFamily="34" charset="-122"/>
                <a:cs typeface="Helvetica" pitchFamily="34" charset="-120"/>
              </a:rPr>
              <a:t>Passing arguments · Return by reference · Overloading · Default arguments · Inline</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C7675FB-965B-F6B3-6C2C-738BB25B4FE0}"/>
              </a:ext>
            </a:extLst>
          </p:cNvPr>
          <p:cNvPicPr>
            <a:picLocks noChangeAspect="1"/>
          </p:cNvPicPr>
          <p:nvPr/>
        </p:nvPicPr>
        <p:blipFill>
          <a:blip r:embed="rId3"/>
          <a:stretch>
            <a:fillRect/>
          </a:stretch>
        </p:blipFill>
        <p:spPr>
          <a:xfrm>
            <a:off x="8448780" y="1372379"/>
            <a:ext cx="3602182" cy="1788767"/>
          </a:xfrm>
          <a:prstGeom prst="rect">
            <a:avLst/>
          </a:prstGeom>
        </p:spPr>
      </p:pic>
      <p:sp>
        <p:nvSpPr>
          <p:cNvPr id="4" name="Text 2"/>
          <p:cNvSpPr/>
          <p:nvPr/>
        </p:nvSpPr>
        <p:spPr>
          <a:xfrm>
            <a:off x="481492" y="1378066"/>
            <a:ext cx="8373687" cy="1679171"/>
          </a:xfrm>
          <a:prstGeom prst="rect">
            <a:avLst/>
          </a:prstGeom>
          <a:noFill/>
          <a:ln/>
        </p:spPr>
        <p:txBody>
          <a:bodyPr wrap="square" rtlCol="0" anchor="t"/>
          <a:lstStyle/>
          <a:p>
            <a:pPr>
              <a:spcAft>
                <a:spcPts val="1200"/>
              </a:spcAft>
              <a:buSzPct val="100000"/>
            </a:pPr>
            <a:r>
              <a:rPr lang="en-US" sz="1600" dirty="0"/>
              <a:t>A </a:t>
            </a:r>
            <a:r>
              <a:rPr lang="en-US" sz="1600" b="1" dirty="0"/>
              <a:t>function</a:t>
            </a:r>
            <a:r>
              <a:rPr lang="en-US" sz="1600" dirty="0"/>
              <a:t> is a group of statements that together perform a task. Every C++ program has at least one function, main(), which is the starting point of the program. Functions can be defined by the user or provided by libraries.</a:t>
            </a:r>
          </a:p>
          <a:p>
            <a:r>
              <a:rPr lang="en-US" sz="1600" b="1" dirty="0"/>
              <a:t>Why Use Functions?</a:t>
            </a:r>
          </a:p>
          <a:p>
            <a:pPr marL="742950" lvl="1" indent="-285750">
              <a:buFont typeface="Arial" panose="020B0604020202020204" pitchFamily="34" charset="0"/>
              <a:buChar char="•"/>
            </a:pPr>
            <a:r>
              <a:rPr lang="en-US" sz="1600" b="1" dirty="0"/>
              <a:t>Modularity</a:t>
            </a:r>
            <a:r>
              <a:rPr lang="en-US" sz="1600" dirty="0"/>
              <a:t>: Break down complex problems into smaller, manageable pieces.</a:t>
            </a:r>
          </a:p>
          <a:p>
            <a:pPr marL="742950" lvl="1" indent="-285750">
              <a:buFont typeface="Arial" panose="020B0604020202020204" pitchFamily="34" charset="0"/>
              <a:buChar char="•"/>
            </a:pPr>
            <a:r>
              <a:rPr lang="en-US" sz="1600" b="1" dirty="0"/>
              <a:t>Reusability</a:t>
            </a:r>
            <a:r>
              <a:rPr lang="en-US" sz="1600" dirty="0"/>
              <a:t>: Write code once and use it multiple times, even in different programs.</a:t>
            </a:r>
          </a:p>
          <a:p>
            <a:pPr marL="742950" lvl="1" indent="-285750">
              <a:buFont typeface="Arial" panose="020B0604020202020204" pitchFamily="34" charset="0"/>
              <a:buChar char="•"/>
            </a:pPr>
            <a:r>
              <a:rPr lang="en-US" sz="1600" b="1" dirty="0"/>
              <a:t>Organization</a:t>
            </a:r>
            <a:r>
              <a:rPr lang="en-US" sz="1600" dirty="0"/>
              <a:t>: Make the code more organized and easier to read and maintain.</a:t>
            </a:r>
          </a:p>
          <a:p>
            <a:pPr>
              <a:spcAft>
                <a:spcPts val="1200"/>
              </a:spcAft>
              <a:buSzPct val="100000"/>
            </a:pPr>
            <a:endParaRPr lang="en-US" sz="1400" dirty="0"/>
          </a:p>
        </p:txBody>
      </p:sp>
      <p:sp>
        <p:nvSpPr>
          <p:cNvPr id="6" name="Text 2">
            <a:extLst>
              <a:ext uri="{FF2B5EF4-FFF2-40B4-BE49-F238E27FC236}">
                <a16:creationId xmlns:a16="http://schemas.microsoft.com/office/drawing/2014/main" id="{AE217B22-A4BC-FB13-CE1D-761C6CF974ED}"/>
              </a:ext>
            </a:extLst>
          </p:cNvPr>
          <p:cNvSpPr/>
          <p:nvPr/>
        </p:nvSpPr>
        <p:spPr>
          <a:xfrm>
            <a:off x="414344" y="3709058"/>
            <a:ext cx="11091672" cy="861774"/>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200" dirty="0" err="1">
                <a:latin typeface="Courier New" panose="02070309020205020404" pitchFamily="49" charset="0"/>
                <a:cs typeface="Courier New" panose="02070309020205020404" pitchFamily="49" charset="0"/>
              </a:rPr>
              <a:t>returnType</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functionName</a:t>
            </a:r>
            <a:r>
              <a:rPr lang="en-US" sz="1200" dirty="0">
                <a:latin typeface="Courier New" panose="02070309020205020404" pitchFamily="49" charset="0"/>
                <a:cs typeface="Courier New" panose="02070309020205020404" pitchFamily="49" charset="0"/>
              </a:rPr>
              <a:t>(</a:t>
            </a:r>
            <a:r>
              <a:rPr lang="en-US" sz="1200" dirty="0" err="1">
                <a:latin typeface="Courier New" panose="02070309020205020404" pitchFamily="49" charset="0"/>
                <a:cs typeface="Courier New" panose="02070309020205020404" pitchFamily="49" charset="0"/>
              </a:rPr>
              <a:t>parameterList</a:t>
            </a:r>
            <a:r>
              <a:rPr lang="en-US" sz="1200" dirty="0">
                <a:latin typeface="Courier New" panose="02070309020205020404" pitchFamily="49" charset="0"/>
                <a:cs typeface="Courier New" panose="02070309020205020404" pitchFamily="49" charset="0"/>
              </a:rPr>
              <a:t>) {</a:t>
            </a: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 body of the function</a:t>
            </a:r>
            <a:br>
              <a:rPr lang="en-US" sz="1200" dirty="0">
                <a:latin typeface="Courier New" panose="02070309020205020404" pitchFamily="49" charset="0"/>
                <a:cs typeface="Courier New" panose="02070309020205020404" pitchFamily="49" charset="0"/>
              </a:rPr>
            </a:br>
            <a:r>
              <a:rPr lang="en-US" sz="1200" dirty="0">
                <a:latin typeface="Courier New" panose="02070309020205020404" pitchFamily="49" charset="0"/>
                <a:cs typeface="Courier New" panose="02070309020205020404" pitchFamily="49" charset="0"/>
              </a:rPr>
              <a:t>}</a:t>
            </a:r>
          </a:p>
        </p:txBody>
      </p:sp>
      <p:sp>
        <p:nvSpPr>
          <p:cNvPr id="7" name="TextBox 6">
            <a:extLst>
              <a:ext uri="{FF2B5EF4-FFF2-40B4-BE49-F238E27FC236}">
                <a16:creationId xmlns:a16="http://schemas.microsoft.com/office/drawing/2014/main" id="{317B0633-A2FD-BA35-2768-D17D8CC5E5A5}"/>
              </a:ext>
            </a:extLst>
          </p:cNvPr>
          <p:cNvSpPr txBox="1"/>
          <p:nvPr/>
        </p:nvSpPr>
        <p:spPr>
          <a:xfrm>
            <a:off x="414344" y="3370504"/>
            <a:ext cx="804323" cy="338554"/>
          </a:xfrm>
          <a:prstGeom prst="rect">
            <a:avLst/>
          </a:prstGeom>
          <a:noFill/>
        </p:spPr>
        <p:txBody>
          <a:bodyPr wrap="none" rtlCol="0">
            <a:spAutoFit/>
          </a:bodyPr>
          <a:lstStyle/>
          <a:p>
            <a:r>
              <a:rPr lang="en-US" sz="1600" b="1" dirty="0"/>
              <a:t>Syntax:</a:t>
            </a:r>
          </a:p>
        </p:txBody>
      </p:sp>
      <p:sp>
        <p:nvSpPr>
          <p:cNvPr id="9" name="TextBox 8">
            <a:extLst>
              <a:ext uri="{FF2B5EF4-FFF2-40B4-BE49-F238E27FC236}">
                <a16:creationId xmlns:a16="http://schemas.microsoft.com/office/drawing/2014/main" id="{D4A1A145-105C-A9B8-E8EE-84088EF8A647}"/>
              </a:ext>
            </a:extLst>
          </p:cNvPr>
          <p:cNvSpPr txBox="1"/>
          <p:nvPr/>
        </p:nvSpPr>
        <p:spPr>
          <a:xfrm>
            <a:off x="414344" y="4748025"/>
            <a:ext cx="11024524" cy="1323439"/>
          </a:xfrm>
          <a:prstGeom prst="rect">
            <a:avLst/>
          </a:prstGeom>
          <a:noFill/>
        </p:spPr>
        <p:txBody>
          <a:bodyPr wrap="square">
            <a:spAutoFit/>
          </a:bodyPr>
          <a:lstStyle/>
          <a:p>
            <a:r>
              <a:rPr lang="en-US" sz="1600" b="1" dirty="0"/>
              <a:t>Here,</a:t>
            </a:r>
          </a:p>
          <a:p>
            <a:pPr marL="285750" indent="-285750">
              <a:buFont typeface="Arial" panose="020B0604020202020204" pitchFamily="34" charset="0"/>
              <a:buChar char="•"/>
            </a:pPr>
            <a:r>
              <a:rPr lang="en-US" sz="1600" b="1" dirty="0" err="1"/>
              <a:t>returnType</a:t>
            </a:r>
            <a:r>
              <a:rPr lang="en-US" sz="1600" dirty="0"/>
              <a:t>: The data type of the value the function returns. If the function does not return a value, this is specified as void.</a:t>
            </a:r>
          </a:p>
          <a:p>
            <a:pPr marL="285750" indent="-285750">
              <a:buFont typeface="Arial" panose="020B0604020202020204" pitchFamily="34" charset="0"/>
              <a:buChar char="•"/>
            </a:pPr>
            <a:r>
              <a:rPr lang="en-US" sz="1600" b="1" dirty="0" err="1"/>
              <a:t>functionName</a:t>
            </a:r>
            <a:r>
              <a:rPr lang="en-US" sz="1600" dirty="0"/>
              <a:t>: The name of the function.</a:t>
            </a:r>
          </a:p>
          <a:p>
            <a:pPr marL="285750" indent="-285750">
              <a:buFont typeface="Arial" panose="020B0604020202020204" pitchFamily="34" charset="0"/>
              <a:buChar char="•"/>
            </a:pPr>
            <a:r>
              <a:rPr lang="en-US" sz="1600" b="1" dirty="0" err="1"/>
              <a:t>parameterList</a:t>
            </a:r>
            <a:r>
              <a:rPr lang="en-US" sz="1600" dirty="0"/>
              <a:t>: A list of parameters (arguments) that the function takes, enclosed in parentheses. This is optional; a function may have no parameters.</a:t>
            </a:r>
          </a:p>
        </p:txBody>
      </p:sp>
      <p:sp>
        <p:nvSpPr>
          <p:cNvPr id="13" name="Text 0">
            <a:extLst>
              <a:ext uri="{FF2B5EF4-FFF2-40B4-BE49-F238E27FC236}">
                <a16:creationId xmlns:a16="http://schemas.microsoft.com/office/drawing/2014/main" id="{127FFC81-B28B-A649-8B6A-395B5784962C}"/>
              </a:ext>
            </a:extLst>
          </p:cNvPr>
          <p:cNvSpPr/>
          <p:nvPr/>
        </p:nvSpPr>
        <p:spPr>
          <a:xfrm>
            <a:off x="548640" y="18288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3</a:t>
            </a:r>
            <a:endParaRPr lang="en-US" sz="1400" dirty="0"/>
          </a:p>
        </p:txBody>
      </p:sp>
      <p:sp>
        <p:nvSpPr>
          <p:cNvPr id="15" name="Text 1">
            <a:extLst>
              <a:ext uri="{FF2B5EF4-FFF2-40B4-BE49-F238E27FC236}">
                <a16:creationId xmlns:a16="http://schemas.microsoft.com/office/drawing/2014/main" id="{AB61B53D-54A2-69C3-51A4-2939174BD46C}"/>
              </a:ext>
            </a:extLst>
          </p:cNvPr>
          <p:cNvSpPr/>
          <p:nvPr/>
        </p:nvSpPr>
        <p:spPr>
          <a:xfrm>
            <a:off x="548640" y="639160"/>
            <a:ext cx="11091672" cy="36576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Functions</a:t>
            </a:r>
            <a:endParaRPr lang="en-US" sz="2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7B335-726F-E497-FFA0-AA62543440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771F759-E026-962C-AB03-23748948DBF7}"/>
              </a:ext>
            </a:extLst>
          </p:cNvPr>
          <p:cNvSpPr/>
          <p:nvPr/>
        </p:nvSpPr>
        <p:spPr>
          <a:xfrm>
            <a:off x="548640" y="18288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3</a:t>
            </a:r>
            <a:endParaRPr lang="en-US" sz="1400" dirty="0"/>
          </a:p>
        </p:txBody>
      </p:sp>
      <p:sp>
        <p:nvSpPr>
          <p:cNvPr id="3" name="Text 1">
            <a:extLst>
              <a:ext uri="{FF2B5EF4-FFF2-40B4-BE49-F238E27FC236}">
                <a16:creationId xmlns:a16="http://schemas.microsoft.com/office/drawing/2014/main" id="{10C9A87E-F356-D7EE-44B4-EBBCA36AC76B}"/>
              </a:ext>
            </a:extLst>
          </p:cNvPr>
          <p:cNvSpPr/>
          <p:nvPr/>
        </p:nvSpPr>
        <p:spPr>
          <a:xfrm>
            <a:off x="548640" y="639160"/>
            <a:ext cx="11091672" cy="36576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Functions</a:t>
            </a:r>
            <a:endParaRPr lang="en-US" sz="2200" dirty="0"/>
          </a:p>
        </p:txBody>
      </p:sp>
      <p:sp>
        <p:nvSpPr>
          <p:cNvPr id="7" name="Text 2">
            <a:extLst>
              <a:ext uri="{FF2B5EF4-FFF2-40B4-BE49-F238E27FC236}">
                <a16:creationId xmlns:a16="http://schemas.microsoft.com/office/drawing/2014/main" id="{6B5E2A31-10A6-947B-8B29-89145C97B690}"/>
              </a:ext>
            </a:extLst>
          </p:cNvPr>
          <p:cNvSpPr/>
          <p:nvPr/>
        </p:nvSpPr>
        <p:spPr>
          <a:xfrm>
            <a:off x="618837" y="3465447"/>
            <a:ext cx="10717876" cy="2893100"/>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200" dirty="0">
                <a:solidFill>
                  <a:srgbClr val="000000"/>
                </a:solidFill>
                <a:latin typeface="Courier New" pitchFamily="34" charset="0"/>
                <a:cs typeface="Courier New" pitchFamily="34" charset="-120"/>
              </a:rPr>
              <a:t>void increment(int num) {</a:t>
            </a:r>
          </a:p>
          <a:p>
            <a:r>
              <a:rPr lang="en-US" sz="1200" dirty="0">
                <a:solidFill>
                  <a:srgbClr val="000000"/>
                </a:solidFill>
                <a:latin typeface="Courier New" pitchFamily="34" charset="0"/>
                <a:cs typeface="Courier New" pitchFamily="34" charset="-120"/>
              </a:rPr>
              <a:t>num++; // </a:t>
            </a:r>
            <a:r>
              <a:rPr lang="en-US" sz="1200" b="1" dirty="0">
                <a:solidFill>
                  <a:srgbClr val="000000"/>
                </a:solidFill>
                <a:latin typeface="Courier New" pitchFamily="34" charset="0"/>
                <a:cs typeface="Courier New" pitchFamily="34" charset="-120"/>
              </a:rPr>
              <a:t>Increment the local copy of num</a:t>
            </a:r>
          </a:p>
          <a:p>
            <a:r>
              <a:rPr lang="en-US" sz="1200" dirty="0">
                <a:solidFill>
                  <a:srgbClr val="000000"/>
                </a:solidFill>
                <a:latin typeface="Courier New" pitchFamily="34" charset="0"/>
                <a:cs typeface="Courier New" pitchFamily="34" charset="-120"/>
              </a:rPr>
              <a:t>}</a:t>
            </a:r>
          </a:p>
          <a:p>
            <a:endParaRPr lang="en-US" sz="1200" dirty="0">
              <a:solidFill>
                <a:srgbClr val="000000"/>
              </a:solidFill>
              <a:latin typeface="Courier New" pitchFamily="34" charset="0"/>
              <a:cs typeface="Courier New" pitchFamily="34" charset="-120"/>
            </a:endParaRPr>
          </a:p>
          <a:p>
            <a:r>
              <a:rPr lang="en-US" sz="1200" dirty="0">
                <a:solidFill>
                  <a:srgbClr val="000000"/>
                </a:solidFill>
                <a:latin typeface="Courier New" pitchFamily="34" charset="0"/>
                <a:cs typeface="Courier New" pitchFamily="34" charset="-120"/>
              </a:rPr>
              <a:t>int main() {</a:t>
            </a:r>
          </a:p>
          <a:p>
            <a:endParaRPr lang="en-US" sz="1200" dirty="0">
              <a:solidFill>
                <a:srgbClr val="000000"/>
              </a:solidFill>
              <a:latin typeface="Courier New" pitchFamily="34" charset="0"/>
              <a:cs typeface="Courier New" pitchFamily="34" charset="-120"/>
            </a:endParaRPr>
          </a:p>
          <a:p>
            <a:pPr lvl="1"/>
            <a:r>
              <a:rPr lang="en-US" sz="1200" dirty="0">
                <a:solidFill>
                  <a:srgbClr val="000000"/>
                </a:solidFill>
                <a:latin typeface="Courier New" pitchFamily="34" charset="0"/>
                <a:cs typeface="Courier New" pitchFamily="34" charset="-120"/>
              </a:rPr>
              <a:t>int value = 5;</a:t>
            </a:r>
          </a:p>
          <a:p>
            <a:pPr lvl="1"/>
            <a:r>
              <a:rPr lang="en-US" sz="1200" dirty="0">
                <a:solidFill>
                  <a:srgbClr val="000000"/>
                </a:solidFill>
                <a:latin typeface="Courier New" pitchFamily="34" charset="0"/>
                <a:cs typeface="Courier New" pitchFamily="34" charset="-120"/>
              </a:rPr>
              <a:t>std::</a:t>
            </a:r>
            <a:r>
              <a:rPr lang="en-US" sz="1200" dirty="0" err="1">
                <a:solidFill>
                  <a:srgbClr val="000000"/>
                </a:solidFill>
                <a:latin typeface="Courier New" pitchFamily="34" charset="0"/>
                <a:cs typeface="Courier New" pitchFamily="34" charset="-120"/>
              </a:rPr>
              <a:t>cout</a:t>
            </a:r>
            <a:r>
              <a:rPr lang="en-US" sz="1200" dirty="0">
                <a:solidFill>
                  <a:srgbClr val="000000"/>
                </a:solidFill>
                <a:latin typeface="Courier New" pitchFamily="34" charset="0"/>
                <a:cs typeface="Courier New" pitchFamily="34" charset="-120"/>
              </a:rPr>
              <a:t> &lt;&lt; "Before function call: " &lt;&lt; value &lt;&lt; std::</a:t>
            </a:r>
            <a:r>
              <a:rPr lang="en-US" sz="1200" dirty="0" err="1">
                <a:solidFill>
                  <a:srgbClr val="000000"/>
                </a:solidFill>
                <a:latin typeface="Courier New" pitchFamily="34" charset="0"/>
                <a:cs typeface="Courier New" pitchFamily="34" charset="-120"/>
              </a:rPr>
              <a:t>endl</a:t>
            </a:r>
            <a:r>
              <a:rPr lang="en-US" sz="1200" dirty="0">
                <a:solidFill>
                  <a:srgbClr val="000000"/>
                </a:solidFill>
                <a:latin typeface="Courier New" pitchFamily="34" charset="0"/>
                <a:cs typeface="Courier New" pitchFamily="34" charset="-120"/>
              </a:rPr>
              <a:t>;</a:t>
            </a:r>
          </a:p>
          <a:p>
            <a:pPr lvl="1"/>
            <a:endParaRPr lang="en-US" sz="1200" dirty="0">
              <a:solidFill>
                <a:srgbClr val="000000"/>
              </a:solidFill>
              <a:latin typeface="Courier New" pitchFamily="34" charset="0"/>
              <a:cs typeface="Courier New" pitchFamily="34" charset="-120"/>
            </a:endParaRPr>
          </a:p>
          <a:p>
            <a:pPr lvl="1"/>
            <a:r>
              <a:rPr lang="en-US" sz="1200" dirty="0">
                <a:solidFill>
                  <a:srgbClr val="000000"/>
                </a:solidFill>
                <a:latin typeface="Courier New" pitchFamily="34" charset="0"/>
                <a:cs typeface="Courier New" pitchFamily="34" charset="-120"/>
              </a:rPr>
              <a:t>increment(value); // </a:t>
            </a:r>
            <a:r>
              <a:rPr lang="en-US" sz="1200" b="1" dirty="0">
                <a:solidFill>
                  <a:srgbClr val="000000"/>
                </a:solidFill>
                <a:latin typeface="Courier New" pitchFamily="34" charset="0"/>
                <a:cs typeface="Courier New" pitchFamily="34" charset="-120"/>
              </a:rPr>
              <a:t>Call the function by value</a:t>
            </a:r>
          </a:p>
          <a:p>
            <a:pPr lvl="1"/>
            <a:r>
              <a:rPr lang="en-US" sz="1200" dirty="0">
                <a:solidFill>
                  <a:srgbClr val="000000"/>
                </a:solidFill>
                <a:latin typeface="Courier New" pitchFamily="34" charset="0"/>
                <a:cs typeface="Courier New" pitchFamily="34" charset="-120"/>
              </a:rPr>
              <a:t>std::</a:t>
            </a:r>
            <a:r>
              <a:rPr lang="en-US" sz="1200" dirty="0" err="1">
                <a:solidFill>
                  <a:srgbClr val="000000"/>
                </a:solidFill>
                <a:latin typeface="Courier New" pitchFamily="34" charset="0"/>
                <a:cs typeface="Courier New" pitchFamily="34" charset="-120"/>
              </a:rPr>
              <a:t>cout</a:t>
            </a:r>
            <a:r>
              <a:rPr lang="en-US" sz="1200" dirty="0">
                <a:solidFill>
                  <a:srgbClr val="000000"/>
                </a:solidFill>
                <a:latin typeface="Courier New" pitchFamily="34" charset="0"/>
                <a:cs typeface="Courier New" pitchFamily="34" charset="-120"/>
              </a:rPr>
              <a:t> &lt;&lt; "After function call: " &lt;&lt; value &lt;&lt; std::</a:t>
            </a:r>
            <a:r>
              <a:rPr lang="en-US" sz="1200" dirty="0" err="1">
                <a:solidFill>
                  <a:srgbClr val="000000"/>
                </a:solidFill>
                <a:latin typeface="Courier New" pitchFamily="34" charset="0"/>
                <a:cs typeface="Courier New" pitchFamily="34" charset="-120"/>
              </a:rPr>
              <a:t>endl</a:t>
            </a:r>
            <a:r>
              <a:rPr lang="en-US" sz="1200" dirty="0">
                <a:solidFill>
                  <a:srgbClr val="000000"/>
                </a:solidFill>
                <a:latin typeface="Courier New" pitchFamily="34" charset="0"/>
                <a:cs typeface="Courier New" pitchFamily="34" charset="-120"/>
              </a:rPr>
              <a:t>;</a:t>
            </a:r>
          </a:p>
          <a:p>
            <a:endParaRPr lang="en-US" sz="1200" dirty="0">
              <a:solidFill>
                <a:srgbClr val="000000"/>
              </a:solidFill>
              <a:latin typeface="Courier New" pitchFamily="34" charset="0"/>
              <a:cs typeface="Courier New" pitchFamily="34" charset="-120"/>
            </a:endParaRPr>
          </a:p>
          <a:p>
            <a:r>
              <a:rPr lang="en-US" sz="1200" dirty="0">
                <a:solidFill>
                  <a:srgbClr val="000000"/>
                </a:solidFill>
                <a:latin typeface="Courier New" pitchFamily="34" charset="0"/>
                <a:cs typeface="Courier New" pitchFamily="34" charset="-120"/>
              </a:rPr>
              <a:t>return 0;</a:t>
            </a:r>
          </a:p>
          <a:p>
            <a:r>
              <a:rPr lang="en-US" sz="1200" dirty="0">
                <a:solidFill>
                  <a:srgbClr val="000000"/>
                </a:solidFill>
                <a:latin typeface="Courier New" pitchFamily="34" charset="0"/>
                <a:cs typeface="Courier New" pitchFamily="34" charset="-120"/>
              </a:rPr>
              <a:t>}</a:t>
            </a:r>
            <a:endParaRPr lang="en-US" sz="1050" dirty="0">
              <a:solidFill>
                <a:srgbClr val="000000"/>
              </a:solidFill>
              <a:latin typeface="Courier New" pitchFamily="34" charset="0"/>
              <a:cs typeface="Courier New" pitchFamily="34" charset="-120"/>
            </a:endParaRPr>
          </a:p>
        </p:txBody>
      </p:sp>
      <p:sp>
        <p:nvSpPr>
          <p:cNvPr id="6" name="TextBox 5">
            <a:extLst>
              <a:ext uri="{FF2B5EF4-FFF2-40B4-BE49-F238E27FC236}">
                <a16:creationId xmlns:a16="http://schemas.microsoft.com/office/drawing/2014/main" id="{E87D7057-C15E-1EC9-D9C3-9F89423CD12C}"/>
              </a:ext>
            </a:extLst>
          </p:cNvPr>
          <p:cNvSpPr txBox="1"/>
          <p:nvPr/>
        </p:nvSpPr>
        <p:spPr>
          <a:xfrm>
            <a:off x="618836" y="1191212"/>
            <a:ext cx="10717876" cy="1208023"/>
          </a:xfrm>
          <a:prstGeom prst="rect">
            <a:avLst/>
          </a:prstGeom>
          <a:noFill/>
        </p:spPr>
        <p:txBody>
          <a:bodyPr wrap="square" rtlCol="0">
            <a:spAutoFit/>
          </a:bodyPr>
          <a:lstStyle/>
          <a:p>
            <a:r>
              <a:rPr lang="en-US" sz="1400" b="1" dirty="0"/>
              <a:t>Methods To Call A C++ Function</a:t>
            </a:r>
          </a:p>
          <a:p>
            <a:endParaRPr lang="en-US" sz="900" b="1" dirty="0"/>
          </a:p>
          <a:p>
            <a:r>
              <a:rPr lang="en-US" sz="1600" dirty="0"/>
              <a:t>There are two primary ways to call the C++ function inside a program with access.</a:t>
            </a:r>
          </a:p>
          <a:p>
            <a:pPr marL="742950" lvl="1" indent="-285750">
              <a:buFont typeface="Arial" panose="020B0604020202020204" pitchFamily="34" charset="0"/>
              <a:buChar char="•"/>
            </a:pPr>
            <a:r>
              <a:rPr lang="en-US" sz="1600" dirty="0"/>
              <a:t>call-by-value </a:t>
            </a:r>
          </a:p>
          <a:p>
            <a:pPr marL="742950" lvl="1" indent="-285750">
              <a:buFont typeface="Arial" panose="020B0604020202020204" pitchFamily="34" charset="0"/>
              <a:buChar char="•"/>
            </a:pPr>
            <a:r>
              <a:rPr lang="en-US" sz="1600" dirty="0"/>
              <a:t>call-by-reference </a:t>
            </a:r>
            <a:endParaRPr lang="en-US" sz="1600" b="1" dirty="0"/>
          </a:p>
        </p:txBody>
      </p:sp>
      <p:sp>
        <p:nvSpPr>
          <p:cNvPr id="9" name="TextBox 8">
            <a:extLst>
              <a:ext uri="{FF2B5EF4-FFF2-40B4-BE49-F238E27FC236}">
                <a16:creationId xmlns:a16="http://schemas.microsoft.com/office/drawing/2014/main" id="{4C8A4524-46B6-BF72-6590-90B4FBA52DD8}"/>
              </a:ext>
            </a:extLst>
          </p:cNvPr>
          <p:cNvSpPr txBox="1"/>
          <p:nvPr/>
        </p:nvSpPr>
        <p:spPr>
          <a:xfrm>
            <a:off x="618836" y="2525562"/>
            <a:ext cx="10717875" cy="854978"/>
          </a:xfrm>
          <a:prstGeom prst="rect">
            <a:avLst/>
          </a:prstGeom>
          <a:noFill/>
        </p:spPr>
        <p:txBody>
          <a:bodyPr wrap="square">
            <a:spAutoFit/>
          </a:bodyPr>
          <a:lstStyle/>
          <a:p>
            <a:pPr marL="0" marR="0" indent="0" algn="l">
              <a:lnSpc>
                <a:spcPts val="2250"/>
              </a:lnSpc>
              <a:spcAft>
                <a:spcPts val="600"/>
              </a:spcAft>
              <a:buNone/>
            </a:pPr>
            <a:r>
              <a:rPr lang="en-US" sz="1600" b="1" i="0" spc="4" dirty="0">
                <a:solidFill>
                  <a:srgbClr val="383838"/>
                </a:solidFill>
                <a:effectLst/>
              </a:rPr>
              <a:t>Call-By-Value</a:t>
            </a:r>
          </a:p>
          <a:p>
            <a:pPr marL="0" marR="0" indent="0" algn="l">
              <a:lnSpc>
                <a:spcPts val="1470"/>
              </a:lnSpc>
              <a:spcAft>
                <a:spcPts val="1875"/>
              </a:spcAft>
              <a:buNone/>
            </a:pPr>
            <a:r>
              <a:rPr lang="en-US" sz="1600" b="0" i="0" spc="4" dirty="0">
                <a:solidFill>
                  <a:srgbClr val="383838"/>
                </a:solidFill>
                <a:effectLst/>
              </a:rPr>
              <a:t>The call-by-value technique allows the arguments to be sent to a C++ function by making a duplicate of the values and giving them to the function. </a:t>
            </a:r>
          </a:p>
        </p:txBody>
      </p:sp>
    </p:spTree>
    <p:extLst>
      <p:ext uri="{BB962C8B-B14F-4D97-AF65-F5344CB8AC3E}">
        <p14:creationId xmlns:p14="http://schemas.microsoft.com/office/powerpoint/2010/main" val="33335549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B894E-0014-D382-D3A2-B3F1C8BF625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9AAE678-9EC8-D2B4-AA9A-778845E1CF5F}"/>
              </a:ext>
            </a:extLst>
          </p:cNvPr>
          <p:cNvSpPr/>
          <p:nvPr/>
        </p:nvSpPr>
        <p:spPr>
          <a:xfrm>
            <a:off x="548640" y="18288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3</a:t>
            </a:r>
            <a:endParaRPr lang="en-US" sz="1400" dirty="0"/>
          </a:p>
        </p:txBody>
      </p:sp>
      <p:sp>
        <p:nvSpPr>
          <p:cNvPr id="3" name="Text 1">
            <a:extLst>
              <a:ext uri="{FF2B5EF4-FFF2-40B4-BE49-F238E27FC236}">
                <a16:creationId xmlns:a16="http://schemas.microsoft.com/office/drawing/2014/main" id="{7E2A3C88-538B-5A09-70DE-8640088036F4}"/>
              </a:ext>
            </a:extLst>
          </p:cNvPr>
          <p:cNvSpPr/>
          <p:nvPr/>
        </p:nvSpPr>
        <p:spPr>
          <a:xfrm>
            <a:off x="548640" y="639160"/>
            <a:ext cx="11091672" cy="36576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Functions</a:t>
            </a:r>
            <a:endParaRPr lang="en-US" sz="2200" dirty="0"/>
          </a:p>
        </p:txBody>
      </p:sp>
      <p:sp>
        <p:nvSpPr>
          <p:cNvPr id="5" name="Text 2">
            <a:extLst>
              <a:ext uri="{FF2B5EF4-FFF2-40B4-BE49-F238E27FC236}">
                <a16:creationId xmlns:a16="http://schemas.microsoft.com/office/drawing/2014/main" id="{6E5591EE-157D-5A5D-CE9C-BFBFCB329132}"/>
              </a:ext>
            </a:extLst>
          </p:cNvPr>
          <p:cNvSpPr/>
          <p:nvPr/>
        </p:nvSpPr>
        <p:spPr>
          <a:xfrm>
            <a:off x="608076" y="2320111"/>
            <a:ext cx="11091672" cy="3816429"/>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200" dirty="0">
                <a:solidFill>
                  <a:srgbClr val="000000"/>
                </a:solidFill>
                <a:latin typeface="Courier New" pitchFamily="34" charset="0"/>
                <a:cs typeface="Courier New" pitchFamily="34" charset="-120"/>
              </a:rPr>
              <a:t>#include &lt;iostream&gt;</a:t>
            </a:r>
          </a:p>
          <a:p>
            <a:r>
              <a:rPr lang="en-US" sz="1200" dirty="0">
                <a:solidFill>
                  <a:srgbClr val="000000"/>
                </a:solidFill>
                <a:latin typeface="Courier New" pitchFamily="34" charset="0"/>
                <a:cs typeface="Courier New" pitchFamily="34" charset="-120"/>
              </a:rPr>
              <a:t>using namespace std;</a:t>
            </a:r>
          </a:p>
          <a:p>
            <a:endParaRPr lang="en-US" sz="1200" dirty="0">
              <a:solidFill>
                <a:srgbClr val="000000"/>
              </a:solidFill>
              <a:latin typeface="Courier New" pitchFamily="34" charset="0"/>
              <a:cs typeface="Courier New" pitchFamily="34" charset="-120"/>
            </a:endParaRPr>
          </a:p>
          <a:p>
            <a:endParaRPr lang="en-US" sz="1200" dirty="0">
              <a:solidFill>
                <a:srgbClr val="000000"/>
              </a:solidFill>
              <a:latin typeface="Courier New" pitchFamily="34" charset="0"/>
              <a:cs typeface="Courier New" pitchFamily="34" charset="-120"/>
            </a:endParaRPr>
          </a:p>
          <a:p>
            <a:r>
              <a:rPr lang="en-US" sz="1200" dirty="0">
                <a:solidFill>
                  <a:srgbClr val="000000"/>
                </a:solidFill>
                <a:latin typeface="Courier New" pitchFamily="34" charset="0"/>
                <a:cs typeface="Courier New" pitchFamily="34" charset="-120"/>
              </a:rPr>
              <a:t>void increment(int&amp; num) {</a:t>
            </a:r>
          </a:p>
          <a:p>
            <a:r>
              <a:rPr lang="en-US" sz="1200" dirty="0">
                <a:solidFill>
                  <a:srgbClr val="000000"/>
                </a:solidFill>
                <a:latin typeface="Courier New" pitchFamily="34" charset="0"/>
                <a:cs typeface="Courier New" pitchFamily="34" charset="-120"/>
              </a:rPr>
              <a:t>num++; // </a:t>
            </a:r>
            <a:r>
              <a:rPr lang="en-US" sz="1200" b="1" dirty="0">
                <a:solidFill>
                  <a:srgbClr val="000000"/>
                </a:solidFill>
                <a:latin typeface="Courier New" pitchFamily="34" charset="0"/>
                <a:cs typeface="Courier New" pitchFamily="34" charset="-120"/>
              </a:rPr>
              <a:t>Increment the original value referred to by num</a:t>
            </a:r>
          </a:p>
          <a:p>
            <a:r>
              <a:rPr lang="en-US" sz="1200" dirty="0">
                <a:solidFill>
                  <a:srgbClr val="000000"/>
                </a:solidFill>
                <a:latin typeface="Courier New" pitchFamily="34" charset="0"/>
                <a:cs typeface="Courier New" pitchFamily="34" charset="-120"/>
              </a:rPr>
              <a:t>}</a:t>
            </a:r>
          </a:p>
          <a:p>
            <a:endParaRPr lang="en-US" sz="1200" dirty="0">
              <a:solidFill>
                <a:srgbClr val="000000"/>
              </a:solidFill>
              <a:latin typeface="Courier New" pitchFamily="34" charset="0"/>
              <a:cs typeface="Courier New" pitchFamily="34" charset="-120"/>
            </a:endParaRPr>
          </a:p>
          <a:p>
            <a:r>
              <a:rPr lang="en-US" sz="1200" dirty="0">
                <a:solidFill>
                  <a:srgbClr val="000000"/>
                </a:solidFill>
                <a:latin typeface="Courier New" pitchFamily="34" charset="0"/>
                <a:cs typeface="Courier New" pitchFamily="34" charset="-120"/>
              </a:rPr>
              <a:t>int main() {</a:t>
            </a:r>
          </a:p>
          <a:p>
            <a:endParaRPr lang="en-US" sz="1200" dirty="0">
              <a:solidFill>
                <a:srgbClr val="000000"/>
              </a:solidFill>
              <a:latin typeface="Courier New" pitchFamily="34" charset="0"/>
              <a:cs typeface="Courier New" pitchFamily="34" charset="-120"/>
            </a:endParaRPr>
          </a:p>
          <a:p>
            <a:pPr lvl="1"/>
            <a:r>
              <a:rPr lang="en-US" sz="1200" dirty="0">
                <a:solidFill>
                  <a:srgbClr val="000000"/>
                </a:solidFill>
                <a:latin typeface="Courier New" pitchFamily="34" charset="0"/>
                <a:cs typeface="Courier New" pitchFamily="34" charset="-120"/>
              </a:rPr>
              <a:t>int value = 5;</a:t>
            </a:r>
          </a:p>
          <a:p>
            <a:pPr lvl="1"/>
            <a:r>
              <a:rPr lang="en-US" sz="1200" dirty="0">
                <a:solidFill>
                  <a:srgbClr val="000000"/>
                </a:solidFill>
                <a:latin typeface="Courier New" pitchFamily="34" charset="0"/>
                <a:cs typeface="Courier New" pitchFamily="34" charset="-120"/>
              </a:rPr>
              <a:t>std::</a:t>
            </a:r>
            <a:r>
              <a:rPr lang="en-US" sz="1200" dirty="0" err="1">
                <a:solidFill>
                  <a:srgbClr val="000000"/>
                </a:solidFill>
                <a:latin typeface="Courier New" pitchFamily="34" charset="0"/>
                <a:cs typeface="Courier New" pitchFamily="34" charset="-120"/>
              </a:rPr>
              <a:t>cout</a:t>
            </a:r>
            <a:r>
              <a:rPr lang="en-US" sz="1200" dirty="0">
                <a:solidFill>
                  <a:srgbClr val="000000"/>
                </a:solidFill>
                <a:latin typeface="Courier New" pitchFamily="34" charset="0"/>
                <a:cs typeface="Courier New" pitchFamily="34" charset="-120"/>
              </a:rPr>
              <a:t> &lt;&lt; "Before function call: " &lt;&lt; value &lt;&lt; std::</a:t>
            </a:r>
            <a:r>
              <a:rPr lang="en-US" sz="1200" dirty="0" err="1">
                <a:solidFill>
                  <a:srgbClr val="000000"/>
                </a:solidFill>
                <a:latin typeface="Courier New" pitchFamily="34" charset="0"/>
                <a:cs typeface="Courier New" pitchFamily="34" charset="-120"/>
              </a:rPr>
              <a:t>endl</a:t>
            </a:r>
            <a:r>
              <a:rPr lang="en-US" sz="1200" dirty="0">
                <a:solidFill>
                  <a:srgbClr val="000000"/>
                </a:solidFill>
                <a:latin typeface="Courier New" pitchFamily="34" charset="0"/>
                <a:cs typeface="Courier New" pitchFamily="34" charset="-120"/>
              </a:rPr>
              <a:t>;</a:t>
            </a:r>
          </a:p>
          <a:p>
            <a:pPr lvl="1"/>
            <a:endParaRPr lang="en-US" sz="1200" dirty="0">
              <a:solidFill>
                <a:srgbClr val="000000"/>
              </a:solidFill>
              <a:latin typeface="Courier New" pitchFamily="34" charset="0"/>
              <a:cs typeface="Courier New" pitchFamily="34" charset="-120"/>
            </a:endParaRPr>
          </a:p>
          <a:p>
            <a:pPr lvl="1"/>
            <a:r>
              <a:rPr lang="en-US" sz="1200" dirty="0">
                <a:solidFill>
                  <a:srgbClr val="000000"/>
                </a:solidFill>
                <a:latin typeface="Courier New" pitchFamily="34" charset="0"/>
                <a:cs typeface="Courier New" pitchFamily="34" charset="-120"/>
              </a:rPr>
              <a:t>increment(value); // </a:t>
            </a:r>
            <a:r>
              <a:rPr lang="en-US" sz="1200" b="1" dirty="0">
                <a:solidFill>
                  <a:srgbClr val="000000"/>
                </a:solidFill>
                <a:latin typeface="Courier New" pitchFamily="34" charset="0"/>
                <a:cs typeface="Courier New" pitchFamily="34" charset="-120"/>
              </a:rPr>
              <a:t>Call the function by reference</a:t>
            </a:r>
          </a:p>
          <a:p>
            <a:pPr lvl="1"/>
            <a:endParaRPr lang="en-US" sz="1200" dirty="0">
              <a:solidFill>
                <a:srgbClr val="000000"/>
              </a:solidFill>
              <a:latin typeface="Courier New" pitchFamily="34" charset="0"/>
              <a:cs typeface="Courier New" pitchFamily="34" charset="-120"/>
            </a:endParaRPr>
          </a:p>
          <a:p>
            <a:pPr lvl="1"/>
            <a:r>
              <a:rPr lang="en-US" sz="1200" dirty="0">
                <a:solidFill>
                  <a:srgbClr val="000000"/>
                </a:solidFill>
                <a:latin typeface="Courier New" pitchFamily="34" charset="0"/>
                <a:cs typeface="Courier New" pitchFamily="34" charset="-120"/>
              </a:rPr>
              <a:t>std::</a:t>
            </a:r>
            <a:r>
              <a:rPr lang="en-US" sz="1200" dirty="0" err="1">
                <a:solidFill>
                  <a:srgbClr val="000000"/>
                </a:solidFill>
                <a:latin typeface="Courier New" pitchFamily="34" charset="0"/>
                <a:cs typeface="Courier New" pitchFamily="34" charset="-120"/>
              </a:rPr>
              <a:t>cout</a:t>
            </a:r>
            <a:r>
              <a:rPr lang="en-US" sz="1200" dirty="0">
                <a:solidFill>
                  <a:srgbClr val="000000"/>
                </a:solidFill>
                <a:latin typeface="Courier New" pitchFamily="34" charset="0"/>
                <a:cs typeface="Courier New" pitchFamily="34" charset="-120"/>
              </a:rPr>
              <a:t> &lt;&lt; "After function call: " &lt;&lt; value &lt;&lt; std::</a:t>
            </a:r>
            <a:r>
              <a:rPr lang="en-US" sz="1200" dirty="0" err="1">
                <a:solidFill>
                  <a:srgbClr val="000000"/>
                </a:solidFill>
                <a:latin typeface="Courier New" pitchFamily="34" charset="0"/>
                <a:cs typeface="Courier New" pitchFamily="34" charset="-120"/>
              </a:rPr>
              <a:t>endl</a:t>
            </a:r>
            <a:r>
              <a:rPr lang="en-US" sz="1200" dirty="0">
                <a:solidFill>
                  <a:srgbClr val="000000"/>
                </a:solidFill>
                <a:latin typeface="Courier New" pitchFamily="34" charset="0"/>
                <a:cs typeface="Courier New" pitchFamily="34" charset="-120"/>
              </a:rPr>
              <a:t>;</a:t>
            </a:r>
          </a:p>
          <a:p>
            <a:endParaRPr lang="en-US" sz="1200" dirty="0">
              <a:solidFill>
                <a:srgbClr val="000000"/>
              </a:solidFill>
              <a:latin typeface="Courier New" pitchFamily="34" charset="0"/>
              <a:cs typeface="Courier New" pitchFamily="34" charset="-120"/>
            </a:endParaRPr>
          </a:p>
          <a:p>
            <a:r>
              <a:rPr lang="en-US" sz="1200" dirty="0">
                <a:solidFill>
                  <a:srgbClr val="000000"/>
                </a:solidFill>
                <a:latin typeface="Courier New" pitchFamily="34" charset="0"/>
                <a:cs typeface="Courier New" pitchFamily="34" charset="-120"/>
              </a:rPr>
              <a:t>return 0;</a:t>
            </a:r>
          </a:p>
          <a:p>
            <a:r>
              <a:rPr lang="en-US" sz="1200" dirty="0">
                <a:solidFill>
                  <a:srgbClr val="000000"/>
                </a:solidFill>
                <a:latin typeface="Courier New" pitchFamily="34" charset="0"/>
                <a:cs typeface="Courier New" pitchFamily="34" charset="-120"/>
              </a:rPr>
              <a:t>}</a:t>
            </a:r>
          </a:p>
        </p:txBody>
      </p:sp>
      <p:sp>
        <p:nvSpPr>
          <p:cNvPr id="8" name="TextBox 7">
            <a:extLst>
              <a:ext uri="{FF2B5EF4-FFF2-40B4-BE49-F238E27FC236}">
                <a16:creationId xmlns:a16="http://schemas.microsoft.com/office/drawing/2014/main" id="{020C7BE3-B5A2-07BA-41F5-99E0A79217FB}"/>
              </a:ext>
            </a:extLst>
          </p:cNvPr>
          <p:cNvSpPr txBox="1"/>
          <p:nvPr/>
        </p:nvSpPr>
        <p:spPr>
          <a:xfrm>
            <a:off x="548639" y="1359808"/>
            <a:ext cx="10972799" cy="854978"/>
          </a:xfrm>
          <a:prstGeom prst="rect">
            <a:avLst/>
          </a:prstGeom>
          <a:noFill/>
        </p:spPr>
        <p:txBody>
          <a:bodyPr wrap="square">
            <a:spAutoFit/>
          </a:bodyPr>
          <a:lstStyle/>
          <a:p>
            <a:pPr marL="0" marR="0" indent="0" algn="l">
              <a:lnSpc>
                <a:spcPts val="2250"/>
              </a:lnSpc>
              <a:spcAft>
                <a:spcPts val="600"/>
              </a:spcAft>
              <a:buNone/>
            </a:pPr>
            <a:r>
              <a:rPr lang="en-US" sz="1500" b="1" i="0" spc="4" dirty="0">
                <a:solidFill>
                  <a:srgbClr val="383838"/>
                </a:solidFill>
                <a:effectLst/>
                <a:latin typeface="inherit"/>
              </a:rPr>
              <a:t>Call-By-Reference</a:t>
            </a:r>
            <a:endParaRPr lang="en-US" sz="1500" b="1" i="0" spc="4" dirty="0">
              <a:solidFill>
                <a:srgbClr val="383838"/>
              </a:solidFill>
              <a:effectLst/>
              <a:latin typeface="Inter"/>
            </a:endParaRPr>
          </a:p>
          <a:p>
            <a:pPr marL="0" marR="0" indent="0" algn="l">
              <a:lnSpc>
                <a:spcPts val="1470"/>
              </a:lnSpc>
              <a:spcAft>
                <a:spcPts val="1875"/>
              </a:spcAft>
              <a:buNone/>
            </a:pPr>
            <a:r>
              <a:rPr lang="en-US" sz="1600" spc="4" dirty="0">
                <a:solidFill>
                  <a:srgbClr val="383838"/>
                </a:solidFill>
              </a:rPr>
              <a:t>The call-by-reference way of passing arguments to a C++ function is when the function is called by supplying the memory location (reference) of the variables to be utilized inside the function.</a:t>
            </a:r>
          </a:p>
        </p:txBody>
      </p:sp>
    </p:spTree>
    <p:extLst>
      <p:ext uri="{BB962C8B-B14F-4D97-AF65-F5344CB8AC3E}">
        <p14:creationId xmlns:p14="http://schemas.microsoft.com/office/powerpoint/2010/main" val="20835094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729F6A4-B95A-55C4-A4B6-EA5CE79338BF}"/>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95E18F7B-DB48-4ADF-CAD4-ACF2B7464BEF}"/>
              </a:ext>
            </a:extLst>
          </p:cNvPr>
          <p:cNvSpPr/>
          <p:nvPr/>
        </p:nvSpPr>
        <p:spPr>
          <a:xfrm>
            <a:off x="548640" y="1392360"/>
            <a:ext cx="11091672" cy="5410224"/>
          </a:xfrm>
          <a:prstGeom prst="rect">
            <a:avLst/>
          </a:prstGeom>
          <a:noFill/>
          <a:ln/>
        </p:spPr>
        <p:txBody>
          <a:bodyPr wrap="square" rtlCol="0" anchor="t"/>
          <a:lstStyle/>
          <a:p>
            <a:pPr>
              <a:spcAft>
                <a:spcPts val="1200"/>
              </a:spcAft>
              <a:buSzPct val="100000"/>
            </a:pPr>
            <a:r>
              <a:rPr lang="en-US" sz="1600" b="1" dirty="0"/>
              <a:t>Types of Function:</a:t>
            </a:r>
          </a:p>
          <a:p>
            <a:pPr marL="342900" indent="-342900">
              <a:buFont typeface="+mj-lt"/>
              <a:buAutoNum type="arabicPeriod"/>
            </a:pPr>
            <a:r>
              <a:rPr lang="en-US" sz="1600" b="1" dirty="0"/>
              <a:t>Standard Functions</a:t>
            </a:r>
          </a:p>
          <a:p>
            <a:pPr lvl="1"/>
            <a:r>
              <a:rPr lang="en-US" sz="1600" dirty="0"/>
              <a:t>Standard functions are those provided by C++ libraries, such as </a:t>
            </a:r>
            <a:r>
              <a:rPr lang="en-US" sz="1600" b="1" dirty="0">
                <a:latin typeface="Courier New" panose="02070309020205020404" pitchFamily="49" charset="0"/>
                <a:cs typeface="Courier New" panose="02070309020205020404" pitchFamily="49" charset="0"/>
              </a:rPr>
              <a:t>std::</a:t>
            </a:r>
            <a:r>
              <a:rPr lang="en-US" sz="1600" b="1" dirty="0" err="1">
                <a:latin typeface="Courier New" panose="02070309020205020404" pitchFamily="49" charset="0"/>
                <a:cs typeface="Courier New" panose="02070309020205020404" pitchFamily="49" charset="0"/>
              </a:rPr>
              <a:t>cout</a:t>
            </a:r>
            <a:r>
              <a:rPr lang="en-US" sz="1600" b="1" dirty="0">
                <a:latin typeface="Courier New" panose="02070309020205020404" pitchFamily="49" charset="0"/>
                <a:cs typeface="Courier New" panose="02070309020205020404" pitchFamily="49" charset="0"/>
              </a:rPr>
              <a:t> </a:t>
            </a:r>
            <a:r>
              <a:rPr lang="en-US" sz="1600" dirty="0"/>
              <a:t>for output and </a:t>
            </a:r>
            <a:r>
              <a:rPr lang="en-US" sz="1600" b="1" dirty="0">
                <a:latin typeface="Courier New" panose="02070309020205020404" pitchFamily="49" charset="0"/>
                <a:cs typeface="Courier New" panose="02070309020205020404" pitchFamily="49" charset="0"/>
              </a:rPr>
              <a:t>std::</a:t>
            </a:r>
            <a:r>
              <a:rPr lang="en-US" sz="1600" b="1" dirty="0" err="1">
                <a:latin typeface="Courier New" panose="02070309020205020404" pitchFamily="49" charset="0"/>
                <a:cs typeface="Courier New" panose="02070309020205020404" pitchFamily="49" charset="0"/>
              </a:rPr>
              <a:t>cin</a:t>
            </a:r>
            <a:r>
              <a:rPr lang="en-US" sz="1600" b="1" dirty="0">
                <a:latin typeface="Courier New" panose="02070309020205020404" pitchFamily="49" charset="0"/>
                <a:cs typeface="Courier New" panose="02070309020205020404" pitchFamily="49" charset="0"/>
              </a:rPr>
              <a:t> </a:t>
            </a:r>
            <a:r>
              <a:rPr lang="en-US" sz="1600" dirty="0"/>
              <a:t>for input</a:t>
            </a:r>
          </a:p>
          <a:p>
            <a:pPr lvl="1"/>
            <a:endParaRPr lang="en-US" sz="1600" b="1" dirty="0"/>
          </a:p>
          <a:p>
            <a:pPr marL="342900" indent="-342900">
              <a:buFont typeface="+mj-lt"/>
              <a:buAutoNum type="arabicPeriod"/>
            </a:pPr>
            <a:r>
              <a:rPr lang="en-US" sz="1600" b="1" dirty="0"/>
              <a:t>User-Defined Functions</a:t>
            </a:r>
          </a:p>
          <a:p>
            <a:pPr lvl="1"/>
            <a:r>
              <a:rPr lang="en-US" sz="1600" dirty="0"/>
              <a:t>User-defined functions are written by the programmer to perform specific tasks. The example above illustrates a simple user-defined function.</a:t>
            </a:r>
          </a:p>
          <a:p>
            <a:pPr lvl="1"/>
            <a:endParaRPr lang="en-US" sz="1600" b="1" dirty="0"/>
          </a:p>
          <a:p>
            <a:r>
              <a:rPr lang="en-US" sz="1600" b="1" dirty="0"/>
              <a:t>Function Components</a:t>
            </a:r>
          </a:p>
          <a:p>
            <a:endParaRPr lang="en-US" sz="900" b="1" dirty="0"/>
          </a:p>
          <a:p>
            <a:pPr marL="742950" lvl="1" indent="-285750">
              <a:buFont typeface="Arial" panose="020B0604020202020204" pitchFamily="34" charset="0"/>
              <a:buChar char="•"/>
            </a:pPr>
            <a:r>
              <a:rPr lang="en-US" sz="1600" b="1" dirty="0"/>
              <a:t>Return Type</a:t>
            </a:r>
          </a:p>
          <a:p>
            <a:pPr lvl="2"/>
            <a:r>
              <a:rPr lang="en-US" sz="1600" dirty="0"/>
              <a:t>A function may return a value. The return type is the type of value the function sends back to the caller. If a function does not return a value, its return type is void.</a:t>
            </a:r>
          </a:p>
          <a:p>
            <a:endParaRPr lang="en-US" sz="800" b="1" dirty="0"/>
          </a:p>
          <a:p>
            <a:pPr marL="742950" lvl="1" indent="-285750">
              <a:buFont typeface="Arial" panose="020B0604020202020204" pitchFamily="34" charset="0"/>
              <a:buChar char="•"/>
            </a:pPr>
            <a:r>
              <a:rPr lang="en-US" sz="1600" b="1" dirty="0"/>
              <a:t>Parameters</a:t>
            </a:r>
          </a:p>
          <a:p>
            <a:pPr lvl="2"/>
            <a:r>
              <a:rPr lang="en-US" sz="1600" dirty="0"/>
              <a:t>Parameters (or arguments) are the values passed to the function. They are optional; a function can have none. Parameters allow you to pass data into a function.</a:t>
            </a:r>
          </a:p>
          <a:p>
            <a:pPr marL="1657350" lvl="3" indent="-285750">
              <a:buFont typeface="Arial" panose="020B0604020202020204" pitchFamily="34" charset="0"/>
              <a:buChar char="•"/>
            </a:pPr>
            <a:r>
              <a:rPr lang="en-US" sz="1600" dirty="0"/>
              <a:t>Pass-by-value </a:t>
            </a:r>
          </a:p>
          <a:p>
            <a:pPr marL="1657350" lvl="3" indent="-285750">
              <a:buFont typeface="Arial" panose="020B0604020202020204" pitchFamily="34" charset="0"/>
              <a:buChar char="•"/>
            </a:pPr>
            <a:r>
              <a:rPr lang="en-US" sz="1600" dirty="0"/>
              <a:t>Pass-by-reference</a:t>
            </a:r>
          </a:p>
          <a:p>
            <a:endParaRPr lang="en-US" sz="900" b="1" dirty="0"/>
          </a:p>
          <a:p>
            <a:pPr marL="742950" lvl="1" indent="-285750">
              <a:buFont typeface="Arial" panose="020B0604020202020204" pitchFamily="34" charset="0"/>
              <a:buChar char="•"/>
            </a:pPr>
            <a:r>
              <a:rPr lang="en-US" sz="1600" b="1" dirty="0"/>
              <a:t>Function Body</a:t>
            </a:r>
          </a:p>
          <a:p>
            <a:pPr lvl="2"/>
            <a:r>
              <a:rPr lang="en-US" sz="1600" dirty="0"/>
              <a:t>The function body contains the statements that define what the function does. It’s enclosed in curly braces {}.</a:t>
            </a:r>
          </a:p>
          <a:p>
            <a:endParaRPr lang="en-US" sz="1600" b="1" dirty="0"/>
          </a:p>
          <a:p>
            <a:pPr>
              <a:spcAft>
                <a:spcPts val="1200"/>
              </a:spcAft>
              <a:buSzPct val="100000"/>
            </a:pPr>
            <a:endParaRPr lang="en-US" sz="1400" dirty="0"/>
          </a:p>
        </p:txBody>
      </p:sp>
      <p:sp>
        <p:nvSpPr>
          <p:cNvPr id="8" name="Text 0">
            <a:extLst>
              <a:ext uri="{FF2B5EF4-FFF2-40B4-BE49-F238E27FC236}">
                <a16:creationId xmlns:a16="http://schemas.microsoft.com/office/drawing/2014/main" id="{CB533529-DFBF-49D9-1024-35227C5718F6}"/>
              </a:ext>
            </a:extLst>
          </p:cNvPr>
          <p:cNvSpPr/>
          <p:nvPr/>
        </p:nvSpPr>
        <p:spPr>
          <a:xfrm>
            <a:off x="548640" y="18288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3</a:t>
            </a:r>
            <a:endParaRPr lang="en-US" sz="1400" dirty="0"/>
          </a:p>
        </p:txBody>
      </p:sp>
      <p:sp>
        <p:nvSpPr>
          <p:cNvPr id="11" name="Text 1">
            <a:extLst>
              <a:ext uri="{FF2B5EF4-FFF2-40B4-BE49-F238E27FC236}">
                <a16:creationId xmlns:a16="http://schemas.microsoft.com/office/drawing/2014/main" id="{E834A846-92C4-3A7E-BE0D-47A6DE04BD62}"/>
              </a:ext>
            </a:extLst>
          </p:cNvPr>
          <p:cNvSpPr/>
          <p:nvPr/>
        </p:nvSpPr>
        <p:spPr>
          <a:xfrm>
            <a:off x="548640" y="639160"/>
            <a:ext cx="11091672" cy="36576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Functions</a:t>
            </a:r>
            <a:endParaRPr lang="en-US" sz="2200" dirty="0"/>
          </a:p>
        </p:txBody>
      </p:sp>
    </p:spTree>
    <p:extLst>
      <p:ext uri="{BB962C8B-B14F-4D97-AF65-F5344CB8AC3E}">
        <p14:creationId xmlns:p14="http://schemas.microsoft.com/office/powerpoint/2010/main" val="19299742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DD618B0-FE5E-808C-D8BA-28A8C0326DA6}"/>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FB6E779F-78DB-011A-B7AF-BA7869C4FCB5}"/>
              </a:ext>
            </a:extLst>
          </p:cNvPr>
          <p:cNvSpPr/>
          <p:nvPr/>
        </p:nvSpPr>
        <p:spPr>
          <a:xfrm>
            <a:off x="548640" y="1392360"/>
            <a:ext cx="11091672" cy="5410224"/>
          </a:xfrm>
          <a:prstGeom prst="rect">
            <a:avLst/>
          </a:prstGeom>
          <a:noFill/>
          <a:ln/>
        </p:spPr>
        <p:txBody>
          <a:bodyPr wrap="square" rtlCol="0" anchor="t"/>
          <a:lstStyle/>
          <a:p>
            <a:pPr>
              <a:spcAft>
                <a:spcPts val="1200"/>
              </a:spcAft>
              <a:buSzPct val="100000"/>
            </a:pPr>
            <a:endParaRPr lang="en-US" sz="1400" dirty="0"/>
          </a:p>
        </p:txBody>
      </p:sp>
      <p:sp>
        <p:nvSpPr>
          <p:cNvPr id="8" name="Text 0">
            <a:extLst>
              <a:ext uri="{FF2B5EF4-FFF2-40B4-BE49-F238E27FC236}">
                <a16:creationId xmlns:a16="http://schemas.microsoft.com/office/drawing/2014/main" id="{179C094A-6635-1320-F6EB-DA37EBDA2434}"/>
              </a:ext>
            </a:extLst>
          </p:cNvPr>
          <p:cNvSpPr/>
          <p:nvPr/>
        </p:nvSpPr>
        <p:spPr>
          <a:xfrm>
            <a:off x="548640" y="18288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3</a:t>
            </a:r>
            <a:endParaRPr lang="en-US" sz="1400" dirty="0"/>
          </a:p>
        </p:txBody>
      </p:sp>
      <p:sp>
        <p:nvSpPr>
          <p:cNvPr id="11" name="Text 1">
            <a:extLst>
              <a:ext uri="{FF2B5EF4-FFF2-40B4-BE49-F238E27FC236}">
                <a16:creationId xmlns:a16="http://schemas.microsoft.com/office/drawing/2014/main" id="{B8D59A42-E9C9-4C58-47EB-4706A50BABC2}"/>
              </a:ext>
            </a:extLst>
          </p:cNvPr>
          <p:cNvSpPr/>
          <p:nvPr/>
        </p:nvSpPr>
        <p:spPr>
          <a:xfrm>
            <a:off x="548640" y="639160"/>
            <a:ext cx="11091672" cy="36576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Functions</a:t>
            </a:r>
            <a:endParaRPr lang="en-US" sz="2200" dirty="0"/>
          </a:p>
        </p:txBody>
      </p:sp>
      <p:sp>
        <p:nvSpPr>
          <p:cNvPr id="2" name="TextBox 1">
            <a:extLst>
              <a:ext uri="{FF2B5EF4-FFF2-40B4-BE49-F238E27FC236}">
                <a16:creationId xmlns:a16="http://schemas.microsoft.com/office/drawing/2014/main" id="{11D8D4FE-AF57-90DD-27E7-0E1E17E469FD}"/>
              </a:ext>
            </a:extLst>
          </p:cNvPr>
          <p:cNvSpPr txBox="1"/>
          <p:nvPr/>
        </p:nvSpPr>
        <p:spPr>
          <a:xfrm>
            <a:off x="548640" y="1104676"/>
            <a:ext cx="2960939" cy="338554"/>
          </a:xfrm>
          <a:prstGeom prst="rect">
            <a:avLst/>
          </a:prstGeom>
          <a:noFill/>
        </p:spPr>
        <p:txBody>
          <a:bodyPr wrap="none" rtlCol="0">
            <a:spAutoFit/>
          </a:bodyPr>
          <a:lstStyle/>
          <a:p>
            <a:r>
              <a:rPr lang="en-US" sz="1600" b="1" dirty="0"/>
              <a:t>Passing Parameters to a function</a:t>
            </a:r>
          </a:p>
        </p:txBody>
      </p:sp>
      <p:sp>
        <p:nvSpPr>
          <p:cNvPr id="5" name="TextBox 4">
            <a:extLst>
              <a:ext uri="{FF2B5EF4-FFF2-40B4-BE49-F238E27FC236}">
                <a16:creationId xmlns:a16="http://schemas.microsoft.com/office/drawing/2014/main" id="{4FF604D9-A09C-52B5-2848-9C2FED5C8C7C}"/>
              </a:ext>
            </a:extLst>
          </p:cNvPr>
          <p:cNvSpPr txBox="1"/>
          <p:nvPr/>
        </p:nvSpPr>
        <p:spPr>
          <a:xfrm>
            <a:off x="548639" y="1685202"/>
            <a:ext cx="11163069" cy="1047338"/>
          </a:xfrm>
          <a:prstGeom prst="rect">
            <a:avLst/>
          </a:prstGeom>
          <a:noFill/>
        </p:spPr>
        <p:txBody>
          <a:bodyPr wrap="square">
            <a:spAutoFit/>
          </a:bodyPr>
          <a:lstStyle/>
          <a:p>
            <a:pPr marL="0" marR="0" indent="0" algn="l">
              <a:lnSpc>
                <a:spcPts val="2250"/>
              </a:lnSpc>
              <a:spcAft>
                <a:spcPts val="600"/>
              </a:spcAft>
              <a:buNone/>
            </a:pPr>
            <a:r>
              <a:rPr lang="en-US" sz="1600" b="1" i="0" spc="4" dirty="0">
                <a:solidFill>
                  <a:srgbClr val="383838"/>
                </a:solidFill>
                <a:effectLst/>
              </a:rPr>
              <a:t>Pass-by-Value Approach For C++ Function</a:t>
            </a:r>
          </a:p>
          <a:p>
            <a:pPr marL="0" marR="0" indent="0" algn="l">
              <a:lnSpc>
                <a:spcPts val="1470"/>
              </a:lnSpc>
              <a:spcAft>
                <a:spcPts val="1875"/>
              </a:spcAft>
              <a:buNone/>
            </a:pPr>
            <a:r>
              <a:rPr lang="en-US" sz="1600" b="0" i="0" spc="4" dirty="0">
                <a:solidFill>
                  <a:srgbClr val="383838"/>
                </a:solidFill>
                <a:effectLst/>
              </a:rPr>
              <a:t>When we are passing parameters to a function using the pass-by-value approach, a copy of the argument is provided to the function. The clone of the argument is used by the function, and any changes performed there have no impact on the original argument.</a:t>
            </a:r>
          </a:p>
        </p:txBody>
      </p:sp>
      <p:sp>
        <p:nvSpPr>
          <p:cNvPr id="7" name="Text 2">
            <a:extLst>
              <a:ext uri="{FF2B5EF4-FFF2-40B4-BE49-F238E27FC236}">
                <a16:creationId xmlns:a16="http://schemas.microsoft.com/office/drawing/2014/main" id="{0119AD85-60D4-2DDE-9696-305DFBA188A3}"/>
              </a:ext>
            </a:extLst>
          </p:cNvPr>
          <p:cNvSpPr/>
          <p:nvPr/>
        </p:nvSpPr>
        <p:spPr>
          <a:xfrm>
            <a:off x="548640" y="2974512"/>
            <a:ext cx="11091672" cy="3385542"/>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250" dirty="0">
                <a:solidFill>
                  <a:srgbClr val="000000"/>
                </a:solidFill>
                <a:latin typeface="Courier New" pitchFamily="34" charset="0"/>
                <a:cs typeface="Courier New" pitchFamily="34" charset="-120"/>
              </a:rPr>
              <a:t>#include &lt;iostream&gt;</a:t>
            </a:r>
          </a:p>
          <a:p>
            <a:r>
              <a:rPr lang="en-US" sz="1250" dirty="0">
                <a:solidFill>
                  <a:srgbClr val="000000"/>
                </a:solidFill>
                <a:latin typeface="Courier New" pitchFamily="34" charset="0"/>
                <a:cs typeface="Courier New" pitchFamily="34" charset="-120"/>
              </a:rPr>
              <a:t>using namespace std;</a:t>
            </a:r>
          </a:p>
          <a:p>
            <a:endParaRPr lang="en-US" sz="1250" dirty="0">
              <a:solidFill>
                <a:srgbClr val="000000"/>
              </a:solidFill>
              <a:latin typeface="Courier New" pitchFamily="34" charset="0"/>
              <a:cs typeface="Courier New" pitchFamily="34" charset="-120"/>
            </a:endParaRPr>
          </a:p>
          <a:p>
            <a:r>
              <a:rPr lang="en-US" sz="1250" dirty="0">
                <a:solidFill>
                  <a:srgbClr val="000000"/>
                </a:solidFill>
                <a:latin typeface="Courier New" pitchFamily="34" charset="0"/>
                <a:cs typeface="Courier New" pitchFamily="34" charset="-120"/>
              </a:rPr>
              <a:t>void increment(int num) {</a:t>
            </a:r>
          </a:p>
          <a:p>
            <a:r>
              <a:rPr lang="en-US" sz="1250" dirty="0">
                <a:solidFill>
                  <a:srgbClr val="000000"/>
                </a:solidFill>
                <a:latin typeface="Courier New" pitchFamily="34" charset="0"/>
                <a:cs typeface="Courier New" pitchFamily="34" charset="-120"/>
              </a:rPr>
              <a:t>num++;</a:t>
            </a:r>
          </a:p>
          <a:p>
            <a:r>
              <a:rPr lang="en-US" sz="1250" dirty="0">
                <a:solidFill>
                  <a:srgbClr val="000000"/>
                </a:solidFill>
                <a:latin typeface="Courier New" pitchFamily="34" charset="0"/>
                <a:cs typeface="Courier New" pitchFamily="34" charset="-120"/>
              </a:rPr>
              <a:t>}</a:t>
            </a:r>
          </a:p>
          <a:p>
            <a:endParaRPr lang="en-US" sz="1250" dirty="0">
              <a:solidFill>
                <a:srgbClr val="000000"/>
              </a:solidFill>
              <a:latin typeface="Courier New" pitchFamily="34" charset="0"/>
              <a:cs typeface="Courier New" pitchFamily="34" charset="-120"/>
            </a:endParaRPr>
          </a:p>
          <a:p>
            <a:r>
              <a:rPr lang="en-US" sz="1250" dirty="0">
                <a:solidFill>
                  <a:srgbClr val="000000"/>
                </a:solidFill>
                <a:latin typeface="Courier New" pitchFamily="34" charset="0"/>
                <a:cs typeface="Courier New" pitchFamily="34" charset="-120"/>
              </a:rPr>
              <a:t>int main() {</a:t>
            </a:r>
          </a:p>
          <a:p>
            <a:endParaRPr lang="en-US" sz="1250" dirty="0">
              <a:solidFill>
                <a:srgbClr val="000000"/>
              </a:solidFill>
              <a:latin typeface="Courier New" pitchFamily="34" charset="0"/>
              <a:cs typeface="Courier New" pitchFamily="34" charset="-120"/>
            </a:endParaRPr>
          </a:p>
          <a:p>
            <a:r>
              <a:rPr lang="en-US" sz="1250" dirty="0">
                <a:solidFill>
                  <a:srgbClr val="000000"/>
                </a:solidFill>
                <a:latin typeface="Courier New" pitchFamily="34" charset="0"/>
                <a:cs typeface="Courier New" pitchFamily="34" charset="-120"/>
              </a:rPr>
              <a:t>int value = 7;</a:t>
            </a:r>
          </a:p>
          <a:p>
            <a:r>
              <a:rPr lang="en-US" sz="1250" dirty="0">
                <a:solidFill>
                  <a:srgbClr val="000000"/>
                </a:solidFill>
                <a:latin typeface="Courier New" pitchFamily="34" charset="0"/>
                <a:cs typeface="Courier New" pitchFamily="34" charset="-120"/>
              </a:rPr>
              <a:t>std::</a:t>
            </a:r>
            <a:r>
              <a:rPr lang="en-US" sz="1250" dirty="0" err="1">
                <a:solidFill>
                  <a:srgbClr val="000000"/>
                </a:solidFill>
                <a:latin typeface="Courier New" pitchFamily="34" charset="0"/>
                <a:cs typeface="Courier New" pitchFamily="34" charset="-120"/>
              </a:rPr>
              <a:t>cout</a:t>
            </a:r>
            <a:r>
              <a:rPr lang="en-US" sz="1250" dirty="0">
                <a:solidFill>
                  <a:srgbClr val="000000"/>
                </a:solidFill>
                <a:latin typeface="Courier New" pitchFamily="34" charset="0"/>
                <a:cs typeface="Courier New" pitchFamily="34" charset="-120"/>
              </a:rPr>
              <a:t> &lt;&lt; "Before function call: " &lt;&lt; value &lt;&lt; std::</a:t>
            </a:r>
            <a:r>
              <a:rPr lang="en-US" sz="1250" dirty="0" err="1">
                <a:solidFill>
                  <a:srgbClr val="000000"/>
                </a:solidFill>
                <a:latin typeface="Courier New" pitchFamily="34" charset="0"/>
                <a:cs typeface="Courier New" pitchFamily="34" charset="-120"/>
              </a:rPr>
              <a:t>endl</a:t>
            </a:r>
            <a:r>
              <a:rPr lang="en-US" sz="1250" dirty="0">
                <a:solidFill>
                  <a:srgbClr val="000000"/>
                </a:solidFill>
                <a:latin typeface="Courier New" pitchFamily="34" charset="0"/>
                <a:cs typeface="Courier New" pitchFamily="34" charset="-120"/>
              </a:rPr>
              <a:t>;</a:t>
            </a:r>
          </a:p>
          <a:p>
            <a:endParaRPr lang="en-US" sz="1250" dirty="0">
              <a:solidFill>
                <a:srgbClr val="000000"/>
              </a:solidFill>
              <a:latin typeface="Courier New" pitchFamily="34" charset="0"/>
              <a:cs typeface="Courier New" pitchFamily="34" charset="-120"/>
            </a:endParaRPr>
          </a:p>
          <a:p>
            <a:r>
              <a:rPr lang="en-US" sz="1250" dirty="0">
                <a:solidFill>
                  <a:srgbClr val="000000"/>
                </a:solidFill>
                <a:latin typeface="Courier New" pitchFamily="34" charset="0"/>
                <a:cs typeface="Courier New" pitchFamily="34" charset="-120"/>
              </a:rPr>
              <a:t>increment(value);</a:t>
            </a:r>
          </a:p>
          <a:p>
            <a:r>
              <a:rPr lang="en-US" sz="1250" dirty="0">
                <a:solidFill>
                  <a:srgbClr val="000000"/>
                </a:solidFill>
                <a:latin typeface="Courier New" pitchFamily="34" charset="0"/>
                <a:cs typeface="Courier New" pitchFamily="34" charset="-120"/>
              </a:rPr>
              <a:t>std::</a:t>
            </a:r>
            <a:r>
              <a:rPr lang="en-US" sz="1250" dirty="0" err="1">
                <a:solidFill>
                  <a:srgbClr val="000000"/>
                </a:solidFill>
                <a:latin typeface="Courier New" pitchFamily="34" charset="0"/>
                <a:cs typeface="Courier New" pitchFamily="34" charset="-120"/>
              </a:rPr>
              <a:t>cout</a:t>
            </a:r>
            <a:r>
              <a:rPr lang="en-US" sz="1250" dirty="0">
                <a:solidFill>
                  <a:srgbClr val="000000"/>
                </a:solidFill>
                <a:latin typeface="Courier New" pitchFamily="34" charset="0"/>
                <a:cs typeface="Courier New" pitchFamily="34" charset="-120"/>
              </a:rPr>
              <a:t> &lt;&lt; "After function call: " &lt;&lt; value &lt;&lt; std::</a:t>
            </a:r>
            <a:r>
              <a:rPr lang="en-US" sz="1250" dirty="0" err="1">
                <a:solidFill>
                  <a:srgbClr val="000000"/>
                </a:solidFill>
                <a:latin typeface="Courier New" pitchFamily="34" charset="0"/>
                <a:cs typeface="Courier New" pitchFamily="34" charset="-120"/>
              </a:rPr>
              <a:t>endl</a:t>
            </a:r>
            <a:r>
              <a:rPr lang="en-US" sz="1250" dirty="0">
                <a:solidFill>
                  <a:srgbClr val="000000"/>
                </a:solidFill>
                <a:latin typeface="Courier New" pitchFamily="34" charset="0"/>
                <a:cs typeface="Courier New" pitchFamily="34" charset="-120"/>
              </a:rPr>
              <a:t>;</a:t>
            </a:r>
          </a:p>
          <a:p>
            <a:endParaRPr lang="en-US" sz="1250" dirty="0">
              <a:solidFill>
                <a:srgbClr val="000000"/>
              </a:solidFill>
              <a:latin typeface="Courier New" pitchFamily="34" charset="0"/>
              <a:cs typeface="Courier New" pitchFamily="34" charset="-120"/>
            </a:endParaRPr>
          </a:p>
          <a:p>
            <a:r>
              <a:rPr lang="en-US" sz="1250" dirty="0">
                <a:solidFill>
                  <a:srgbClr val="000000"/>
                </a:solidFill>
                <a:latin typeface="Courier New" pitchFamily="34" charset="0"/>
                <a:cs typeface="Courier New" pitchFamily="34" charset="-120"/>
              </a:rPr>
              <a:t>return 0;</a:t>
            </a:r>
          </a:p>
        </p:txBody>
      </p:sp>
    </p:spTree>
    <p:extLst>
      <p:ext uri="{BB962C8B-B14F-4D97-AF65-F5344CB8AC3E}">
        <p14:creationId xmlns:p14="http://schemas.microsoft.com/office/powerpoint/2010/main" val="13014109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CF1F469-6AEA-1333-8CAC-98B8DF4FD290}"/>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AC29A49B-1A36-D008-E8FE-28BDAD374339}"/>
              </a:ext>
            </a:extLst>
          </p:cNvPr>
          <p:cNvSpPr/>
          <p:nvPr/>
        </p:nvSpPr>
        <p:spPr>
          <a:xfrm>
            <a:off x="548640" y="1392360"/>
            <a:ext cx="11091672" cy="5410224"/>
          </a:xfrm>
          <a:prstGeom prst="rect">
            <a:avLst/>
          </a:prstGeom>
          <a:noFill/>
          <a:ln/>
        </p:spPr>
        <p:txBody>
          <a:bodyPr wrap="square" rtlCol="0" anchor="t"/>
          <a:lstStyle/>
          <a:p>
            <a:pPr>
              <a:spcAft>
                <a:spcPts val="1200"/>
              </a:spcAft>
              <a:buSzPct val="100000"/>
            </a:pPr>
            <a:endParaRPr lang="en-US" sz="1400" dirty="0"/>
          </a:p>
        </p:txBody>
      </p:sp>
      <p:sp>
        <p:nvSpPr>
          <p:cNvPr id="8" name="Text 0">
            <a:extLst>
              <a:ext uri="{FF2B5EF4-FFF2-40B4-BE49-F238E27FC236}">
                <a16:creationId xmlns:a16="http://schemas.microsoft.com/office/drawing/2014/main" id="{FBEEBED2-6C30-AADA-7FC2-D82C132A1309}"/>
              </a:ext>
            </a:extLst>
          </p:cNvPr>
          <p:cNvSpPr/>
          <p:nvPr/>
        </p:nvSpPr>
        <p:spPr>
          <a:xfrm>
            <a:off x="548640" y="18288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3</a:t>
            </a:r>
            <a:endParaRPr lang="en-US" sz="1400" dirty="0"/>
          </a:p>
        </p:txBody>
      </p:sp>
      <p:sp>
        <p:nvSpPr>
          <p:cNvPr id="11" name="Text 1">
            <a:extLst>
              <a:ext uri="{FF2B5EF4-FFF2-40B4-BE49-F238E27FC236}">
                <a16:creationId xmlns:a16="http://schemas.microsoft.com/office/drawing/2014/main" id="{8193997B-75A0-C26F-393D-92C6979E11E9}"/>
              </a:ext>
            </a:extLst>
          </p:cNvPr>
          <p:cNvSpPr/>
          <p:nvPr/>
        </p:nvSpPr>
        <p:spPr>
          <a:xfrm>
            <a:off x="548640" y="639160"/>
            <a:ext cx="11091672" cy="36576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Functions</a:t>
            </a:r>
            <a:endParaRPr lang="en-US" sz="2200" dirty="0"/>
          </a:p>
        </p:txBody>
      </p:sp>
      <p:sp>
        <p:nvSpPr>
          <p:cNvPr id="2" name="TextBox 1">
            <a:extLst>
              <a:ext uri="{FF2B5EF4-FFF2-40B4-BE49-F238E27FC236}">
                <a16:creationId xmlns:a16="http://schemas.microsoft.com/office/drawing/2014/main" id="{8857C565-B8F5-E54D-0F3A-A04E26E66BF3}"/>
              </a:ext>
            </a:extLst>
          </p:cNvPr>
          <p:cNvSpPr txBox="1"/>
          <p:nvPr/>
        </p:nvSpPr>
        <p:spPr>
          <a:xfrm>
            <a:off x="548640" y="1104676"/>
            <a:ext cx="2960939" cy="338554"/>
          </a:xfrm>
          <a:prstGeom prst="rect">
            <a:avLst/>
          </a:prstGeom>
          <a:noFill/>
        </p:spPr>
        <p:txBody>
          <a:bodyPr wrap="none" rtlCol="0">
            <a:spAutoFit/>
          </a:bodyPr>
          <a:lstStyle/>
          <a:p>
            <a:r>
              <a:rPr lang="en-US" sz="1600" b="1" dirty="0"/>
              <a:t>Passing Parameters to a function</a:t>
            </a:r>
          </a:p>
        </p:txBody>
      </p:sp>
      <p:sp>
        <p:nvSpPr>
          <p:cNvPr id="5" name="TextBox 4">
            <a:extLst>
              <a:ext uri="{FF2B5EF4-FFF2-40B4-BE49-F238E27FC236}">
                <a16:creationId xmlns:a16="http://schemas.microsoft.com/office/drawing/2014/main" id="{540B65DA-1C8E-52B9-6FEE-8D4D26169EC9}"/>
              </a:ext>
            </a:extLst>
          </p:cNvPr>
          <p:cNvSpPr txBox="1"/>
          <p:nvPr/>
        </p:nvSpPr>
        <p:spPr>
          <a:xfrm>
            <a:off x="548639" y="1685202"/>
            <a:ext cx="11163069" cy="1054135"/>
          </a:xfrm>
          <a:prstGeom prst="rect">
            <a:avLst/>
          </a:prstGeom>
          <a:noFill/>
        </p:spPr>
        <p:txBody>
          <a:bodyPr wrap="square">
            <a:spAutoFit/>
          </a:bodyPr>
          <a:lstStyle/>
          <a:p>
            <a:pPr marL="0" marR="0" indent="0" algn="l">
              <a:lnSpc>
                <a:spcPts val="2250"/>
              </a:lnSpc>
              <a:spcAft>
                <a:spcPts val="600"/>
              </a:spcAft>
              <a:buNone/>
            </a:pPr>
            <a:r>
              <a:rPr lang="en-US" sz="1600" b="1" i="0" spc="4" dirty="0">
                <a:solidFill>
                  <a:srgbClr val="383838"/>
                </a:solidFill>
                <a:effectLst/>
              </a:rPr>
              <a:t>Pass-by-Reference Approach For C++ Function</a:t>
            </a:r>
          </a:p>
          <a:p>
            <a:pPr>
              <a:lnSpc>
                <a:spcPts val="1470"/>
              </a:lnSpc>
              <a:spcAft>
                <a:spcPts val="1875"/>
              </a:spcAft>
            </a:pPr>
            <a:r>
              <a:rPr lang="en-US" sz="1600" dirty="0"/>
              <a:t>Under the pass-by-reference, a reference to the argument is supplied to the C++ function. The original parameter can be directly accessed and changed by the C++ function. The ampersand (&amp;) is used in function declarations to denote a reference before an argument</a:t>
            </a:r>
            <a:endParaRPr lang="en-US" sz="1400" b="0" i="0" spc="4" dirty="0">
              <a:solidFill>
                <a:srgbClr val="383838"/>
              </a:solidFill>
              <a:effectLst/>
            </a:endParaRPr>
          </a:p>
        </p:txBody>
      </p:sp>
      <p:sp>
        <p:nvSpPr>
          <p:cNvPr id="7" name="Text 2">
            <a:extLst>
              <a:ext uri="{FF2B5EF4-FFF2-40B4-BE49-F238E27FC236}">
                <a16:creationId xmlns:a16="http://schemas.microsoft.com/office/drawing/2014/main" id="{8A13F605-FDEF-63C1-9229-37D214AE8D0F}"/>
              </a:ext>
            </a:extLst>
          </p:cNvPr>
          <p:cNvSpPr/>
          <p:nvPr/>
        </p:nvSpPr>
        <p:spPr>
          <a:xfrm>
            <a:off x="548640" y="2974512"/>
            <a:ext cx="11091672" cy="3577903"/>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250" dirty="0">
                <a:solidFill>
                  <a:srgbClr val="000000"/>
                </a:solidFill>
                <a:latin typeface="Courier New" pitchFamily="34" charset="0"/>
                <a:cs typeface="Courier New" pitchFamily="34" charset="-120"/>
              </a:rPr>
              <a:t>#include &lt;iostream&gt;</a:t>
            </a:r>
          </a:p>
          <a:p>
            <a:r>
              <a:rPr lang="en-US" sz="1250" dirty="0">
                <a:solidFill>
                  <a:srgbClr val="000000"/>
                </a:solidFill>
                <a:latin typeface="Courier New" pitchFamily="34" charset="0"/>
                <a:cs typeface="Courier New" pitchFamily="34" charset="-120"/>
              </a:rPr>
              <a:t>using namespace std;</a:t>
            </a:r>
          </a:p>
          <a:p>
            <a:endParaRPr lang="en-US" sz="1250" dirty="0">
              <a:solidFill>
                <a:srgbClr val="000000"/>
              </a:solidFill>
              <a:latin typeface="Courier New" pitchFamily="34" charset="0"/>
              <a:cs typeface="Courier New" pitchFamily="34" charset="-120"/>
            </a:endParaRPr>
          </a:p>
          <a:p>
            <a:r>
              <a:rPr lang="en-US" sz="1250" dirty="0">
                <a:solidFill>
                  <a:srgbClr val="000000"/>
                </a:solidFill>
                <a:latin typeface="Courier New" pitchFamily="34" charset="0"/>
                <a:cs typeface="Courier New" pitchFamily="34" charset="-120"/>
              </a:rPr>
              <a:t>void increment(int&amp; num) {</a:t>
            </a:r>
          </a:p>
          <a:p>
            <a:r>
              <a:rPr lang="en-US" sz="1250" dirty="0">
                <a:solidFill>
                  <a:srgbClr val="000000"/>
                </a:solidFill>
                <a:latin typeface="Courier New" pitchFamily="34" charset="0"/>
                <a:cs typeface="Courier New" pitchFamily="34" charset="-120"/>
              </a:rPr>
              <a:t>num++;</a:t>
            </a:r>
          </a:p>
          <a:p>
            <a:r>
              <a:rPr lang="en-US" sz="1250" dirty="0">
                <a:solidFill>
                  <a:srgbClr val="000000"/>
                </a:solidFill>
                <a:latin typeface="Courier New" pitchFamily="34" charset="0"/>
                <a:cs typeface="Courier New" pitchFamily="34" charset="-120"/>
              </a:rPr>
              <a:t>}</a:t>
            </a:r>
          </a:p>
          <a:p>
            <a:endParaRPr lang="en-US" sz="1250" dirty="0">
              <a:solidFill>
                <a:srgbClr val="000000"/>
              </a:solidFill>
              <a:latin typeface="Courier New" pitchFamily="34" charset="0"/>
              <a:cs typeface="Courier New" pitchFamily="34" charset="-120"/>
            </a:endParaRPr>
          </a:p>
          <a:p>
            <a:r>
              <a:rPr lang="en-US" sz="1250" dirty="0">
                <a:solidFill>
                  <a:srgbClr val="000000"/>
                </a:solidFill>
                <a:latin typeface="Courier New" pitchFamily="34" charset="0"/>
                <a:cs typeface="Courier New" pitchFamily="34" charset="-120"/>
              </a:rPr>
              <a:t>int main() {</a:t>
            </a:r>
          </a:p>
          <a:p>
            <a:endParaRPr lang="en-US" sz="1250" dirty="0">
              <a:solidFill>
                <a:srgbClr val="000000"/>
              </a:solidFill>
              <a:latin typeface="Courier New" pitchFamily="34" charset="0"/>
              <a:cs typeface="Courier New" pitchFamily="34" charset="-120"/>
            </a:endParaRPr>
          </a:p>
          <a:p>
            <a:pPr lvl="1"/>
            <a:r>
              <a:rPr lang="en-US" sz="1250" dirty="0">
                <a:solidFill>
                  <a:srgbClr val="000000"/>
                </a:solidFill>
                <a:latin typeface="Courier New" pitchFamily="34" charset="0"/>
                <a:cs typeface="Courier New" pitchFamily="34" charset="-120"/>
              </a:rPr>
              <a:t>int value = 8;</a:t>
            </a:r>
          </a:p>
          <a:p>
            <a:pPr lvl="1"/>
            <a:r>
              <a:rPr lang="en-US" sz="1250" dirty="0">
                <a:solidFill>
                  <a:srgbClr val="000000"/>
                </a:solidFill>
                <a:latin typeface="Courier New" pitchFamily="34" charset="0"/>
                <a:cs typeface="Courier New" pitchFamily="34" charset="-120"/>
              </a:rPr>
              <a:t>std::</a:t>
            </a:r>
            <a:r>
              <a:rPr lang="en-US" sz="1250" dirty="0" err="1">
                <a:solidFill>
                  <a:srgbClr val="000000"/>
                </a:solidFill>
                <a:latin typeface="Courier New" pitchFamily="34" charset="0"/>
                <a:cs typeface="Courier New" pitchFamily="34" charset="-120"/>
              </a:rPr>
              <a:t>cout</a:t>
            </a:r>
            <a:r>
              <a:rPr lang="en-US" sz="1250" dirty="0">
                <a:solidFill>
                  <a:srgbClr val="000000"/>
                </a:solidFill>
                <a:latin typeface="Courier New" pitchFamily="34" charset="0"/>
                <a:cs typeface="Courier New" pitchFamily="34" charset="-120"/>
              </a:rPr>
              <a:t> &lt;&lt; "Before function call: " &lt;&lt; value &lt;&lt; std::</a:t>
            </a:r>
            <a:r>
              <a:rPr lang="en-US" sz="1250" dirty="0" err="1">
                <a:solidFill>
                  <a:srgbClr val="000000"/>
                </a:solidFill>
                <a:latin typeface="Courier New" pitchFamily="34" charset="0"/>
                <a:cs typeface="Courier New" pitchFamily="34" charset="-120"/>
              </a:rPr>
              <a:t>endl</a:t>
            </a:r>
            <a:r>
              <a:rPr lang="en-US" sz="1250" dirty="0">
                <a:solidFill>
                  <a:srgbClr val="000000"/>
                </a:solidFill>
                <a:latin typeface="Courier New" pitchFamily="34" charset="0"/>
                <a:cs typeface="Courier New" pitchFamily="34" charset="-120"/>
              </a:rPr>
              <a:t>;</a:t>
            </a:r>
          </a:p>
          <a:p>
            <a:pPr lvl="1"/>
            <a:endParaRPr lang="en-US" sz="1250" dirty="0">
              <a:solidFill>
                <a:srgbClr val="000000"/>
              </a:solidFill>
              <a:latin typeface="Courier New" pitchFamily="34" charset="0"/>
              <a:cs typeface="Courier New" pitchFamily="34" charset="-120"/>
            </a:endParaRPr>
          </a:p>
          <a:p>
            <a:pPr lvl="1"/>
            <a:r>
              <a:rPr lang="en-US" sz="1250" dirty="0">
                <a:solidFill>
                  <a:srgbClr val="000000"/>
                </a:solidFill>
                <a:latin typeface="Courier New" pitchFamily="34" charset="0"/>
                <a:cs typeface="Courier New" pitchFamily="34" charset="-120"/>
              </a:rPr>
              <a:t>increment(value);</a:t>
            </a:r>
          </a:p>
          <a:p>
            <a:pPr lvl="1"/>
            <a:r>
              <a:rPr lang="en-US" sz="1250" dirty="0">
                <a:solidFill>
                  <a:srgbClr val="000000"/>
                </a:solidFill>
                <a:latin typeface="Courier New" pitchFamily="34" charset="0"/>
                <a:cs typeface="Courier New" pitchFamily="34" charset="-120"/>
              </a:rPr>
              <a:t>std::</a:t>
            </a:r>
            <a:r>
              <a:rPr lang="en-US" sz="1250" dirty="0" err="1">
                <a:solidFill>
                  <a:srgbClr val="000000"/>
                </a:solidFill>
                <a:latin typeface="Courier New" pitchFamily="34" charset="0"/>
                <a:cs typeface="Courier New" pitchFamily="34" charset="-120"/>
              </a:rPr>
              <a:t>cout</a:t>
            </a:r>
            <a:r>
              <a:rPr lang="en-US" sz="1250" dirty="0">
                <a:solidFill>
                  <a:srgbClr val="000000"/>
                </a:solidFill>
                <a:latin typeface="Courier New" pitchFamily="34" charset="0"/>
                <a:cs typeface="Courier New" pitchFamily="34" charset="-120"/>
              </a:rPr>
              <a:t> &lt;&lt; "After function call: " &lt;&lt; value &lt;&lt; std::</a:t>
            </a:r>
            <a:r>
              <a:rPr lang="en-US" sz="1250" dirty="0" err="1">
                <a:solidFill>
                  <a:srgbClr val="000000"/>
                </a:solidFill>
                <a:latin typeface="Courier New" pitchFamily="34" charset="0"/>
                <a:cs typeface="Courier New" pitchFamily="34" charset="-120"/>
              </a:rPr>
              <a:t>endl</a:t>
            </a:r>
            <a:r>
              <a:rPr lang="en-US" sz="1250" dirty="0">
                <a:solidFill>
                  <a:srgbClr val="000000"/>
                </a:solidFill>
                <a:latin typeface="Courier New" pitchFamily="34" charset="0"/>
                <a:cs typeface="Courier New" pitchFamily="34" charset="-120"/>
              </a:rPr>
              <a:t>;</a:t>
            </a:r>
          </a:p>
          <a:p>
            <a:endParaRPr lang="en-US" sz="1250" dirty="0">
              <a:solidFill>
                <a:srgbClr val="000000"/>
              </a:solidFill>
              <a:latin typeface="Courier New" pitchFamily="34" charset="0"/>
              <a:cs typeface="Courier New" pitchFamily="34" charset="-120"/>
            </a:endParaRPr>
          </a:p>
          <a:p>
            <a:r>
              <a:rPr lang="en-US" sz="1250" dirty="0">
                <a:solidFill>
                  <a:srgbClr val="000000"/>
                </a:solidFill>
                <a:latin typeface="Courier New" pitchFamily="34" charset="0"/>
                <a:cs typeface="Courier New" pitchFamily="34" charset="-120"/>
              </a:rPr>
              <a:t>return 0;</a:t>
            </a:r>
          </a:p>
          <a:p>
            <a:r>
              <a:rPr lang="en-US" sz="1250" dirty="0">
                <a:solidFill>
                  <a:srgbClr val="000000"/>
                </a:solidFill>
                <a:latin typeface="Courier New" pitchFamily="34" charset="0"/>
                <a:cs typeface="Courier New" pitchFamily="34" charset="-120"/>
              </a:rPr>
              <a:t>}</a:t>
            </a:r>
          </a:p>
        </p:txBody>
      </p:sp>
    </p:spTree>
    <p:extLst>
      <p:ext uri="{BB962C8B-B14F-4D97-AF65-F5344CB8AC3E}">
        <p14:creationId xmlns:p14="http://schemas.microsoft.com/office/powerpoint/2010/main" val="10516811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3FC56-2504-5D86-D8D3-000415028338}"/>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2A8BF1C8-C577-390F-7918-95A5D905A57E}"/>
              </a:ext>
            </a:extLst>
          </p:cNvPr>
          <p:cNvSpPr/>
          <p:nvPr/>
        </p:nvSpPr>
        <p:spPr>
          <a:xfrm>
            <a:off x="548640" y="1392360"/>
            <a:ext cx="11091672" cy="5410224"/>
          </a:xfrm>
          <a:prstGeom prst="rect">
            <a:avLst/>
          </a:prstGeom>
          <a:noFill/>
          <a:ln/>
        </p:spPr>
        <p:txBody>
          <a:bodyPr wrap="square" rtlCol="0" anchor="t"/>
          <a:lstStyle/>
          <a:p>
            <a:pPr>
              <a:spcAft>
                <a:spcPts val="1200"/>
              </a:spcAft>
              <a:buSzPct val="100000"/>
            </a:pPr>
            <a:endParaRPr lang="en-US" sz="1400" dirty="0"/>
          </a:p>
        </p:txBody>
      </p:sp>
      <p:sp>
        <p:nvSpPr>
          <p:cNvPr id="8" name="Text 0">
            <a:extLst>
              <a:ext uri="{FF2B5EF4-FFF2-40B4-BE49-F238E27FC236}">
                <a16:creationId xmlns:a16="http://schemas.microsoft.com/office/drawing/2014/main" id="{054BCF11-8C73-3D88-825B-17041B70AAF7}"/>
              </a:ext>
            </a:extLst>
          </p:cNvPr>
          <p:cNvSpPr/>
          <p:nvPr/>
        </p:nvSpPr>
        <p:spPr>
          <a:xfrm>
            <a:off x="548640" y="18288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3</a:t>
            </a:r>
            <a:endParaRPr lang="en-US" sz="1400" dirty="0"/>
          </a:p>
        </p:txBody>
      </p:sp>
      <p:sp>
        <p:nvSpPr>
          <p:cNvPr id="11" name="Text 1">
            <a:extLst>
              <a:ext uri="{FF2B5EF4-FFF2-40B4-BE49-F238E27FC236}">
                <a16:creationId xmlns:a16="http://schemas.microsoft.com/office/drawing/2014/main" id="{D7320AF8-DECB-4DE5-9F2C-B3D17C90D1E0}"/>
              </a:ext>
            </a:extLst>
          </p:cNvPr>
          <p:cNvSpPr/>
          <p:nvPr/>
        </p:nvSpPr>
        <p:spPr>
          <a:xfrm>
            <a:off x="548640" y="639160"/>
            <a:ext cx="11091672" cy="36576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Functions</a:t>
            </a:r>
            <a:endParaRPr lang="en-US" sz="2200" dirty="0"/>
          </a:p>
        </p:txBody>
      </p:sp>
      <p:sp>
        <p:nvSpPr>
          <p:cNvPr id="7" name="Text 2">
            <a:extLst>
              <a:ext uri="{FF2B5EF4-FFF2-40B4-BE49-F238E27FC236}">
                <a16:creationId xmlns:a16="http://schemas.microsoft.com/office/drawing/2014/main" id="{30C31687-CB68-A068-45CE-113E52A00A52}"/>
              </a:ext>
            </a:extLst>
          </p:cNvPr>
          <p:cNvSpPr/>
          <p:nvPr/>
        </p:nvSpPr>
        <p:spPr>
          <a:xfrm>
            <a:off x="391622" y="1592950"/>
            <a:ext cx="11091672" cy="5116785"/>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250" dirty="0">
                <a:solidFill>
                  <a:srgbClr val="000000"/>
                </a:solidFill>
                <a:latin typeface="Courier New" pitchFamily="34" charset="0"/>
                <a:cs typeface="Courier New" pitchFamily="34" charset="-120"/>
              </a:rPr>
              <a:t>#include &lt;iostream&gt;</a:t>
            </a:r>
          </a:p>
          <a:p>
            <a:r>
              <a:rPr lang="en-US" sz="1250" dirty="0">
                <a:solidFill>
                  <a:srgbClr val="000000"/>
                </a:solidFill>
                <a:latin typeface="Courier New" pitchFamily="34" charset="0"/>
                <a:cs typeface="Courier New" pitchFamily="34" charset="-120"/>
              </a:rPr>
              <a:t>using namespace std;</a:t>
            </a:r>
          </a:p>
          <a:p>
            <a:endParaRPr lang="en-US" sz="1250" dirty="0">
              <a:solidFill>
                <a:srgbClr val="000000"/>
              </a:solidFill>
              <a:latin typeface="Courier New" pitchFamily="34" charset="0"/>
              <a:cs typeface="Courier New" pitchFamily="34" charset="-120"/>
            </a:endParaRPr>
          </a:p>
          <a:p>
            <a:r>
              <a:rPr lang="en-US" sz="1250" dirty="0">
                <a:solidFill>
                  <a:srgbClr val="000000"/>
                </a:solidFill>
                <a:latin typeface="Courier New" pitchFamily="34" charset="0"/>
                <a:cs typeface="Courier New" pitchFamily="34" charset="-120"/>
              </a:rPr>
              <a:t>void </a:t>
            </a:r>
            <a:r>
              <a:rPr lang="en-US" sz="1250" dirty="0" err="1">
                <a:solidFill>
                  <a:srgbClr val="000000"/>
                </a:solidFill>
                <a:latin typeface="Courier New" pitchFamily="34" charset="0"/>
                <a:cs typeface="Courier New" pitchFamily="34" charset="-120"/>
              </a:rPr>
              <a:t>swapNumbers</a:t>
            </a:r>
            <a:r>
              <a:rPr lang="en-US" sz="1250" dirty="0">
                <a:solidFill>
                  <a:srgbClr val="000000"/>
                </a:solidFill>
                <a:latin typeface="Courier New" pitchFamily="34" charset="0"/>
                <a:cs typeface="Courier New" pitchFamily="34" charset="-120"/>
              </a:rPr>
              <a:t>(int &amp;a, int &amp;b)</a:t>
            </a:r>
          </a:p>
          <a:p>
            <a:r>
              <a:rPr lang="en-US" sz="1250" dirty="0">
                <a:solidFill>
                  <a:srgbClr val="000000"/>
                </a:solidFill>
                <a:latin typeface="Courier New" pitchFamily="34" charset="0"/>
                <a:cs typeface="Courier New" pitchFamily="34" charset="-120"/>
              </a:rPr>
              <a:t>{</a:t>
            </a:r>
          </a:p>
          <a:p>
            <a:r>
              <a:rPr lang="en-US" sz="1250" dirty="0">
                <a:solidFill>
                  <a:srgbClr val="000000"/>
                </a:solidFill>
                <a:latin typeface="Courier New" pitchFamily="34" charset="0"/>
                <a:cs typeface="Courier New" pitchFamily="34" charset="-120"/>
              </a:rPr>
              <a:t>    int temp = a;</a:t>
            </a:r>
          </a:p>
          <a:p>
            <a:r>
              <a:rPr lang="en-US" sz="1250" dirty="0">
                <a:solidFill>
                  <a:srgbClr val="000000"/>
                </a:solidFill>
                <a:latin typeface="Courier New" pitchFamily="34" charset="0"/>
                <a:cs typeface="Courier New" pitchFamily="34" charset="-120"/>
              </a:rPr>
              <a:t>    a = b;</a:t>
            </a:r>
          </a:p>
          <a:p>
            <a:r>
              <a:rPr lang="en-US" sz="1250" dirty="0">
                <a:solidFill>
                  <a:srgbClr val="000000"/>
                </a:solidFill>
                <a:latin typeface="Courier New" pitchFamily="34" charset="0"/>
                <a:cs typeface="Courier New" pitchFamily="34" charset="-120"/>
              </a:rPr>
              <a:t>    b = temp;</a:t>
            </a:r>
          </a:p>
          <a:p>
            <a:r>
              <a:rPr lang="en-US" sz="1250" dirty="0">
                <a:solidFill>
                  <a:srgbClr val="000000"/>
                </a:solidFill>
                <a:latin typeface="Courier New" pitchFamily="34" charset="0"/>
                <a:cs typeface="Courier New" pitchFamily="34" charset="-120"/>
              </a:rPr>
              <a:t>}</a:t>
            </a:r>
          </a:p>
          <a:p>
            <a:endParaRPr lang="en-US" sz="1250" dirty="0">
              <a:solidFill>
                <a:srgbClr val="000000"/>
              </a:solidFill>
              <a:latin typeface="Courier New" pitchFamily="34" charset="0"/>
              <a:cs typeface="Courier New" pitchFamily="34" charset="-120"/>
            </a:endParaRPr>
          </a:p>
          <a:p>
            <a:r>
              <a:rPr lang="en-US" sz="1250" dirty="0">
                <a:solidFill>
                  <a:srgbClr val="000000"/>
                </a:solidFill>
                <a:latin typeface="Courier New" pitchFamily="34" charset="0"/>
                <a:cs typeface="Courier New" pitchFamily="34" charset="-120"/>
              </a:rPr>
              <a:t>int main()</a:t>
            </a:r>
          </a:p>
          <a:p>
            <a:r>
              <a:rPr lang="en-US" sz="1250" dirty="0">
                <a:solidFill>
                  <a:srgbClr val="000000"/>
                </a:solidFill>
                <a:latin typeface="Courier New" pitchFamily="34" charset="0"/>
                <a:cs typeface="Courier New" pitchFamily="34" charset="-120"/>
              </a:rPr>
              <a:t>{</a:t>
            </a:r>
          </a:p>
          <a:p>
            <a:r>
              <a:rPr lang="en-US" sz="1250" dirty="0">
                <a:solidFill>
                  <a:srgbClr val="000000"/>
                </a:solidFill>
                <a:latin typeface="Courier New" pitchFamily="34" charset="0"/>
                <a:cs typeface="Courier New" pitchFamily="34" charset="-120"/>
              </a:rPr>
              <a:t>    int x = 10;</a:t>
            </a:r>
          </a:p>
          <a:p>
            <a:r>
              <a:rPr lang="en-US" sz="1250" dirty="0">
                <a:solidFill>
                  <a:srgbClr val="000000"/>
                </a:solidFill>
                <a:latin typeface="Courier New" pitchFamily="34" charset="0"/>
                <a:cs typeface="Courier New" pitchFamily="34" charset="-120"/>
              </a:rPr>
              <a:t>    int y = 20;</a:t>
            </a:r>
          </a:p>
          <a:p>
            <a:endParaRPr lang="en-US" sz="1250" dirty="0">
              <a:solidFill>
                <a:srgbClr val="000000"/>
              </a:solidFill>
              <a:latin typeface="Courier New" pitchFamily="34" charset="0"/>
              <a:cs typeface="Courier New" pitchFamily="34" charset="-120"/>
            </a:endParaRPr>
          </a:p>
          <a:p>
            <a:r>
              <a:rPr lang="en-US" sz="1250" dirty="0">
                <a:solidFill>
                  <a:srgbClr val="000000"/>
                </a:solidFill>
                <a:latin typeface="Courier New" pitchFamily="34" charset="0"/>
                <a:cs typeface="Courier New" pitchFamily="34" charset="-120"/>
              </a:rPr>
              <a:t>    </a:t>
            </a:r>
            <a:r>
              <a:rPr lang="en-US" sz="1250" dirty="0" err="1">
                <a:solidFill>
                  <a:srgbClr val="000000"/>
                </a:solidFill>
                <a:latin typeface="Courier New" pitchFamily="34" charset="0"/>
                <a:cs typeface="Courier New" pitchFamily="34" charset="-120"/>
              </a:rPr>
              <a:t>cout</a:t>
            </a:r>
            <a:r>
              <a:rPr lang="en-US" sz="1250" dirty="0">
                <a:solidFill>
                  <a:srgbClr val="000000"/>
                </a:solidFill>
                <a:latin typeface="Courier New" pitchFamily="34" charset="0"/>
                <a:cs typeface="Courier New" pitchFamily="34" charset="-120"/>
              </a:rPr>
              <a:t> &lt;&lt; "Before swapping:" &lt;&lt; </a:t>
            </a:r>
            <a:r>
              <a:rPr lang="en-US" sz="1250" dirty="0" err="1">
                <a:solidFill>
                  <a:srgbClr val="000000"/>
                </a:solidFill>
                <a:latin typeface="Courier New" pitchFamily="34" charset="0"/>
                <a:cs typeface="Courier New" pitchFamily="34" charset="-120"/>
              </a:rPr>
              <a:t>endl</a:t>
            </a:r>
            <a:r>
              <a:rPr lang="en-US" sz="1250" dirty="0">
                <a:solidFill>
                  <a:srgbClr val="000000"/>
                </a:solidFill>
                <a:latin typeface="Courier New" pitchFamily="34" charset="0"/>
                <a:cs typeface="Courier New" pitchFamily="34" charset="-120"/>
              </a:rPr>
              <a:t>;</a:t>
            </a:r>
          </a:p>
          <a:p>
            <a:r>
              <a:rPr lang="en-US" sz="1250" dirty="0">
                <a:solidFill>
                  <a:srgbClr val="000000"/>
                </a:solidFill>
                <a:latin typeface="Courier New" pitchFamily="34" charset="0"/>
                <a:cs typeface="Courier New" pitchFamily="34" charset="-120"/>
              </a:rPr>
              <a:t>    </a:t>
            </a:r>
            <a:r>
              <a:rPr lang="en-US" sz="1250" dirty="0" err="1">
                <a:solidFill>
                  <a:srgbClr val="000000"/>
                </a:solidFill>
                <a:latin typeface="Courier New" pitchFamily="34" charset="0"/>
                <a:cs typeface="Courier New" pitchFamily="34" charset="-120"/>
              </a:rPr>
              <a:t>cout</a:t>
            </a:r>
            <a:r>
              <a:rPr lang="en-US" sz="1250" dirty="0">
                <a:solidFill>
                  <a:srgbClr val="000000"/>
                </a:solidFill>
                <a:latin typeface="Courier New" pitchFamily="34" charset="0"/>
                <a:cs typeface="Courier New" pitchFamily="34" charset="-120"/>
              </a:rPr>
              <a:t> &lt;&lt; "x = " &lt;&lt; x &lt;&lt; ", y = " &lt;&lt; y &lt;&lt; </a:t>
            </a:r>
            <a:r>
              <a:rPr lang="en-US" sz="1250" dirty="0" err="1">
                <a:solidFill>
                  <a:srgbClr val="000000"/>
                </a:solidFill>
                <a:latin typeface="Courier New" pitchFamily="34" charset="0"/>
                <a:cs typeface="Courier New" pitchFamily="34" charset="-120"/>
              </a:rPr>
              <a:t>endl</a:t>
            </a:r>
            <a:r>
              <a:rPr lang="en-US" sz="1250" dirty="0">
                <a:solidFill>
                  <a:srgbClr val="000000"/>
                </a:solidFill>
                <a:latin typeface="Courier New" pitchFamily="34" charset="0"/>
                <a:cs typeface="Courier New" pitchFamily="34" charset="-120"/>
              </a:rPr>
              <a:t>;</a:t>
            </a:r>
          </a:p>
          <a:p>
            <a:endParaRPr lang="en-US" sz="1250" dirty="0">
              <a:solidFill>
                <a:srgbClr val="000000"/>
              </a:solidFill>
              <a:latin typeface="Courier New" pitchFamily="34" charset="0"/>
              <a:cs typeface="Courier New" pitchFamily="34" charset="-120"/>
            </a:endParaRPr>
          </a:p>
          <a:p>
            <a:r>
              <a:rPr lang="en-US" sz="1250" dirty="0">
                <a:solidFill>
                  <a:srgbClr val="000000"/>
                </a:solidFill>
                <a:latin typeface="Courier New" pitchFamily="34" charset="0"/>
                <a:cs typeface="Courier New" pitchFamily="34" charset="-120"/>
              </a:rPr>
              <a:t>    </a:t>
            </a:r>
            <a:r>
              <a:rPr lang="en-US" sz="1250" dirty="0" err="1">
                <a:solidFill>
                  <a:srgbClr val="000000"/>
                </a:solidFill>
                <a:latin typeface="Courier New" pitchFamily="34" charset="0"/>
                <a:cs typeface="Courier New" pitchFamily="34" charset="-120"/>
              </a:rPr>
              <a:t>swapNumbers</a:t>
            </a:r>
            <a:r>
              <a:rPr lang="en-US" sz="1250" dirty="0">
                <a:solidFill>
                  <a:srgbClr val="000000"/>
                </a:solidFill>
                <a:latin typeface="Courier New" pitchFamily="34" charset="0"/>
                <a:cs typeface="Courier New" pitchFamily="34" charset="-120"/>
              </a:rPr>
              <a:t>(x, y);</a:t>
            </a:r>
          </a:p>
          <a:p>
            <a:endParaRPr lang="en-US" sz="1250" dirty="0">
              <a:solidFill>
                <a:srgbClr val="000000"/>
              </a:solidFill>
              <a:latin typeface="Courier New" pitchFamily="34" charset="0"/>
              <a:cs typeface="Courier New" pitchFamily="34" charset="-120"/>
            </a:endParaRPr>
          </a:p>
          <a:p>
            <a:r>
              <a:rPr lang="en-US" sz="1250" dirty="0">
                <a:solidFill>
                  <a:srgbClr val="000000"/>
                </a:solidFill>
                <a:latin typeface="Courier New" pitchFamily="34" charset="0"/>
                <a:cs typeface="Courier New" pitchFamily="34" charset="-120"/>
              </a:rPr>
              <a:t>    </a:t>
            </a:r>
            <a:r>
              <a:rPr lang="en-US" sz="1250" dirty="0" err="1">
                <a:solidFill>
                  <a:srgbClr val="000000"/>
                </a:solidFill>
                <a:latin typeface="Courier New" pitchFamily="34" charset="0"/>
                <a:cs typeface="Courier New" pitchFamily="34" charset="-120"/>
              </a:rPr>
              <a:t>cout</a:t>
            </a:r>
            <a:r>
              <a:rPr lang="en-US" sz="1250" dirty="0">
                <a:solidFill>
                  <a:srgbClr val="000000"/>
                </a:solidFill>
                <a:latin typeface="Courier New" pitchFamily="34" charset="0"/>
                <a:cs typeface="Courier New" pitchFamily="34" charset="-120"/>
              </a:rPr>
              <a:t> &lt;&lt; "After swapping:" &lt;&lt; </a:t>
            </a:r>
            <a:r>
              <a:rPr lang="en-US" sz="1250" dirty="0" err="1">
                <a:solidFill>
                  <a:srgbClr val="000000"/>
                </a:solidFill>
                <a:latin typeface="Courier New" pitchFamily="34" charset="0"/>
                <a:cs typeface="Courier New" pitchFamily="34" charset="-120"/>
              </a:rPr>
              <a:t>endl</a:t>
            </a:r>
            <a:r>
              <a:rPr lang="en-US" sz="1250" dirty="0">
                <a:solidFill>
                  <a:srgbClr val="000000"/>
                </a:solidFill>
                <a:latin typeface="Courier New" pitchFamily="34" charset="0"/>
                <a:cs typeface="Courier New" pitchFamily="34" charset="-120"/>
              </a:rPr>
              <a:t>;</a:t>
            </a:r>
          </a:p>
          <a:p>
            <a:r>
              <a:rPr lang="en-US" sz="1250" dirty="0">
                <a:solidFill>
                  <a:srgbClr val="000000"/>
                </a:solidFill>
                <a:latin typeface="Courier New" pitchFamily="34" charset="0"/>
                <a:cs typeface="Courier New" pitchFamily="34" charset="-120"/>
              </a:rPr>
              <a:t>    </a:t>
            </a:r>
            <a:r>
              <a:rPr lang="en-US" sz="1250" dirty="0" err="1">
                <a:solidFill>
                  <a:srgbClr val="000000"/>
                </a:solidFill>
                <a:latin typeface="Courier New" pitchFamily="34" charset="0"/>
                <a:cs typeface="Courier New" pitchFamily="34" charset="-120"/>
              </a:rPr>
              <a:t>cout</a:t>
            </a:r>
            <a:r>
              <a:rPr lang="en-US" sz="1250" dirty="0">
                <a:solidFill>
                  <a:srgbClr val="000000"/>
                </a:solidFill>
                <a:latin typeface="Courier New" pitchFamily="34" charset="0"/>
                <a:cs typeface="Courier New" pitchFamily="34" charset="-120"/>
              </a:rPr>
              <a:t> &lt;&lt; "x = " &lt;&lt; x &lt;&lt; ", y = " &lt;&lt; y &lt;&lt; </a:t>
            </a:r>
            <a:r>
              <a:rPr lang="en-US" sz="1250" dirty="0" err="1">
                <a:solidFill>
                  <a:srgbClr val="000000"/>
                </a:solidFill>
                <a:latin typeface="Courier New" pitchFamily="34" charset="0"/>
                <a:cs typeface="Courier New" pitchFamily="34" charset="-120"/>
              </a:rPr>
              <a:t>endl</a:t>
            </a:r>
            <a:r>
              <a:rPr lang="en-US" sz="1250" dirty="0">
                <a:solidFill>
                  <a:srgbClr val="000000"/>
                </a:solidFill>
                <a:latin typeface="Courier New" pitchFamily="34" charset="0"/>
                <a:cs typeface="Courier New" pitchFamily="34" charset="-120"/>
              </a:rPr>
              <a:t>;</a:t>
            </a:r>
          </a:p>
          <a:p>
            <a:endParaRPr lang="en-US" sz="1250" dirty="0">
              <a:solidFill>
                <a:srgbClr val="000000"/>
              </a:solidFill>
              <a:latin typeface="Courier New" pitchFamily="34" charset="0"/>
              <a:cs typeface="Courier New" pitchFamily="34" charset="-120"/>
            </a:endParaRPr>
          </a:p>
          <a:p>
            <a:r>
              <a:rPr lang="en-US" sz="1250" dirty="0">
                <a:solidFill>
                  <a:srgbClr val="000000"/>
                </a:solidFill>
                <a:latin typeface="Courier New" pitchFamily="34" charset="0"/>
                <a:cs typeface="Courier New" pitchFamily="34" charset="-120"/>
              </a:rPr>
              <a:t>    return 0;</a:t>
            </a:r>
          </a:p>
          <a:p>
            <a:r>
              <a:rPr lang="en-US" sz="1250" dirty="0">
                <a:solidFill>
                  <a:srgbClr val="000000"/>
                </a:solidFill>
                <a:latin typeface="Courier New" pitchFamily="34" charset="0"/>
                <a:cs typeface="Courier New" pitchFamily="34" charset="-120"/>
              </a:rPr>
              <a:t>}</a:t>
            </a:r>
          </a:p>
        </p:txBody>
      </p:sp>
      <p:sp>
        <p:nvSpPr>
          <p:cNvPr id="6" name="TextBox 5">
            <a:extLst>
              <a:ext uri="{FF2B5EF4-FFF2-40B4-BE49-F238E27FC236}">
                <a16:creationId xmlns:a16="http://schemas.microsoft.com/office/drawing/2014/main" id="{D451F958-ED90-E600-8D75-AA244961C315}"/>
              </a:ext>
            </a:extLst>
          </p:cNvPr>
          <p:cNvSpPr txBox="1"/>
          <p:nvPr/>
        </p:nvSpPr>
        <p:spPr>
          <a:xfrm>
            <a:off x="391622" y="1155035"/>
            <a:ext cx="6096000" cy="369332"/>
          </a:xfrm>
          <a:prstGeom prst="rect">
            <a:avLst/>
          </a:prstGeom>
          <a:noFill/>
        </p:spPr>
        <p:txBody>
          <a:bodyPr wrap="square">
            <a:spAutoFit/>
          </a:bodyPr>
          <a:lstStyle/>
          <a:p>
            <a:pPr marL="0" indent="0">
              <a:buNone/>
            </a:pPr>
            <a:r>
              <a:rPr lang="en-US" b="1" dirty="0">
                <a:solidFill>
                  <a:srgbClr val="000000"/>
                </a:solidFill>
                <a:ea typeface="Helvetica" pitchFamily="34" charset="-122"/>
                <a:cs typeface="Helvetica" pitchFamily="34" charset="-120"/>
              </a:rPr>
              <a:t>Swap by Reference</a:t>
            </a:r>
            <a:endParaRPr lang="en-US" dirty="0"/>
          </a:p>
        </p:txBody>
      </p:sp>
    </p:spTree>
    <p:extLst>
      <p:ext uri="{BB962C8B-B14F-4D97-AF65-F5344CB8AC3E}">
        <p14:creationId xmlns:p14="http://schemas.microsoft.com/office/powerpoint/2010/main" val="7241049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9A582-CB1C-75FD-BC68-551BCD6D2EF4}"/>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832E0B99-8797-9AB5-D8BE-6FA6DFAFDD3E}"/>
              </a:ext>
            </a:extLst>
          </p:cNvPr>
          <p:cNvSpPr/>
          <p:nvPr/>
        </p:nvSpPr>
        <p:spPr>
          <a:xfrm>
            <a:off x="548640" y="1392360"/>
            <a:ext cx="11091672" cy="3530622"/>
          </a:xfrm>
          <a:prstGeom prst="rect">
            <a:avLst/>
          </a:prstGeom>
          <a:noFill/>
          <a:ln/>
        </p:spPr>
        <p:txBody>
          <a:bodyPr wrap="square" rtlCol="0" anchor="t"/>
          <a:lstStyle/>
          <a:p>
            <a:pPr>
              <a:spcAft>
                <a:spcPts val="1200"/>
              </a:spcAft>
              <a:buSzPct val="100000"/>
            </a:pPr>
            <a:r>
              <a:rPr lang="en-US" sz="1600" b="1" dirty="0"/>
              <a:t>Function Parameters: The Basics</a:t>
            </a:r>
          </a:p>
          <a:p>
            <a:pPr lvl="1">
              <a:spcAft>
                <a:spcPts val="1200"/>
              </a:spcAft>
              <a:buSzPct val="100000"/>
            </a:pPr>
            <a:r>
              <a:rPr lang="en-US" sz="1600" dirty="0"/>
              <a:t>When a function is called, often data are provided for function to work with. These data are passed as </a:t>
            </a:r>
            <a:r>
              <a:rPr lang="en-US" sz="1600" b="1" dirty="0"/>
              <a:t>parameters</a:t>
            </a:r>
            <a:r>
              <a:rPr lang="en-US" sz="1600" dirty="0"/>
              <a:t> to the function.</a:t>
            </a:r>
          </a:p>
          <a:p>
            <a:pPr marL="1200150" lvl="2" indent="-285750">
              <a:buFont typeface="Arial" panose="020B0604020202020204" pitchFamily="34" charset="0"/>
              <a:buChar char="•"/>
            </a:pPr>
            <a:r>
              <a:rPr lang="en-US" sz="1600" b="1" dirty="0"/>
              <a:t>Arguments</a:t>
            </a:r>
            <a:r>
              <a:rPr lang="en-US" sz="1600" dirty="0"/>
              <a:t>: The actual values passed in the function call.</a:t>
            </a:r>
          </a:p>
          <a:p>
            <a:pPr marL="1200150" lvl="2" indent="-285750">
              <a:buFont typeface="Arial" panose="020B0604020202020204" pitchFamily="34" charset="0"/>
              <a:buChar char="•"/>
            </a:pPr>
            <a:r>
              <a:rPr lang="en-US" sz="1600" b="1" dirty="0"/>
              <a:t>Parameters</a:t>
            </a:r>
            <a:r>
              <a:rPr lang="en-US" sz="1600" dirty="0"/>
              <a:t>: The variables defined in the function that receive the arguments.</a:t>
            </a:r>
          </a:p>
          <a:p>
            <a:pPr marL="1200150" lvl="2" indent="-285750">
              <a:buFont typeface="Arial" panose="020B0604020202020204" pitchFamily="34" charset="0"/>
              <a:buChar char="•"/>
            </a:pPr>
            <a:r>
              <a:rPr lang="en-US" sz="1600" dirty="0"/>
              <a:t>Parameters act as </a:t>
            </a:r>
            <a:r>
              <a:rPr lang="en-US" sz="1600" b="1" dirty="0"/>
              <a:t>placeholders</a:t>
            </a:r>
            <a:r>
              <a:rPr lang="en-US" sz="1600" dirty="0"/>
              <a:t> that hold the values passed from the calling code.</a:t>
            </a:r>
          </a:p>
          <a:p>
            <a:pPr marL="1200150" lvl="2" indent="-285750">
              <a:buFont typeface="Arial" panose="020B0604020202020204" pitchFamily="34" charset="0"/>
              <a:buChar char="•"/>
            </a:pPr>
            <a:r>
              <a:rPr lang="en-US" sz="1600" dirty="0"/>
              <a:t>The data flows </a:t>
            </a:r>
            <a:r>
              <a:rPr lang="en-US" sz="1600" b="1" dirty="0"/>
              <a:t>from arguments (caller)</a:t>
            </a:r>
            <a:r>
              <a:rPr lang="en-US" sz="1600" dirty="0"/>
              <a:t> to </a:t>
            </a:r>
            <a:r>
              <a:rPr lang="en-US" sz="1600" b="1" dirty="0"/>
              <a:t>parameters (function)</a:t>
            </a:r>
            <a:r>
              <a:rPr lang="en-US" sz="1600" dirty="0"/>
              <a:t> when the function is invoked.</a:t>
            </a:r>
          </a:p>
          <a:p>
            <a:pPr marL="1200150" lvl="2" indent="-285750">
              <a:buFont typeface="Arial" panose="020B0604020202020204" pitchFamily="34" charset="0"/>
              <a:buChar char="•"/>
            </a:pPr>
            <a:r>
              <a:rPr lang="en-US" sz="1600" dirty="0"/>
              <a:t>Parameters are </a:t>
            </a:r>
            <a:r>
              <a:rPr lang="en-US" sz="1600" b="1" dirty="0"/>
              <a:t>local to the function</a:t>
            </a:r>
            <a:r>
              <a:rPr lang="en-US" sz="1600" dirty="0"/>
              <a:t> and exist only within its scope.</a:t>
            </a:r>
          </a:p>
          <a:p>
            <a:pPr marL="1200150" lvl="2" indent="-285750">
              <a:buFont typeface="Arial" panose="020B0604020202020204" pitchFamily="34" charset="0"/>
              <a:buChar char="•"/>
            </a:pPr>
            <a:r>
              <a:rPr lang="en-US" sz="1600" dirty="0"/>
              <a:t>The number and type of arguments must </a:t>
            </a:r>
            <a:r>
              <a:rPr lang="en-US" sz="1600" b="1" dirty="0"/>
              <a:t>match</a:t>
            </a:r>
            <a:r>
              <a:rPr lang="en-US" sz="1600" dirty="0"/>
              <a:t> the number and type of parameters declared in the function.</a:t>
            </a:r>
          </a:p>
          <a:p>
            <a:pPr marL="1200150" lvl="2" indent="-285750">
              <a:buFont typeface="Arial" panose="020B0604020202020204" pitchFamily="34" charset="0"/>
              <a:buChar char="•"/>
            </a:pPr>
            <a:r>
              <a:rPr lang="en-US" sz="1600" dirty="0"/>
              <a:t>Arguments can be passed as </a:t>
            </a:r>
            <a:r>
              <a:rPr lang="en-US" b="1" dirty="0"/>
              <a:t>values</a:t>
            </a:r>
            <a:r>
              <a:rPr lang="en-US" dirty="0"/>
              <a:t>, </a:t>
            </a:r>
            <a:r>
              <a:rPr lang="en-US" b="1" dirty="0"/>
              <a:t>references</a:t>
            </a:r>
            <a:r>
              <a:rPr lang="en-US" dirty="0"/>
              <a:t>, or </a:t>
            </a:r>
            <a:r>
              <a:rPr lang="en-US" b="1" dirty="0"/>
              <a:t>pointers</a:t>
            </a:r>
            <a:r>
              <a:rPr lang="en-US" dirty="0"/>
              <a:t> depending on the function definition.</a:t>
            </a:r>
          </a:p>
          <a:p>
            <a:pPr>
              <a:spcAft>
                <a:spcPts val="1200"/>
              </a:spcAft>
              <a:buSzPct val="100000"/>
            </a:pPr>
            <a:endParaRPr lang="en-US" sz="300" b="1" dirty="0"/>
          </a:p>
          <a:p>
            <a:endParaRPr lang="en-US" sz="1600" dirty="0"/>
          </a:p>
          <a:p>
            <a:endParaRPr lang="en-US" sz="1600" b="1" dirty="0"/>
          </a:p>
          <a:p>
            <a:pPr>
              <a:spcAft>
                <a:spcPts val="1200"/>
              </a:spcAft>
              <a:buSzPct val="100000"/>
            </a:pPr>
            <a:endParaRPr lang="en-US" sz="1400" dirty="0"/>
          </a:p>
        </p:txBody>
      </p:sp>
      <p:sp>
        <p:nvSpPr>
          <p:cNvPr id="8" name="Text 0">
            <a:extLst>
              <a:ext uri="{FF2B5EF4-FFF2-40B4-BE49-F238E27FC236}">
                <a16:creationId xmlns:a16="http://schemas.microsoft.com/office/drawing/2014/main" id="{F0D152AB-3BD9-86E7-FDBB-2BA72B49257C}"/>
              </a:ext>
            </a:extLst>
          </p:cNvPr>
          <p:cNvSpPr/>
          <p:nvPr/>
        </p:nvSpPr>
        <p:spPr>
          <a:xfrm>
            <a:off x="548640" y="18288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3</a:t>
            </a:r>
            <a:endParaRPr lang="en-US" sz="1400" dirty="0"/>
          </a:p>
        </p:txBody>
      </p:sp>
      <p:sp>
        <p:nvSpPr>
          <p:cNvPr id="10" name="Text 1">
            <a:extLst>
              <a:ext uri="{FF2B5EF4-FFF2-40B4-BE49-F238E27FC236}">
                <a16:creationId xmlns:a16="http://schemas.microsoft.com/office/drawing/2014/main" id="{8667AE15-5DBF-58D7-AE4F-EF22A5B43DFE}"/>
              </a:ext>
            </a:extLst>
          </p:cNvPr>
          <p:cNvSpPr/>
          <p:nvPr/>
        </p:nvSpPr>
        <p:spPr>
          <a:xfrm>
            <a:off x="548640" y="639160"/>
            <a:ext cx="11091672" cy="36576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Functions</a:t>
            </a:r>
            <a:endParaRPr lang="en-US" sz="2200" dirty="0"/>
          </a:p>
        </p:txBody>
      </p:sp>
    </p:spTree>
    <p:extLst>
      <p:ext uri="{BB962C8B-B14F-4D97-AF65-F5344CB8AC3E}">
        <p14:creationId xmlns:p14="http://schemas.microsoft.com/office/powerpoint/2010/main" val="42720017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71B09-7BDF-F5F9-9B54-B80A4AAF6C73}"/>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A3B9921A-0259-3A8C-3CAA-BEFDB74B041D}"/>
              </a:ext>
            </a:extLst>
          </p:cNvPr>
          <p:cNvSpPr/>
          <p:nvPr/>
        </p:nvSpPr>
        <p:spPr>
          <a:xfrm>
            <a:off x="548640" y="1392360"/>
            <a:ext cx="11091672" cy="5410224"/>
          </a:xfrm>
          <a:prstGeom prst="rect">
            <a:avLst/>
          </a:prstGeom>
          <a:noFill/>
          <a:ln/>
        </p:spPr>
        <p:txBody>
          <a:bodyPr wrap="square" rtlCol="0" anchor="t"/>
          <a:lstStyle/>
          <a:p>
            <a:pPr>
              <a:spcAft>
                <a:spcPts val="1200"/>
              </a:spcAft>
              <a:buSzPct val="100000"/>
            </a:pPr>
            <a:r>
              <a:rPr lang="en-US" sz="1600" b="1" dirty="0"/>
              <a:t>Default Argument:</a:t>
            </a:r>
          </a:p>
          <a:p>
            <a:pPr marL="742950" lvl="1" indent="-285750">
              <a:buFont typeface="Arial" panose="020B0604020202020204" pitchFamily="34" charset="0"/>
              <a:buChar char="•"/>
            </a:pPr>
            <a:r>
              <a:rPr lang="en-US" sz="1600" b="1" dirty="0"/>
              <a:t>Default arguments</a:t>
            </a:r>
            <a:r>
              <a:rPr lang="en-US" sz="1600" dirty="0"/>
              <a:t> allow us to specify </a:t>
            </a:r>
            <a:r>
              <a:rPr lang="en-US" sz="1600" b="1" dirty="0"/>
              <a:t>default values</a:t>
            </a:r>
            <a:r>
              <a:rPr lang="en-US" sz="1600" dirty="0"/>
              <a:t> for function parameters in C++.</a:t>
            </a:r>
          </a:p>
          <a:p>
            <a:pPr marL="742950" lvl="1" indent="-285750">
              <a:buFont typeface="Arial" panose="020B0604020202020204" pitchFamily="34" charset="0"/>
              <a:buChar char="•"/>
            </a:pPr>
            <a:r>
              <a:rPr lang="en-US" sz="1600" dirty="0"/>
              <a:t>These default values are used </a:t>
            </a:r>
            <a:r>
              <a:rPr lang="en-US" sz="1600" b="1" dirty="0"/>
              <a:t>automatically</a:t>
            </a:r>
            <a:r>
              <a:rPr lang="en-US" sz="1600" dirty="0"/>
              <a:t> when the corresponding argument is </a:t>
            </a:r>
            <a:r>
              <a:rPr lang="en-US" sz="1600" b="1" dirty="0"/>
              <a:t>omitted</a:t>
            </a:r>
            <a:r>
              <a:rPr lang="en-US" sz="1600" dirty="0"/>
              <a:t> in the function call.</a:t>
            </a:r>
          </a:p>
          <a:p>
            <a:pPr marL="742950" lvl="1" indent="-285750">
              <a:buFont typeface="Arial" panose="020B0604020202020204" pitchFamily="34" charset="0"/>
              <a:buChar char="•"/>
            </a:pPr>
            <a:r>
              <a:rPr lang="en-US" sz="1600" dirty="0"/>
              <a:t>Default arguments enhance </a:t>
            </a:r>
            <a:r>
              <a:rPr lang="en-US" sz="1600" b="1" dirty="0"/>
              <a:t>function flexibility</a:t>
            </a:r>
            <a:r>
              <a:rPr lang="en-US" sz="1600" dirty="0"/>
              <a:t> by accommodating multiple usage scenarios.</a:t>
            </a:r>
          </a:p>
          <a:p>
            <a:pPr marL="742950" lvl="1" indent="-285750">
              <a:buFont typeface="Arial" panose="020B0604020202020204" pitchFamily="34" charset="0"/>
              <a:buChar char="•"/>
            </a:pPr>
            <a:r>
              <a:rPr lang="en-US" sz="1600" dirty="0"/>
              <a:t>They </a:t>
            </a:r>
            <a:r>
              <a:rPr lang="en-US" sz="1600" b="1" dirty="0"/>
              <a:t>simplify function calls</a:t>
            </a:r>
            <a:r>
              <a:rPr lang="en-US" sz="1600" dirty="0"/>
              <a:t> by reducing the number of arguments that must be explicitly passed.</a:t>
            </a:r>
          </a:p>
          <a:p>
            <a:pPr marL="742950" lvl="1" indent="-285750">
              <a:buFont typeface="Arial" panose="020B0604020202020204" pitchFamily="34" charset="0"/>
              <a:buChar char="•"/>
            </a:pPr>
            <a:r>
              <a:rPr lang="en-US" sz="1600" dirty="0"/>
              <a:t>Default arguments maintain </a:t>
            </a:r>
            <a:r>
              <a:rPr lang="en-US" sz="1600" b="1" dirty="0"/>
              <a:t>code clarity</a:t>
            </a:r>
            <a:r>
              <a:rPr lang="en-US" sz="1600" dirty="0"/>
              <a:t> by minimizing the need for multiple overloaded functions.</a:t>
            </a:r>
          </a:p>
          <a:p>
            <a:pPr marL="742950" lvl="1" indent="-285750">
              <a:buFont typeface="Arial" panose="020B0604020202020204" pitchFamily="34" charset="0"/>
              <a:buChar char="•"/>
            </a:pPr>
            <a:r>
              <a:rPr lang="en-US" sz="1600" dirty="0"/>
              <a:t>They are defined in the </a:t>
            </a:r>
            <a:r>
              <a:rPr lang="en-US" sz="1600" b="1" dirty="0"/>
              <a:t>function declaration</a:t>
            </a:r>
            <a:r>
              <a:rPr lang="en-US" sz="1600" dirty="0"/>
              <a:t> (prototype), not in the definition.</a:t>
            </a:r>
          </a:p>
          <a:p>
            <a:pPr marL="742950" lvl="1" indent="-285750">
              <a:buFont typeface="Arial" panose="020B0604020202020204" pitchFamily="34" charset="0"/>
              <a:buChar char="•"/>
            </a:pPr>
            <a:r>
              <a:rPr lang="en-US" sz="1600" dirty="0"/>
              <a:t>Default arguments must be specified from the </a:t>
            </a:r>
            <a:r>
              <a:rPr lang="en-US" sz="1600" b="1" dirty="0"/>
              <a:t>rightmost parameter</a:t>
            </a:r>
            <a:r>
              <a:rPr lang="en-US" sz="1600" dirty="0"/>
              <a:t> (trailing parameters) towards the left.</a:t>
            </a:r>
          </a:p>
          <a:p>
            <a:pPr marL="742950" lvl="1" indent="-285750">
              <a:buFont typeface="Arial" panose="020B0604020202020204" pitchFamily="34" charset="0"/>
              <a:buChar char="•"/>
            </a:pPr>
            <a:r>
              <a:rPr lang="en-US" sz="1600" dirty="0"/>
              <a:t>Once a parameter has a default value, </a:t>
            </a:r>
            <a:r>
              <a:rPr lang="en-US" sz="1600" b="1" dirty="0"/>
              <a:t>all subsequent parameters</a:t>
            </a:r>
            <a:r>
              <a:rPr lang="en-US" sz="1600" dirty="0"/>
              <a:t> must also have default values.</a:t>
            </a:r>
          </a:p>
          <a:p>
            <a:pPr marL="742950" lvl="1" indent="-285750">
              <a:buFont typeface="Arial" panose="020B0604020202020204" pitchFamily="34" charset="0"/>
              <a:buChar char="•"/>
            </a:pPr>
            <a:r>
              <a:rPr lang="en-US" sz="1600" dirty="0"/>
              <a:t>They are useful when a function has </a:t>
            </a:r>
            <a:r>
              <a:rPr lang="en-US" sz="1600" b="1" dirty="0"/>
              <a:t>commonly used values</a:t>
            </a:r>
            <a:r>
              <a:rPr lang="en-US" sz="1600" dirty="0"/>
              <a:t> but still allows customization.</a:t>
            </a:r>
          </a:p>
          <a:p>
            <a:pPr marL="742950" lvl="1" indent="-285750">
              <a:buFont typeface="Arial" panose="020B0604020202020204" pitchFamily="34" charset="0"/>
              <a:buChar char="•"/>
            </a:pPr>
            <a:r>
              <a:rPr lang="en-US" sz="1600" dirty="0"/>
              <a:t>Default arguments reduce </a:t>
            </a:r>
            <a:r>
              <a:rPr lang="en-US" sz="1600" b="1" dirty="0"/>
              <a:t>code duplication</a:t>
            </a:r>
            <a:r>
              <a:rPr lang="en-US" sz="1600" dirty="0"/>
              <a:t> by eliminating the need for separate functions for different use cases.</a:t>
            </a:r>
          </a:p>
          <a:p>
            <a:pPr>
              <a:spcAft>
                <a:spcPts val="1200"/>
              </a:spcAft>
              <a:buSzPct val="100000"/>
            </a:pPr>
            <a:endParaRPr lang="en-US" sz="1600" b="1" dirty="0"/>
          </a:p>
          <a:p>
            <a:endParaRPr lang="en-US" sz="1600" dirty="0"/>
          </a:p>
          <a:p>
            <a:endParaRPr lang="en-US" sz="1600" b="1" dirty="0"/>
          </a:p>
          <a:p>
            <a:pPr>
              <a:spcAft>
                <a:spcPts val="1200"/>
              </a:spcAft>
              <a:buSzPct val="100000"/>
            </a:pPr>
            <a:endParaRPr lang="en-US" sz="1400" dirty="0"/>
          </a:p>
        </p:txBody>
      </p:sp>
      <p:sp>
        <p:nvSpPr>
          <p:cNvPr id="6" name="Text 2">
            <a:extLst>
              <a:ext uri="{FF2B5EF4-FFF2-40B4-BE49-F238E27FC236}">
                <a16:creationId xmlns:a16="http://schemas.microsoft.com/office/drawing/2014/main" id="{204D00D3-5AC5-9FCE-9F27-3AC42C74652C}"/>
              </a:ext>
            </a:extLst>
          </p:cNvPr>
          <p:cNvSpPr/>
          <p:nvPr/>
        </p:nvSpPr>
        <p:spPr>
          <a:xfrm>
            <a:off x="616989" y="4914207"/>
            <a:ext cx="11091672" cy="492443"/>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200" dirty="0" err="1">
                <a:latin typeface="Courier New" pitchFamily="34" charset="0"/>
                <a:cs typeface="Courier New" pitchFamily="34" charset="-120"/>
              </a:rPr>
              <a:t>returnType</a:t>
            </a:r>
            <a:r>
              <a:rPr lang="en-US" sz="1200" dirty="0">
                <a:latin typeface="Courier New" pitchFamily="34" charset="0"/>
                <a:cs typeface="Courier New" pitchFamily="34" charset="-120"/>
              </a:rPr>
              <a:t> </a:t>
            </a:r>
            <a:r>
              <a:rPr lang="en-US" sz="1200" dirty="0" err="1">
                <a:latin typeface="Courier New" pitchFamily="34" charset="0"/>
                <a:cs typeface="Courier New" pitchFamily="34" charset="-120"/>
              </a:rPr>
              <a:t>functionName</a:t>
            </a:r>
            <a:r>
              <a:rPr lang="en-US" sz="1200" dirty="0">
                <a:latin typeface="Courier New" pitchFamily="34" charset="0"/>
                <a:cs typeface="Courier New" pitchFamily="34" charset="-120"/>
              </a:rPr>
              <a:t>(parameterType1 parameterName1 = defaultValue1, ...);</a:t>
            </a:r>
            <a:endParaRPr lang="en-US" sz="1200" dirty="0"/>
          </a:p>
        </p:txBody>
      </p:sp>
      <p:sp>
        <p:nvSpPr>
          <p:cNvPr id="8" name="TextBox 7">
            <a:extLst>
              <a:ext uri="{FF2B5EF4-FFF2-40B4-BE49-F238E27FC236}">
                <a16:creationId xmlns:a16="http://schemas.microsoft.com/office/drawing/2014/main" id="{EE389E16-6851-8AD4-36E3-6D963C1229B2}"/>
              </a:ext>
            </a:extLst>
          </p:cNvPr>
          <p:cNvSpPr txBox="1"/>
          <p:nvPr/>
        </p:nvSpPr>
        <p:spPr>
          <a:xfrm>
            <a:off x="548640" y="4586147"/>
            <a:ext cx="804323" cy="338554"/>
          </a:xfrm>
          <a:prstGeom prst="rect">
            <a:avLst/>
          </a:prstGeom>
          <a:noFill/>
        </p:spPr>
        <p:txBody>
          <a:bodyPr wrap="none" rtlCol="0">
            <a:spAutoFit/>
          </a:bodyPr>
          <a:lstStyle/>
          <a:p>
            <a:r>
              <a:rPr lang="en-US" sz="1600" b="1" dirty="0"/>
              <a:t>Syntax:</a:t>
            </a:r>
          </a:p>
        </p:txBody>
      </p:sp>
      <p:sp>
        <p:nvSpPr>
          <p:cNvPr id="10" name="Text 0">
            <a:extLst>
              <a:ext uri="{FF2B5EF4-FFF2-40B4-BE49-F238E27FC236}">
                <a16:creationId xmlns:a16="http://schemas.microsoft.com/office/drawing/2014/main" id="{8E856B9F-8B7B-5EB2-5FDC-E26957DE9433}"/>
              </a:ext>
            </a:extLst>
          </p:cNvPr>
          <p:cNvSpPr/>
          <p:nvPr/>
        </p:nvSpPr>
        <p:spPr>
          <a:xfrm>
            <a:off x="548640" y="18288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3</a:t>
            </a:r>
            <a:endParaRPr lang="en-US" sz="1400" dirty="0"/>
          </a:p>
        </p:txBody>
      </p:sp>
      <p:sp>
        <p:nvSpPr>
          <p:cNvPr id="12" name="Text 1">
            <a:extLst>
              <a:ext uri="{FF2B5EF4-FFF2-40B4-BE49-F238E27FC236}">
                <a16:creationId xmlns:a16="http://schemas.microsoft.com/office/drawing/2014/main" id="{BE358D99-666B-9AFA-F2E0-06C72985A32A}"/>
              </a:ext>
            </a:extLst>
          </p:cNvPr>
          <p:cNvSpPr/>
          <p:nvPr/>
        </p:nvSpPr>
        <p:spPr>
          <a:xfrm>
            <a:off x="548640" y="639160"/>
            <a:ext cx="11091672" cy="36576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Functions</a:t>
            </a:r>
            <a:endParaRPr lang="en-US" sz="2200" dirty="0"/>
          </a:p>
        </p:txBody>
      </p:sp>
    </p:spTree>
    <p:extLst>
      <p:ext uri="{BB962C8B-B14F-4D97-AF65-F5344CB8AC3E}">
        <p14:creationId xmlns:p14="http://schemas.microsoft.com/office/powerpoint/2010/main" val="36512346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21526-14C8-CA37-41F2-8B17567E648A}"/>
            </a:ext>
          </a:extLst>
        </p:cNvPr>
        <p:cNvGrpSpPr/>
        <p:nvPr/>
      </p:nvGrpSpPr>
      <p:grpSpPr>
        <a:xfrm>
          <a:off x="0" y="0"/>
          <a:ext cx="0" cy="0"/>
          <a:chOff x="0" y="0"/>
          <a:chExt cx="0" cy="0"/>
        </a:xfrm>
      </p:grpSpPr>
      <p:sp>
        <p:nvSpPr>
          <p:cNvPr id="7" name="Text 2">
            <a:extLst>
              <a:ext uri="{FF2B5EF4-FFF2-40B4-BE49-F238E27FC236}">
                <a16:creationId xmlns:a16="http://schemas.microsoft.com/office/drawing/2014/main" id="{AE78B80C-35B0-2A3F-A873-32934027AD9D}"/>
              </a:ext>
            </a:extLst>
          </p:cNvPr>
          <p:cNvSpPr/>
          <p:nvPr/>
        </p:nvSpPr>
        <p:spPr>
          <a:xfrm>
            <a:off x="548640" y="1232593"/>
            <a:ext cx="11091672" cy="5309146"/>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250" dirty="0">
                <a:solidFill>
                  <a:srgbClr val="000000"/>
                </a:solidFill>
                <a:latin typeface="Courier New" pitchFamily="34" charset="0"/>
                <a:cs typeface="Courier New" pitchFamily="34" charset="-120"/>
              </a:rPr>
              <a:t>#include &lt;iostream&gt;</a:t>
            </a:r>
          </a:p>
          <a:p>
            <a:r>
              <a:rPr lang="en-US" sz="1250" dirty="0">
                <a:solidFill>
                  <a:srgbClr val="000000"/>
                </a:solidFill>
                <a:latin typeface="Courier New" pitchFamily="34" charset="0"/>
                <a:cs typeface="Courier New" pitchFamily="34" charset="-120"/>
              </a:rPr>
              <a:t>using namespace std;</a:t>
            </a:r>
          </a:p>
          <a:p>
            <a:endParaRPr lang="en-US" sz="1250" dirty="0">
              <a:solidFill>
                <a:srgbClr val="000000"/>
              </a:solidFill>
              <a:latin typeface="Courier New" pitchFamily="34" charset="0"/>
              <a:cs typeface="Courier New" pitchFamily="34" charset="-120"/>
            </a:endParaRPr>
          </a:p>
          <a:p>
            <a:r>
              <a:rPr lang="en-US" sz="1250" dirty="0">
                <a:solidFill>
                  <a:srgbClr val="000000"/>
                </a:solidFill>
                <a:latin typeface="Courier New" pitchFamily="34" charset="0"/>
                <a:cs typeface="Courier New" pitchFamily="34" charset="-120"/>
              </a:rPr>
              <a:t>// defining the default arguments</a:t>
            </a:r>
          </a:p>
          <a:p>
            <a:r>
              <a:rPr lang="en-US" sz="1250" dirty="0">
                <a:solidFill>
                  <a:srgbClr val="000000"/>
                </a:solidFill>
                <a:latin typeface="Courier New" pitchFamily="34" charset="0"/>
                <a:cs typeface="Courier New" pitchFamily="34" charset="-120"/>
              </a:rPr>
              <a:t>void display(char c = '*', int count = 3) {</a:t>
            </a:r>
          </a:p>
          <a:p>
            <a:r>
              <a:rPr lang="en-US" sz="1250" dirty="0">
                <a:solidFill>
                  <a:srgbClr val="000000"/>
                </a:solidFill>
                <a:latin typeface="Courier New" pitchFamily="34" charset="0"/>
                <a:cs typeface="Courier New" pitchFamily="34" charset="-120"/>
              </a:rPr>
              <a:t>    for(int </a:t>
            </a:r>
            <a:r>
              <a:rPr lang="en-US" sz="1250" dirty="0" err="1">
                <a:solidFill>
                  <a:srgbClr val="000000"/>
                </a:solidFill>
                <a:latin typeface="Courier New" pitchFamily="34" charset="0"/>
                <a:cs typeface="Courier New" pitchFamily="34" charset="-120"/>
              </a:rPr>
              <a:t>i</a:t>
            </a:r>
            <a:r>
              <a:rPr lang="en-US" sz="1250" dirty="0">
                <a:solidFill>
                  <a:srgbClr val="000000"/>
                </a:solidFill>
                <a:latin typeface="Courier New" pitchFamily="34" charset="0"/>
                <a:cs typeface="Courier New" pitchFamily="34" charset="-120"/>
              </a:rPr>
              <a:t> = 1; </a:t>
            </a:r>
            <a:r>
              <a:rPr lang="en-US" sz="1250" dirty="0" err="1">
                <a:solidFill>
                  <a:srgbClr val="000000"/>
                </a:solidFill>
                <a:latin typeface="Courier New" pitchFamily="34" charset="0"/>
                <a:cs typeface="Courier New" pitchFamily="34" charset="-120"/>
              </a:rPr>
              <a:t>i</a:t>
            </a:r>
            <a:r>
              <a:rPr lang="en-US" sz="1250" dirty="0">
                <a:solidFill>
                  <a:srgbClr val="000000"/>
                </a:solidFill>
                <a:latin typeface="Courier New" pitchFamily="34" charset="0"/>
                <a:cs typeface="Courier New" pitchFamily="34" charset="-120"/>
              </a:rPr>
              <a:t> &lt;= count; ++</a:t>
            </a:r>
            <a:r>
              <a:rPr lang="en-US" sz="1250" dirty="0" err="1">
                <a:solidFill>
                  <a:srgbClr val="000000"/>
                </a:solidFill>
                <a:latin typeface="Courier New" pitchFamily="34" charset="0"/>
                <a:cs typeface="Courier New" pitchFamily="34" charset="-120"/>
              </a:rPr>
              <a:t>i</a:t>
            </a:r>
            <a:r>
              <a:rPr lang="en-US" sz="1250" dirty="0">
                <a:solidFill>
                  <a:srgbClr val="000000"/>
                </a:solidFill>
                <a:latin typeface="Courier New" pitchFamily="34" charset="0"/>
                <a:cs typeface="Courier New" pitchFamily="34" charset="-120"/>
              </a:rPr>
              <a:t>) {</a:t>
            </a:r>
          </a:p>
          <a:p>
            <a:r>
              <a:rPr lang="en-US" sz="1250" dirty="0">
                <a:solidFill>
                  <a:srgbClr val="000000"/>
                </a:solidFill>
                <a:latin typeface="Courier New" pitchFamily="34" charset="0"/>
                <a:cs typeface="Courier New" pitchFamily="34" charset="-120"/>
              </a:rPr>
              <a:t>        </a:t>
            </a:r>
            <a:r>
              <a:rPr lang="en-US" sz="1250" dirty="0" err="1">
                <a:solidFill>
                  <a:srgbClr val="000000"/>
                </a:solidFill>
                <a:latin typeface="Courier New" pitchFamily="34" charset="0"/>
                <a:cs typeface="Courier New" pitchFamily="34" charset="-120"/>
              </a:rPr>
              <a:t>cout</a:t>
            </a:r>
            <a:r>
              <a:rPr lang="en-US" sz="1250" dirty="0">
                <a:solidFill>
                  <a:srgbClr val="000000"/>
                </a:solidFill>
                <a:latin typeface="Courier New" pitchFamily="34" charset="0"/>
                <a:cs typeface="Courier New" pitchFamily="34" charset="-120"/>
              </a:rPr>
              <a:t> &lt;&lt; c;</a:t>
            </a:r>
          </a:p>
          <a:p>
            <a:r>
              <a:rPr lang="en-US" sz="1250" dirty="0">
                <a:solidFill>
                  <a:srgbClr val="000000"/>
                </a:solidFill>
                <a:latin typeface="Courier New" pitchFamily="34" charset="0"/>
                <a:cs typeface="Courier New" pitchFamily="34" charset="-120"/>
              </a:rPr>
              <a:t>    }</a:t>
            </a:r>
          </a:p>
          <a:p>
            <a:r>
              <a:rPr lang="en-US" sz="1250" dirty="0">
                <a:solidFill>
                  <a:srgbClr val="000000"/>
                </a:solidFill>
                <a:latin typeface="Courier New" pitchFamily="34" charset="0"/>
                <a:cs typeface="Courier New" pitchFamily="34" charset="-120"/>
              </a:rPr>
              <a:t>    </a:t>
            </a:r>
            <a:r>
              <a:rPr lang="en-US" sz="1250" dirty="0" err="1">
                <a:solidFill>
                  <a:srgbClr val="000000"/>
                </a:solidFill>
                <a:latin typeface="Courier New" pitchFamily="34" charset="0"/>
                <a:cs typeface="Courier New" pitchFamily="34" charset="-120"/>
              </a:rPr>
              <a:t>cout</a:t>
            </a:r>
            <a:r>
              <a:rPr lang="en-US" sz="1250" dirty="0">
                <a:solidFill>
                  <a:srgbClr val="000000"/>
                </a:solidFill>
                <a:latin typeface="Courier New" pitchFamily="34" charset="0"/>
                <a:cs typeface="Courier New" pitchFamily="34" charset="-120"/>
              </a:rPr>
              <a:t> &lt;&lt; </a:t>
            </a:r>
            <a:r>
              <a:rPr lang="en-US" sz="1250" dirty="0" err="1">
                <a:solidFill>
                  <a:srgbClr val="000000"/>
                </a:solidFill>
                <a:latin typeface="Courier New" pitchFamily="34" charset="0"/>
                <a:cs typeface="Courier New" pitchFamily="34" charset="-120"/>
              </a:rPr>
              <a:t>endl</a:t>
            </a:r>
            <a:r>
              <a:rPr lang="en-US" sz="1250" dirty="0">
                <a:solidFill>
                  <a:srgbClr val="000000"/>
                </a:solidFill>
                <a:latin typeface="Courier New" pitchFamily="34" charset="0"/>
                <a:cs typeface="Courier New" pitchFamily="34" charset="-120"/>
              </a:rPr>
              <a:t>;</a:t>
            </a:r>
          </a:p>
          <a:p>
            <a:r>
              <a:rPr lang="en-US" sz="1250" dirty="0">
                <a:solidFill>
                  <a:srgbClr val="000000"/>
                </a:solidFill>
                <a:latin typeface="Courier New" pitchFamily="34" charset="0"/>
                <a:cs typeface="Courier New" pitchFamily="34" charset="-120"/>
              </a:rPr>
              <a:t>}</a:t>
            </a:r>
          </a:p>
          <a:p>
            <a:pPr marL="0" indent="0">
              <a:buNone/>
            </a:pPr>
            <a:endParaRPr lang="en-US" sz="1250" dirty="0">
              <a:solidFill>
                <a:srgbClr val="000000"/>
              </a:solidFill>
              <a:latin typeface="Courier New" pitchFamily="34" charset="0"/>
              <a:ea typeface="Courier New" pitchFamily="34" charset="-122"/>
              <a:cs typeface="Courier New" pitchFamily="34" charset="-120"/>
            </a:endParaRPr>
          </a:p>
          <a:p>
            <a:r>
              <a:rPr lang="en-US" sz="1250" dirty="0">
                <a:solidFill>
                  <a:srgbClr val="000000"/>
                </a:solidFill>
                <a:latin typeface="Courier New" pitchFamily="34" charset="0"/>
                <a:cs typeface="Courier New" pitchFamily="34" charset="-120"/>
              </a:rPr>
              <a:t>int main() {</a:t>
            </a:r>
          </a:p>
          <a:p>
            <a:endParaRPr lang="en-US" sz="1250" dirty="0">
              <a:solidFill>
                <a:srgbClr val="000000"/>
              </a:solidFill>
              <a:latin typeface="Courier New" pitchFamily="34" charset="0"/>
              <a:cs typeface="Courier New" pitchFamily="34" charset="-120"/>
            </a:endParaRPr>
          </a:p>
          <a:p>
            <a:pPr lvl="1"/>
            <a:r>
              <a:rPr lang="en-US" sz="1250" dirty="0">
                <a:solidFill>
                  <a:srgbClr val="000000"/>
                </a:solidFill>
                <a:latin typeface="Courier New" pitchFamily="34" charset="0"/>
                <a:cs typeface="Courier New" pitchFamily="34" charset="-120"/>
              </a:rPr>
              <a:t>int count = 5;</a:t>
            </a:r>
          </a:p>
          <a:p>
            <a:endParaRPr lang="en-US" sz="1250" dirty="0">
              <a:solidFill>
                <a:srgbClr val="000000"/>
              </a:solidFill>
              <a:latin typeface="Courier New" pitchFamily="34" charset="0"/>
              <a:cs typeface="Courier New" pitchFamily="34" charset="-120"/>
            </a:endParaRPr>
          </a:p>
          <a:p>
            <a:r>
              <a:rPr lang="en-US" sz="1250" dirty="0">
                <a:solidFill>
                  <a:srgbClr val="000000"/>
                </a:solidFill>
                <a:latin typeface="Courier New" pitchFamily="34" charset="0"/>
                <a:cs typeface="Courier New" pitchFamily="34" charset="-120"/>
              </a:rPr>
              <a:t>    </a:t>
            </a:r>
            <a:r>
              <a:rPr lang="en-US" sz="1250" dirty="0" err="1">
                <a:solidFill>
                  <a:srgbClr val="000000"/>
                </a:solidFill>
                <a:latin typeface="Courier New" pitchFamily="34" charset="0"/>
                <a:cs typeface="Courier New" pitchFamily="34" charset="-120"/>
              </a:rPr>
              <a:t>cout</a:t>
            </a:r>
            <a:r>
              <a:rPr lang="en-US" sz="1250" dirty="0">
                <a:solidFill>
                  <a:srgbClr val="000000"/>
                </a:solidFill>
                <a:latin typeface="Courier New" pitchFamily="34" charset="0"/>
                <a:cs typeface="Courier New" pitchFamily="34" charset="-120"/>
              </a:rPr>
              <a:t> &lt;&lt; "No argument passed: "; </a:t>
            </a:r>
          </a:p>
          <a:p>
            <a:r>
              <a:rPr lang="en-US" sz="1250" dirty="0">
                <a:solidFill>
                  <a:srgbClr val="000000"/>
                </a:solidFill>
                <a:latin typeface="Courier New" pitchFamily="34" charset="0"/>
                <a:cs typeface="Courier New" pitchFamily="34" charset="-120"/>
              </a:rPr>
              <a:t>    display(); </a:t>
            </a:r>
          </a:p>
          <a:p>
            <a:r>
              <a:rPr lang="en-US" sz="1250" dirty="0">
                <a:solidFill>
                  <a:srgbClr val="000000"/>
                </a:solidFill>
                <a:latin typeface="Courier New" pitchFamily="34" charset="0"/>
                <a:cs typeface="Courier New" pitchFamily="34" charset="-120"/>
              </a:rPr>
              <a:t>    </a:t>
            </a:r>
          </a:p>
          <a:p>
            <a:r>
              <a:rPr lang="en-US" sz="1250" dirty="0">
                <a:solidFill>
                  <a:srgbClr val="000000"/>
                </a:solidFill>
                <a:latin typeface="Courier New" pitchFamily="34" charset="0"/>
                <a:cs typeface="Courier New" pitchFamily="34" charset="-120"/>
              </a:rPr>
              <a:t>    </a:t>
            </a:r>
            <a:r>
              <a:rPr lang="en-US" sz="1250" dirty="0" err="1">
                <a:solidFill>
                  <a:srgbClr val="000000"/>
                </a:solidFill>
                <a:latin typeface="Courier New" pitchFamily="34" charset="0"/>
                <a:cs typeface="Courier New" pitchFamily="34" charset="-120"/>
              </a:rPr>
              <a:t>cout</a:t>
            </a:r>
            <a:r>
              <a:rPr lang="en-US" sz="1250" dirty="0">
                <a:solidFill>
                  <a:srgbClr val="000000"/>
                </a:solidFill>
                <a:latin typeface="Courier New" pitchFamily="34" charset="0"/>
                <a:cs typeface="Courier New" pitchFamily="34" charset="-120"/>
              </a:rPr>
              <a:t> &lt;&lt; "First argument passed: ";</a:t>
            </a:r>
          </a:p>
          <a:p>
            <a:r>
              <a:rPr lang="en-US" sz="1250" dirty="0">
                <a:solidFill>
                  <a:srgbClr val="000000"/>
                </a:solidFill>
                <a:latin typeface="Courier New" pitchFamily="34" charset="0"/>
                <a:cs typeface="Courier New" pitchFamily="34" charset="-120"/>
              </a:rPr>
              <a:t>    display('#'); </a:t>
            </a:r>
          </a:p>
          <a:p>
            <a:r>
              <a:rPr lang="en-US" sz="1250" dirty="0">
                <a:solidFill>
                  <a:srgbClr val="000000"/>
                </a:solidFill>
                <a:latin typeface="Courier New" pitchFamily="34" charset="0"/>
                <a:cs typeface="Courier New" pitchFamily="34" charset="-120"/>
              </a:rPr>
              <a:t>    </a:t>
            </a:r>
          </a:p>
          <a:p>
            <a:r>
              <a:rPr lang="en-US" sz="1250" dirty="0">
                <a:solidFill>
                  <a:srgbClr val="000000"/>
                </a:solidFill>
                <a:latin typeface="Courier New" pitchFamily="34" charset="0"/>
                <a:cs typeface="Courier New" pitchFamily="34" charset="-120"/>
              </a:rPr>
              <a:t>    </a:t>
            </a:r>
            <a:r>
              <a:rPr lang="en-US" sz="1250" dirty="0" err="1">
                <a:solidFill>
                  <a:srgbClr val="000000"/>
                </a:solidFill>
                <a:latin typeface="Courier New" pitchFamily="34" charset="0"/>
                <a:cs typeface="Courier New" pitchFamily="34" charset="-120"/>
              </a:rPr>
              <a:t>cout</a:t>
            </a:r>
            <a:r>
              <a:rPr lang="en-US" sz="1250" dirty="0">
                <a:solidFill>
                  <a:srgbClr val="000000"/>
                </a:solidFill>
                <a:latin typeface="Courier New" pitchFamily="34" charset="0"/>
                <a:cs typeface="Courier New" pitchFamily="34" charset="-120"/>
              </a:rPr>
              <a:t> &lt;&lt; "Both argument passed: ";</a:t>
            </a:r>
          </a:p>
          <a:p>
            <a:r>
              <a:rPr lang="en-US" sz="1250" dirty="0">
                <a:solidFill>
                  <a:srgbClr val="000000"/>
                </a:solidFill>
                <a:latin typeface="Courier New" pitchFamily="34" charset="0"/>
                <a:cs typeface="Courier New" pitchFamily="34" charset="-120"/>
              </a:rPr>
              <a:t>    display('$', count); </a:t>
            </a:r>
          </a:p>
          <a:p>
            <a:endParaRPr lang="en-US" sz="1250" dirty="0">
              <a:solidFill>
                <a:srgbClr val="000000"/>
              </a:solidFill>
              <a:latin typeface="Courier New" pitchFamily="34" charset="0"/>
              <a:cs typeface="Courier New" pitchFamily="34" charset="-120"/>
            </a:endParaRPr>
          </a:p>
          <a:p>
            <a:r>
              <a:rPr lang="en-US" sz="1250" dirty="0">
                <a:solidFill>
                  <a:srgbClr val="000000"/>
                </a:solidFill>
                <a:latin typeface="Courier New" pitchFamily="34" charset="0"/>
                <a:cs typeface="Courier New" pitchFamily="34" charset="-120"/>
              </a:rPr>
              <a:t>    return 0;</a:t>
            </a:r>
          </a:p>
          <a:p>
            <a:r>
              <a:rPr lang="en-US" sz="1250" dirty="0">
                <a:solidFill>
                  <a:srgbClr val="000000"/>
                </a:solidFill>
                <a:latin typeface="Courier New" pitchFamily="34" charset="0"/>
                <a:cs typeface="Courier New" pitchFamily="34" charset="-120"/>
              </a:rPr>
              <a:t>}</a:t>
            </a:r>
          </a:p>
        </p:txBody>
      </p:sp>
      <p:sp>
        <p:nvSpPr>
          <p:cNvPr id="10" name="Text 0">
            <a:extLst>
              <a:ext uri="{FF2B5EF4-FFF2-40B4-BE49-F238E27FC236}">
                <a16:creationId xmlns:a16="http://schemas.microsoft.com/office/drawing/2014/main" id="{4D331EBC-396E-1728-06AD-6FDDF195DAD1}"/>
              </a:ext>
            </a:extLst>
          </p:cNvPr>
          <p:cNvSpPr/>
          <p:nvPr/>
        </p:nvSpPr>
        <p:spPr>
          <a:xfrm>
            <a:off x="548640" y="18288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3</a:t>
            </a:r>
            <a:endParaRPr lang="en-US" sz="1400" dirty="0"/>
          </a:p>
        </p:txBody>
      </p:sp>
      <p:sp>
        <p:nvSpPr>
          <p:cNvPr id="12" name="Text 1">
            <a:extLst>
              <a:ext uri="{FF2B5EF4-FFF2-40B4-BE49-F238E27FC236}">
                <a16:creationId xmlns:a16="http://schemas.microsoft.com/office/drawing/2014/main" id="{D17C8ABE-F4A8-D0C5-EEFF-73BF3C283F66}"/>
              </a:ext>
            </a:extLst>
          </p:cNvPr>
          <p:cNvSpPr/>
          <p:nvPr/>
        </p:nvSpPr>
        <p:spPr>
          <a:xfrm>
            <a:off x="548640" y="639160"/>
            <a:ext cx="11091672" cy="36576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Functions</a:t>
            </a:r>
            <a:endParaRPr lang="en-US" sz="2200" dirty="0"/>
          </a:p>
        </p:txBody>
      </p:sp>
    </p:spTree>
    <p:extLst>
      <p:ext uri="{BB962C8B-B14F-4D97-AF65-F5344CB8AC3E}">
        <p14:creationId xmlns:p14="http://schemas.microsoft.com/office/powerpoint/2010/main" val="31752234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55D03-FB2A-02AB-027F-4770D92FC486}"/>
            </a:ext>
          </a:extLst>
        </p:cNvPr>
        <p:cNvGrpSpPr/>
        <p:nvPr/>
      </p:nvGrpSpPr>
      <p:grpSpPr>
        <a:xfrm>
          <a:off x="0" y="0"/>
          <a:ext cx="0" cy="0"/>
          <a:chOff x="0" y="0"/>
          <a:chExt cx="0" cy="0"/>
        </a:xfrm>
      </p:grpSpPr>
      <p:sp>
        <p:nvSpPr>
          <p:cNvPr id="7" name="Text 2">
            <a:extLst>
              <a:ext uri="{FF2B5EF4-FFF2-40B4-BE49-F238E27FC236}">
                <a16:creationId xmlns:a16="http://schemas.microsoft.com/office/drawing/2014/main" id="{B466F6BD-1B30-7EA2-8D37-B9C9EFA642D5}"/>
              </a:ext>
            </a:extLst>
          </p:cNvPr>
          <p:cNvSpPr/>
          <p:nvPr/>
        </p:nvSpPr>
        <p:spPr>
          <a:xfrm>
            <a:off x="550164" y="137160"/>
            <a:ext cx="11091672" cy="6583680"/>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000" dirty="0">
                <a:solidFill>
                  <a:srgbClr val="000000"/>
                </a:solidFill>
                <a:latin typeface="Courier New" panose="02070309020205020404" pitchFamily="49" charset="0"/>
                <a:cs typeface="Courier New" panose="02070309020205020404" pitchFamily="49" charset="0"/>
              </a:rPr>
              <a:t>class Rectangle {</a:t>
            </a:r>
          </a:p>
          <a:p>
            <a:r>
              <a:rPr lang="en-US" sz="1000" dirty="0">
                <a:solidFill>
                  <a:srgbClr val="000000"/>
                </a:solidFill>
                <a:latin typeface="Courier New" panose="02070309020205020404" pitchFamily="49" charset="0"/>
                <a:cs typeface="Courier New" panose="02070309020205020404" pitchFamily="49" charset="0"/>
              </a:rPr>
              <a:t>private:</a:t>
            </a:r>
          </a:p>
          <a:p>
            <a:r>
              <a:rPr lang="en-US" sz="1000" dirty="0">
                <a:solidFill>
                  <a:srgbClr val="000000"/>
                </a:solidFill>
                <a:latin typeface="Courier New" panose="02070309020205020404" pitchFamily="49" charset="0"/>
                <a:cs typeface="Courier New" panose="02070309020205020404" pitchFamily="49" charset="0"/>
              </a:rPr>
              <a:t>    int width;</a:t>
            </a:r>
          </a:p>
          <a:p>
            <a:r>
              <a:rPr lang="en-US" sz="1000" dirty="0">
                <a:solidFill>
                  <a:srgbClr val="000000"/>
                </a:solidFill>
                <a:latin typeface="Courier New" panose="02070309020205020404" pitchFamily="49" charset="0"/>
                <a:cs typeface="Courier New" panose="02070309020205020404" pitchFamily="49" charset="0"/>
              </a:rPr>
              <a:t>    int height;</a:t>
            </a:r>
          </a:p>
          <a:p>
            <a:r>
              <a:rPr lang="en-US" sz="1000" dirty="0">
                <a:solidFill>
                  <a:srgbClr val="000000"/>
                </a:solidFill>
                <a:latin typeface="Courier New" panose="02070309020205020404" pitchFamily="49" charset="0"/>
                <a:cs typeface="Courier New" panose="02070309020205020404" pitchFamily="49" charset="0"/>
              </a:rPr>
              <a:t>    </a:t>
            </a:r>
          </a:p>
          <a:p>
            <a:r>
              <a:rPr lang="en-US" sz="1000" dirty="0">
                <a:solidFill>
                  <a:srgbClr val="000000"/>
                </a:solidFill>
                <a:latin typeface="Courier New" panose="02070309020205020404" pitchFamily="49" charset="0"/>
                <a:cs typeface="Courier New" panose="02070309020205020404" pitchFamily="49" charset="0"/>
              </a:rPr>
              <a:t>public:</a:t>
            </a:r>
          </a:p>
          <a:p>
            <a:r>
              <a:rPr lang="en-US" sz="1000" dirty="0">
                <a:solidFill>
                  <a:srgbClr val="000000"/>
                </a:solidFill>
                <a:latin typeface="Courier New" panose="02070309020205020404" pitchFamily="49" charset="0"/>
                <a:cs typeface="Courier New" panose="02070309020205020404" pitchFamily="49" charset="0"/>
              </a:rPr>
              <a:t>    Rectangle(int w = 0, int h = 0) : width(w), height(h) {</a:t>
            </a:r>
          </a:p>
          <a:p>
            <a:r>
              <a:rPr lang="en-US" sz="1000" dirty="0">
                <a:solidFill>
                  <a:srgbClr val="000000"/>
                </a:solidFill>
                <a:latin typeface="Courier New" panose="02070309020205020404" pitchFamily="49" charset="0"/>
                <a:cs typeface="Courier New" panose="02070309020205020404" pitchFamily="49" charset="0"/>
              </a:rPr>
              <a:t>        </a:t>
            </a:r>
            <a:r>
              <a:rPr lang="en-US" sz="1000" dirty="0" err="1">
                <a:solidFill>
                  <a:srgbClr val="000000"/>
                </a:solidFill>
                <a:latin typeface="Courier New" panose="02070309020205020404" pitchFamily="49" charset="0"/>
                <a:cs typeface="Courier New" panose="02070309020205020404" pitchFamily="49" charset="0"/>
              </a:rPr>
              <a:t>cout</a:t>
            </a:r>
            <a:r>
              <a:rPr lang="en-US" sz="1000" dirty="0">
                <a:solidFill>
                  <a:srgbClr val="000000"/>
                </a:solidFill>
                <a:latin typeface="Courier New" panose="02070309020205020404" pitchFamily="49" charset="0"/>
                <a:cs typeface="Courier New" panose="02070309020205020404" pitchFamily="49" charset="0"/>
              </a:rPr>
              <a:t> &lt;&lt; "Constructor called" &lt;&lt; </a:t>
            </a:r>
            <a:r>
              <a:rPr lang="en-US" sz="1000" dirty="0" err="1">
                <a:solidFill>
                  <a:srgbClr val="000000"/>
                </a:solidFill>
                <a:latin typeface="Courier New" panose="02070309020205020404" pitchFamily="49" charset="0"/>
                <a:cs typeface="Courier New" panose="02070309020205020404" pitchFamily="49" charset="0"/>
              </a:rPr>
              <a:t>endl</a:t>
            </a:r>
            <a:r>
              <a:rPr lang="en-US" sz="1000" dirty="0">
                <a:solidFill>
                  <a:srgbClr val="000000"/>
                </a:solidFill>
                <a:latin typeface="Courier New" panose="02070309020205020404" pitchFamily="49" charset="0"/>
                <a:cs typeface="Courier New" panose="02070309020205020404" pitchFamily="49" charset="0"/>
              </a:rPr>
              <a:t>;</a:t>
            </a:r>
          </a:p>
          <a:p>
            <a:r>
              <a:rPr lang="en-US" sz="1000" dirty="0">
                <a:solidFill>
                  <a:srgbClr val="000000"/>
                </a:solidFill>
                <a:latin typeface="Courier New" panose="02070309020205020404" pitchFamily="49" charset="0"/>
                <a:cs typeface="Courier New" panose="02070309020205020404" pitchFamily="49" charset="0"/>
              </a:rPr>
              <a:t>    }</a:t>
            </a:r>
          </a:p>
          <a:p>
            <a:r>
              <a:rPr lang="en-US" sz="1000" dirty="0">
                <a:solidFill>
                  <a:srgbClr val="000000"/>
                </a:solidFill>
                <a:latin typeface="Courier New" panose="02070309020205020404" pitchFamily="49" charset="0"/>
                <a:cs typeface="Courier New" panose="02070309020205020404" pitchFamily="49" charset="0"/>
              </a:rPr>
              <a:t>    </a:t>
            </a:r>
          </a:p>
          <a:p>
            <a:r>
              <a:rPr lang="en-US" sz="1000" dirty="0">
                <a:solidFill>
                  <a:srgbClr val="000000"/>
                </a:solidFill>
                <a:latin typeface="Courier New" panose="02070309020205020404" pitchFamily="49" charset="0"/>
                <a:cs typeface="Courier New" panose="02070309020205020404" pitchFamily="49" charset="0"/>
              </a:rPr>
              <a:t>    Rectangle(const Rectangle&amp; other) {</a:t>
            </a:r>
          </a:p>
          <a:p>
            <a:r>
              <a:rPr lang="en-US" sz="1000" dirty="0">
                <a:solidFill>
                  <a:srgbClr val="000000"/>
                </a:solidFill>
                <a:latin typeface="Courier New" panose="02070309020205020404" pitchFamily="49" charset="0"/>
                <a:cs typeface="Courier New" panose="02070309020205020404" pitchFamily="49" charset="0"/>
              </a:rPr>
              <a:t>        width = </a:t>
            </a:r>
            <a:r>
              <a:rPr lang="en-US" sz="1000" dirty="0" err="1">
                <a:solidFill>
                  <a:srgbClr val="000000"/>
                </a:solidFill>
                <a:latin typeface="Courier New" panose="02070309020205020404" pitchFamily="49" charset="0"/>
                <a:cs typeface="Courier New" panose="02070309020205020404" pitchFamily="49" charset="0"/>
              </a:rPr>
              <a:t>other.width</a:t>
            </a:r>
            <a:r>
              <a:rPr lang="en-US" sz="1000" dirty="0">
                <a:solidFill>
                  <a:srgbClr val="000000"/>
                </a:solidFill>
                <a:latin typeface="Courier New" panose="02070309020205020404" pitchFamily="49" charset="0"/>
                <a:cs typeface="Courier New" panose="02070309020205020404" pitchFamily="49" charset="0"/>
              </a:rPr>
              <a:t>;</a:t>
            </a:r>
          </a:p>
          <a:p>
            <a:r>
              <a:rPr lang="en-US" sz="1000" dirty="0">
                <a:solidFill>
                  <a:srgbClr val="000000"/>
                </a:solidFill>
                <a:latin typeface="Courier New" panose="02070309020205020404" pitchFamily="49" charset="0"/>
                <a:cs typeface="Courier New" panose="02070309020205020404" pitchFamily="49" charset="0"/>
              </a:rPr>
              <a:t>        height = </a:t>
            </a:r>
            <a:r>
              <a:rPr lang="en-US" sz="1000" dirty="0" err="1">
                <a:solidFill>
                  <a:srgbClr val="000000"/>
                </a:solidFill>
                <a:latin typeface="Courier New" panose="02070309020205020404" pitchFamily="49" charset="0"/>
                <a:cs typeface="Courier New" panose="02070309020205020404" pitchFamily="49" charset="0"/>
              </a:rPr>
              <a:t>other.height</a:t>
            </a:r>
            <a:r>
              <a:rPr lang="en-US" sz="1000" dirty="0">
                <a:solidFill>
                  <a:srgbClr val="000000"/>
                </a:solidFill>
                <a:latin typeface="Courier New" panose="02070309020205020404" pitchFamily="49" charset="0"/>
                <a:cs typeface="Courier New" panose="02070309020205020404" pitchFamily="49" charset="0"/>
              </a:rPr>
              <a:t>;</a:t>
            </a:r>
          </a:p>
          <a:p>
            <a:r>
              <a:rPr lang="en-US" sz="1000" dirty="0">
                <a:solidFill>
                  <a:srgbClr val="000000"/>
                </a:solidFill>
                <a:latin typeface="Courier New" panose="02070309020205020404" pitchFamily="49" charset="0"/>
                <a:cs typeface="Courier New" panose="02070309020205020404" pitchFamily="49" charset="0"/>
              </a:rPr>
              <a:t>        </a:t>
            </a:r>
            <a:r>
              <a:rPr lang="en-US" sz="1000" dirty="0" err="1">
                <a:solidFill>
                  <a:srgbClr val="000000"/>
                </a:solidFill>
                <a:latin typeface="Courier New" panose="02070309020205020404" pitchFamily="49" charset="0"/>
                <a:cs typeface="Courier New" panose="02070309020205020404" pitchFamily="49" charset="0"/>
              </a:rPr>
              <a:t>cout</a:t>
            </a:r>
            <a:r>
              <a:rPr lang="en-US" sz="1000" dirty="0">
                <a:solidFill>
                  <a:srgbClr val="000000"/>
                </a:solidFill>
                <a:latin typeface="Courier New" panose="02070309020205020404" pitchFamily="49" charset="0"/>
                <a:cs typeface="Courier New" panose="02070309020205020404" pitchFamily="49" charset="0"/>
              </a:rPr>
              <a:t> &lt;&lt; "Copy constructor called!" &lt;&lt; </a:t>
            </a:r>
            <a:r>
              <a:rPr lang="en-US" sz="1000" dirty="0" err="1">
                <a:solidFill>
                  <a:srgbClr val="000000"/>
                </a:solidFill>
                <a:latin typeface="Courier New" panose="02070309020205020404" pitchFamily="49" charset="0"/>
                <a:cs typeface="Courier New" panose="02070309020205020404" pitchFamily="49" charset="0"/>
              </a:rPr>
              <a:t>endl</a:t>
            </a:r>
            <a:r>
              <a:rPr lang="en-US" sz="1000" dirty="0">
                <a:solidFill>
                  <a:srgbClr val="000000"/>
                </a:solidFill>
                <a:latin typeface="Courier New" panose="02070309020205020404" pitchFamily="49" charset="0"/>
                <a:cs typeface="Courier New" panose="02070309020205020404" pitchFamily="49" charset="0"/>
              </a:rPr>
              <a:t>;</a:t>
            </a:r>
          </a:p>
          <a:p>
            <a:r>
              <a:rPr lang="en-US" sz="1000" dirty="0">
                <a:solidFill>
                  <a:srgbClr val="000000"/>
                </a:solidFill>
                <a:latin typeface="Courier New" panose="02070309020205020404" pitchFamily="49" charset="0"/>
                <a:cs typeface="Courier New" panose="02070309020205020404" pitchFamily="49" charset="0"/>
              </a:rPr>
              <a:t>    }</a:t>
            </a:r>
          </a:p>
          <a:p>
            <a:r>
              <a:rPr lang="en-US" sz="1000" dirty="0">
                <a:solidFill>
                  <a:srgbClr val="000000"/>
                </a:solidFill>
                <a:latin typeface="Courier New" panose="02070309020205020404" pitchFamily="49" charset="0"/>
                <a:cs typeface="Courier New" panose="02070309020205020404" pitchFamily="49" charset="0"/>
              </a:rPr>
              <a:t>    </a:t>
            </a:r>
          </a:p>
          <a:p>
            <a:r>
              <a:rPr lang="en-US" sz="1000" dirty="0">
                <a:solidFill>
                  <a:srgbClr val="000000"/>
                </a:solidFill>
                <a:latin typeface="Courier New" panose="02070309020205020404" pitchFamily="49" charset="0"/>
                <a:cs typeface="Courier New" panose="02070309020205020404" pitchFamily="49" charset="0"/>
              </a:rPr>
              <a:t>    int area() const {</a:t>
            </a:r>
          </a:p>
          <a:p>
            <a:r>
              <a:rPr lang="en-US" sz="1000" dirty="0">
                <a:solidFill>
                  <a:srgbClr val="000000"/>
                </a:solidFill>
                <a:latin typeface="Courier New" panose="02070309020205020404" pitchFamily="49" charset="0"/>
                <a:cs typeface="Courier New" panose="02070309020205020404" pitchFamily="49" charset="0"/>
              </a:rPr>
              <a:t>        return width * height;</a:t>
            </a:r>
          </a:p>
          <a:p>
            <a:r>
              <a:rPr lang="en-US" sz="1000" dirty="0">
                <a:solidFill>
                  <a:srgbClr val="000000"/>
                </a:solidFill>
                <a:latin typeface="Courier New" panose="02070309020205020404" pitchFamily="49" charset="0"/>
                <a:cs typeface="Courier New" panose="02070309020205020404" pitchFamily="49" charset="0"/>
              </a:rPr>
              <a:t>    }</a:t>
            </a:r>
          </a:p>
          <a:p>
            <a:r>
              <a:rPr lang="en-US" sz="1000" dirty="0">
                <a:solidFill>
                  <a:srgbClr val="000000"/>
                </a:solidFill>
                <a:latin typeface="Courier New" panose="02070309020205020404" pitchFamily="49" charset="0"/>
                <a:cs typeface="Courier New" panose="02070309020205020404" pitchFamily="49" charset="0"/>
              </a:rPr>
              <a:t>    </a:t>
            </a:r>
          </a:p>
          <a:p>
            <a:r>
              <a:rPr lang="en-US" sz="1000" dirty="0">
                <a:solidFill>
                  <a:srgbClr val="000000"/>
                </a:solidFill>
                <a:latin typeface="Courier New" panose="02070309020205020404" pitchFamily="49" charset="0"/>
                <a:cs typeface="Courier New" panose="02070309020205020404" pitchFamily="49" charset="0"/>
              </a:rPr>
              <a:t>    void </a:t>
            </a:r>
            <a:r>
              <a:rPr lang="en-US" sz="1000" dirty="0" err="1">
                <a:solidFill>
                  <a:srgbClr val="000000"/>
                </a:solidFill>
                <a:latin typeface="Courier New" panose="02070309020205020404" pitchFamily="49" charset="0"/>
                <a:cs typeface="Courier New" panose="02070309020205020404" pitchFamily="49" charset="0"/>
              </a:rPr>
              <a:t>setWidth</a:t>
            </a:r>
            <a:r>
              <a:rPr lang="en-US" sz="1000" dirty="0">
                <a:solidFill>
                  <a:srgbClr val="000000"/>
                </a:solidFill>
                <a:latin typeface="Courier New" panose="02070309020205020404" pitchFamily="49" charset="0"/>
                <a:cs typeface="Courier New" panose="02070309020205020404" pitchFamily="49" charset="0"/>
              </a:rPr>
              <a:t>(int w) {</a:t>
            </a:r>
          </a:p>
          <a:p>
            <a:r>
              <a:rPr lang="en-US" sz="1000" dirty="0">
                <a:solidFill>
                  <a:srgbClr val="000000"/>
                </a:solidFill>
                <a:latin typeface="Courier New" panose="02070309020205020404" pitchFamily="49" charset="0"/>
                <a:cs typeface="Courier New" panose="02070309020205020404" pitchFamily="49" charset="0"/>
              </a:rPr>
              <a:t>        width = w;</a:t>
            </a:r>
          </a:p>
          <a:p>
            <a:r>
              <a:rPr lang="en-US" sz="1000" dirty="0">
                <a:solidFill>
                  <a:srgbClr val="000000"/>
                </a:solidFill>
                <a:latin typeface="Courier New" panose="02070309020205020404" pitchFamily="49" charset="0"/>
                <a:cs typeface="Courier New" panose="02070309020205020404" pitchFamily="49" charset="0"/>
              </a:rPr>
              <a:t>    }</a:t>
            </a:r>
          </a:p>
          <a:p>
            <a:r>
              <a:rPr lang="en-US" sz="1000" dirty="0">
                <a:solidFill>
                  <a:srgbClr val="000000"/>
                </a:solidFill>
                <a:latin typeface="Courier New" panose="02070309020205020404" pitchFamily="49" charset="0"/>
                <a:cs typeface="Courier New" panose="02070309020205020404" pitchFamily="49" charset="0"/>
              </a:rPr>
              <a:t>};</a:t>
            </a:r>
          </a:p>
          <a:p>
            <a:br>
              <a:rPr lang="en-US" sz="1000" dirty="0">
                <a:solidFill>
                  <a:srgbClr val="000000"/>
                </a:solidFill>
                <a:latin typeface="Courier New" panose="02070309020205020404" pitchFamily="49" charset="0"/>
                <a:cs typeface="Courier New" panose="02070309020205020404" pitchFamily="49" charset="0"/>
              </a:rPr>
            </a:br>
            <a:r>
              <a:rPr lang="en-US" sz="1000" dirty="0">
                <a:solidFill>
                  <a:srgbClr val="000000"/>
                </a:solidFill>
                <a:latin typeface="Courier New" panose="02070309020205020404" pitchFamily="49" charset="0"/>
                <a:cs typeface="Courier New" panose="02070309020205020404" pitchFamily="49" charset="0"/>
              </a:rPr>
              <a:t>// Function that takes Rectangle by value (creates a copy)</a:t>
            </a:r>
          </a:p>
          <a:p>
            <a:r>
              <a:rPr lang="en-US" sz="1000" dirty="0">
                <a:solidFill>
                  <a:srgbClr val="000000"/>
                </a:solidFill>
                <a:latin typeface="Courier New" panose="02070309020205020404" pitchFamily="49" charset="0"/>
                <a:cs typeface="Courier New" panose="02070309020205020404" pitchFamily="49" charset="0"/>
              </a:rPr>
              <a:t>void </a:t>
            </a:r>
            <a:r>
              <a:rPr lang="en-US" sz="1000" dirty="0" err="1">
                <a:solidFill>
                  <a:srgbClr val="000000"/>
                </a:solidFill>
                <a:latin typeface="Courier New" panose="02070309020205020404" pitchFamily="49" charset="0"/>
                <a:cs typeface="Courier New" panose="02070309020205020404" pitchFamily="49" charset="0"/>
              </a:rPr>
              <a:t>modifyRectangleByValue</a:t>
            </a:r>
            <a:r>
              <a:rPr lang="en-US" sz="1000" dirty="0">
                <a:solidFill>
                  <a:srgbClr val="000000"/>
                </a:solidFill>
                <a:latin typeface="Courier New" panose="02070309020205020404" pitchFamily="49" charset="0"/>
                <a:cs typeface="Courier New" panose="02070309020205020404" pitchFamily="49" charset="0"/>
              </a:rPr>
              <a:t>(Rectangle r) {</a:t>
            </a:r>
          </a:p>
          <a:p>
            <a:r>
              <a:rPr lang="en-US" sz="1000" dirty="0">
                <a:solidFill>
                  <a:srgbClr val="000000"/>
                </a:solidFill>
                <a:latin typeface="Courier New" panose="02070309020205020404" pitchFamily="49" charset="0"/>
                <a:cs typeface="Courier New" panose="02070309020205020404" pitchFamily="49" charset="0"/>
              </a:rPr>
              <a:t>    </a:t>
            </a:r>
            <a:r>
              <a:rPr lang="en-US" sz="1000" dirty="0" err="1">
                <a:solidFill>
                  <a:srgbClr val="000000"/>
                </a:solidFill>
                <a:latin typeface="Courier New" panose="02070309020205020404" pitchFamily="49" charset="0"/>
                <a:cs typeface="Courier New" panose="02070309020205020404" pitchFamily="49" charset="0"/>
              </a:rPr>
              <a:t>r.setWidth</a:t>
            </a:r>
            <a:r>
              <a:rPr lang="en-US" sz="1000" dirty="0">
                <a:solidFill>
                  <a:srgbClr val="000000"/>
                </a:solidFill>
                <a:latin typeface="Courier New" panose="02070309020205020404" pitchFamily="49" charset="0"/>
                <a:cs typeface="Courier New" panose="02070309020205020404" pitchFamily="49" charset="0"/>
              </a:rPr>
              <a:t>(20);  // Modifies the copy, not the original</a:t>
            </a:r>
          </a:p>
          <a:p>
            <a:r>
              <a:rPr lang="en-US" sz="1000" dirty="0">
                <a:solidFill>
                  <a:srgbClr val="000000"/>
                </a:solidFill>
                <a:latin typeface="Courier New" panose="02070309020205020404" pitchFamily="49" charset="0"/>
                <a:cs typeface="Courier New" panose="02070309020205020404" pitchFamily="49" charset="0"/>
              </a:rPr>
              <a:t>    </a:t>
            </a:r>
            <a:r>
              <a:rPr lang="en-US" sz="1000" dirty="0" err="1">
                <a:solidFill>
                  <a:srgbClr val="000000"/>
                </a:solidFill>
                <a:latin typeface="Courier New" panose="02070309020205020404" pitchFamily="49" charset="0"/>
                <a:cs typeface="Courier New" panose="02070309020205020404" pitchFamily="49" charset="0"/>
              </a:rPr>
              <a:t>cout</a:t>
            </a:r>
            <a:r>
              <a:rPr lang="en-US" sz="1000" dirty="0">
                <a:solidFill>
                  <a:srgbClr val="000000"/>
                </a:solidFill>
                <a:latin typeface="Courier New" panose="02070309020205020404" pitchFamily="49" charset="0"/>
                <a:cs typeface="Courier New" panose="02070309020205020404" pitchFamily="49" charset="0"/>
              </a:rPr>
              <a:t> &lt;&lt; "Inside function area: " &lt;&lt; </a:t>
            </a:r>
            <a:r>
              <a:rPr lang="en-US" sz="1000" dirty="0" err="1">
                <a:solidFill>
                  <a:srgbClr val="000000"/>
                </a:solidFill>
                <a:latin typeface="Courier New" panose="02070309020205020404" pitchFamily="49" charset="0"/>
                <a:cs typeface="Courier New" panose="02070309020205020404" pitchFamily="49" charset="0"/>
              </a:rPr>
              <a:t>r.area</a:t>
            </a:r>
            <a:r>
              <a:rPr lang="en-US" sz="1000" dirty="0">
                <a:solidFill>
                  <a:srgbClr val="000000"/>
                </a:solidFill>
                <a:latin typeface="Courier New" panose="02070309020205020404" pitchFamily="49" charset="0"/>
                <a:cs typeface="Courier New" panose="02070309020205020404" pitchFamily="49" charset="0"/>
              </a:rPr>
              <a:t>() &lt;&lt; </a:t>
            </a:r>
            <a:r>
              <a:rPr lang="en-US" sz="1000" dirty="0" err="1">
                <a:solidFill>
                  <a:srgbClr val="000000"/>
                </a:solidFill>
                <a:latin typeface="Courier New" panose="02070309020205020404" pitchFamily="49" charset="0"/>
                <a:cs typeface="Courier New" panose="02070309020205020404" pitchFamily="49" charset="0"/>
              </a:rPr>
              <a:t>endl</a:t>
            </a:r>
            <a:r>
              <a:rPr lang="en-US" sz="1000" dirty="0">
                <a:solidFill>
                  <a:srgbClr val="000000"/>
                </a:solidFill>
                <a:latin typeface="Courier New" panose="02070309020205020404" pitchFamily="49" charset="0"/>
                <a:cs typeface="Courier New" panose="02070309020205020404" pitchFamily="49" charset="0"/>
              </a:rPr>
              <a:t>;</a:t>
            </a:r>
          </a:p>
          <a:p>
            <a:r>
              <a:rPr lang="en-US" sz="1000" dirty="0">
                <a:solidFill>
                  <a:srgbClr val="000000"/>
                </a:solidFill>
                <a:latin typeface="Courier New" panose="02070309020205020404" pitchFamily="49" charset="0"/>
                <a:cs typeface="Courier New" panose="02070309020205020404" pitchFamily="49" charset="0"/>
              </a:rPr>
              <a:t>}</a:t>
            </a:r>
          </a:p>
          <a:p>
            <a:pPr marL="0" indent="0">
              <a:buNone/>
            </a:pPr>
            <a:endParaRPr lang="en-US" sz="1000" dirty="0">
              <a:solidFill>
                <a:srgbClr val="000000"/>
              </a:solidFill>
              <a:latin typeface="Courier New" panose="02070309020205020404" pitchFamily="49" charset="0"/>
              <a:cs typeface="Courier New" panose="02070309020205020404" pitchFamily="49" charset="0"/>
            </a:endParaRPr>
          </a:p>
          <a:p>
            <a:r>
              <a:rPr lang="en-US" sz="1000" dirty="0">
                <a:solidFill>
                  <a:srgbClr val="000000"/>
                </a:solidFill>
                <a:latin typeface="Courier New" panose="02070309020205020404" pitchFamily="49" charset="0"/>
                <a:cs typeface="Courier New" panose="02070309020205020404" pitchFamily="49" charset="0"/>
              </a:rPr>
              <a:t>int main() {</a:t>
            </a:r>
          </a:p>
          <a:p>
            <a:endParaRPr lang="en-US" sz="1000" dirty="0">
              <a:solidFill>
                <a:srgbClr val="000000"/>
              </a:solidFill>
              <a:latin typeface="Courier New" panose="02070309020205020404" pitchFamily="49" charset="0"/>
              <a:cs typeface="Courier New" panose="02070309020205020404" pitchFamily="49" charset="0"/>
            </a:endParaRPr>
          </a:p>
          <a:p>
            <a:r>
              <a:rPr lang="en-US" sz="1000" dirty="0">
                <a:latin typeface="Courier New" panose="02070309020205020404" pitchFamily="49" charset="0"/>
                <a:cs typeface="Courier New" panose="02070309020205020404" pitchFamily="49" charset="0"/>
              </a:rPr>
              <a:t> </a:t>
            </a:r>
            <a:r>
              <a:rPr lang="en-US" sz="1000" dirty="0">
                <a:solidFill>
                  <a:srgbClr val="000000"/>
                </a:solidFill>
                <a:latin typeface="Courier New" panose="02070309020205020404" pitchFamily="49" charset="0"/>
                <a:cs typeface="Courier New" panose="02070309020205020404" pitchFamily="49" charset="0"/>
              </a:rPr>
              <a:t>Rectangle </a:t>
            </a:r>
            <a:r>
              <a:rPr lang="en-US" sz="1000" dirty="0" err="1">
                <a:solidFill>
                  <a:srgbClr val="000000"/>
                </a:solidFill>
                <a:latin typeface="Courier New" panose="02070309020205020404" pitchFamily="49" charset="0"/>
                <a:cs typeface="Courier New" panose="02070309020205020404" pitchFamily="49" charset="0"/>
              </a:rPr>
              <a:t>rect</a:t>
            </a:r>
            <a:r>
              <a:rPr lang="en-US" sz="1000" dirty="0">
                <a:solidFill>
                  <a:srgbClr val="000000"/>
                </a:solidFill>
                <a:latin typeface="Courier New" panose="02070309020205020404" pitchFamily="49" charset="0"/>
                <a:cs typeface="Courier New" panose="02070309020205020404" pitchFamily="49" charset="0"/>
              </a:rPr>
              <a:t>(5, 10);</a:t>
            </a:r>
          </a:p>
          <a:p>
            <a:r>
              <a:rPr lang="en-US" sz="1000" dirty="0">
                <a:solidFill>
                  <a:srgbClr val="000000"/>
                </a:solidFill>
                <a:latin typeface="Courier New" panose="02070309020205020404" pitchFamily="49" charset="0"/>
                <a:cs typeface="Courier New" panose="02070309020205020404" pitchFamily="49" charset="0"/>
              </a:rPr>
              <a:t>    </a:t>
            </a:r>
            <a:r>
              <a:rPr lang="en-US" sz="1000" dirty="0" err="1">
                <a:solidFill>
                  <a:srgbClr val="000000"/>
                </a:solidFill>
                <a:latin typeface="Courier New" panose="02070309020205020404" pitchFamily="49" charset="0"/>
                <a:cs typeface="Courier New" panose="02070309020205020404" pitchFamily="49" charset="0"/>
              </a:rPr>
              <a:t>cout</a:t>
            </a:r>
            <a:r>
              <a:rPr lang="en-US" sz="1000" dirty="0">
                <a:solidFill>
                  <a:srgbClr val="000000"/>
                </a:solidFill>
                <a:latin typeface="Courier New" panose="02070309020205020404" pitchFamily="49" charset="0"/>
                <a:cs typeface="Courier New" panose="02070309020205020404" pitchFamily="49" charset="0"/>
              </a:rPr>
              <a:t> &lt;&lt; "Original area: " &lt;&lt; </a:t>
            </a:r>
            <a:r>
              <a:rPr lang="en-US" sz="1000" dirty="0" err="1">
                <a:solidFill>
                  <a:srgbClr val="000000"/>
                </a:solidFill>
                <a:latin typeface="Courier New" panose="02070309020205020404" pitchFamily="49" charset="0"/>
                <a:cs typeface="Courier New" panose="02070309020205020404" pitchFamily="49" charset="0"/>
              </a:rPr>
              <a:t>rect.area</a:t>
            </a:r>
            <a:r>
              <a:rPr lang="en-US" sz="1000" dirty="0">
                <a:solidFill>
                  <a:srgbClr val="000000"/>
                </a:solidFill>
                <a:latin typeface="Courier New" panose="02070309020205020404" pitchFamily="49" charset="0"/>
                <a:cs typeface="Courier New" panose="02070309020205020404" pitchFamily="49" charset="0"/>
              </a:rPr>
              <a:t>() &lt;&lt; </a:t>
            </a:r>
            <a:r>
              <a:rPr lang="en-US" sz="1000" dirty="0" err="1">
                <a:solidFill>
                  <a:srgbClr val="000000"/>
                </a:solidFill>
                <a:latin typeface="Courier New" panose="02070309020205020404" pitchFamily="49" charset="0"/>
                <a:cs typeface="Courier New" panose="02070309020205020404" pitchFamily="49" charset="0"/>
              </a:rPr>
              <a:t>endl</a:t>
            </a:r>
            <a:r>
              <a:rPr lang="en-US" sz="1000" dirty="0">
                <a:solidFill>
                  <a:srgbClr val="000000"/>
                </a:solidFill>
                <a:latin typeface="Courier New" panose="02070309020205020404" pitchFamily="49" charset="0"/>
                <a:cs typeface="Courier New" panose="02070309020205020404" pitchFamily="49" charset="0"/>
              </a:rPr>
              <a:t>;</a:t>
            </a:r>
          </a:p>
          <a:p>
            <a:r>
              <a:rPr lang="en-US" sz="1000" dirty="0">
                <a:solidFill>
                  <a:srgbClr val="000000"/>
                </a:solidFill>
                <a:latin typeface="Courier New" panose="02070309020205020404" pitchFamily="49" charset="0"/>
                <a:cs typeface="Courier New" panose="02070309020205020404" pitchFamily="49" charset="0"/>
              </a:rPr>
              <a:t>    </a:t>
            </a:r>
          </a:p>
          <a:p>
            <a:r>
              <a:rPr lang="en-US" sz="1000" dirty="0">
                <a:solidFill>
                  <a:srgbClr val="000000"/>
                </a:solidFill>
                <a:latin typeface="Courier New" panose="02070309020205020404" pitchFamily="49" charset="0"/>
                <a:cs typeface="Courier New" panose="02070309020205020404" pitchFamily="49" charset="0"/>
              </a:rPr>
              <a:t>    </a:t>
            </a:r>
            <a:r>
              <a:rPr lang="en-US" sz="1000" dirty="0" err="1">
                <a:solidFill>
                  <a:srgbClr val="000000"/>
                </a:solidFill>
                <a:latin typeface="Courier New" panose="02070309020205020404" pitchFamily="49" charset="0"/>
                <a:cs typeface="Courier New" panose="02070309020205020404" pitchFamily="49" charset="0"/>
              </a:rPr>
              <a:t>modifyRectangleByValue</a:t>
            </a:r>
            <a:r>
              <a:rPr lang="en-US" sz="1000" dirty="0">
                <a:solidFill>
                  <a:srgbClr val="000000"/>
                </a:solidFill>
                <a:latin typeface="Courier New" panose="02070309020205020404" pitchFamily="49" charset="0"/>
                <a:cs typeface="Courier New" panose="02070309020205020404" pitchFamily="49" charset="0"/>
              </a:rPr>
              <a:t>(</a:t>
            </a:r>
            <a:r>
              <a:rPr lang="en-US" sz="1000" dirty="0" err="1">
                <a:solidFill>
                  <a:srgbClr val="000000"/>
                </a:solidFill>
                <a:latin typeface="Courier New" panose="02070309020205020404" pitchFamily="49" charset="0"/>
                <a:cs typeface="Courier New" panose="02070309020205020404" pitchFamily="49" charset="0"/>
              </a:rPr>
              <a:t>rect</a:t>
            </a:r>
            <a:r>
              <a:rPr lang="en-US" sz="1000" dirty="0">
                <a:solidFill>
                  <a:srgbClr val="000000"/>
                </a:solidFill>
                <a:latin typeface="Courier New" panose="02070309020205020404" pitchFamily="49" charset="0"/>
                <a:cs typeface="Courier New" panose="02070309020205020404" pitchFamily="49" charset="0"/>
              </a:rPr>
              <a:t>);  // Copy is created</a:t>
            </a:r>
          </a:p>
          <a:p>
            <a:r>
              <a:rPr lang="en-US" sz="1000" dirty="0">
                <a:solidFill>
                  <a:srgbClr val="000000"/>
                </a:solidFill>
                <a:latin typeface="Courier New" panose="02070309020205020404" pitchFamily="49" charset="0"/>
                <a:cs typeface="Courier New" panose="02070309020205020404" pitchFamily="49" charset="0"/>
              </a:rPr>
              <a:t>    </a:t>
            </a:r>
          </a:p>
          <a:p>
            <a:r>
              <a:rPr lang="en-US" sz="1000" dirty="0">
                <a:solidFill>
                  <a:srgbClr val="000000"/>
                </a:solidFill>
                <a:latin typeface="Courier New" panose="02070309020205020404" pitchFamily="49" charset="0"/>
                <a:cs typeface="Courier New" panose="02070309020205020404" pitchFamily="49" charset="0"/>
              </a:rPr>
              <a:t>    </a:t>
            </a:r>
            <a:r>
              <a:rPr lang="en-US" sz="1000" dirty="0" err="1">
                <a:solidFill>
                  <a:srgbClr val="000000"/>
                </a:solidFill>
                <a:latin typeface="Courier New" panose="02070309020205020404" pitchFamily="49" charset="0"/>
                <a:cs typeface="Courier New" panose="02070309020205020404" pitchFamily="49" charset="0"/>
              </a:rPr>
              <a:t>cout</a:t>
            </a:r>
            <a:r>
              <a:rPr lang="en-US" sz="1000" dirty="0">
                <a:solidFill>
                  <a:srgbClr val="000000"/>
                </a:solidFill>
                <a:latin typeface="Courier New" panose="02070309020205020404" pitchFamily="49" charset="0"/>
                <a:cs typeface="Courier New" panose="02070309020205020404" pitchFamily="49" charset="0"/>
              </a:rPr>
              <a:t> &lt;&lt; "Original area after function: " &lt;&lt; </a:t>
            </a:r>
            <a:r>
              <a:rPr lang="en-US" sz="1000" dirty="0" err="1">
                <a:solidFill>
                  <a:srgbClr val="000000"/>
                </a:solidFill>
                <a:latin typeface="Courier New" panose="02070309020205020404" pitchFamily="49" charset="0"/>
                <a:cs typeface="Courier New" panose="02070309020205020404" pitchFamily="49" charset="0"/>
              </a:rPr>
              <a:t>rect.area</a:t>
            </a:r>
            <a:r>
              <a:rPr lang="en-US" sz="1000" dirty="0">
                <a:solidFill>
                  <a:srgbClr val="000000"/>
                </a:solidFill>
                <a:latin typeface="Courier New" panose="02070309020205020404" pitchFamily="49" charset="0"/>
                <a:cs typeface="Courier New" panose="02070309020205020404" pitchFamily="49" charset="0"/>
              </a:rPr>
              <a:t>() &lt;&lt; </a:t>
            </a:r>
            <a:r>
              <a:rPr lang="en-US" sz="1000" dirty="0" err="1">
                <a:solidFill>
                  <a:srgbClr val="000000"/>
                </a:solidFill>
                <a:latin typeface="Courier New" panose="02070309020205020404" pitchFamily="49" charset="0"/>
                <a:cs typeface="Courier New" panose="02070309020205020404" pitchFamily="49" charset="0"/>
              </a:rPr>
              <a:t>endl</a:t>
            </a:r>
            <a:r>
              <a:rPr lang="en-US" sz="1000" dirty="0">
                <a:solidFill>
                  <a:srgbClr val="000000"/>
                </a:solidFill>
                <a:latin typeface="Courier New" panose="02070309020205020404" pitchFamily="49" charset="0"/>
                <a:cs typeface="Courier New" panose="02070309020205020404" pitchFamily="49" charset="0"/>
              </a:rPr>
              <a:t>;</a:t>
            </a:r>
          </a:p>
          <a:p>
            <a:endParaRPr lang="en-US" sz="1000" dirty="0">
              <a:solidFill>
                <a:srgbClr val="000000"/>
              </a:solidFill>
              <a:latin typeface="Courier New" panose="02070309020205020404" pitchFamily="49" charset="0"/>
              <a:cs typeface="Courier New" panose="02070309020205020404" pitchFamily="49" charset="0"/>
            </a:endParaRPr>
          </a:p>
          <a:p>
            <a:r>
              <a:rPr lang="en-US" sz="1000" dirty="0">
                <a:solidFill>
                  <a:srgbClr val="000000"/>
                </a:solidFill>
                <a:latin typeface="Courier New" panose="02070309020205020404" pitchFamily="49" charset="0"/>
                <a:cs typeface="Courier New" panose="02070309020205020404" pitchFamily="49" charset="0"/>
              </a:rPr>
              <a:t>    return 0;</a:t>
            </a:r>
          </a:p>
          <a:p>
            <a:r>
              <a:rPr lang="en-US" sz="1000" dirty="0">
                <a:solidFill>
                  <a:srgbClr val="000000"/>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1762988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E8187-C7A5-6E2F-02CA-3CD13FC94B3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B9C3F88-D09F-5889-BC76-0BDECBD47306}"/>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3</a:t>
            </a:r>
            <a:endParaRPr lang="en-US" sz="1400" dirty="0"/>
          </a:p>
        </p:txBody>
      </p:sp>
      <p:sp>
        <p:nvSpPr>
          <p:cNvPr id="3" name="Text 1">
            <a:extLst>
              <a:ext uri="{FF2B5EF4-FFF2-40B4-BE49-F238E27FC236}">
                <a16:creationId xmlns:a16="http://schemas.microsoft.com/office/drawing/2014/main" id="{0863AF87-7B84-9C74-DA7F-F85BAD2EEA19}"/>
              </a:ext>
            </a:extLst>
          </p:cNvPr>
          <p:cNvSpPr/>
          <p:nvPr/>
        </p:nvSpPr>
        <p:spPr>
          <a:xfrm>
            <a:off x="548640" y="731520"/>
            <a:ext cx="11091672" cy="731520"/>
          </a:xfrm>
          <a:prstGeom prst="rect">
            <a:avLst/>
          </a:prstGeom>
          <a:noFill/>
          <a:ln/>
        </p:spPr>
        <p:txBody>
          <a:bodyPr wrap="square" rtlCol="0" anchor="ctr"/>
          <a:lstStyle/>
          <a:p>
            <a:pPr marL="0" indent="0">
              <a:buNone/>
            </a:pPr>
            <a:r>
              <a:rPr lang="en-US" sz="2800" b="1" dirty="0">
                <a:solidFill>
                  <a:srgbClr val="000000"/>
                </a:solidFill>
                <a:latin typeface="Helvetica" pitchFamily="34" charset="0"/>
                <a:ea typeface="Helvetica" pitchFamily="34" charset="-122"/>
                <a:cs typeface="Helvetica" pitchFamily="34" charset="-120"/>
              </a:rPr>
              <a:t>Functions Overloading</a:t>
            </a:r>
            <a:endParaRPr lang="en-US" sz="2800" dirty="0"/>
          </a:p>
        </p:txBody>
      </p:sp>
      <p:sp>
        <p:nvSpPr>
          <p:cNvPr id="4" name="Text 2">
            <a:extLst>
              <a:ext uri="{FF2B5EF4-FFF2-40B4-BE49-F238E27FC236}">
                <a16:creationId xmlns:a16="http://schemas.microsoft.com/office/drawing/2014/main" id="{B0E2E337-D147-8CA0-4656-36DD7DE2D0C1}"/>
              </a:ext>
            </a:extLst>
          </p:cNvPr>
          <p:cNvSpPr/>
          <p:nvPr/>
        </p:nvSpPr>
        <p:spPr>
          <a:xfrm>
            <a:off x="548640" y="1392360"/>
            <a:ext cx="11091672" cy="1249240"/>
          </a:xfrm>
          <a:prstGeom prst="rect">
            <a:avLst/>
          </a:prstGeom>
          <a:noFill/>
          <a:ln/>
        </p:spPr>
        <p:txBody>
          <a:bodyPr wrap="square" rtlCol="0" anchor="t"/>
          <a:lstStyle/>
          <a:p>
            <a:pPr>
              <a:spcAft>
                <a:spcPts val="1200"/>
              </a:spcAft>
              <a:buSzPct val="100000"/>
            </a:pPr>
            <a:r>
              <a:rPr lang="en-US" sz="1600" b="1" dirty="0"/>
              <a:t>Multiple Functions with same name but different parameters</a:t>
            </a:r>
          </a:p>
          <a:p>
            <a:r>
              <a:rPr lang="en-US" sz="1600" dirty="0"/>
              <a:t>Function overloading is a feature in C++ that allows multiple functions to have the same name but with different parameters (either in type, number, or both). This capability enhances the expressiveness and readability of the programming language, allowing functions to be used in various contexts with different types of input.</a:t>
            </a:r>
          </a:p>
          <a:p>
            <a:pPr>
              <a:spcAft>
                <a:spcPts val="1200"/>
              </a:spcAft>
              <a:buSzPct val="100000"/>
            </a:pPr>
            <a:endParaRPr lang="en-US" sz="300" b="1" dirty="0"/>
          </a:p>
          <a:p>
            <a:endParaRPr lang="en-US" sz="1600" dirty="0"/>
          </a:p>
          <a:p>
            <a:endParaRPr lang="en-US" sz="1600" b="1" dirty="0"/>
          </a:p>
          <a:p>
            <a:pPr>
              <a:spcAft>
                <a:spcPts val="1200"/>
              </a:spcAft>
              <a:buSzPct val="100000"/>
            </a:pPr>
            <a:endParaRPr lang="en-US" sz="1400" dirty="0"/>
          </a:p>
        </p:txBody>
      </p:sp>
      <p:sp>
        <p:nvSpPr>
          <p:cNvPr id="6" name="Text 2">
            <a:extLst>
              <a:ext uri="{FF2B5EF4-FFF2-40B4-BE49-F238E27FC236}">
                <a16:creationId xmlns:a16="http://schemas.microsoft.com/office/drawing/2014/main" id="{B9177FD7-4A8A-81C4-7A5B-B3F5B1195002}"/>
              </a:ext>
            </a:extLst>
          </p:cNvPr>
          <p:cNvSpPr/>
          <p:nvPr/>
        </p:nvSpPr>
        <p:spPr>
          <a:xfrm>
            <a:off x="548640" y="3134030"/>
            <a:ext cx="6563360" cy="3577903"/>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250" dirty="0">
                <a:solidFill>
                  <a:srgbClr val="000000"/>
                </a:solidFill>
                <a:latin typeface="Courier New" pitchFamily="34" charset="0"/>
                <a:cs typeface="Courier New" pitchFamily="34" charset="-120"/>
              </a:rPr>
              <a:t>#include &lt;iostream&gt;</a:t>
            </a:r>
          </a:p>
          <a:p>
            <a:r>
              <a:rPr lang="en-US" sz="1250" dirty="0">
                <a:solidFill>
                  <a:srgbClr val="000000"/>
                </a:solidFill>
                <a:latin typeface="Courier New" pitchFamily="34" charset="0"/>
                <a:cs typeface="Courier New" pitchFamily="34" charset="-120"/>
              </a:rPr>
              <a:t>using namespace std;</a:t>
            </a:r>
          </a:p>
          <a:p>
            <a:endParaRPr lang="en-US" sz="1250" dirty="0">
              <a:solidFill>
                <a:srgbClr val="000000"/>
              </a:solidFill>
              <a:latin typeface="Courier New" pitchFamily="34" charset="0"/>
              <a:cs typeface="Courier New" pitchFamily="34" charset="-120"/>
            </a:endParaRPr>
          </a:p>
          <a:p>
            <a:r>
              <a:rPr lang="en-US" sz="1250" dirty="0">
                <a:solidFill>
                  <a:srgbClr val="000000"/>
                </a:solidFill>
                <a:latin typeface="Courier New" pitchFamily="34" charset="0"/>
                <a:cs typeface="Courier New" pitchFamily="34" charset="-120"/>
              </a:rPr>
              <a:t>// Overloaded functions to calculate the area</a:t>
            </a:r>
            <a:br>
              <a:rPr lang="en-US" sz="1250" dirty="0">
                <a:solidFill>
                  <a:srgbClr val="000000"/>
                </a:solidFill>
                <a:latin typeface="Courier New" pitchFamily="34" charset="0"/>
                <a:cs typeface="Courier New" pitchFamily="34" charset="-120"/>
              </a:rPr>
            </a:br>
            <a:r>
              <a:rPr lang="en-US" sz="1250" dirty="0">
                <a:solidFill>
                  <a:srgbClr val="000000"/>
                </a:solidFill>
                <a:latin typeface="Courier New" pitchFamily="34" charset="0"/>
                <a:cs typeface="Courier New" pitchFamily="34" charset="-120"/>
              </a:rPr>
              <a:t>double area(double radius) { // For circle</a:t>
            </a:r>
            <a:br>
              <a:rPr lang="en-US" sz="1250" dirty="0">
                <a:solidFill>
                  <a:srgbClr val="000000"/>
                </a:solidFill>
                <a:latin typeface="Courier New" pitchFamily="34" charset="0"/>
                <a:cs typeface="Courier New" pitchFamily="34" charset="-120"/>
              </a:rPr>
            </a:br>
            <a:r>
              <a:rPr lang="en-US" sz="1250" dirty="0">
                <a:solidFill>
                  <a:srgbClr val="000000"/>
                </a:solidFill>
                <a:latin typeface="Courier New" pitchFamily="34" charset="0"/>
                <a:cs typeface="Courier New" pitchFamily="34" charset="-120"/>
              </a:rPr>
              <a:t>return 3.14159 * radius * radius;</a:t>
            </a:r>
            <a:br>
              <a:rPr lang="en-US" sz="1250" dirty="0">
                <a:solidFill>
                  <a:srgbClr val="000000"/>
                </a:solidFill>
                <a:latin typeface="Courier New" pitchFamily="34" charset="0"/>
                <a:cs typeface="Courier New" pitchFamily="34" charset="-120"/>
              </a:rPr>
            </a:br>
            <a:r>
              <a:rPr lang="en-US" sz="1250" dirty="0">
                <a:solidFill>
                  <a:srgbClr val="000000"/>
                </a:solidFill>
                <a:latin typeface="Courier New" pitchFamily="34" charset="0"/>
                <a:cs typeface="Courier New" pitchFamily="34" charset="-120"/>
              </a:rPr>
              <a:t>}</a:t>
            </a:r>
            <a:br>
              <a:rPr lang="en-US" sz="1250" dirty="0">
                <a:solidFill>
                  <a:srgbClr val="000000"/>
                </a:solidFill>
                <a:latin typeface="Courier New" pitchFamily="34" charset="0"/>
                <a:cs typeface="Courier New" pitchFamily="34" charset="-120"/>
              </a:rPr>
            </a:br>
            <a:br>
              <a:rPr lang="en-US" sz="1250" dirty="0">
                <a:solidFill>
                  <a:srgbClr val="000000"/>
                </a:solidFill>
                <a:latin typeface="Courier New" pitchFamily="34" charset="0"/>
                <a:cs typeface="Courier New" pitchFamily="34" charset="-120"/>
              </a:rPr>
            </a:br>
            <a:r>
              <a:rPr lang="en-US" sz="1250" dirty="0">
                <a:solidFill>
                  <a:srgbClr val="000000"/>
                </a:solidFill>
                <a:latin typeface="Courier New" pitchFamily="34" charset="0"/>
                <a:cs typeface="Courier New" pitchFamily="34" charset="-120"/>
              </a:rPr>
              <a:t>double area(double length, double width) { // For rectangle</a:t>
            </a:r>
            <a:br>
              <a:rPr lang="en-US" sz="1250" dirty="0">
                <a:solidFill>
                  <a:srgbClr val="000000"/>
                </a:solidFill>
                <a:latin typeface="Courier New" pitchFamily="34" charset="0"/>
                <a:cs typeface="Courier New" pitchFamily="34" charset="-120"/>
              </a:rPr>
            </a:br>
            <a:r>
              <a:rPr lang="en-US" sz="1250" dirty="0">
                <a:solidFill>
                  <a:srgbClr val="000000"/>
                </a:solidFill>
                <a:latin typeface="Courier New" pitchFamily="34" charset="0"/>
                <a:cs typeface="Courier New" pitchFamily="34" charset="-120"/>
              </a:rPr>
              <a:t>return length * width;</a:t>
            </a:r>
            <a:br>
              <a:rPr lang="en-US" sz="1250" dirty="0">
                <a:solidFill>
                  <a:srgbClr val="000000"/>
                </a:solidFill>
                <a:latin typeface="Courier New" pitchFamily="34" charset="0"/>
                <a:cs typeface="Courier New" pitchFamily="34" charset="-120"/>
              </a:rPr>
            </a:br>
            <a:r>
              <a:rPr lang="en-US" sz="1250" dirty="0">
                <a:solidFill>
                  <a:srgbClr val="000000"/>
                </a:solidFill>
                <a:latin typeface="Courier New" pitchFamily="34" charset="0"/>
                <a:cs typeface="Courier New" pitchFamily="34" charset="-120"/>
              </a:rPr>
              <a:t>}</a:t>
            </a:r>
            <a:br>
              <a:rPr lang="en-US" sz="1250" dirty="0">
                <a:solidFill>
                  <a:srgbClr val="000000"/>
                </a:solidFill>
                <a:latin typeface="Courier New" pitchFamily="34" charset="0"/>
                <a:cs typeface="Courier New" pitchFamily="34" charset="-120"/>
              </a:rPr>
            </a:br>
            <a:br>
              <a:rPr lang="en-US" sz="1250" dirty="0">
                <a:solidFill>
                  <a:srgbClr val="000000"/>
                </a:solidFill>
                <a:latin typeface="Courier New" pitchFamily="34" charset="0"/>
                <a:cs typeface="Courier New" pitchFamily="34" charset="-120"/>
              </a:rPr>
            </a:br>
            <a:r>
              <a:rPr lang="en-US" sz="1250" dirty="0">
                <a:solidFill>
                  <a:srgbClr val="000000"/>
                </a:solidFill>
                <a:latin typeface="Courier New" pitchFamily="34" charset="0"/>
                <a:cs typeface="Courier New" pitchFamily="34" charset="-120"/>
              </a:rPr>
              <a:t>int main() {</a:t>
            </a:r>
            <a:br>
              <a:rPr lang="en-US" sz="1250" dirty="0">
                <a:solidFill>
                  <a:srgbClr val="000000"/>
                </a:solidFill>
                <a:latin typeface="Courier New" pitchFamily="34" charset="0"/>
                <a:cs typeface="Courier New" pitchFamily="34" charset="-120"/>
              </a:rPr>
            </a:br>
            <a:r>
              <a:rPr lang="en-US" sz="1250" dirty="0" err="1">
                <a:solidFill>
                  <a:srgbClr val="000000"/>
                </a:solidFill>
                <a:latin typeface="Courier New" pitchFamily="34" charset="0"/>
                <a:cs typeface="Courier New" pitchFamily="34" charset="-120"/>
              </a:rPr>
              <a:t>cout</a:t>
            </a:r>
            <a:r>
              <a:rPr lang="en-US" sz="1250" dirty="0">
                <a:solidFill>
                  <a:srgbClr val="000000"/>
                </a:solidFill>
                <a:latin typeface="Courier New" pitchFamily="34" charset="0"/>
                <a:cs typeface="Courier New" pitchFamily="34" charset="-120"/>
              </a:rPr>
              <a:t> &lt;&lt; "Area of circle (r=5): " &lt;&lt; area(5.0) &lt;&lt; </a:t>
            </a:r>
            <a:r>
              <a:rPr lang="en-US" sz="1250" dirty="0" err="1">
                <a:solidFill>
                  <a:srgbClr val="000000"/>
                </a:solidFill>
                <a:latin typeface="Courier New" pitchFamily="34" charset="0"/>
                <a:cs typeface="Courier New" pitchFamily="34" charset="-120"/>
              </a:rPr>
              <a:t>endl</a:t>
            </a:r>
            <a:r>
              <a:rPr lang="en-US" sz="1250" dirty="0">
                <a:solidFill>
                  <a:srgbClr val="000000"/>
                </a:solidFill>
                <a:latin typeface="Courier New" pitchFamily="34" charset="0"/>
                <a:cs typeface="Courier New" pitchFamily="34" charset="-120"/>
              </a:rPr>
              <a:t>;</a:t>
            </a:r>
            <a:br>
              <a:rPr lang="en-US" sz="1250" dirty="0">
                <a:solidFill>
                  <a:srgbClr val="000000"/>
                </a:solidFill>
                <a:latin typeface="Courier New" pitchFamily="34" charset="0"/>
                <a:cs typeface="Courier New" pitchFamily="34" charset="-120"/>
              </a:rPr>
            </a:br>
            <a:r>
              <a:rPr lang="en-US" sz="1250" dirty="0" err="1">
                <a:solidFill>
                  <a:srgbClr val="000000"/>
                </a:solidFill>
                <a:latin typeface="Courier New" pitchFamily="34" charset="0"/>
                <a:cs typeface="Courier New" pitchFamily="34" charset="-120"/>
              </a:rPr>
              <a:t>cout</a:t>
            </a:r>
            <a:r>
              <a:rPr lang="en-US" sz="1250" dirty="0">
                <a:solidFill>
                  <a:srgbClr val="000000"/>
                </a:solidFill>
                <a:latin typeface="Courier New" pitchFamily="34" charset="0"/>
                <a:cs typeface="Courier New" pitchFamily="34" charset="-120"/>
              </a:rPr>
              <a:t> &lt;&lt; "Area of rectangle (4x5): " &lt;&lt; area(4.0, 5.0) &lt;&lt; </a:t>
            </a:r>
            <a:r>
              <a:rPr lang="en-US" sz="1250" dirty="0" err="1">
                <a:solidFill>
                  <a:srgbClr val="000000"/>
                </a:solidFill>
                <a:latin typeface="Courier New" pitchFamily="34" charset="0"/>
                <a:cs typeface="Courier New" pitchFamily="34" charset="-120"/>
              </a:rPr>
              <a:t>endl</a:t>
            </a:r>
            <a:r>
              <a:rPr lang="en-US" sz="1250" dirty="0">
                <a:solidFill>
                  <a:srgbClr val="000000"/>
                </a:solidFill>
                <a:latin typeface="Courier New" pitchFamily="34" charset="0"/>
                <a:cs typeface="Courier New" pitchFamily="34" charset="-120"/>
              </a:rPr>
              <a:t>;</a:t>
            </a:r>
            <a:br>
              <a:rPr lang="en-US" sz="1250" dirty="0">
                <a:solidFill>
                  <a:srgbClr val="000000"/>
                </a:solidFill>
                <a:latin typeface="Courier New" pitchFamily="34" charset="0"/>
                <a:cs typeface="Courier New" pitchFamily="34" charset="-120"/>
              </a:rPr>
            </a:br>
            <a:r>
              <a:rPr lang="en-US" sz="1250" dirty="0">
                <a:solidFill>
                  <a:srgbClr val="000000"/>
                </a:solidFill>
                <a:latin typeface="Courier New" pitchFamily="34" charset="0"/>
                <a:cs typeface="Courier New" pitchFamily="34" charset="-120"/>
              </a:rPr>
              <a:t>return 0;</a:t>
            </a:r>
            <a:br>
              <a:rPr lang="en-US" sz="1250" dirty="0">
                <a:solidFill>
                  <a:srgbClr val="000000"/>
                </a:solidFill>
                <a:latin typeface="Courier New" pitchFamily="34" charset="0"/>
                <a:cs typeface="Courier New" pitchFamily="34" charset="-120"/>
              </a:rPr>
            </a:br>
            <a:r>
              <a:rPr lang="en-US" sz="1250" dirty="0">
                <a:solidFill>
                  <a:srgbClr val="000000"/>
                </a:solidFill>
                <a:latin typeface="Courier New" pitchFamily="34" charset="0"/>
                <a:cs typeface="Courier New" pitchFamily="34" charset="-120"/>
              </a:rPr>
              <a:t>}</a:t>
            </a:r>
          </a:p>
        </p:txBody>
      </p:sp>
      <p:sp>
        <p:nvSpPr>
          <p:cNvPr id="7" name="TextBox 6">
            <a:extLst>
              <a:ext uri="{FF2B5EF4-FFF2-40B4-BE49-F238E27FC236}">
                <a16:creationId xmlns:a16="http://schemas.microsoft.com/office/drawing/2014/main" id="{FE78C93C-2A8E-E916-AE96-A952DBD14FFA}"/>
              </a:ext>
            </a:extLst>
          </p:cNvPr>
          <p:cNvSpPr txBox="1"/>
          <p:nvPr/>
        </p:nvSpPr>
        <p:spPr>
          <a:xfrm>
            <a:off x="7289984" y="2775066"/>
            <a:ext cx="4343585" cy="3970318"/>
          </a:xfrm>
          <a:prstGeom prst="rect">
            <a:avLst/>
          </a:prstGeom>
          <a:noFill/>
        </p:spPr>
        <p:txBody>
          <a:bodyPr wrap="square" rtlCol="0">
            <a:spAutoFit/>
          </a:bodyPr>
          <a:lstStyle/>
          <a:p>
            <a:r>
              <a:rPr lang="en-US" sz="1200" b="1" dirty="0"/>
              <a:t>Explanation of Program: </a:t>
            </a:r>
          </a:p>
          <a:p>
            <a:endParaRPr lang="en-US" sz="1200" b="1" dirty="0"/>
          </a:p>
          <a:p>
            <a:r>
              <a:rPr lang="en-US" sz="1200" dirty="0">
                <a:latin typeface="Courier New" panose="02070309020205020404" pitchFamily="49" charset="0"/>
                <a:cs typeface="Courier New" panose="02070309020205020404" pitchFamily="49" charset="0"/>
              </a:rPr>
              <a:t>double area(double radius) {</a:t>
            </a:r>
          </a:p>
          <a:p>
            <a:r>
              <a:rPr lang="en-US" sz="1200" dirty="0"/>
              <a:t>This version of the area function calculates the area of a circle. It takes one double parameter representing the radius of the circle and returns its area as a double.</a:t>
            </a:r>
          </a:p>
          <a:p>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double area(double length, double width) {</a:t>
            </a:r>
          </a:p>
          <a:p>
            <a:r>
              <a:rPr lang="en-US" sz="1200" dirty="0"/>
              <a:t>This version calculates the area of a rectangle. It is overloaded to take two double parameters representing the length and width of the rectangle, respectively, and returns the calculated area.</a:t>
            </a:r>
          </a:p>
          <a:p>
            <a:endParaRPr lang="en-US" sz="1200" dirty="0">
              <a:latin typeface="Courier New" panose="02070309020205020404" pitchFamily="49" charset="0"/>
              <a:cs typeface="Courier New" panose="02070309020205020404" pitchFamily="49" charset="0"/>
            </a:endParaRPr>
          </a:p>
          <a:p>
            <a:r>
              <a:rPr lang="en-US" sz="1200" dirty="0" err="1">
                <a:latin typeface="Courier New" panose="02070309020205020404" pitchFamily="49" charset="0"/>
                <a:cs typeface="Courier New" panose="02070309020205020404" pitchFamily="49" charset="0"/>
              </a:rPr>
              <a:t>cout</a:t>
            </a:r>
            <a:r>
              <a:rPr lang="en-US" sz="1200" dirty="0">
                <a:latin typeface="Courier New" panose="02070309020205020404" pitchFamily="49" charset="0"/>
                <a:cs typeface="Courier New" panose="02070309020205020404" pitchFamily="49" charset="0"/>
              </a:rPr>
              <a:t> &lt;&lt; "Area of circle (r=5): " &lt;&lt; area(5.0) &lt;&lt; </a:t>
            </a:r>
            <a:r>
              <a:rPr lang="en-US" sz="1200" dirty="0" err="1">
                <a:latin typeface="Courier New" panose="02070309020205020404" pitchFamily="49" charset="0"/>
                <a:cs typeface="Courier New" panose="02070309020205020404" pitchFamily="49" charset="0"/>
              </a:rPr>
              <a:t>endl</a:t>
            </a:r>
            <a:r>
              <a:rPr lang="en-US" sz="1200" dirty="0">
                <a:latin typeface="Courier New" panose="02070309020205020404" pitchFamily="49" charset="0"/>
                <a:cs typeface="Courier New" panose="02070309020205020404" pitchFamily="49" charset="0"/>
              </a:rPr>
              <a:t>;</a:t>
            </a:r>
          </a:p>
          <a:p>
            <a:r>
              <a:rPr lang="en-US" sz="1200" dirty="0"/>
              <a:t>Calls the first version of the area function with a single argument to calculate the area of a circle.</a:t>
            </a:r>
          </a:p>
          <a:p>
            <a:endParaRPr lang="en-US" sz="1200" dirty="0">
              <a:latin typeface="Courier New" panose="02070309020205020404" pitchFamily="49" charset="0"/>
              <a:cs typeface="Courier New" panose="02070309020205020404" pitchFamily="49" charset="0"/>
            </a:endParaRPr>
          </a:p>
          <a:p>
            <a:r>
              <a:rPr lang="en-US" sz="1200" dirty="0" err="1">
                <a:latin typeface="Courier New" panose="02070309020205020404" pitchFamily="49" charset="0"/>
                <a:cs typeface="Courier New" panose="02070309020205020404" pitchFamily="49" charset="0"/>
              </a:rPr>
              <a:t>cout</a:t>
            </a:r>
            <a:r>
              <a:rPr lang="en-US" sz="1200" dirty="0">
                <a:latin typeface="Courier New" panose="02070309020205020404" pitchFamily="49" charset="0"/>
                <a:cs typeface="Courier New" panose="02070309020205020404" pitchFamily="49" charset="0"/>
              </a:rPr>
              <a:t> &lt;&lt; "Area of rectangle (4x5): " &lt;&lt; area(4.0, 5.0) &lt;&lt; </a:t>
            </a:r>
            <a:r>
              <a:rPr lang="en-US" sz="1200" dirty="0" err="1">
                <a:latin typeface="Courier New" panose="02070309020205020404" pitchFamily="49" charset="0"/>
                <a:cs typeface="Courier New" panose="02070309020205020404" pitchFamily="49" charset="0"/>
              </a:rPr>
              <a:t>endl</a:t>
            </a:r>
            <a:r>
              <a:rPr lang="en-US" sz="1200" dirty="0">
                <a:latin typeface="Courier New" panose="02070309020205020404" pitchFamily="49" charset="0"/>
                <a:cs typeface="Courier New" panose="02070309020205020404" pitchFamily="49" charset="0"/>
              </a:rPr>
              <a:t>;</a:t>
            </a:r>
          </a:p>
          <a:p>
            <a:r>
              <a:rPr lang="en-US" sz="1200" dirty="0"/>
              <a:t>Calls the second version of the area function with two arguments to calculate the area of a rectangle.</a:t>
            </a:r>
          </a:p>
        </p:txBody>
      </p:sp>
    </p:spTree>
    <p:extLst>
      <p:ext uri="{BB962C8B-B14F-4D97-AF65-F5344CB8AC3E}">
        <p14:creationId xmlns:p14="http://schemas.microsoft.com/office/powerpoint/2010/main" val="5821759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C4A85-F326-3955-0491-A2CBB81E9EA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89ECF8E-D384-C8F9-0F0D-84DD9B47588E}"/>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3</a:t>
            </a:r>
            <a:endParaRPr lang="en-US" sz="1400" dirty="0"/>
          </a:p>
        </p:txBody>
      </p:sp>
      <p:sp>
        <p:nvSpPr>
          <p:cNvPr id="3" name="Text 1">
            <a:extLst>
              <a:ext uri="{FF2B5EF4-FFF2-40B4-BE49-F238E27FC236}">
                <a16:creationId xmlns:a16="http://schemas.microsoft.com/office/drawing/2014/main" id="{403FCB22-D3E7-7D4E-BC96-E3F66A05828C}"/>
              </a:ext>
            </a:extLst>
          </p:cNvPr>
          <p:cNvSpPr/>
          <p:nvPr/>
        </p:nvSpPr>
        <p:spPr>
          <a:xfrm>
            <a:off x="548640" y="731520"/>
            <a:ext cx="11091672" cy="731520"/>
          </a:xfrm>
          <a:prstGeom prst="rect">
            <a:avLst/>
          </a:prstGeom>
          <a:noFill/>
          <a:ln/>
        </p:spPr>
        <p:txBody>
          <a:bodyPr wrap="square" rtlCol="0" anchor="ctr"/>
          <a:lstStyle/>
          <a:p>
            <a:pPr marL="0" indent="0">
              <a:buNone/>
            </a:pPr>
            <a:r>
              <a:rPr lang="en-US" sz="2800" b="1" dirty="0">
                <a:solidFill>
                  <a:srgbClr val="000000"/>
                </a:solidFill>
                <a:latin typeface="Helvetica" pitchFamily="34" charset="0"/>
                <a:ea typeface="Helvetica" pitchFamily="34" charset="-122"/>
                <a:cs typeface="Helvetica" pitchFamily="34" charset="-120"/>
              </a:rPr>
              <a:t>Functions Overloading</a:t>
            </a:r>
            <a:endParaRPr lang="en-US" sz="2800" dirty="0"/>
          </a:p>
        </p:txBody>
      </p:sp>
      <p:sp>
        <p:nvSpPr>
          <p:cNvPr id="4" name="Text 2">
            <a:extLst>
              <a:ext uri="{FF2B5EF4-FFF2-40B4-BE49-F238E27FC236}">
                <a16:creationId xmlns:a16="http://schemas.microsoft.com/office/drawing/2014/main" id="{1A3E0F00-408E-A943-E374-EB280305A0DA}"/>
              </a:ext>
            </a:extLst>
          </p:cNvPr>
          <p:cNvSpPr/>
          <p:nvPr/>
        </p:nvSpPr>
        <p:spPr>
          <a:xfrm>
            <a:off x="548640" y="1392360"/>
            <a:ext cx="11091672" cy="4611276"/>
          </a:xfrm>
          <a:prstGeom prst="rect">
            <a:avLst/>
          </a:prstGeom>
          <a:noFill/>
          <a:ln/>
        </p:spPr>
        <p:txBody>
          <a:bodyPr wrap="square" rtlCol="0" anchor="t"/>
          <a:lstStyle/>
          <a:p>
            <a:pPr>
              <a:spcAft>
                <a:spcPts val="1200"/>
              </a:spcAft>
              <a:buSzPct val="100000"/>
            </a:pPr>
            <a:r>
              <a:rPr lang="en-US" sz="1600" b="1" dirty="0"/>
              <a:t>Use Cases</a:t>
            </a:r>
          </a:p>
          <a:p>
            <a:pPr lvl="1"/>
            <a:r>
              <a:rPr lang="en-US" sz="1600" b="1" dirty="0"/>
              <a:t>Handling Different Data Types</a:t>
            </a:r>
            <a:r>
              <a:rPr lang="en-US" sz="1600" dirty="0"/>
              <a:t>: Overloaded functions can perform analogous operations on different types of data. For example, you might have a print function that accepts both int and float types, displaying numbers in an appropriate format.</a:t>
            </a:r>
          </a:p>
          <a:p>
            <a:pPr lvl="1"/>
            <a:r>
              <a:rPr lang="en-US" sz="1600" b="1" dirty="0"/>
              <a:t>Different Implementations Based on Parameters: </a:t>
            </a:r>
            <a:r>
              <a:rPr lang="en-US" sz="1600" dirty="0"/>
              <a:t>You can overload functions to provide different implementations based on the number or types of arguments passed. This is useful in mathematical operations, where the formula might differ based on input dimensions or types.</a:t>
            </a:r>
          </a:p>
          <a:p>
            <a:pPr lvl="1"/>
            <a:r>
              <a:rPr lang="en-US" sz="1600" b="1" dirty="0"/>
              <a:t>Improving Code Readability: </a:t>
            </a:r>
            <a:r>
              <a:rPr lang="en-US" sz="1600" dirty="0"/>
              <a:t>Using the same function name for similar operations on different data types makes the code more intuitive and easier to understand.</a:t>
            </a:r>
          </a:p>
          <a:p>
            <a:pPr lvl="1"/>
            <a:endParaRPr lang="en-US" sz="1600" dirty="0"/>
          </a:p>
          <a:p>
            <a:r>
              <a:rPr lang="en-US" sz="1600" b="1" dirty="0"/>
              <a:t>Advantages</a:t>
            </a:r>
          </a:p>
          <a:p>
            <a:pPr lvl="1"/>
            <a:r>
              <a:rPr lang="en-US" sz="1600" b="1" dirty="0"/>
              <a:t>Cleaner Code: </a:t>
            </a:r>
            <a:r>
              <a:rPr lang="en-US" sz="1600" dirty="0"/>
              <a:t>Function overloading leads to cleaner code by reducing the number of distinct function names for similar operations, making the code easier to read and maintain.</a:t>
            </a:r>
          </a:p>
          <a:p>
            <a:pPr lvl="1"/>
            <a:r>
              <a:rPr lang="en-US" sz="1600" b="1" dirty="0"/>
              <a:t>Intuitive Usage: </a:t>
            </a:r>
            <a:r>
              <a:rPr lang="en-US" sz="1600" dirty="0"/>
              <a:t>Overloading allows functions to be called in a way that feels natural and intuitive, closely mimicking the versatility seen in human languages.</a:t>
            </a:r>
          </a:p>
          <a:p>
            <a:pPr lvl="1"/>
            <a:r>
              <a:rPr lang="en-US" sz="1600" b="1" dirty="0"/>
              <a:t>Compile-Time Polymorphism: </a:t>
            </a:r>
            <a:r>
              <a:rPr lang="en-US" sz="1600" dirty="0"/>
              <a:t>It provides a form of polymorphism where the appropriate function is selected at compile time based on the argument types, improving performance by avoiding runtime decision-making.</a:t>
            </a:r>
          </a:p>
          <a:p>
            <a:pPr>
              <a:spcAft>
                <a:spcPts val="1200"/>
              </a:spcAft>
              <a:buSzPct val="100000"/>
            </a:pPr>
            <a:endParaRPr lang="en-US" sz="300" b="1" dirty="0"/>
          </a:p>
          <a:p>
            <a:endParaRPr lang="en-US" sz="1600" dirty="0"/>
          </a:p>
          <a:p>
            <a:endParaRPr lang="en-US" sz="1600" b="1" dirty="0"/>
          </a:p>
          <a:p>
            <a:pPr>
              <a:spcAft>
                <a:spcPts val="1200"/>
              </a:spcAft>
              <a:buSzPct val="100000"/>
            </a:pPr>
            <a:endParaRPr lang="en-US" sz="1400" dirty="0"/>
          </a:p>
        </p:txBody>
      </p:sp>
    </p:spTree>
    <p:extLst>
      <p:ext uri="{BB962C8B-B14F-4D97-AF65-F5344CB8AC3E}">
        <p14:creationId xmlns:p14="http://schemas.microsoft.com/office/powerpoint/2010/main" val="14443878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77E3F3B-FD1C-CDEC-286E-1F7706BAF05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60696CD-A1FD-51D1-21A2-AE00367CB2BF}"/>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3</a:t>
            </a:r>
            <a:endParaRPr lang="en-US" sz="1400" dirty="0"/>
          </a:p>
        </p:txBody>
      </p:sp>
      <p:sp>
        <p:nvSpPr>
          <p:cNvPr id="3" name="Text 1">
            <a:extLst>
              <a:ext uri="{FF2B5EF4-FFF2-40B4-BE49-F238E27FC236}">
                <a16:creationId xmlns:a16="http://schemas.microsoft.com/office/drawing/2014/main" id="{15731EDA-1A81-0ED3-19AF-3AB8FA3B4D5D}"/>
              </a:ext>
            </a:extLst>
          </p:cNvPr>
          <p:cNvSpPr/>
          <p:nvPr/>
        </p:nvSpPr>
        <p:spPr>
          <a:xfrm>
            <a:off x="548640" y="731520"/>
            <a:ext cx="11091672" cy="731520"/>
          </a:xfrm>
          <a:prstGeom prst="rect">
            <a:avLst/>
          </a:prstGeom>
          <a:noFill/>
          <a:ln/>
        </p:spPr>
        <p:txBody>
          <a:bodyPr wrap="square" rtlCol="0" anchor="ctr"/>
          <a:lstStyle/>
          <a:p>
            <a:pPr marL="0" indent="0">
              <a:buNone/>
            </a:pPr>
            <a:r>
              <a:rPr lang="en-US" sz="2800" b="1" dirty="0">
                <a:solidFill>
                  <a:srgbClr val="000000"/>
                </a:solidFill>
                <a:latin typeface="Helvetica" pitchFamily="34" charset="0"/>
                <a:ea typeface="Helvetica" pitchFamily="34" charset="-122"/>
                <a:cs typeface="Helvetica" pitchFamily="34" charset="-120"/>
              </a:rPr>
              <a:t>Inline Function</a:t>
            </a:r>
            <a:endParaRPr lang="en-US" sz="2800" dirty="0"/>
          </a:p>
        </p:txBody>
      </p:sp>
      <p:sp>
        <p:nvSpPr>
          <p:cNvPr id="4" name="Text 2">
            <a:extLst>
              <a:ext uri="{FF2B5EF4-FFF2-40B4-BE49-F238E27FC236}">
                <a16:creationId xmlns:a16="http://schemas.microsoft.com/office/drawing/2014/main" id="{FE54F0A0-1EAD-C7C0-B294-75458BC8D056}"/>
              </a:ext>
            </a:extLst>
          </p:cNvPr>
          <p:cNvSpPr/>
          <p:nvPr/>
        </p:nvSpPr>
        <p:spPr>
          <a:xfrm>
            <a:off x="548640" y="1463040"/>
            <a:ext cx="11283142" cy="5029200"/>
          </a:xfrm>
          <a:prstGeom prst="rect">
            <a:avLst/>
          </a:prstGeom>
          <a:noFill/>
          <a:ln/>
        </p:spPr>
        <p:txBody>
          <a:bodyPr wrap="square" rtlCol="0" anchor="t"/>
          <a:lstStyle/>
          <a:p>
            <a:pPr>
              <a:spcAft>
                <a:spcPts val="1200"/>
              </a:spcAft>
              <a:buSzPct val="100000"/>
            </a:pPr>
            <a:r>
              <a:rPr lang="en-US" sz="1600" b="1" dirty="0"/>
              <a:t>Inline functions</a:t>
            </a:r>
            <a:r>
              <a:rPr lang="en-US" sz="1600" dirty="0"/>
              <a:t> are functions in C++ that are expanded in-line at the point of each call, replacing the function call with the actual function code, thereby eliminating the overhead of a traditional function call.</a:t>
            </a:r>
          </a:p>
          <a:p>
            <a:pPr marL="742950" lvl="1" indent="-285750">
              <a:buFont typeface="Arial" panose="020B0604020202020204" pitchFamily="34" charset="0"/>
              <a:buChar char="•"/>
            </a:pPr>
            <a:r>
              <a:rPr lang="en-US" sz="1600" dirty="0"/>
              <a:t>Inline functions are a </a:t>
            </a:r>
            <a:r>
              <a:rPr lang="en-US" sz="1600" b="1" dirty="0"/>
              <a:t>performance optimization feature</a:t>
            </a:r>
            <a:r>
              <a:rPr lang="en-US" sz="1600" dirty="0"/>
              <a:t> designed to improve execution speed.</a:t>
            </a:r>
          </a:p>
          <a:p>
            <a:pPr marL="742950" lvl="1" indent="-285750">
              <a:buFont typeface="Arial" panose="020B0604020202020204" pitchFamily="34" charset="0"/>
              <a:buChar char="•"/>
            </a:pPr>
            <a:r>
              <a:rPr lang="en-US" sz="1600" dirty="0"/>
              <a:t>They are most effective for </a:t>
            </a:r>
            <a:r>
              <a:rPr lang="en-US" sz="1600" b="1" dirty="0"/>
              <a:t>small, frequently called functions</a:t>
            </a:r>
            <a:r>
              <a:rPr lang="en-US" sz="1600" dirty="0"/>
              <a:t>.</a:t>
            </a:r>
          </a:p>
          <a:p>
            <a:pPr marL="742950" lvl="1" indent="-285750">
              <a:buFont typeface="Arial" panose="020B0604020202020204" pitchFamily="34" charset="0"/>
              <a:buChar char="•"/>
            </a:pPr>
            <a:r>
              <a:rPr lang="en-US" sz="1600" dirty="0"/>
              <a:t>By marking a function with the inline keyword, the programmer gives a </a:t>
            </a:r>
            <a:r>
              <a:rPr lang="en-US" sz="1600" b="1" dirty="0"/>
              <a:t>hint</a:t>
            </a:r>
            <a:r>
              <a:rPr lang="en-US" sz="1600" dirty="0"/>
              <a:t> to the compiler to embed the function's body directly at each call site.</a:t>
            </a:r>
          </a:p>
          <a:p>
            <a:pPr marL="742950" lvl="1" indent="-285750">
              <a:buFont typeface="Arial" panose="020B0604020202020204" pitchFamily="34" charset="0"/>
              <a:buChar char="•"/>
            </a:pPr>
            <a:r>
              <a:rPr lang="en-US" sz="1600" dirty="0"/>
              <a:t>Instead of a </a:t>
            </a:r>
            <a:r>
              <a:rPr lang="en-US" sz="1600" b="1" dirty="0"/>
              <a:t>traditional function call</a:t>
            </a:r>
            <a:r>
              <a:rPr lang="en-US" sz="1600" dirty="0"/>
              <a:t> (which involves stack operations, jump, and return), the compiler </a:t>
            </a:r>
            <a:r>
              <a:rPr lang="en-US" sz="1600" b="1" dirty="0"/>
              <a:t>replaces the call with the function code</a:t>
            </a:r>
            <a:r>
              <a:rPr lang="en-US" sz="1600" dirty="0"/>
              <a:t> itself.</a:t>
            </a:r>
          </a:p>
          <a:p>
            <a:pPr marL="742950" lvl="1" indent="-285750">
              <a:buFont typeface="Arial" panose="020B0604020202020204" pitchFamily="34" charset="0"/>
              <a:buChar char="•"/>
            </a:pPr>
            <a:r>
              <a:rPr lang="en-US" sz="1600" dirty="0"/>
              <a:t>This eliminates the </a:t>
            </a:r>
            <a:r>
              <a:rPr lang="en-US" sz="1600" b="1" dirty="0"/>
              <a:t>overhead</a:t>
            </a:r>
            <a:r>
              <a:rPr lang="en-US" sz="1600" dirty="0"/>
              <a:t> of function call mechanisms (saving time and resources).</a:t>
            </a:r>
          </a:p>
          <a:p>
            <a:pPr marL="742950" lvl="1" indent="-285750">
              <a:buFont typeface="Arial" panose="020B0604020202020204" pitchFamily="34" charset="0"/>
              <a:buChar char="•"/>
            </a:pPr>
            <a:r>
              <a:rPr lang="en-US" sz="1600" dirty="0"/>
              <a:t>Inline functions </a:t>
            </a:r>
            <a:r>
              <a:rPr lang="en-US" sz="1600" b="1" dirty="0"/>
              <a:t>originated</a:t>
            </a:r>
            <a:r>
              <a:rPr lang="en-US" sz="1600" dirty="0"/>
              <a:t> from C's macro feature but provide </a:t>
            </a:r>
            <a:r>
              <a:rPr lang="en-US" sz="1600" b="1" dirty="0"/>
              <a:t>type safety</a:t>
            </a:r>
            <a:r>
              <a:rPr lang="en-US" sz="1600" dirty="0"/>
              <a:t> and better debugging support.</a:t>
            </a:r>
          </a:p>
          <a:p>
            <a:pPr marL="742950" lvl="1" indent="-285750">
              <a:buFont typeface="Arial" panose="020B0604020202020204" pitchFamily="34" charset="0"/>
              <a:buChar char="•"/>
            </a:pPr>
            <a:r>
              <a:rPr lang="en-US" sz="1600" dirty="0"/>
              <a:t>They are particularly useful for </a:t>
            </a:r>
            <a:r>
              <a:rPr lang="en-US" sz="1600" b="1" dirty="0"/>
              <a:t>getter/setter functions</a:t>
            </a:r>
            <a:r>
              <a:rPr lang="en-US" sz="1600" dirty="0"/>
              <a:t>, </a:t>
            </a:r>
            <a:r>
              <a:rPr lang="en-US" sz="1600" b="1" dirty="0"/>
              <a:t>mathematical operations</a:t>
            </a:r>
            <a:r>
              <a:rPr lang="en-US" sz="1600" dirty="0"/>
              <a:t>, and </a:t>
            </a:r>
            <a:r>
              <a:rPr lang="en-US" sz="1600" b="1" dirty="0"/>
              <a:t>small utility functions</a:t>
            </a:r>
            <a:r>
              <a:rPr lang="en-US" sz="1600" dirty="0"/>
              <a:t>.</a:t>
            </a:r>
          </a:p>
          <a:p>
            <a:pPr marL="742950" lvl="1" indent="-285750">
              <a:buFont typeface="Arial" panose="020B0604020202020204" pitchFamily="34" charset="0"/>
              <a:buChar char="•"/>
            </a:pPr>
            <a:r>
              <a:rPr lang="en-US" sz="1600" dirty="0"/>
              <a:t>The inline keyword is only a </a:t>
            </a:r>
            <a:r>
              <a:rPr lang="en-US" sz="1600" b="1" dirty="0"/>
              <a:t>request</a:t>
            </a:r>
            <a:r>
              <a:rPr lang="en-US" sz="1600" dirty="0"/>
              <a:t>, not a command – the compiler may ignore it if the function is too large or complex.</a:t>
            </a:r>
          </a:p>
          <a:p>
            <a:pPr lvl="0"/>
            <a:endParaRPr lang="en-US" sz="1600" b="1" dirty="0"/>
          </a:p>
          <a:p>
            <a:pPr lvl="0"/>
            <a:r>
              <a:rPr lang="en-US" sz="1600" b="1" dirty="0"/>
              <a:t>Potential risks</a:t>
            </a:r>
            <a:r>
              <a:rPr lang="en-US" sz="1600" dirty="0"/>
              <a:t> include:</a:t>
            </a:r>
          </a:p>
          <a:p>
            <a:pPr lvl="1"/>
            <a:r>
              <a:rPr lang="en-US" sz="1600" b="1" dirty="0"/>
              <a:t>Code bloat</a:t>
            </a:r>
            <a:r>
              <a:rPr lang="en-US" sz="1600" dirty="0"/>
              <a:t> – excessive inlining can increase the size of the executable significantly.</a:t>
            </a:r>
          </a:p>
          <a:p>
            <a:pPr lvl="1"/>
            <a:r>
              <a:rPr lang="en-US" sz="1600" b="1" dirty="0"/>
              <a:t>Cache misses</a:t>
            </a:r>
            <a:r>
              <a:rPr lang="en-US" sz="1600" dirty="0"/>
              <a:t> – larger code size may reduce CPU cache efficiency.</a:t>
            </a:r>
          </a:p>
          <a:p>
            <a:pPr lvl="1"/>
            <a:r>
              <a:rPr lang="en-US" sz="1600" b="1" dirty="0"/>
              <a:t>Increased compilation time</a:t>
            </a:r>
            <a:r>
              <a:rPr lang="en-US" sz="1600" dirty="0"/>
              <a:t> – due to repeated expansion of code.</a:t>
            </a:r>
          </a:p>
          <a:p>
            <a:pPr lvl="1"/>
            <a:r>
              <a:rPr lang="en-US" sz="1600" b="1" dirty="0"/>
              <a:t>Debugging difficulty</a:t>
            </a:r>
            <a:r>
              <a:rPr lang="en-US" sz="1600" dirty="0"/>
              <a:t> – as the function call stack may not reflect actual calls.</a:t>
            </a:r>
          </a:p>
          <a:p>
            <a:pPr lvl="1"/>
            <a:r>
              <a:rPr lang="en-US" sz="1600" b="1" dirty="0"/>
              <a:t>Overuse</a:t>
            </a:r>
            <a:r>
              <a:rPr lang="en-US" sz="1600" dirty="0"/>
              <a:t> can lead to </a:t>
            </a:r>
            <a:r>
              <a:rPr lang="en-US" sz="1600" b="1" dirty="0"/>
              <a:t>diminished performance</a:t>
            </a:r>
            <a:r>
              <a:rPr lang="en-US" sz="1600" dirty="0"/>
              <a:t> rather than improvement.</a:t>
            </a:r>
          </a:p>
          <a:p>
            <a:pPr>
              <a:spcAft>
                <a:spcPts val="1200"/>
              </a:spcAft>
              <a:buSzPct val="100000"/>
            </a:pPr>
            <a:endParaRPr lang="en-US" sz="1700" dirty="0"/>
          </a:p>
        </p:txBody>
      </p:sp>
    </p:spTree>
    <p:extLst>
      <p:ext uri="{BB962C8B-B14F-4D97-AF65-F5344CB8AC3E}">
        <p14:creationId xmlns:p14="http://schemas.microsoft.com/office/powerpoint/2010/main" val="20715405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3</a:t>
            </a:r>
            <a:endParaRPr lang="en-US" sz="1400" dirty="0"/>
          </a:p>
        </p:txBody>
      </p:sp>
      <p:sp>
        <p:nvSpPr>
          <p:cNvPr id="3" name="Text 1"/>
          <p:cNvSpPr/>
          <p:nvPr/>
        </p:nvSpPr>
        <p:spPr>
          <a:xfrm>
            <a:off x="548640" y="731520"/>
            <a:ext cx="11091672" cy="54864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Inline Function</a:t>
            </a:r>
            <a:endParaRPr lang="en-US" sz="2200" dirty="0"/>
          </a:p>
        </p:txBody>
      </p:sp>
      <p:sp>
        <p:nvSpPr>
          <p:cNvPr id="4" name="Text 2"/>
          <p:cNvSpPr/>
          <p:nvPr/>
        </p:nvSpPr>
        <p:spPr>
          <a:xfrm>
            <a:off x="548640" y="1417320"/>
            <a:ext cx="11091672" cy="2423740"/>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250" dirty="0">
                <a:solidFill>
                  <a:srgbClr val="000000"/>
                </a:solidFill>
                <a:latin typeface="Courier New" pitchFamily="34" charset="0"/>
                <a:cs typeface="Courier New" pitchFamily="34" charset="-120"/>
              </a:rPr>
              <a:t>#include &lt;iostream&gt;</a:t>
            </a:r>
          </a:p>
          <a:p>
            <a:r>
              <a:rPr lang="en-US" sz="1250" dirty="0">
                <a:solidFill>
                  <a:srgbClr val="000000"/>
                </a:solidFill>
                <a:latin typeface="Courier New" pitchFamily="34" charset="0"/>
                <a:cs typeface="Courier New" pitchFamily="34" charset="-120"/>
              </a:rPr>
              <a:t>using namespace std;</a:t>
            </a:r>
          </a:p>
          <a:p>
            <a:endParaRPr lang="en-US" sz="1250" dirty="0">
              <a:solidFill>
                <a:srgbClr val="000000"/>
              </a:solidFill>
              <a:latin typeface="Courier New" pitchFamily="34" charset="0"/>
              <a:ea typeface="Courier New" pitchFamily="34" charset="-122"/>
              <a:cs typeface="Courier New" pitchFamily="34" charset="-120"/>
            </a:endParaRPr>
          </a:p>
          <a:p>
            <a:r>
              <a:rPr lang="en-US" sz="1250" dirty="0">
                <a:solidFill>
                  <a:srgbClr val="000000"/>
                </a:solidFill>
                <a:latin typeface="Courier New" pitchFamily="34" charset="0"/>
                <a:ea typeface="Courier New" pitchFamily="34" charset="-122"/>
                <a:cs typeface="Courier New" pitchFamily="34" charset="-120"/>
              </a:rPr>
              <a:t>inline int square(int x) {</a:t>
            </a:r>
          </a:p>
          <a:p>
            <a:r>
              <a:rPr lang="en-US" sz="1250" dirty="0">
                <a:solidFill>
                  <a:srgbClr val="000000"/>
                </a:solidFill>
                <a:latin typeface="Courier New" pitchFamily="34" charset="0"/>
                <a:ea typeface="Courier New" pitchFamily="34" charset="-122"/>
                <a:cs typeface="Courier New" pitchFamily="34" charset="-120"/>
              </a:rPr>
              <a:t>    return x * x;</a:t>
            </a:r>
          </a:p>
          <a:p>
            <a:r>
              <a:rPr lang="en-US" sz="1250" dirty="0">
                <a:solidFill>
                  <a:srgbClr val="000000"/>
                </a:solidFill>
                <a:latin typeface="Courier New" pitchFamily="34" charset="0"/>
                <a:ea typeface="Courier New" pitchFamily="34" charset="-122"/>
                <a:cs typeface="Courier New" pitchFamily="34" charset="-120"/>
              </a:rPr>
              <a:t>}</a:t>
            </a:r>
          </a:p>
          <a:p>
            <a:endParaRPr lang="en-US" sz="1250" dirty="0">
              <a:solidFill>
                <a:srgbClr val="000000"/>
              </a:solidFill>
              <a:latin typeface="Courier New" pitchFamily="34" charset="0"/>
              <a:ea typeface="Courier New" pitchFamily="34" charset="-122"/>
              <a:cs typeface="Courier New" pitchFamily="34" charset="-120"/>
            </a:endParaRPr>
          </a:p>
          <a:p>
            <a:r>
              <a:rPr lang="en-US" sz="1250" dirty="0">
                <a:solidFill>
                  <a:srgbClr val="000000"/>
                </a:solidFill>
                <a:latin typeface="Courier New" pitchFamily="34" charset="0"/>
                <a:ea typeface="Courier New" pitchFamily="34" charset="-122"/>
                <a:cs typeface="Courier New" pitchFamily="34" charset="-120"/>
              </a:rPr>
              <a:t>int main() {</a:t>
            </a:r>
          </a:p>
          <a:p>
            <a:r>
              <a:rPr lang="en-US" sz="1250" dirty="0">
                <a:solidFill>
                  <a:srgbClr val="000000"/>
                </a:solidFill>
                <a:latin typeface="Courier New" pitchFamily="34" charset="0"/>
                <a:ea typeface="Courier New" pitchFamily="34" charset="-122"/>
                <a:cs typeface="Courier New" pitchFamily="34" charset="-120"/>
              </a:rPr>
              <a:t>    int result = square(5);  // Compiler may replace this with: int result = 5 * 5;</a:t>
            </a:r>
          </a:p>
          <a:p>
            <a:r>
              <a:rPr lang="en-US" sz="1250" dirty="0">
                <a:solidFill>
                  <a:srgbClr val="000000"/>
                </a:solidFill>
                <a:latin typeface="Courier New" pitchFamily="34" charset="0"/>
                <a:ea typeface="Courier New" pitchFamily="34" charset="-122"/>
                <a:cs typeface="Courier New" pitchFamily="34" charset="-120"/>
              </a:rPr>
              <a:t>    return 0;</a:t>
            </a:r>
          </a:p>
          <a:p>
            <a:r>
              <a:rPr lang="en-US" sz="1250" dirty="0">
                <a:solidFill>
                  <a:srgbClr val="000000"/>
                </a:solidFill>
                <a:latin typeface="Courier New" pitchFamily="34" charset="0"/>
                <a:ea typeface="Courier New" pitchFamily="34" charset="-122"/>
                <a:cs typeface="Courier New" pitchFamily="34" charset="-120"/>
              </a:rPr>
              <a:t>}</a:t>
            </a:r>
            <a:endParaRPr lang="en-US" sz="12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B07DCFC6-A504-9346-DBFA-FDAEFCFA312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571059E-DDAC-3270-A4B9-4F3EC5F885B5}"/>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3 — REVIEW</a:t>
            </a:r>
            <a:endParaRPr lang="en-US" sz="1400" dirty="0"/>
          </a:p>
        </p:txBody>
      </p:sp>
      <p:sp>
        <p:nvSpPr>
          <p:cNvPr id="3" name="Text 1">
            <a:extLst>
              <a:ext uri="{FF2B5EF4-FFF2-40B4-BE49-F238E27FC236}">
                <a16:creationId xmlns:a16="http://schemas.microsoft.com/office/drawing/2014/main" id="{C78C4B0A-713B-B395-90E0-4109A57B5E4E}"/>
              </a:ext>
            </a:extLst>
          </p:cNvPr>
          <p:cNvSpPr/>
          <p:nvPr/>
        </p:nvSpPr>
        <p:spPr>
          <a:xfrm>
            <a:off x="548640" y="731520"/>
            <a:ext cx="11091672" cy="640080"/>
          </a:xfrm>
          <a:prstGeom prst="rect">
            <a:avLst/>
          </a:prstGeom>
          <a:noFill/>
          <a:ln/>
        </p:spPr>
        <p:txBody>
          <a:bodyPr wrap="square" rtlCol="0" anchor="ctr"/>
          <a:lstStyle/>
          <a:p>
            <a:pPr marL="0" indent="0">
              <a:buNone/>
            </a:pPr>
            <a:r>
              <a:rPr lang="en-US" sz="2600" b="1" dirty="0">
                <a:solidFill>
                  <a:srgbClr val="000000"/>
                </a:solidFill>
                <a:latin typeface="Helvetica" pitchFamily="34" charset="0"/>
                <a:ea typeface="Helvetica" pitchFamily="34" charset="-122"/>
                <a:cs typeface="Helvetica" pitchFamily="34" charset="-120"/>
              </a:rPr>
              <a:t>Practice &amp; Exam-style Questions</a:t>
            </a:r>
            <a:endParaRPr lang="en-US" sz="2600" dirty="0"/>
          </a:p>
        </p:txBody>
      </p:sp>
      <p:sp>
        <p:nvSpPr>
          <p:cNvPr id="4" name="Text 2">
            <a:extLst>
              <a:ext uri="{FF2B5EF4-FFF2-40B4-BE49-F238E27FC236}">
                <a16:creationId xmlns:a16="http://schemas.microsoft.com/office/drawing/2014/main" id="{DC5587EA-11CF-EE59-339F-87DBAFBC8920}"/>
              </a:ext>
            </a:extLst>
          </p:cNvPr>
          <p:cNvSpPr/>
          <p:nvPr/>
        </p:nvSpPr>
        <p:spPr>
          <a:xfrm>
            <a:off x="548640" y="1554480"/>
            <a:ext cx="11091672" cy="1774874"/>
          </a:xfrm>
          <a:prstGeom prst="rect">
            <a:avLst/>
          </a:prstGeom>
          <a:noFill/>
          <a:ln/>
        </p:spPr>
        <p:txBody>
          <a:bodyPr wrap="square" rtlCol="0" anchor="t"/>
          <a:lstStyle/>
          <a:p>
            <a:pPr marL="304800" indent="-304800">
              <a:spcAft>
                <a:spcPts val="1400"/>
              </a:spcAft>
              <a:buSzPct val="100000"/>
              <a:buFont typeface="+mj-lt"/>
              <a:buAutoNum type="arabicPeriod"/>
            </a:pPr>
            <a:r>
              <a:rPr lang="en-US" sz="1600" dirty="0">
                <a:solidFill>
                  <a:srgbClr val="000000"/>
                </a:solidFill>
                <a:latin typeface="Helvetica" pitchFamily="34" charset="0"/>
                <a:ea typeface="Helvetica" pitchFamily="34" charset="-122"/>
                <a:cs typeface="Helvetica" pitchFamily="34" charset="-120"/>
              </a:rPr>
              <a:t>What is function overloading? Overload add() for int and float.</a:t>
            </a:r>
            <a:endParaRPr lang="en-US" sz="1600" dirty="0"/>
          </a:p>
          <a:p>
            <a:pPr marL="304800" indent="-304800">
              <a:spcAft>
                <a:spcPts val="1400"/>
              </a:spcAft>
              <a:buSzPct val="100000"/>
              <a:buFont typeface="+mj-lt"/>
              <a:buAutoNum type="arabicPeriod"/>
            </a:pPr>
            <a:r>
              <a:rPr lang="en-US" sz="1600" dirty="0">
                <a:solidFill>
                  <a:srgbClr val="000000"/>
                </a:solidFill>
                <a:latin typeface="Helvetica" pitchFamily="34" charset="0"/>
                <a:ea typeface="Helvetica" pitchFamily="34" charset="-122"/>
                <a:cs typeface="Helvetica" pitchFamily="34" charset="-120"/>
              </a:rPr>
              <a:t>Explain call-by-value vs call-by-reference with an example.</a:t>
            </a:r>
            <a:endParaRPr lang="en-US" sz="1600" dirty="0"/>
          </a:p>
          <a:p>
            <a:pPr marL="304800" indent="-304800">
              <a:spcAft>
                <a:spcPts val="1400"/>
              </a:spcAft>
              <a:buSzPct val="100000"/>
              <a:buFont typeface="+mj-lt"/>
              <a:buAutoNum type="arabicPeriod"/>
            </a:pPr>
            <a:r>
              <a:rPr lang="en-US" sz="1600" dirty="0">
                <a:solidFill>
                  <a:srgbClr val="000000"/>
                </a:solidFill>
                <a:latin typeface="Helvetica" pitchFamily="34" charset="0"/>
                <a:ea typeface="Helvetica" pitchFamily="34" charset="-122"/>
                <a:cs typeface="Helvetica" pitchFamily="34" charset="-120"/>
              </a:rPr>
              <a:t>What are default arguments? Explain the rules.</a:t>
            </a:r>
            <a:endParaRPr lang="en-US" sz="1600" dirty="0"/>
          </a:p>
          <a:p>
            <a:pPr marL="304800" indent="-304800">
              <a:spcAft>
                <a:spcPts val="1400"/>
              </a:spcAft>
              <a:buSzPct val="100000"/>
              <a:buFont typeface="+mj-lt"/>
              <a:buAutoNum type="arabicPeriod"/>
            </a:pPr>
            <a:r>
              <a:rPr lang="en-US" sz="1600" dirty="0">
                <a:solidFill>
                  <a:srgbClr val="000000"/>
                </a:solidFill>
                <a:latin typeface="Helvetica" pitchFamily="34" charset="0"/>
                <a:ea typeface="Helvetica" pitchFamily="34" charset="-122"/>
                <a:cs typeface="Helvetica" pitchFamily="34" charset="-120"/>
              </a:rPr>
              <a:t>Define inline function. Why and when is it used?</a:t>
            </a:r>
            <a:endParaRPr lang="en-US" sz="1600" dirty="0"/>
          </a:p>
        </p:txBody>
      </p:sp>
      <p:sp>
        <p:nvSpPr>
          <p:cNvPr id="6" name="Shape 6">
            <a:extLst>
              <a:ext uri="{FF2B5EF4-FFF2-40B4-BE49-F238E27FC236}">
                <a16:creationId xmlns:a16="http://schemas.microsoft.com/office/drawing/2014/main" id="{5A1F6730-61EB-EEF0-6BFE-28C7532900DB}"/>
              </a:ext>
            </a:extLst>
          </p:cNvPr>
          <p:cNvSpPr/>
          <p:nvPr/>
        </p:nvSpPr>
        <p:spPr>
          <a:xfrm>
            <a:off x="-1524" y="5166360"/>
            <a:ext cx="12192000" cy="1691640"/>
          </a:xfrm>
          <a:prstGeom prst="rect">
            <a:avLst/>
          </a:prstGeom>
          <a:solidFill>
            <a:schemeClr val="tx2">
              <a:lumMod val="75000"/>
            </a:schemeClr>
          </a:solidFill>
          <a:ln/>
        </p:spPr>
        <p:txBody>
          <a:bodyPr/>
          <a:lstStyle/>
          <a:p>
            <a:endParaRPr lang="en-US" dirty="0"/>
          </a:p>
        </p:txBody>
      </p:sp>
      <p:sp>
        <p:nvSpPr>
          <p:cNvPr id="8" name="Text 7">
            <a:extLst>
              <a:ext uri="{FF2B5EF4-FFF2-40B4-BE49-F238E27FC236}">
                <a16:creationId xmlns:a16="http://schemas.microsoft.com/office/drawing/2014/main" id="{9C5CAB32-E5AB-10BC-7DF0-714D714D89E6}"/>
              </a:ext>
            </a:extLst>
          </p:cNvPr>
          <p:cNvSpPr/>
          <p:nvPr/>
        </p:nvSpPr>
        <p:spPr>
          <a:xfrm>
            <a:off x="226692" y="5302347"/>
            <a:ext cx="11514667" cy="320040"/>
          </a:xfrm>
          <a:prstGeom prst="rect">
            <a:avLst/>
          </a:prstGeom>
          <a:noFill/>
          <a:ln/>
        </p:spPr>
        <p:txBody>
          <a:bodyPr wrap="square" rtlCol="0" anchor="ctr"/>
          <a:lstStyle/>
          <a:p>
            <a:pPr marL="0" indent="0">
              <a:buNone/>
            </a:pPr>
            <a:r>
              <a:rPr lang="en-US" sz="1300" b="1" dirty="0">
                <a:solidFill>
                  <a:srgbClr val="FF9999"/>
                </a:solidFill>
                <a:latin typeface="Calibri" pitchFamily="34" charset="0"/>
                <a:ea typeface="Calibri" pitchFamily="34" charset="-122"/>
                <a:cs typeface="Calibri" pitchFamily="34" charset="-120"/>
              </a:rPr>
              <a:t>📋  </a:t>
            </a:r>
            <a:r>
              <a:rPr lang="en-US" sz="1300" b="1" dirty="0">
                <a:solidFill>
                  <a:schemeClr val="bg1">
                    <a:lumMod val="95000"/>
                  </a:schemeClr>
                </a:solidFill>
                <a:latin typeface="Calibri" pitchFamily="34" charset="0"/>
                <a:ea typeface="Calibri" pitchFamily="34" charset="-122"/>
                <a:cs typeface="Calibri" pitchFamily="34" charset="-120"/>
              </a:rPr>
              <a:t>Probable Exam Question</a:t>
            </a:r>
            <a:endParaRPr lang="en-US" sz="1300" dirty="0">
              <a:solidFill>
                <a:schemeClr val="bg1">
                  <a:lumMod val="95000"/>
                </a:schemeClr>
              </a:solidFill>
            </a:endParaRPr>
          </a:p>
        </p:txBody>
      </p:sp>
      <p:sp>
        <p:nvSpPr>
          <p:cNvPr id="10" name="Text 8">
            <a:extLst>
              <a:ext uri="{FF2B5EF4-FFF2-40B4-BE49-F238E27FC236}">
                <a16:creationId xmlns:a16="http://schemas.microsoft.com/office/drawing/2014/main" id="{450291BD-D6E3-BD74-AC69-7C78B244081A}"/>
              </a:ext>
            </a:extLst>
          </p:cNvPr>
          <p:cNvSpPr/>
          <p:nvPr/>
        </p:nvSpPr>
        <p:spPr>
          <a:xfrm>
            <a:off x="226692" y="5668107"/>
            <a:ext cx="11514667" cy="458373"/>
          </a:xfrm>
          <a:prstGeom prst="rect">
            <a:avLst/>
          </a:prstGeom>
          <a:noFill/>
          <a:ln/>
        </p:spPr>
        <p:txBody>
          <a:bodyPr wrap="square" rtlCol="0" anchor="ctr"/>
          <a:lstStyle/>
          <a:p>
            <a:pPr lvl="0"/>
            <a:r>
              <a:rPr lang="en-US" sz="1300" dirty="0">
                <a:solidFill>
                  <a:schemeClr val="bg1">
                    <a:lumMod val="95000"/>
                  </a:schemeClr>
                </a:solidFill>
                <a:latin typeface="Calibri" pitchFamily="34" charset="0"/>
                <a:ea typeface="Calibri" pitchFamily="34" charset="-122"/>
                <a:cs typeface="Calibri" pitchFamily="34" charset="-120"/>
              </a:rPr>
              <a:t>Q1: </a:t>
            </a:r>
            <a:r>
              <a:rPr lang="en-US" sz="1300" dirty="0">
                <a:solidFill>
                  <a:schemeClr val="bg1">
                    <a:lumMod val="95000"/>
                  </a:schemeClr>
                </a:solidFill>
                <a:latin typeface="Calibri" pitchFamily="34" charset="0"/>
                <a:cs typeface="Calibri" pitchFamily="34" charset="-120"/>
              </a:rPr>
              <a:t>What are inline functions? Write a C++ program demonstrating function overloading and default arguments. [PU Exam 2023]</a:t>
            </a:r>
          </a:p>
        </p:txBody>
      </p:sp>
    </p:spTree>
    <p:extLst>
      <p:ext uri="{BB962C8B-B14F-4D97-AF65-F5344CB8AC3E}">
        <p14:creationId xmlns:p14="http://schemas.microsoft.com/office/powerpoint/2010/main" val="12487725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F9C1D-65EF-A952-5EB4-78B842FF166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86FA584-32ED-4C81-A951-8CA1099F1BAE}"/>
              </a:ext>
            </a:extLst>
          </p:cNvPr>
          <p:cNvSpPr/>
          <p:nvPr/>
        </p:nvSpPr>
        <p:spPr>
          <a:xfrm>
            <a:off x="0" y="-3692"/>
            <a:ext cx="12192000" cy="1036320"/>
          </a:xfrm>
          <a:prstGeom prst="rect">
            <a:avLst/>
          </a:prstGeom>
          <a:solidFill>
            <a:schemeClr val="tx2">
              <a:lumMod val="75000"/>
            </a:schemeClr>
          </a:solidFill>
          <a:ln/>
        </p:spPr>
      </p:sp>
      <p:sp>
        <p:nvSpPr>
          <p:cNvPr id="3" name="Text 1">
            <a:extLst>
              <a:ext uri="{FF2B5EF4-FFF2-40B4-BE49-F238E27FC236}">
                <a16:creationId xmlns:a16="http://schemas.microsoft.com/office/drawing/2014/main" id="{230342AE-12CE-C9A3-3EB6-C5055696CD3F}"/>
              </a:ext>
            </a:extLst>
          </p:cNvPr>
          <p:cNvSpPr/>
          <p:nvPr/>
        </p:nvSpPr>
        <p:spPr>
          <a:xfrm>
            <a:off x="365760" y="57268"/>
            <a:ext cx="11460480" cy="792480"/>
          </a:xfrm>
          <a:prstGeom prst="rect">
            <a:avLst/>
          </a:prstGeom>
          <a:noFill/>
          <a:ln/>
        </p:spPr>
        <p:txBody>
          <a:bodyPr wrap="square" rtlCol="0" anchor="ctr"/>
          <a:lstStyle/>
          <a:p>
            <a:r>
              <a:rPr lang="en-US" sz="2933" b="1" dirty="0">
                <a:solidFill>
                  <a:srgbClr val="F4A01C"/>
                </a:solidFill>
                <a:latin typeface="Calibri" pitchFamily="34" charset="0"/>
                <a:ea typeface="Calibri" pitchFamily="34" charset="-122"/>
                <a:cs typeface="Calibri" pitchFamily="34" charset="-120"/>
              </a:rPr>
              <a:t>Lab Work</a:t>
            </a:r>
            <a:endParaRPr lang="en-US" sz="2933" dirty="0"/>
          </a:p>
        </p:txBody>
      </p:sp>
      <p:sp>
        <p:nvSpPr>
          <p:cNvPr id="4" name="Shape 2">
            <a:extLst>
              <a:ext uri="{FF2B5EF4-FFF2-40B4-BE49-F238E27FC236}">
                <a16:creationId xmlns:a16="http://schemas.microsoft.com/office/drawing/2014/main" id="{B9DD8B7C-CF43-BB68-08E6-251A5C1C274A}"/>
              </a:ext>
            </a:extLst>
          </p:cNvPr>
          <p:cNvSpPr/>
          <p:nvPr/>
        </p:nvSpPr>
        <p:spPr>
          <a:xfrm>
            <a:off x="609600" y="1071423"/>
            <a:ext cx="10972800" cy="5346700"/>
          </a:xfrm>
          <a:prstGeom prst="roundRect">
            <a:avLst>
              <a:gd name="adj" fmla="val 12014"/>
            </a:avLst>
          </a:prstGeom>
          <a:solidFill>
            <a:srgbClr val="2C3E50"/>
          </a:solidFill>
          <a:ln/>
        </p:spPr>
      </p:sp>
      <p:sp>
        <p:nvSpPr>
          <p:cNvPr id="5" name="Text 3">
            <a:extLst>
              <a:ext uri="{FF2B5EF4-FFF2-40B4-BE49-F238E27FC236}">
                <a16:creationId xmlns:a16="http://schemas.microsoft.com/office/drawing/2014/main" id="{78B36BCA-82A5-52EF-723A-CB8C911AE8D1}"/>
              </a:ext>
            </a:extLst>
          </p:cNvPr>
          <p:cNvSpPr/>
          <p:nvPr/>
        </p:nvSpPr>
        <p:spPr>
          <a:xfrm>
            <a:off x="853440" y="1230288"/>
            <a:ext cx="975360" cy="975360"/>
          </a:xfrm>
          <a:prstGeom prst="rect">
            <a:avLst/>
          </a:prstGeom>
          <a:noFill/>
          <a:ln/>
        </p:spPr>
        <p:txBody>
          <a:bodyPr wrap="square" rtlCol="0" anchor="ctr"/>
          <a:lstStyle/>
          <a:p>
            <a:endParaRPr lang="en-US" sz="4267" dirty="0"/>
          </a:p>
        </p:txBody>
      </p:sp>
      <p:sp>
        <p:nvSpPr>
          <p:cNvPr id="7" name="Text 5">
            <a:extLst>
              <a:ext uri="{FF2B5EF4-FFF2-40B4-BE49-F238E27FC236}">
                <a16:creationId xmlns:a16="http://schemas.microsoft.com/office/drawing/2014/main" id="{7414ACAB-A60A-3DF7-D6CA-04A98BEDAA72}"/>
              </a:ext>
            </a:extLst>
          </p:cNvPr>
          <p:cNvSpPr/>
          <p:nvPr/>
        </p:nvSpPr>
        <p:spPr>
          <a:xfrm>
            <a:off x="1033781" y="1538778"/>
            <a:ext cx="10304780" cy="3200400"/>
          </a:xfrm>
          <a:prstGeom prst="rect">
            <a:avLst/>
          </a:prstGeom>
          <a:noFill/>
          <a:ln/>
        </p:spPr>
        <p:txBody>
          <a:bodyPr wrap="square" rtlCol="0" anchor="ctr"/>
          <a:lstStyle/>
          <a:p>
            <a:endParaRPr lang="en-US" sz="1867" i="1" dirty="0">
              <a:solidFill>
                <a:srgbClr val="CCDDEE"/>
              </a:solidFill>
              <a:latin typeface="Calibri" pitchFamily="34" charset="0"/>
              <a:cs typeface="Calibri" pitchFamily="34" charset="-120"/>
            </a:endParaRPr>
          </a:p>
          <a:p>
            <a:endParaRPr lang="en-US" sz="1867" i="1" dirty="0">
              <a:solidFill>
                <a:srgbClr val="CCDDEE"/>
              </a:solidFill>
              <a:latin typeface="Calibri" pitchFamily="34" charset="0"/>
              <a:cs typeface="Calibri" pitchFamily="34" charset="-120"/>
            </a:endParaRPr>
          </a:p>
          <a:p>
            <a:endParaRPr lang="en-US" sz="1867" i="1" dirty="0">
              <a:solidFill>
                <a:srgbClr val="CCDDEE"/>
              </a:solidFill>
              <a:latin typeface="Calibri" pitchFamily="34" charset="0"/>
              <a:cs typeface="Calibri" pitchFamily="34" charset="-120"/>
            </a:endParaRPr>
          </a:p>
          <a:p>
            <a:endParaRPr lang="en-US" sz="1867" i="1" dirty="0">
              <a:solidFill>
                <a:srgbClr val="CCDDEE"/>
              </a:solidFill>
              <a:latin typeface="Calibri" pitchFamily="34" charset="0"/>
              <a:cs typeface="Calibri" pitchFamily="34" charset="-120"/>
            </a:endParaRPr>
          </a:p>
          <a:p>
            <a:endParaRPr lang="en-US" sz="1867" i="1" dirty="0">
              <a:solidFill>
                <a:srgbClr val="CCDDEE"/>
              </a:solidFill>
              <a:latin typeface="Calibri" pitchFamily="34" charset="0"/>
              <a:cs typeface="Calibri" pitchFamily="34" charset="-120"/>
            </a:endParaRPr>
          </a:p>
          <a:p>
            <a:r>
              <a:rPr lang="en-US" sz="1867" b="1" i="1" dirty="0">
                <a:solidFill>
                  <a:srgbClr val="CCDDEE"/>
                </a:solidFill>
                <a:latin typeface="Calibri" pitchFamily="34" charset="0"/>
                <a:cs typeface="Calibri" pitchFamily="34" charset="-120"/>
              </a:rPr>
              <a:t>Scenario 1:Smart Calculator</a:t>
            </a:r>
          </a:p>
          <a:p>
            <a:endParaRPr lang="en-US" sz="1867" b="1" i="1" dirty="0">
              <a:solidFill>
                <a:srgbClr val="CCDDEE"/>
              </a:solidFill>
              <a:latin typeface="Calibri" pitchFamily="34" charset="0"/>
              <a:cs typeface="Calibri" pitchFamily="34" charset="-120"/>
            </a:endParaRPr>
          </a:p>
          <a:p>
            <a:r>
              <a:rPr lang="en-US" sz="1867" b="1" i="1" dirty="0">
                <a:solidFill>
                  <a:srgbClr val="CCDDEE"/>
                </a:solidFill>
                <a:latin typeface="Calibri" pitchFamily="34" charset="0"/>
                <a:cs typeface="Calibri" pitchFamily="34" charset="-120"/>
              </a:rPr>
              <a:t>Problem Statement</a:t>
            </a:r>
          </a:p>
          <a:p>
            <a:r>
              <a:rPr lang="en-US" sz="1867" i="1" dirty="0">
                <a:solidFill>
                  <a:srgbClr val="CCDDEE"/>
                </a:solidFill>
                <a:latin typeface="Calibri" pitchFamily="34" charset="0"/>
                <a:cs typeface="Calibri" pitchFamily="34" charset="-120"/>
              </a:rPr>
              <a:t>Develop a calculator program that can perform addition on different types of inputs.</a:t>
            </a:r>
          </a:p>
          <a:p>
            <a:r>
              <a:rPr lang="en-US" sz="1867" i="1" dirty="0">
                <a:solidFill>
                  <a:srgbClr val="CCDDEE"/>
                </a:solidFill>
                <a:latin typeface="Calibri" pitchFamily="34" charset="0"/>
                <a:cs typeface="Calibri" pitchFamily="34" charset="-120"/>
              </a:rPr>
              <a:t>Requirements</a:t>
            </a:r>
          </a:p>
          <a:p>
            <a:r>
              <a:rPr lang="en-US" sz="1867" i="1" dirty="0">
                <a:solidFill>
                  <a:srgbClr val="CCDDEE"/>
                </a:solidFill>
                <a:latin typeface="Calibri" pitchFamily="34" charset="0"/>
                <a:cs typeface="Calibri" pitchFamily="34" charset="-120"/>
              </a:rPr>
              <a:t>Create overloaded functions named add() for: </a:t>
            </a:r>
          </a:p>
          <a:p>
            <a:pPr marL="990575" lvl="1" indent="-380990">
              <a:buFont typeface="Arial" panose="020B0604020202020204" pitchFamily="34" charset="0"/>
              <a:buChar char="•"/>
            </a:pPr>
            <a:r>
              <a:rPr lang="en-US" sz="1867" i="1" dirty="0">
                <a:solidFill>
                  <a:srgbClr val="CCDDEE"/>
                </a:solidFill>
                <a:latin typeface="Calibri" pitchFamily="34" charset="0"/>
                <a:cs typeface="Calibri" pitchFamily="34" charset="-120"/>
              </a:rPr>
              <a:t>Two integers </a:t>
            </a:r>
          </a:p>
          <a:p>
            <a:pPr marL="990575" lvl="1" indent="-380990">
              <a:buFont typeface="Arial" panose="020B0604020202020204" pitchFamily="34" charset="0"/>
              <a:buChar char="•"/>
            </a:pPr>
            <a:r>
              <a:rPr lang="en-US" sz="1867" i="1" dirty="0">
                <a:solidFill>
                  <a:srgbClr val="CCDDEE"/>
                </a:solidFill>
                <a:latin typeface="Calibri" pitchFamily="34" charset="0"/>
                <a:cs typeface="Calibri" pitchFamily="34" charset="-120"/>
              </a:rPr>
              <a:t>Two floating-point numbers </a:t>
            </a:r>
          </a:p>
          <a:p>
            <a:pPr marL="990575" lvl="1" indent="-380990">
              <a:buFont typeface="Arial" panose="020B0604020202020204" pitchFamily="34" charset="0"/>
              <a:buChar char="•"/>
            </a:pPr>
            <a:r>
              <a:rPr lang="en-US" sz="1867" i="1" dirty="0">
                <a:solidFill>
                  <a:srgbClr val="CCDDEE"/>
                </a:solidFill>
                <a:latin typeface="Calibri" pitchFamily="34" charset="0"/>
                <a:cs typeface="Calibri" pitchFamily="34" charset="-120"/>
              </a:rPr>
              <a:t>Three integers </a:t>
            </a:r>
          </a:p>
          <a:p>
            <a:r>
              <a:rPr lang="en-US" sz="1867" i="1" dirty="0">
                <a:solidFill>
                  <a:srgbClr val="CCDDEE"/>
                </a:solidFill>
                <a:latin typeface="Calibri" pitchFamily="34" charset="0"/>
                <a:cs typeface="Calibri" pitchFamily="34" charset="-120"/>
              </a:rPr>
              <a:t>Create an inline function square() that returns the square of a number. </a:t>
            </a:r>
          </a:p>
          <a:p>
            <a:r>
              <a:rPr lang="en-US" sz="1867" i="1" dirty="0">
                <a:solidFill>
                  <a:srgbClr val="CCDDEE"/>
                </a:solidFill>
                <a:latin typeface="Calibri" pitchFamily="34" charset="0"/>
                <a:cs typeface="Calibri" pitchFamily="34" charset="-120"/>
              </a:rPr>
              <a:t>Display the result of each operation. </a:t>
            </a:r>
          </a:p>
          <a:p>
            <a:endParaRPr lang="en-US" sz="1867" i="1" dirty="0">
              <a:solidFill>
                <a:srgbClr val="CCDDEE"/>
              </a:solidFill>
              <a:latin typeface="Calibri" pitchFamily="34" charset="0"/>
              <a:cs typeface="Calibri" pitchFamily="34" charset="-120"/>
            </a:endParaRPr>
          </a:p>
          <a:p>
            <a:r>
              <a:rPr lang="en-US" sz="1867" i="1" dirty="0">
                <a:solidFill>
                  <a:srgbClr val="CCDDEE"/>
                </a:solidFill>
                <a:latin typeface="Calibri" pitchFamily="34" charset="0"/>
                <a:cs typeface="Calibri" pitchFamily="34" charset="-120"/>
              </a:rPr>
              <a:t>Concepts needed to implement</a:t>
            </a:r>
          </a:p>
          <a:p>
            <a:pPr marL="990575" lvl="1" indent="-380990">
              <a:buFont typeface="Arial" panose="020B0604020202020204" pitchFamily="34" charset="0"/>
              <a:buChar char="•"/>
            </a:pPr>
            <a:r>
              <a:rPr lang="en-US" sz="1867" i="1" dirty="0">
                <a:solidFill>
                  <a:srgbClr val="CCDDEE"/>
                </a:solidFill>
                <a:latin typeface="Calibri" pitchFamily="34" charset="0"/>
                <a:cs typeface="Calibri" pitchFamily="34" charset="-120"/>
              </a:rPr>
              <a:t>Function Overloading </a:t>
            </a:r>
          </a:p>
          <a:p>
            <a:pPr marL="990575" lvl="1" indent="-380990">
              <a:buFont typeface="Arial" panose="020B0604020202020204" pitchFamily="34" charset="0"/>
              <a:buChar char="•"/>
            </a:pPr>
            <a:r>
              <a:rPr lang="en-US" sz="1867" i="1" dirty="0">
                <a:solidFill>
                  <a:srgbClr val="CCDDEE"/>
                </a:solidFill>
                <a:latin typeface="Calibri" pitchFamily="34" charset="0"/>
                <a:cs typeface="Calibri" pitchFamily="34" charset="-120"/>
              </a:rPr>
              <a:t>Inline Function </a:t>
            </a:r>
          </a:p>
          <a:p>
            <a:pPr marL="990575" lvl="1" indent="-380990">
              <a:buFont typeface="Arial" panose="020B0604020202020204" pitchFamily="34" charset="0"/>
              <a:buChar char="•"/>
            </a:pPr>
            <a:r>
              <a:rPr lang="en-US" sz="1867" i="1" dirty="0">
                <a:solidFill>
                  <a:srgbClr val="CCDDEE"/>
                </a:solidFill>
                <a:latin typeface="Calibri" pitchFamily="34" charset="0"/>
                <a:cs typeface="Calibri" pitchFamily="34" charset="-120"/>
              </a:rPr>
              <a:t>Basic Arithmetic Operations</a:t>
            </a:r>
          </a:p>
          <a:p>
            <a:endParaRPr lang="en-US" sz="1867" i="1" dirty="0">
              <a:solidFill>
                <a:srgbClr val="CCDDEE"/>
              </a:solidFill>
              <a:latin typeface="Calibri" pitchFamily="34" charset="0"/>
              <a:cs typeface="Calibri" pitchFamily="34" charset="-120"/>
            </a:endParaRPr>
          </a:p>
        </p:txBody>
      </p:sp>
      <p:sp>
        <p:nvSpPr>
          <p:cNvPr id="11" name="Shape 9">
            <a:extLst>
              <a:ext uri="{FF2B5EF4-FFF2-40B4-BE49-F238E27FC236}">
                <a16:creationId xmlns:a16="http://schemas.microsoft.com/office/drawing/2014/main" id="{1EA910C0-F9C1-D858-B435-E3F71EC62EBE}"/>
              </a:ext>
            </a:extLst>
          </p:cNvPr>
          <p:cNvSpPr/>
          <p:nvPr/>
        </p:nvSpPr>
        <p:spPr>
          <a:xfrm>
            <a:off x="0" y="6461760"/>
            <a:ext cx="12192000" cy="396240"/>
          </a:xfrm>
          <a:prstGeom prst="rect">
            <a:avLst/>
          </a:prstGeom>
          <a:solidFill>
            <a:schemeClr val="tx2">
              <a:lumMod val="75000"/>
            </a:schemeClr>
          </a:solidFill>
          <a:ln/>
        </p:spPr>
      </p:sp>
    </p:spTree>
    <p:extLst>
      <p:ext uri="{BB962C8B-B14F-4D97-AF65-F5344CB8AC3E}">
        <p14:creationId xmlns:p14="http://schemas.microsoft.com/office/powerpoint/2010/main" val="14693123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505DA-496F-3530-5E72-26ED7EC3D25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62E08CD-F85C-B389-7EF0-5CA58D081AD0}"/>
              </a:ext>
            </a:extLst>
          </p:cNvPr>
          <p:cNvSpPr/>
          <p:nvPr/>
        </p:nvSpPr>
        <p:spPr>
          <a:xfrm>
            <a:off x="0" y="-3692"/>
            <a:ext cx="12192000" cy="1036320"/>
          </a:xfrm>
          <a:prstGeom prst="rect">
            <a:avLst/>
          </a:prstGeom>
          <a:solidFill>
            <a:schemeClr val="tx2">
              <a:lumMod val="75000"/>
            </a:schemeClr>
          </a:solidFill>
          <a:ln/>
        </p:spPr>
      </p:sp>
      <p:sp>
        <p:nvSpPr>
          <p:cNvPr id="3" name="Text 1">
            <a:extLst>
              <a:ext uri="{FF2B5EF4-FFF2-40B4-BE49-F238E27FC236}">
                <a16:creationId xmlns:a16="http://schemas.microsoft.com/office/drawing/2014/main" id="{3C049B18-7486-574F-902A-8B87F8333BA8}"/>
              </a:ext>
            </a:extLst>
          </p:cNvPr>
          <p:cNvSpPr/>
          <p:nvPr/>
        </p:nvSpPr>
        <p:spPr>
          <a:xfrm>
            <a:off x="365760" y="57268"/>
            <a:ext cx="11460480" cy="792480"/>
          </a:xfrm>
          <a:prstGeom prst="rect">
            <a:avLst/>
          </a:prstGeom>
          <a:noFill/>
          <a:ln/>
        </p:spPr>
        <p:txBody>
          <a:bodyPr wrap="square" rtlCol="0" anchor="ctr"/>
          <a:lstStyle/>
          <a:p>
            <a:r>
              <a:rPr lang="en-US" sz="2933" b="1" dirty="0">
                <a:solidFill>
                  <a:srgbClr val="F4A01C"/>
                </a:solidFill>
                <a:latin typeface="Calibri" pitchFamily="34" charset="0"/>
                <a:ea typeface="Calibri" pitchFamily="34" charset="-122"/>
                <a:cs typeface="Calibri" pitchFamily="34" charset="-120"/>
              </a:rPr>
              <a:t>Lab Work</a:t>
            </a:r>
            <a:endParaRPr lang="en-US" sz="2933" dirty="0"/>
          </a:p>
        </p:txBody>
      </p:sp>
      <p:sp>
        <p:nvSpPr>
          <p:cNvPr id="4" name="Shape 2">
            <a:extLst>
              <a:ext uri="{FF2B5EF4-FFF2-40B4-BE49-F238E27FC236}">
                <a16:creationId xmlns:a16="http://schemas.microsoft.com/office/drawing/2014/main" id="{59BE706D-2CA3-85CF-5554-8180FD0BE0CB}"/>
              </a:ext>
            </a:extLst>
          </p:cNvPr>
          <p:cNvSpPr/>
          <p:nvPr/>
        </p:nvSpPr>
        <p:spPr>
          <a:xfrm>
            <a:off x="609600" y="1071423"/>
            <a:ext cx="10972800" cy="5346700"/>
          </a:xfrm>
          <a:prstGeom prst="roundRect">
            <a:avLst>
              <a:gd name="adj" fmla="val 12014"/>
            </a:avLst>
          </a:prstGeom>
          <a:solidFill>
            <a:srgbClr val="2C3E50"/>
          </a:solidFill>
          <a:ln/>
        </p:spPr>
      </p:sp>
      <p:sp>
        <p:nvSpPr>
          <p:cNvPr id="5" name="Text 3">
            <a:extLst>
              <a:ext uri="{FF2B5EF4-FFF2-40B4-BE49-F238E27FC236}">
                <a16:creationId xmlns:a16="http://schemas.microsoft.com/office/drawing/2014/main" id="{54ECC6DD-2A84-BF1F-A972-989C55C2311E}"/>
              </a:ext>
            </a:extLst>
          </p:cNvPr>
          <p:cNvSpPr/>
          <p:nvPr/>
        </p:nvSpPr>
        <p:spPr>
          <a:xfrm>
            <a:off x="853440" y="1230288"/>
            <a:ext cx="975360" cy="975360"/>
          </a:xfrm>
          <a:prstGeom prst="rect">
            <a:avLst/>
          </a:prstGeom>
          <a:noFill/>
          <a:ln/>
        </p:spPr>
        <p:txBody>
          <a:bodyPr wrap="square" rtlCol="0" anchor="ctr"/>
          <a:lstStyle/>
          <a:p>
            <a:endParaRPr lang="en-US" sz="4267" dirty="0"/>
          </a:p>
        </p:txBody>
      </p:sp>
      <p:sp>
        <p:nvSpPr>
          <p:cNvPr id="7" name="Text 5">
            <a:extLst>
              <a:ext uri="{FF2B5EF4-FFF2-40B4-BE49-F238E27FC236}">
                <a16:creationId xmlns:a16="http://schemas.microsoft.com/office/drawing/2014/main" id="{EF933E89-BB60-8439-4062-73640C61DA84}"/>
              </a:ext>
            </a:extLst>
          </p:cNvPr>
          <p:cNvSpPr/>
          <p:nvPr/>
        </p:nvSpPr>
        <p:spPr>
          <a:xfrm>
            <a:off x="1033781" y="1536192"/>
            <a:ext cx="10304780" cy="3200400"/>
          </a:xfrm>
          <a:prstGeom prst="rect">
            <a:avLst/>
          </a:prstGeom>
          <a:noFill/>
          <a:ln/>
        </p:spPr>
        <p:txBody>
          <a:bodyPr wrap="square" rtlCol="0" anchor="ctr"/>
          <a:lstStyle/>
          <a:p>
            <a:endParaRPr lang="en-US" sz="1867" i="1" dirty="0">
              <a:solidFill>
                <a:srgbClr val="CCDDEE"/>
              </a:solidFill>
              <a:latin typeface="Calibri" pitchFamily="34" charset="0"/>
              <a:cs typeface="Calibri" pitchFamily="34" charset="-120"/>
            </a:endParaRPr>
          </a:p>
          <a:p>
            <a:endParaRPr lang="en-US" sz="1867" i="1" dirty="0">
              <a:solidFill>
                <a:srgbClr val="CCDDEE"/>
              </a:solidFill>
              <a:latin typeface="Calibri" pitchFamily="34" charset="0"/>
              <a:cs typeface="Calibri" pitchFamily="34" charset="-120"/>
            </a:endParaRPr>
          </a:p>
          <a:p>
            <a:endParaRPr lang="en-US" sz="1867" i="1" dirty="0">
              <a:solidFill>
                <a:srgbClr val="CCDDEE"/>
              </a:solidFill>
              <a:latin typeface="Calibri" pitchFamily="34" charset="0"/>
              <a:cs typeface="Calibri" pitchFamily="34" charset="-120"/>
            </a:endParaRPr>
          </a:p>
          <a:p>
            <a:endParaRPr lang="en-US" sz="1867" i="1" dirty="0">
              <a:solidFill>
                <a:srgbClr val="CCDDEE"/>
              </a:solidFill>
              <a:latin typeface="Calibri" pitchFamily="34" charset="0"/>
              <a:cs typeface="Calibri" pitchFamily="34" charset="-120"/>
            </a:endParaRPr>
          </a:p>
          <a:p>
            <a:endParaRPr lang="en-US" sz="1867" i="1" dirty="0">
              <a:solidFill>
                <a:srgbClr val="CCDDEE"/>
              </a:solidFill>
              <a:latin typeface="Calibri" pitchFamily="34" charset="0"/>
              <a:cs typeface="Calibri" pitchFamily="34" charset="-120"/>
            </a:endParaRPr>
          </a:p>
          <a:p>
            <a:r>
              <a:rPr lang="en-US" sz="1867" b="1" i="1" dirty="0">
                <a:solidFill>
                  <a:srgbClr val="CCDDEE"/>
                </a:solidFill>
                <a:latin typeface="Calibri" pitchFamily="34" charset="0"/>
                <a:cs typeface="Calibri" pitchFamily="34" charset="-120"/>
              </a:rPr>
              <a:t>Scenario 2: Employee Salary Management</a:t>
            </a:r>
          </a:p>
          <a:p>
            <a:endParaRPr lang="en-US" sz="1867" i="1" dirty="0">
              <a:solidFill>
                <a:srgbClr val="CCDDEE"/>
              </a:solidFill>
              <a:latin typeface="Calibri" pitchFamily="34" charset="0"/>
              <a:cs typeface="Calibri" pitchFamily="34" charset="-120"/>
            </a:endParaRPr>
          </a:p>
          <a:p>
            <a:r>
              <a:rPr lang="en-US" sz="1867" b="1" i="1" dirty="0">
                <a:solidFill>
                  <a:srgbClr val="CCDDEE"/>
                </a:solidFill>
                <a:latin typeface="Calibri" pitchFamily="34" charset="0"/>
                <a:cs typeface="Calibri" pitchFamily="34" charset="-120"/>
              </a:rPr>
              <a:t>Problem Statement</a:t>
            </a:r>
          </a:p>
          <a:p>
            <a:r>
              <a:rPr lang="en-US" sz="1867" i="1" dirty="0">
                <a:solidFill>
                  <a:srgbClr val="CCDDEE"/>
                </a:solidFill>
                <a:latin typeface="Calibri" pitchFamily="34" charset="0"/>
                <a:cs typeface="Calibri" pitchFamily="34" charset="-120"/>
              </a:rPr>
              <a:t>A company wants a salary calculation system for different categories of employees.</a:t>
            </a:r>
          </a:p>
          <a:p>
            <a:r>
              <a:rPr lang="en-US" sz="1867" i="1" dirty="0">
                <a:solidFill>
                  <a:srgbClr val="CCDDEE"/>
                </a:solidFill>
                <a:latin typeface="Calibri" pitchFamily="34" charset="0"/>
                <a:cs typeface="Calibri" pitchFamily="34" charset="-120"/>
              </a:rPr>
              <a:t>Requirements</a:t>
            </a:r>
          </a:p>
          <a:p>
            <a:r>
              <a:rPr lang="en-US" sz="1867" i="1" dirty="0">
                <a:solidFill>
                  <a:srgbClr val="CCDDEE"/>
                </a:solidFill>
                <a:latin typeface="Calibri" pitchFamily="34" charset="0"/>
                <a:cs typeface="Calibri" pitchFamily="34" charset="-120"/>
              </a:rPr>
              <a:t>Overload a function </a:t>
            </a:r>
            <a:r>
              <a:rPr lang="en-US" sz="1867" i="1" dirty="0" err="1">
                <a:solidFill>
                  <a:srgbClr val="CCDDEE"/>
                </a:solidFill>
                <a:latin typeface="Calibri" pitchFamily="34" charset="0"/>
                <a:cs typeface="Calibri" pitchFamily="34" charset="-120"/>
              </a:rPr>
              <a:t>calculateSalary</a:t>
            </a:r>
            <a:r>
              <a:rPr lang="en-US" sz="1867" i="1" dirty="0">
                <a:solidFill>
                  <a:srgbClr val="CCDDEE"/>
                </a:solidFill>
                <a:latin typeface="Calibri" pitchFamily="34" charset="0"/>
                <a:cs typeface="Calibri" pitchFamily="34" charset="-120"/>
              </a:rPr>
              <a:t>() for: </a:t>
            </a:r>
          </a:p>
          <a:p>
            <a:pPr marL="990575" lvl="1" indent="-380990">
              <a:buFont typeface="Arial" panose="020B0604020202020204" pitchFamily="34" charset="0"/>
              <a:buChar char="•"/>
            </a:pPr>
            <a:r>
              <a:rPr lang="en-US" sz="1867" i="1" dirty="0">
                <a:solidFill>
                  <a:srgbClr val="CCDDEE"/>
                </a:solidFill>
                <a:latin typeface="Calibri" pitchFamily="34" charset="0"/>
                <a:cs typeface="Calibri" pitchFamily="34" charset="-120"/>
              </a:rPr>
              <a:t>Full-time employee (basic salary) </a:t>
            </a:r>
          </a:p>
          <a:p>
            <a:pPr marL="990575" lvl="1" indent="-380990">
              <a:buFont typeface="Arial" panose="020B0604020202020204" pitchFamily="34" charset="0"/>
              <a:buChar char="•"/>
            </a:pPr>
            <a:r>
              <a:rPr lang="en-US" sz="1867" i="1" dirty="0">
                <a:solidFill>
                  <a:srgbClr val="CCDDEE"/>
                </a:solidFill>
                <a:latin typeface="Calibri" pitchFamily="34" charset="0"/>
                <a:cs typeface="Calibri" pitchFamily="34" charset="-120"/>
              </a:rPr>
              <a:t>Employee with bonus </a:t>
            </a:r>
          </a:p>
          <a:p>
            <a:pPr marL="990575" lvl="1" indent="-380990">
              <a:buFont typeface="Arial" panose="020B0604020202020204" pitchFamily="34" charset="0"/>
              <a:buChar char="•"/>
            </a:pPr>
            <a:r>
              <a:rPr lang="en-US" sz="1867" i="1" dirty="0">
                <a:solidFill>
                  <a:srgbClr val="CCDDEE"/>
                </a:solidFill>
                <a:latin typeface="Calibri" pitchFamily="34" charset="0"/>
                <a:cs typeface="Calibri" pitchFamily="34" charset="-120"/>
              </a:rPr>
              <a:t>Employee with bonus and overtime </a:t>
            </a:r>
          </a:p>
          <a:p>
            <a:r>
              <a:rPr lang="en-US" sz="1867" i="1" dirty="0">
                <a:solidFill>
                  <a:srgbClr val="CCDDEE"/>
                </a:solidFill>
                <a:latin typeface="Calibri" pitchFamily="34" charset="0"/>
                <a:cs typeface="Calibri" pitchFamily="34" charset="-120"/>
              </a:rPr>
              <a:t>Create an inline function </a:t>
            </a:r>
            <a:r>
              <a:rPr lang="en-US" sz="1867" i="1" dirty="0" err="1">
                <a:solidFill>
                  <a:srgbClr val="CCDDEE"/>
                </a:solidFill>
                <a:latin typeface="Calibri" pitchFamily="34" charset="0"/>
                <a:cs typeface="Calibri" pitchFamily="34" charset="-120"/>
              </a:rPr>
              <a:t>taxDeduction</a:t>
            </a:r>
            <a:r>
              <a:rPr lang="en-US" sz="1867" i="1" dirty="0">
                <a:solidFill>
                  <a:srgbClr val="CCDDEE"/>
                </a:solidFill>
                <a:latin typeface="Calibri" pitchFamily="34" charset="0"/>
                <a:cs typeface="Calibri" pitchFamily="34" charset="-120"/>
              </a:rPr>
              <a:t>() that calculates 10% tax. </a:t>
            </a:r>
          </a:p>
          <a:p>
            <a:r>
              <a:rPr lang="en-US" sz="1867" i="1" dirty="0">
                <a:solidFill>
                  <a:srgbClr val="CCDDEE"/>
                </a:solidFill>
                <a:latin typeface="Calibri" pitchFamily="34" charset="0"/>
                <a:cs typeface="Calibri" pitchFamily="34" charset="-120"/>
              </a:rPr>
              <a:t>Display gross salary and net salary. </a:t>
            </a:r>
          </a:p>
          <a:p>
            <a:r>
              <a:rPr lang="en-US" sz="1867" b="1" i="1" dirty="0">
                <a:solidFill>
                  <a:srgbClr val="CCDDEE"/>
                </a:solidFill>
                <a:latin typeface="Calibri" pitchFamily="34" charset="0"/>
                <a:cs typeface="Calibri" pitchFamily="34" charset="-120"/>
              </a:rPr>
              <a:t>Concepts  needed to implement</a:t>
            </a:r>
          </a:p>
          <a:p>
            <a:pPr marL="990575" lvl="1" indent="-380990">
              <a:buFont typeface="Arial" panose="020B0604020202020204" pitchFamily="34" charset="0"/>
              <a:buChar char="•"/>
            </a:pPr>
            <a:r>
              <a:rPr lang="en-US" sz="1867" i="1" dirty="0">
                <a:solidFill>
                  <a:srgbClr val="CCDDEE"/>
                </a:solidFill>
                <a:latin typeface="Calibri" pitchFamily="34" charset="0"/>
                <a:cs typeface="Calibri" pitchFamily="34" charset="-120"/>
              </a:rPr>
              <a:t>Function Overloading with different parameter lists </a:t>
            </a:r>
          </a:p>
          <a:p>
            <a:pPr marL="990575" lvl="1" indent="-380990">
              <a:buFont typeface="Arial" panose="020B0604020202020204" pitchFamily="34" charset="0"/>
              <a:buChar char="•"/>
            </a:pPr>
            <a:r>
              <a:rPr lang="en-US" sz="1867" i="1" dirty="0">
                <a:solidFill>
                  <a:srgbClr val="CCDDEE"/>
                </a:solidFill>
                <a:latin typeface="Calibri" pitchFamily="34" charset="0"/>
                <a:cs typeface="Calibri" pitchFamily="34" charset="-120"/>
              </a:rPr>
              <a:t>Inline Functions </a:t>
            </a:r>
          </a:p>
          <a:p>
            <a:pPr marL="990575" lvl="1" indent="-380990">
              <a:buFont typeface="Arial" panose="020B0604020202020204" pitchFamily="34" charset="0"/>
              <a:buChar char="•"/>
            </a:pPr>
            <a:r>
              <a:rPr lang="en-US" sz="1867" i="1" dirty="0">
                <a:solidFill>
                  <a:srgbClr val="CCDDEE"/>
                </a:solidFill>
                <a:latin typeface="Calibri" pitchFamily="34" charset="0"/>
                <a:cs typeface="Calibri" pitchFamily="34" charset="-120"/>
              </a:rPr>
              <a:t>Real-world business application</a:t>
            </a:r>
          </a:p>
          <a:p>
            <a:endParaRPr lang="en-US" sz="1867" i="1" dirty="0">
              <a:solidFill>
                <a:srgbClr val="CCDDEE"/>
              </a:solidFill>
              <a:latin typeface="Calibri" pitchFamily="34" charset="0"/>
              <a:cs typeface="Calibri" pitchFamily="34" charset="-120"/>
            </a:endParaRPr>
          </a:p>
        </p:txBody>
      </p:sp>
      <p:sp>
        <p:nvSpPr>
          <p:cNvPr id="11" name="Shape 9">
            <a:extLst>
              <a:ext uri="{FF2B5EF4-FFF2-40B4-BE49-F238E27FC236}">
                <a16:creationId xmlns:a16="http://schemas.microsoft.com/office/drawing/2014/main" id="{B2B9B245-844D-20D4-5714-392B0DC2B821}"/>
              </a:ext>
            </a:extLst>
          </p:cNvPr>
          <p:cNvSpPr/>
          <p:nvPr/>
        </p:nvSpPr>
        <p:spPr>
          <a:xfrm>
            <a:off x="0" y="6461760"/>
            <a:ext cx="12192000" cy="396240"/>
          </a:xfrm>
          <a:prstGeom prst="rect">
            <a:avLst/>
          </a:prstGeom>
          <a:solidFill>
            <a:schemeClr val="tx2">
              <a:lumMod val="75000"/>
            </a:schemeClr>
          </a:solidFill>
          <a:ln/>
        </p:spPr>
      </p:sp>
    </p:spTree>
    <p:extLst>
      <p:ext uri="{BB962C8B-B14F-4D97-AF65-F5344CB8AC3E}">
        <p14:creationId xmlns:p14="http://schemas.microsoft.com/office/powerpoint/2010/main" val="18250076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C4C55-00AE-CC1C-1607-068FBA0F9EB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F288AE8-C336-0674-2BE7-94634C8C3FFE}"/>
              </a:ext>
            </a:extLst>
          </p:cNvPr>
          <p:cNvSpPr/>
          <p:nvPr/>
        </p:nvSpPr>
        <p:spPr>
          <a:xfrm>
            <a:off x="0" y="-3692"/>
            <a:ext cx="12192000" cy="1036320"/>
          </a:xfrm>
          <a:prstGeom prst="rect">
            <a:avLst/>
          </a:prstGeom>
          <a:solidFill>
            <a:schemeClr val="tx2">
              <a:lumMod val="75000"/>
            </a:schemeClr>
          </a:solidFill>
          <a:ln/>
        </p:spPr>
      </p:sp>
      <p:sp>
        <p:nvSpPr>
          <p:cNvPr id="3" name="Text 1">
            <a:extLst>
              <a:ext uri="{FF2B5EF4-FFF2-40B4-BE49-F238E27FC236}">
                <a16:creationId xmlns:a16="http://schemas.microsoft.com/office/drawing/2014/main" id="{59D8D4DF-3105-93F1-3EF4-06664302537B}"/>
              </a:ext>
            </a:extLst>
          </p:cNvPr>
          <p:cNvSpPr/>
          <p:nvPr/>
        </p:nvSpPr>
        <p:spPr>
          <a:xfrm>
            <a:off x="365760" y="57268"/>
            <a:ext cx="11460480" cy="792480"/>
          </a:xfrm>
          <a:prstGeom prst="rect">
            <a:avLst/>
          </a:prstGeom>
          <a:noFill/>
          <a:ln/>
        </p:spPr>
        <p:txBody>
          <a:bodyPr wrap="square" rtlCol="0" anchor="ctr"/>
          <a:lstStyle/>
          <a:p>
            <a:r>
              <a:rPr lang="en-US" sz="2933" b="1" dirty="0">
                <a:solidFill>
                  <a:srgbClr val="F4A01C"/>
                </a:solidFill>
                <a:latin typeface="Calibri" pitchFamily="34" charset="0"/>
                <a:ea typeface="Calibri" pitchFamily="34" charset="-122"/>
                <a:cs typeface="Calibri" pitchFamily="34" charset="-120"/>
              </a:rPr>
              <a:t>Lab Work</a:t>
            </a:r>
            <a:endParaRPr lang="en-US" sz="2933" dirty="0"/>
          </a:p>
        </p:txBody>
      </p:sp>
      <p:sp>
        <p:nvSpPr>
          <p:cNvPr id="4" name="Shape 2">
            <a:extLst>
              <a:ext uri="{FF2B5EF4-FFF2-40B4-BE49-F238E27FC236}">
                <a16:creationId xmlns:a16="http://schemas.microsoft.com/office/drawing/2014/main" id="{0F727D74-4C1F-BBBB-C636-C5975E173995}"/>
              </a:ext>
            </a:extLst>
          </p:cNvPr>
          <p:cNvSpPr/>
          <p:nvPr/>
        </p:nvSpPr>
        <p:spPr>
          <a:xfrm>
            <a:off x="609600" y="1071423"/>
            <a:ext cx="10972800" cy="5346700"/>
          </a:xfrm>
          <a:prstGeom prst="roundRect">
            <a:avLst>
              <a:gd name="adj" fmla="val 12014"/>
            </a:avLst>
          </a:prstGeom>
          <a:solidFill>
            <a:srgbClr val="2C3E50"/>
          </a:solidFill>
          <a:ln/>
        </p:spPr>
      </p:sp>
      <p:sp>
        <p:nvSpPr>
          <p:cNvPr id="5" name="Text 3">
            <a:extLst>
              <a:ext uri="{FF2B5EF4-FFF2-40B4-BE49-F238E27FC236}">
                <a16:creationId xmlns:a16="http://schemas.microsoft.com/office/drawing/2014/main" id="{DCCCDB5C-2EAC-9862-FA41-07A043CD38E8}"/>
              </a:ext>
            </a:extLst>
          </p:cNvPr>
          <p:cNvSpPr/>
          <p:nvPr/>
        </p:nvSpPr>
        <p:spPr>
          <a:xfrm>
            <a:off x="853440" y="1230288"/>
            <a:ext cx="975360" cy="975360"/>
          </a:xfrm>
          <a:prstGeom prst="rect">
            <a:avLst/>
          </a:prstGeom>
          <a:noFill/>
          <a:ln/>
        </p:spPr>
        <p:txBody>
          <a:bodyPr wrap="square" rtlCol="0" anchor="ctr"/>
          <a:lstStyle/>
          <a:p>
            <a:endParaRPr lang="en-US" sz="4267" dirty="0"/>
          </a:p>
        </p:txBody>
      </p:sp>
      <p:sp>
        <p:nvSpPr>
          <p:cNvPr id="7" name="Text 5">
            <a:extLst>
              <a:ext uri="{FF2B5EF4-FFF2-40B4-BE49-F238E27FC236}">
                <a16:creationId xmlns:a16="http://schemas.microsoft.com/office/drawing/2014/main" id="{AF413371-0583-5D9C-0AD4-FB277226036C}"/>
              </a:ext>
            </a:extLst>
          </p:cNvPr>
          <p:cNvSpPr/>
          <p:nvPr/>
        </p:nvSpPr>
        <p:spPr>
          <a:xfrm>
            <a:off x="1033781" y="1536192"/>
            <a:ext cx="10304780" cy="3200400"/>
          </a:xfrm>
          <a:prstGeom prst="rect">
            <a:avLst/>
          </a:prstGeom>
          <a:noFill/>
          <a:ln/>
        </p:spPr>
        <p:txBody>
          <a:bodyPr wrap="square" rtlCol="0" anchor="ctr"/>
          <a:lstStyle/>
          <a:p>
            <a:endParaRPr lang="en-US" sz="1867" i="1" dirty="0">
              <a:solidFill>
                <a:srgbClr val="CCDDEE"/>
              </a:solidFill>
              <a:latin typeface="Calibri" pitchFamily="34" charset="0"/>
              <a:cs typeface="Calibri" pitchFamily="34" charset="-120"/>
            </a:endParaRPr>
          </a:p>
          <a:p>
            <a:endParaRPr lang="en-US" sz="1867" i="1" dirty="0">
              <a:solidFill>
                <a:srgbClr val="CCDDEE"/>
              </a:solidFill>
              <a:latin typeface="Calibri" pitchFamily="34" charset="0"/>
              <a:cs typeface="Calibri" pitchFamily="34" charset="-120"/>
            </a:endParaRPr>
          </a:p>
          <a:p>
            <a:endParaRPr lang="en-US" sz="1867" i="1" dirty="0">
              <a:solidFill>
                <a:srgbClr val="CCDDEE"/>
              </a:solidFill>
              <a:latin typeface="Calibri" pitchFamily="34" charset="0"/>
              <a:cs typeface="Calibri" pitchFamily="34" charset="-120"/>
            </a:endParaRPr>
          </a:p>
          <a:p>
            <a:endParaRPr lang="en-US" sz="1867" i="1" dirty="0">
              <a:solidFill>
                <a:srgbClr val="CCDDEE"/>
              </a:solidFill>
              <a:latin typeface="Calibri" pitchFamily="34" charset="0"/>
              <a:cs typeface="Calibri" pitchFamily="34" charset="-120"/>
            </a:endParaRPr>
          </a:p>
          <a:p>
            <a:endParaRPr lang="en-US" sz="1867" i="1" dirty="0">
              <a:solidFill>
                <a:srgbClr val="CCDDEE"/>
              </a:solidFill>
              <a:latin typeface="Calibri" pitchFamily="34" charset="0"/>
              <a:cs typeface="Calibri" pitchFamily="34" charset="-120"/>
            </a:endParaRPr>
          </a:p>
          <a:p>
            <a:r>
              <a:rPr lang="en-US" sz="1867" b="1" i="1" dirty="0">
                <a:solidFill>
                  <a:srgbClr val="CCDDEE"/>
                </a:solidFill>
                <a:latin typeface="Calibri" pitchFamily="34" charset="0"/>
                <a:cs typeface="Calibri" pitchFamily="34" charset="-120"/>
              </a:rPr>
              <a:t>Scenario 3: Student Result Processing</a:t>
            </a:r>
          </a:p>
          <a:p>
            <a:endParaRPr lang="en-US" sz="1867" i="1" dirty="0">
              <a:solidFill>
                <a:srgbClr val="CCDDEE"/>
              </a:solidFill>
              <a:latin typeface="Calibri" pitchFamily="34" charset="0"/>
              <a:cs typeface="Calibri" pitchFamily="34" charset="-120"/>
            </a:endParaRPr>
          </a:p>
          <a:p>
            <a:r>
              <a:rPr lang="en-US" sz="1867" b="1" i="1" dirty="0">
                <a:solidFill>
                  <a:srgbClr val="CCDDEE"/>
                </a:solidFill>
                <a:latin typeface="Calibri" pitchFamily="34" charset="0"/>
                <a:cs typeface="Calibri" pitchFamily="34" charset="-120"/>
              </a:rPr>
              <a:t>Problem Statement</a:t>
            </a:r>
          </a:p>
          <a:p>
            <a:r>
              <a:rPr lang="en-US" sz="1867" i="1" dirty="0">
                <a:solidFill>
                  <a:srgbClr val="CCDDEE"/>
                </a:solidFill>
                <a:latin typeface="Calibri" pitchFamily="34" charset="0"/>
                <a:cs typeface="Calibri" pitchFamily="34" charset="-120"/>
              </a:rPr>
              <a:t>Create a result-processing system for students.</a:t>
            </a:r>
          </a:p>
          <a:p>
            <a:r>
              <a:rPr lang="en-US" sz="1867" i="1" dirty="0">
                <a:solidFill>
                  <a:srgbClr val="CCDDEE"/>
                </a:solidFill>
                <a:latin typeface="Calibri" pitchFamily="34" charset="0"/>
                <a:cs typeface="Calibri" pitchFamily="34" charset="-120"/>
              </a:rPr>
              <a:t>Requirements</a:t>
            </a:r>
          </a:p>
          <a:p>
            <a:r>
              <a:rPr lang="en-US" sz="1867" i="1" dirty="0">
                <a:solidFill>
                  <a:srgbClr val="CCDDEE"/>
                </a:solidFill>
                <a:latin typeface="Calibri" pitchFamily="34" charset="0"/>
                <a:cs typeface="Calibri" pitchFamily="34" charset="-120"/>
              </a:rPr>
              <a:t>Overload a function </a:t>
            </a:r>
            <a:r>
              <a:rPr lang="en-US" sz="1867" i="1" dirty="0" err="1">
                <a:solidFill>
                  <a:srgbClr val="CCDDEE"/>
                </a:solidFill>
                <a:latin typeface="Calibri" pitchFamily="34" charset="0"/>
                <a:cs typeface="Calibri" pitchFamily="34" charset="-120"/>
              </a:rPr>
              <a:t>calculateAverage</a:t>
            </a:r>
            <a:r>
              <a:rPr lang="en-US" sz="1867" i="1" dirty="0">
                <a:solidFill>
                  <a:srgbClr val="CCDDEE"/>
                </a:solidFill>
                <a:latin typeface="Calibri" pitchFamily="34" charset="0"/>
                <a:cs typeface="Calibri" pitchFamily="34" charset="-120"/>
              </a:rPr>
              <a:t>() for: </a:t>
            </a:r>
          </a:p>
          <a:p>
            <a:pPr lvl="1"/>
            <a:r>
              <a:rPr lang="en-US" sz="1867" i="1" dirty="0">
                <a:solidFill>
                  <a:srgbClr val="CCDDEE"/>
                </a:solidFill>
                <a:latin typeface="Calibri" pitchFamily="34" charset="0"/>
                <a:cs typeface="Calibri" pitchFamily="34" charset="-120"/>
              </a:rPr>
              <a:t>Two subjects </a:t>
            </a:r>
          </a:p>
          <a:p>
            <a:pPr lvl="1"/>
            <a:r>
              <a:rPr lang="en-US" sz="1867" i="1" dirty="0">
                <a:solidFill>
                  <a:srgbClr val="CCDDEE"/>
                </a:solidFill>
                <a:latin typeface="Calibri" pitchFamily="34" charset="0"/>
                <a:cs typeface="Calibri" pitchFamily="34" charset="-120"/>
              </a:rPr>
              <a:t>Three subjects </a:t>
            </a:r>
          </a:p>
          <a:p>
            <a:pPr lvl="1"/>
            <a:r>
              <a:rPr lang="en-US" sz="1867" i="1" dirty="0">
                <a:solidFill>
                  <a:srgbClr val="CCDDEE"/>
                </a:solidFill>
                <a:latin typeface="Calibri" pitchFamily="34" charset="0"/>
                <a:cs typeface="Calibri" pitchFamily="34" charset="-120"/>
              </a:rPr>
              <a:t>Five subjects </a:t>
            </a:r>
          </a:p>
          <a:p>
            <a:r>
              <a:rPr lang="en-US" sz="1867" i="1" dirty="0">
                <a:solidFill>
                  <a:srgbClr val="CCDDEE"/>
                </a:solidFill>
                <a:latin typeface="Calibri" pitchFamily="34" charset="0"/>
                <a:cs typeface="Calibri" pitchFamily="34" charset="-120"/>
              </a:rPr>
              <a:t>Create an inline function </a:t>
            </a:r>
            <a:r>
              <a:rPr lang="en-US" sz="1867" i="1" dirty="0" err="1">
                <a:solidFill>
                  <a:srgbClr val="CCDDEE"/>
                </a:solidFill>
                <a:latin typeface="Calibri" pitchFamily="34" charset="0"/>
                <a:cs typeface="Calibri" pitchFamily="34" charset="-120"/>
              </a:rPr>
              <a:t>isPass</a:t>
            </a:r>
            <a:r>
              <a:rPr lang="en-US" sz="1867" i="1" dirty="0">
                <a:solidFill>
                  <a:srgbClr val="CCDDEE"/>
                </a:solidFill>
                <a:latin typeface="Calibri" pitchFamily="34" charset="0"/>
                <a:cs typeface="Calibri" pitchFamily="34" charset="-120"/>
              </a:rPr>
              <a:t>() that returns true if average ≥ 40. </a:t>
            </a:r>
          </a:p>
          <a:p>
            <a:r>
              <a:rPr lang="en-US" sz="1867" i="1" dirty="0">
                <a:solidFill>
                  <a:srgbClr val="CCDDEE"/>
                </a:solidFill>
                <a:latin typeface="Calibri" pitchFamily="34" charset="0"/>
                <a:cs typeface="Calibri" pitchFamily="34" charset="-120"/>
              </a:rPr>
              <a:t>Display average marks and pass/fail status. </a:t>
            </a:r>
          </a:p>
          <a:p>
            <a:endParaRPr lang="en-US" sz="1867" i="1" dirty="0">
              <a:solidFill>
                <a:srgbClr val="CCDDEE"/>
              </a:solidFill>
              <a:latin typeface="Calibri" pitchFamily="34" charset="0"/>
              <a:cs typeface="Calibri" pitchFamily="34" charset="-120"/>
            </a:endParaRPr>
          </a:p>
          <a:p>
            <a:r>
              <a:rPr lang="en-US" sz="1867" b="1" i="1" dirty="0">
                <a:solidFill>
                  <a:srgbClr val="CCDDEE"/>
                </a:solidFill>
                <a:latin typeface="Calibri" pitchFamily="34" charset="0"/>
                <a:cs typeface="Calibri" pitchFamily="34" charset="-120"/>
              </a:rPr>
              <a:t>Concepts  needed to implement</a:t>
            </a:r>
          </a:p>
          <a:p>
            <a:pPr marL="990575" lvl="1" indent="-380990">
              <a:buFont typeface="Arial" panose="020B0604020202020204" pitchFamily="34" charset="0"/>
              <a:buChar char="•"/>
            </a:pPr>
            <a:r>
              <a:rPr lang="en-US" sz="1867" i="1" dirty="0">
                <a:solidFill>
                  <a:srgbClr val="CCDDEE"/>
                </a:solidFill>
                <a:latin typeface="Calibri" pitchFamily="34" charset="0"/>
                <a:cs typeface="Calibri" pitchFamily="34" charset="-120"/>
              </a:rPr>
              <a:t>Function Overloading with different parameter lists </a:t>
            </a:r>
          </a:p>
          <a:p>
            <a:pPr marL="990575" lvl="1" indent="-380990">
              <a:buFont typeface="Arial" panose="020B0604020202020204" pitchFamily="34" charset="0"/>
              <a:buChar char="•"/>
            </a:pPr>
            <a:r>
              <a:rPr lang="en-US" sz="1867" i="1" dirty="0">
                <a:solidFill>
                  <a:srgbClr val="CCDDEE"/>
                </a:solidFill>
                <a:latin typeface="Calibri" pitchFamily="34" charset="0"/>
                <a:cs typeface="Calibri" pitchFamily="34" charset="-120"/>
              </a:rPr>
              <a:t>Inline Functions </a:t>
            </a:r>
          </a:p>
          <a:p>
            <a:pPr marL="990575" lvl="1" indent="-380990">
              <a:buFont typeface="Arial" panose="020B0604020202020204" pitchFamily="34" charset="0"/>
              <a:buChar char="•"/>
            </a:pPr>
            <a:r>
              <a:rPr lang="en-US" sz="1867" i="1" dirty="0">
                <a:solidFill>
                  <a:srgbClr val="CCDDEE"/>
                </a:solidFill>
                <a:latin typeface="Calibri" pitchFamily="34" charset="0"/>
                <a:cs typeface="Calibri" pitchFamily="34" charset="-120"/>
              </a:rPr>
              <a:t>Real-world business application</a:t>
            </a:r>
          </a:p>
        </p:txBody>
      </p:sp>
      <p:sp>
        <p:nvSpPr>
          <p:cNvPr id="11" name="Shape 9">
            <a:extLst>
              <a:ext uri="{FF2B5EF4-FFF2-40B4-BE49-F238E27FC236}">
                <a16:creationId xmlns:a16="http://schemas.microsoft.com/office/drawing/2014/main" id="{6914DCEA-FEFE-F54C-9B73-0D6A4A5BC129}"/>
              </a:ext>
            </a:extLst>
          </p:cNvPr>
          <p:cNvSpPr/>
          <p:nvPr/>
        </p:nvSpPr>
        <p:spPr>
          <a:xfrm>
            <a:off x="0" y="6461760"/>
            <a:ext cx="12192000" cy="396240"/>
          </a:xfrm>
          <a:prstGeom prst="rect">
            <a:avLst/>
          </a:prstGeom>
          <a:solidFill>
            <a:schemeClr val="tx2">
              <a:lumMod val="75000"/>
            </a:schemeClr>
          </a:solidFill>
          <a:ln/>
        </p:spPr>
      </p:sp>
    </p:spTree>
    <p:extLst>
      <p:ext uri="{BB962C8B-B14F-4D97-AF65-F5344CB8AC3E}">
        <p14:creationId xmlns:p14="http://schemas.microsoft.com/office/powerpoint/2010/main" val="34914547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20">
    <p:bg>
      <p:bgPr>
        <a:solidFill>
          <a:schemeClr val="tx2">
            <a:lumMod val="75000"/>
          </a:schemeClr>
        </a:solidFill>
        <a:effectLst/>
      </p:bgPr>
    </p:bg>
    <p:spTree>
      <p:nvGrpSpPr>
        <p:cNvPr id="1" name=""/>
        <p:cNvGrpSpPr/>
        <p:nvPr/>
      </p:nvGrpSpPr>
      <p:grpSpPr>
        <a:xfrm>
          <a:off x="0" y="0"/>
          <a:ext cx="0" cy="0"/>
          <a:chOff x="0" y="0"/>
          <a:chExt cx="0" cy="0"/>
        </a:xfrm>
      </p:grpSpPr>
      <p:sp>
        <p:nvSpPr>
          <p:cNvPr id="2" name="Text 0"/>
          <p:cNvSpPr/>
          <p:nvPr/>
        </p:nvSpPr>
        <p:spPr>
          <a:xfrm>
            <a:off x="548640" y="2103120"/>
            <a:ext cx="11091672" cy="548640"/>
          </a:xfrm>
          <a:prstGeom prst="rect">
            <a:avLst/>
          </a:prstGeom>
          <a:noFill/>
          <a:ln/>
        </p:spPr>
        <p:txBody>
          <a:bodyPr wrap="square" rtlCol="0" anchor="ctr"/>
          <a:lstStyle/>
          <a:p>
            <a:pPr marL="0" indent="0">
              <a:buNone/>
            </a:pPr>
            <a:r>
              <a:rPr lang="en-US" sz="1800" b="1" kern="0" spc="200" dirty="0">
                <a:solidFill>
                  <a:srgbClr val="BFBFBF"/>
                </a:solidFill>
                <a:latin typeface="Helvetica" pitchFamily="34" charset="0"/>
                <a:ea typeface="Helvetica" pitchFamily="34" charset="-122"/>
                <a:cs typeface="Helvetica" pitchFamily="34" charset="-120"/>
              </a:rPr>
              <a:t>CHAPTER 4</a:t>
            </a:r>
            <a:endParaRPr lang="en-US" sz="1800" dirty="0"/>
          </a:p>
        </p:txBody>
      </p:sp>
      <p:sp>
        <p:nvSpPr>
          <p:cNvPr id="3" name="Text 1"/>
          <p:cNvSpPr/>
          <p:nvPr/>
        </p:nvSpPr>
        <p:spPr>
          <a:xfrm>
            <a:off x="548640" y="2651760"/>
            <a:ext cx="11091672" cy="1280160"/>
          </a:xfrm>
          <a:prstGeom prst="rect">
            <a:avLst/>
          </a:prstGeom>
          <a:noFill/>
          <a:ln/>
        </p:spPr>
        <p:txBody>
          <a:bodyPr wrap="square" rtlCol="0" anchor="ctr"/>
          <a:lstStyle/>
          <a:p>
            <a:pPr marL="0" indent="0">
              <a:buNone/>
            </a:pPr>
            <a:r>
              <a:rPr lang="en-US" sz="3600" b="1" dirty="0">
                <a:solidFill>
                  <a:srgbClr val="FFFFFF"/>
                </a:solidFill>
                <a:latin typeface="Helvetica" pitchFamily="34" charset="0"/>
                <a:ea typeface="Helvetica" pitchFamily="34" charset="-122"/>
                <a:cs typeface="Helvetica" pitchFamily="34" charset="-120"/>
              </a:rPr>
              <a:t>Classes and Objects</a:t>
            </a:r>
            <a:endParaRPr lang="en-US" sz="3600" dirty="0"/>
          </a:p>
        </p:txBody>
      </p:sp>
      <p:sp>
        <p:nvSpPr>
          <p:cNvPr id="4" name="Text 2"/>
          <p:cNvSpPr/>
          <p:nvPr/>
        </p:nvSpPr>
        <p:spPr>
          <a:xfrm>
            <a:off x="548640" y="4023360"/>
            <a:ext cx="11091672" cy="2011680"/>
          </a:xfrm>
          <a:prstGeom prst="rect">
            <a:avLst/>
          </a:prstGeom>
          <a:noFill/>
          <a:ln/>
        </p:spPr>
        <p:txBody>
          <a:bodyPr wrap="square" rtlCol="0" anchor="t"/>
          <a:lstStyle/>
          <a:p>
            <a:pPr marL="0" indent="0">
              <a:buNone/>
            </a:pPr>
            <a:r>
              <a:rPr lang="en-US" sz="1500" dirty="0">
                <a:solidFill>
                  <a:srgbClr val="D9D9D9"/>
                </a:solidFill>
                <a:latin typeface="Helvetica" pitchFamily="34" charset="0"/>
                <a:ea typeface="Helvetica" pitchFamily="34" charset="-122"/>
                <a:cs typeface="Helvetica" pitchFamily="34" charset="-120"/>
              </a:rPr>
              <a:t>Access specifiers · this pointer · Constructors &amp; destructors · Static members · Friend functions</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F666743-88E5-CBA5-9141-A1869FA024E3}"/>
              </a:ext>
            </a:extLst>
          </p:cNvP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4</a:t>
            </a:r>
            <a:endParaRPr lang="en-US" sz="1400" dirty="0"/>
          </a:p>
        </p:txBody>
      </p:sp>
      <p:sp>
        <p:nvSpPr>
          <p:cNvPr id="3" name="Text 1"/>
          <p:cNvSpPr/>
          <p:nvPr/>
        </p:nvSpPr>
        <p:spPr>
          <a:xfrm>
            <a:off x="548640" y="731520"/>
            <a:ext cx="11091672" cy="731520"/>
          </a:xfrm>
          <a:prstGeom prst="rect">
            <a:avLst/>
          </a:prstGeom>
          <a:noFill/>
          <a:ln/>
        </p:spPr>
        <p:txBody>
          <a:bodyPr wrap="square" rtlCol="0" anchor="ctr"/>
          <a:lstStyle/>
          <a:p>
            <a:pPr marL="0" indent="0">
              <a:buNone/>
            </a:pPr>
            <a:r>
              <a:rPr lang="en-US" sz="2800" b="1" dirty="0">
                <a:solidFill>
                  <a:srgbClr val="000000"/>
                </a:solidFill>
                <a:latin typeface="Helvetica" pitchFamily="34" charset="0"/>
                <a:ea typeface="Helvetica" pitchFamily="34" charset="-122"/>
                <a:cs typeface="Helvetica" pitchFamily="34" charset="-120"/>
              </a:rPr>
              <a:t>Introduction</a:t>
            </a:r>
            <a:endParaRPr lang="en-US" sz="2800" dirty="0"/>
          </a:p>
        </p:txBody>
      </p:sp>
      <p:sp>
        <p:nvSpPr>
          <p:cNvPr id="4" name="Text 2"/>
          <p:cNvSpPr/>
          <p:nvPr/>
        </p:nvSpPr>
        <p:spPr>
          <a:xfrm>
            <a:off x="548640" y="1645920"/>
            <a:ext cx="11014710" cy="4663440"/>
          </a:xfrm>
          <a:prstGeom prst="rect">
            <a:avLst/>
          </a:prstGeom>
          <a:noFill/>
          <a:ln/>
        </p:spPr>
        <p:txBody>
          <a:bodyPr wrap="square" rtlCol="0" anchor="t"/>
          <a:lstStyle/>
          <a:p>
            <a:pPr marL="285750" indent="-285750">
              <a:buFont typeface="Arial" panose="020B0604020202020204" pitchFamily="34" charset="0"/>
              <a:buChar char="•"/>
            </a:pPr>
            <a:r>
              <a:rPr lang="en-US" dirty="0"/>
              <a:t>Objects and Classes are key to understand the Object-Oriented Programming Language (OOPL)/Object-Oriented Technique. Object-Oriented Programming Languages are based on the concept of abstraction modeled by classes and objects.</a:t>
            </a:r>
          </a:p>
          <a:p>
            <a:endParaRPr lang="en-US" dirty="0"/>
          </a:p>
          <a:p>
            <a:pPr marL="285750" indent="-285750">
              <a:buFont typeface="Arial" panose="020B0604020202020204" pitchFamily="34" charset="0"/>
              <a:buChar char="•"/>
            </a:pPr>
            <a:r>
              <a:rPr lang="en-US" dirty="0"/>
              <a:t>Classes and objects are the cornerstones of Object-Oriented Programming (OOP) in C++. They enable programmers to create modular, reusable, and maintainable code. In this article, we will dive deep into understanding what classes and objects are, explore their functionalities, and learn how to implement them in C++ effectively.</a:t>
            </a:r>
          </a:p>
          <a:p>
            <a:endParaRPr lang="en-US" dirty="0"/>
          </a:p>
          <a:p>
            <a:pPr marL="285750" indent="-285750">
              <a:buFont typeface="Arial" panose="020B0604020202020204" pitchFamily="34" charset="0"/>
              <a:buChar char="•"/>
            </a:pPr>
            <a:r>
              <a:rPr lang="en-US" dirty="0"/>
              <a:t>Classification is one of the important concepts of Object-Oriented philosophy including identity, abstraction, encapsulation, inheritance, polymorphism, and persistence. </a:t>
            </a:r>
          </a:p>
          <a:p>
            <a:pPr marL="285750" indent="-285750">
              <a:buFont typeface="Arial" panose="020B0604020202020204" pitchFamily="34" charset="0"/>
              <a:buChar char="•"/>
            </a:pPr>
            <a:endParaRPr lang="en-US" sz="1600" dirty="0"/>
          </a:p>
          <a:p>
            <a:endParaRPr lang="en-US" sz="1600" dirty="0"/>
          </a:p>
          <a:p>
            <a:r>
              <a:rPr lang="en-US" b="1" i="1" dirty="0"/>
              <a:t>Object-Oriented uses classification to group objects that have attributes and behaviors in common and classify them into bigger entities. The bigger entity is called a “class”</a:t>
            </a:r>
            <a:r>
              <a:rPr lang="en-US" dirty="0"/>
              <a:t>. Thus, a class defines a group of objects with similar attributes, common operations, a common relationship to the other objects in the class, and common semantics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0628A-8A76-52AF-594C-959CB0C0310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A11BFE5-5340-D609-D25D-AFCF0556826F}"/>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4</a:t>
            </a:r>
            <a:endParaRPr lang="en-US" sz="1400" dirty="0"/>
          </a:p>
        </p:txBody>
      </p:sp>
      <p:sp>
        <p:nvSpPr>
          <p:cNvPr id="3" name="Text 1">
            <a:extLst>
              <a:ext uri="{FF2B5EF4-FFF2-40B4-BE49-F238E27FC236}">
                <a16:creationId xmlns:a16="http://schemas.microsoft.com/office/drawing/2014/main" id="{10A8E5B9-DA1F-C67E-425B-5168E502636A}"/>
              </a:ext>
            </a:extLst>
          </p:cNvPr>
          <p:cNvSpPr/>
          <p:nvPr/>
        </p:nvSpPr>
        <p:spPr>
          <a:xfrm>
            <a:off x="548640" y="731520"/>
            <a:ext cx="11091672" cy="731520"/>
          </a:xfrm>
          <a:prstGeom prst="rect">
            <a:avLst/>
          </a:prstGeom>
          <a:noFill/>
          <a:ln/>
        </p:spPr>
        <p:txBody>
          <a:bodyPr wrap="square" rtlCol="0" anchor="ctr"/>
          <a:lstStyle/>
          <a:p>
            <a:pPr marL="0" indent="0">
              <a:buNone/>
            </a:pPr>
            <a:r>
              <a:rPr lang="en-US" sz="2800" b="1" dirty="0">
                <a:solidFill>
                  <a:srgbClr val="000000"/>
                </a:solidFill>
                <a:latin typeface="Helvetica" pitchFamily="34" charset="0"/>
                <a:ea typeface="Helvetica" pitchFamily="34" charset="-122"/>
                <a:cs typeface="Helvetica" pitchFamily="34" charset="-120"/>
              </a:rPr>
              <a:t>Class</a:t>
            </a:r>
            <a:endParaRPr lang="en-US" sz="2800" dirty="0"/>
          </a:p>
        </p:txBody>
      </p:sp>
      <p:sp>
        <p:nvSpPr>
          <p:cNvPr id="4" name="Text 2">
            <a:extLst>
              <a:ext uri="{FF2B5EF4-FFF2-40B4-BE49-F238E27FC236}">
                <a16:creationId xmlns:a16="http://schemas.microsoft.com/office/drawing/2014/main" id="{BA4DFBC7-7201-EB7D-7CF0-1A7178BAE3F7}"/>
              </a:ext>
            </a:extLst>
          </p:cNvPr>
          <p:cNvSpPr/>
          <p:nvPr/>
        </p:nvSpPr>
        <p:spPr>
          <a:xfrm>
            <a:off x="548640" y="1645920"/>
            <a:ext cx="11014710" cy="4663440"/>
          </a:xfrm>
          <a:prstGeom prst="rect">
            <a:avLst/>
          </a:prstGeom>
          <a:noFill/>
          <a:ln/>
        </p:spPr>
        <p:txBody>
          <a:bodyPr wrap="square" rtlCol="0" anchor="t"/>
          <a:lstStyle/>
          <a:p>
            <a:r>
              <a:rPr lang="en-US" b="1" i="1" dirty="0"/>
              <a:t>A class is set of objects that shares a common definition described by data and methods.</a:t>
            </a:r>
          </a:p>
          <a:p>
            <a:endParaRPr lang="en-US" dirty="0"/>
          </a:p>
          <a:p>
            <a:r>
              <a:rPr lang="en-US" dirty="0"/>
              <a:t>According to the Webster’s New World dictionary, a class is defined as:</a:t>
            </a:r>
          </a:p>
          <a:p>
            <a:pPr lvl="1"/>
            <a:r>
              <a:rPr lang="en-US" i="1" dirty="0"/>
              <a:t>“ A number of people or things grouped together because of certain likeness; kind; sort”. In other words, we can say that class is an object template. Every object under that class has the same data format, definition and responds in the same manner to an operation.</a:t>
            </a:r>
          </a:p>
          <a:p>
            <a:pPr lvl="1"/>
            <a:endParaRPr lang="en-US" b="1" i="1" dirty="0"/>
          </a:p>
          <a:p>
            <a:r>
              <a:rPr lang="en-US" dirty="0"/>
              <a:t>A </a:t>
            </a:r>
            <a:r>
              <a:rPr lang="en-US" b="1" dirty="0"/>
              <a:t>class</a:t>
            </a:r>
            <a:r>
              <a:rPr lang="en-US" dirty="0"/>
              <a:t> in C++ is a user-defined data type that encapsulates data members (variables) and member functions (methods) within a single unit. Think of a class as a blueprint or template that defines the structure and behavior of objects. Classes are the foundation of OOP and facilitate encapsulation, abstraction, and data hiding.</a:t>
            </a:r>
            <a:endParaRPr lang="en-US" b="1" i="1" dirty="0"/>
          </a:p>
          <a:p>
            <a:endParaRPr lang="en-US" b="1" i="1" dirty="0"/>
          </a:p>
          <a:p>
            <a:endParaRPr lang="en-US" dirty="0"/>
          </a:p>
        </p:txBody>
      </p:sp>
    </p:spTree>
    <p:extLst>
      <p:ext uri="{BB962C8B-B14F-4D97-AF65-F5344CB8AC3E}">
        <p14:creationId xmlns:p14="http://schemas.microsoft.com/office/powerpoint/2010/main" val="9821616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12192000" cy="680085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E7AE8-65EF-A5BB-8269-8A4D04FBED2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8980201-DB50-0B4D-833A-950112A90130}"/>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4</a:t>
            </a:r>
            <a:endParaRPr lang="en-US" sz="1400" dirty="0"/>
          </a:p>
        </p:txBody>
      </p:sp>
      <p:sp>
        <p:nvSpPr>
          <p:cNvPr id="3" name="Text 1">
            <a:extLst>
              <a:ext uri="{FF2B5EF4-FFF2-40B4-BE49-F238E27FC236}">
                <a16:creationId xmlns:a16="http://schemas.microsoft.com/office/drawing/2014/main" id="{5EBEA20B-A86E-37D5-B3E4-6054ECB71A0F}"/>
              </a:ext>
            </a:extLst>
          </p:cNvPr>
          <p:cNvSpPr/>
          <p:nvPr/>
        </p:nvSpPr>
        <p:spPr>
          <a:xfrm>
            <a:off x="548640" y="731520"/>
            <a:ext cx="11091672" cy="731520"/>
          </a:xfrm>
          <a:prstGeom prst="rect">
            <a:avLst/>
          </a:prstGeom>
          <a:noFill/>
          <a:ln/>
        </p:spPr>
        <p:txBody>
          <a:bodyPr wrap="square" rtlCol="0" anchor="ctr"/>
          <a:lstStyle/>
          <a:p>
            <a:pPr marL="0" indent="0">
              <a:buNone/>
            </a:pPr>
            <a:r>
              <a:rPr lang="en-US" sz="2400" b="1" dirty="0">
                <a:solidFill>
                  <a:srgbClr val="000000"/>
                </a:solidFill>
                <a:latin typeface="Helvetica" pitchFamily="34" charset="0"/>
                <a:ea typeface="Helvetica" pitchFamily="34" charset="-122"/>
                <a:cs typeface="Helvetica" pitchFamily="34" charset="-120"/>
              </a:rPr>
              <a:t>Class</a:t>
            </a:r>
            <a:endParaRPr lang="en-US" sz="2800" dirty="0"/>
          </a:p>
        </p:txBody>
      </p:sp>
      <p:sp>
        <p:nvSpPr>
          <p:cNvPr id="4" name="Text 2">
            <a:extLst>
              <a:ext uri="{FF2B5EF4-FFF2-40B4-BE49-F238E27FC236}">
                <a16:creationId xmlns:a16="http://schemas.microsoft.com/office/drawing/2014/main" id="{3E53677B-B375-84AE-4C8F-9C28DC59FDAB}"/>
              </a:ext>
            </a:extLst>
          </p:cNvPr>
          <p:cNvSpPr/>
          <p:nvPr/>
        </p:nvSpPr>
        <p:spPr>
          <a:xfrm>
            <a:off x="548640" y="1645920"/>
            <a:ext cx="11014710" cy="4663440"/>
          </a:xfrm>
          <a:prstGeom prst="rect">
            <a:avLst/>
          </a:prstGeom>
          <a:noFill/>
          <a:ln/>
        </p:spPr>
        <p:txBody>
          <a:bodyPr wrap="square" rtlCol="0" anchor="t"/>
          <a:lstStyle/>
          <a:p>
            <a:r>
              <a:rPr lang="en-US" b="1" dirty="0"/>
              <a:t>Analogy of Classes:</a:t>
            </a:r>
          </a:p>
          <a:p>
            <a:pPr lvl="1"/>
            <a:r>
              <a:rPr lang="en-US" dirty="0"/>
              <a:t>Imagine a class of cars. Cars can have different names, models, and brands, yet they all share common properties like having four wheels, a speed limit, and mileage. In this analogy:</a:t>
            </a:r>
          </a:p>
          <a:p>
            <a:pPr marL="742950" lvl="1" indent="-285750">
              <a:buFont typeface="Wingdings" panose="05000000000000000000" pitchFamily="2" charset="2"/>
              <a:buChar char="ü"/>
            </a:pPr>
            <a:r>
              <a:rPr lang="en-US" dirty="0"/>
              <a:t>The </a:t>
            </a:r>
            <a:r>
              <a:rPr lang="en-US" b="1" dirty="0"/>
              <a:t>Car</a:t>
            </a:r>
            <a:r>
              <a:rPr lang="en-US" dirty="0"/>
              <a:t> represents the class.</a:t>
            </a:r>
          </a:p>
          <a:p>
            <a:pPr marL="742950" lvl="1" indent="-285750">
              <a:buFont typeface="Wingdings" panose="05000000000000000000" pitchFamily="2" charset="2"/>
              <a:buChar char="ü"/>
            </a:pPr>
            <a:r>
              <a:rPr lang="en-US" dirty="0"/>
              <a:t>The common properties such as wheels, speed limits, and mileage are the </a:t>
            </a:r>
            <a:r>
              <a:rPr lang="en-US" b="1" dirty="0"/>
              <a:t>data members</a:t>
            </a:r>
            <a:r>
              <a:rPr lang="en-US" dirty="0"/>
              <a:t>.</a:t>
            </a:r>
          </a:p>
          <a:p>
            <a:pPr marL="742950" lvl="1" indent="-285750">
              <a:buFont typeface="Wingdings" panose="05000000000000000000" pitchFamily="2" charset="2"/>
              <a:buChar char="ü"/>
            </a:pPr>
            <a:r>
              <a:rPr lang="en-US" dirty="0"/>
              <a:t>Actions like accelerating, braking, and honking are the </a:t>
            </a:r>
            <a:r>
              <a:rPr lang="en-US" b="1" dirty="0"/>
              <a:t>member functions</a:t>
            </a:r>
            <a:r>
              <a:rPr lang="en-US" dirty="0"/>
              <a:t>.</a:t>
            </a:r>
          </a:p>
          <a:p>
            <a:endParaRPr lang="en-US" sz="1050" b="1" dirty="0"/>
          </a:p>
          <a:p>
            <a:r>
              <a:rPr lang="en-US" b="1" dirty="0"/>
              <a:t>Defining a Class in C++</a:t>
            </a:r>
          </a:p>
          <a:p>
            <a:pPr lvl="1"/>
            <a:r>
              <a:rPr lang="en-US" dirty="0"/>
              <a:t>A class in C++ is defined using the class keyword followed by the class name. The body of the class contains the data members and member functions, enclosed in curly braces {}.</a:t>
            </a:r>
          </a:p>
          <a:p>
            <a:endParaRPr lang="en-US" b="1" i="1" dirty="0"/>
          </a:p>
          <a:p>
            <a:r>
              <a:rPr lang="en-US" b="1" dirty="0"/>
              <a:t>Example </a:t>
            </a:r>
          </a:p>
          <a:p>
            <a:pPr lvl="1"/>
            <a:r>
              <a:rPr lang="en-US" b="1" dirty="0"/>
              <a:t>Class:</a:t>
            </a:r>
            <a:r>
              <a:rPr lang="en-US" dirty="0"/>
              <a:t> Expensive Cars</a:t>
            </a:r>
            <a:br>
              <a:rPr lang="en-US" sz="1050" dirty="0"/>
            </a:br>
            <a:r>
              <a:rPr lang="en-US" b="1" dirty="0"/>
              <a:t>Objects</a:t>
            </a:r>
            <a:r>
              <a:rPr lang="en-US" dirty="0"/>
              <a:t>: Mercedes, BMW, Toyota</a:t>
            </a:r>
            <a:br>
              <a:rPr lang="en-US" sz="1050" dirty="0"/>
            </a:br>
            <a:r>
              <a:rPr lang="en-US" b="1" dirty="0"/>
              <a:t>Data Member:</a:t>
            </a:r>
            <a:r>
              <a:rPr lang="en-US" dirty="0"/>
              <a:t> Price, Speed, Wheels, Mileage, Model, Color</a:t>
            </a:r>
            <a:br>
              <a:rPr lang="en-US" sz="1050" dirty="0"/>
            </a:br>
            <a:r>
              <a:rPr lang="en-US" b="1" dirty="0"/>
              <a:t>Member Function</a:t>
            </a:r>
            <a:r>
              <a:rPr lang="en-US" dirty="0"/>
              <a:t>: brakes(), speed(), start(), stop(), etc.</a:t>
            </a:r>
            <a:endParaRPr lang="en-US" b="1" i="1" dirty="0"/>
          </a:p>
          <a:p>
            <a:endParaRPr lang="en-US" dirty="0"/>
          </a:p>
        </p:txBody>
      </p:sp>
    </p:spTree>
    <p:extLst>
      <p:ext uri="{BB962C8B-B14F-4D97-AF65-F5344CB8AC3E}">
        <p14:creationId xmlns:p14="http://schemas.microsoft.com/office/powerpoint/2010/main" val="40761456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12192000" cy="680085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E62C7-5D36-1DEC-EC15-924F8DEDC52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B566ABF-08FA-05C2-F5DD-01DF24D894E8}"/>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4</a:t>
            </a:r>
            <a:endParaRPr lang="en-US" sz="1400" dirty="0"/>
          </a:p>
        </p:txBody>
      </p:sp>
      <p:sp>
        <p:nvSpPr>
          <p:cNvPr id="3" name="Text 1">
            <a:extLst>
              <a:ext uri="{FF2B5EF4-FFF2-40B4-BE49-F238E27FC236}">
                <a16:creationId xmlns:a16="http://schemas.microsoft.com/office/drawing/2014/main" id="{D38A0386-8143-8FE9-C961-137949BD9677}"/>
              </a:ext>
            </a:extLst>
          </p:cNvPr>
          <p:cNvSpPr/>
          <p:nvPr/>
        </p:nvSpPr>
        <p:spPr>
          <a:xfrm>
            <a:off x="548640" y="731520"/>
            <a:ext cx="11091672" cy="731520"/>
          </a:xfrm>
          <a:prstGeom prst="rect">
            <a:avLst/>
          </a:prstGeom>
          <a:noFill/>
          <a:ln/>
        </p:spPr>
        <p:txBody>
          <a:bodyPr wrap="square" rtlCol="0" anchor="ctr"/>
          <a:lstStyle/>
          <a:p>
            <a:pPr marL="0" indent="0">
              <a:buNone/>
            </a:pPr>
            <a:r>
              <a:rPr lang="en-US" sz="2400" b="1" dirty="0">
                <a:solidFill>
                  <a:srgbClr val="000000"/>
                </a:solidFill>
                <a:latin typeface="Helvetica" pitchFamily="34" charset="0"/>
                <a:ea typeface="Helvetica" pitchFamily="34" charset="-122"/>
                <a:cs typeface="Helvetica" pitchFamily="34" charset="-120"/>
              </a:rPr>
              <a:t>Class</a:t>
            </a:r>
            <a:endParaRPr lang="en-US" sz="2800" dirty="0"/>
          </a:p>
        </p:txBody>
      </p:sp>
      <p:sp>
        <p:nvSpPr>
          <p:cNvPr id="6" name="Text 2">
            <a:extLst>
              <a:ext uri="{FF2B5EF4-FFF2-40B4-BE49-F238E27FC236}">
                <a16:creationId xmlns:a16="http://schemas.microsoft.com/office/drawing/2014/main" id="{9EA7E995-5986-13C0-DEEB-5528FDA18615}"/>
              </a:ext>
            </a:extLst>
          </p:cNvPr>
          <p:cNvSpPr/>
          <p:nvPr/>
        </p:nvSpPr>
        <p:spPr>
          <a:xfrm>
            <a:off x="393149" y="1778466"/>
            <a:ext cx="4195629" cy="1269578"/>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250" dirty="0">
                <a:solidFill>
                  <a:srgbClr val="000000"/>
                </a:solidFill>
                <a:latin typeface="Courier New" pitchFamily="34" charset="0"/>
                <a:cs typeface="Courier New" pitchFamily="34" charset="-120"/>
              </a:rPr>
              <a:t>class </a:t>
            </a:r>
            <a:r>
              <a:rPr lang="en-US" sz="1250" dirty="0" err="1">
                <a:solidFill>
                  <a:srgbClr val="000000"/>
                </a:solidFill>
                <a:latin typeface="Courier New" pitchFamily="34" charset="0"/>
                <a:cs typeface="Courier New" pitchFamily="34" charset="-120"/>
              </a:rPr>
              <a:t>ClassName</a:t>
            </a:r>
            <a:r>
              <a:rPr lang="en-US" sz="1250" dirty="0">
                <a:solidFill>
                  <a:srgbClr val="000000"/>
                </a:solidFill>
                <a:latin typeface="Courier New" pitchFamily="34" charset="0"/>
                <a:cs typeface="Courier New" pitchFamily="34" charset="-120"/>
              </a:rPr>
              <a:t> {</a:t>
            </a:r>
            <a:br>
              <a:rPr lang="en-US" sz="1250" dirty="0">
                <a:solidFill>
                  <a:srgbClr val="000000"/>
                </a:solidFill>
                <a:latin typeface="Courier New" pitchFamily="34" charset="0"/>
                <a:cs typeface="Courier New" pitchFamily="34" charset="-120"/>
              </a:rPr>
            </a:br>
            <a:r>
              <a:rPr lang="en-US" sz="1250" dirty="0">
                <a:solidFill>
                  <a:srgbClr val="000000"/>
                </a:solidFill>
                <a:latin typeface="Courier New" pitchFamily="34" charset="0"/>
                <a:cs typeface="Courier New" pitchFamily="34" charset="-120"/>
              </a:rPr>
              <a:t>    </a:t>
            </a:r>
            <a:r>
              <a:rPr lang="en-US" sz="1250" dirty="0" err="1">
                <a:solidFill>
                  <a:srgbClr val="000000"/>
                </a:solidFill>
                <a:latin typeface="Courier New" pitchFamily="34" charset="0"/>
                <a:cs typeface="Courier New" pitchFamily="34" charset="-120"/>
              </a:rPr>
              <a:t>access_specifier</a:t>
            </a:r>
            <a:r>
              <a:rPr lang="en-US" sz="1250" dirty="0">
                <a:solidFill>
                  <a:srgbClr val="000000"/>
                </a:solidFill>
                <a:latin typeface="Courier New" pitchFamily="34" charset="0"/>
                <a:cs typeface="Courier New" pitchFamily="34" charset="-120"/>
              </a:rPr>
              <a:t>: </a:t>
            </a:r>
            <a:br>
              <a:rPr lang="en-US" sz="1250" dirty="0">
                <a:solidFill>
                  <a:srgbClr val="000000"/>
                </a:solidFill>
                <a:latin typeface="Courier New" pitchFamily="34" charset="0"/>
                <a:cs typeface="Courier New" pitchFamily="34" charset="-120"/>
              </a:rPr>
            </a:br>
            <a:r>
              <a:rPr lang="en-US" sz="1250" dirty="0">
                <a:solidFill>
                  <a:srgbClr val="000000"/>
                </a:solidFill>
                <a:latin typeface="Courier New" pitchFamily="34" charset="0"/>
                <a:cs typeface="Courier New" pitchFamily="34" charset="-120"/>
              </a:rPr>
              <a:t>    // </a:t>
            </a:r>
            <a:r>
              <a:rPr lang="en-US" sz="1250" dirty="0" err="1">
                <a:solidFill>
                  <a:srgbClr val="000000"/>
                </a:solidFill>
                <a:latin typeface="Courier New" pitchFamily="34" charset="0"/>
                <a:cs typeface="Courier New" pitchFamily="34" charset="-120"/>
              </a:rPr>
              <a:t>Data_members</a:t>
            </a:r>
            <a:r>
              <a:rPr lang="en-US" sz="1250" dirty="0">
                <a:solidFill>
                  <a:srgbClr val="000000"/>
                </a:solidFill>
                <a:latin typeface="Courier New" pitchFamily="34" charset="0"/>
                <a:cs typeface="Courier New" pitchFamily="34" charset="-120"/>
              </a:rPr>
              <a:t>;</a:t>
            </a:r>
          </a:p>
          <a:p>
            <a:r>
              <a:rPr lang="en-US" sz="1250" dirty="0">
                <a:solidFill>
                  <a:srgbClr val="000000"/>
                </a:solidFill>
                <a:latin typeface="Courier New" pitchFamily="34" charset="0"/>
                <a:cs typeface="Courier New" pitchFamily="34" charset="-120"/>
              </a:rPr>
              <a:t>    // </a:t>
            </a:r>
            <a:r>
              <a:rPr lang="en-US" sz="1250" dirty="0" err="1">
                <a:solidFill>
                  <a:srgbClr val="000000"/>
                </a:solidFill>
                <a:latin typeface="Courier New" pitchFamily="34" charset="0"/>
                <a:cs typeface="Courier New" pitchFamily="34" charset="-120"/>
              </a:rPr>
              <a:t>Member_Functions</a:t>
            </a:r>
            <a:r>
              <a:rPr lang="en-US" sz="1250" dirty="0">
                <a:solidFill>
                  <a:srgbClr val="000000"/>
                </a:solidFill>
                <a:latin typeface="Courier New" pitchFamily="34" charset="0"/>
                <a:cs typeface="Courier New" pitchFamily="34" charset="-120"/>
              </a:rPr>
              <a:t>()</a:t>
            </a:r>
            <a:br>
              <a:rPr lang="en-US" sz="1250" dirty="0">
                <a:solidFill>
                  <a:srgbClr val="000000"/>
                </a:solidFill>
                <a:latin typeface="Courier New" pitchFamily="34" charset="0"/>
                <a:cs typeface="Courier New" pitchFamily="34" charset="-120"/>
              </a:rPr>
            </a:br>
            <a:r>
              <a:rPr lang="en-US" sz="1250" dirty="0">
                <a:solidFill>
                  <a:srgbClr val="000000"/>
                </a:solidFill>
                <a:latin typeface="Courier New" pitchFamily="34" charset="0"/>
                <a:cs typeface="Courier New" pitchFamily="34" charset="-120"/>
              </a:rPr>
              <a:t>};</a:t>
            </a:r>
          </a:p>
        </p:txBody>
      </p:sp>
      <p:sp>
        <p:nvSpPr>
          <p:cNvPr id="8" name="TextBox 7">
            <a:extLst>
              <a:ext uri="{FF2B5EF4-FFF2-40B4-BE49-F238E27FC236}">
                <a16:creationId xmlns:a16="http://schemas.microsoft.com/office/drawing/2014/main" id="{FD88E8DA-FCF5-5D9F-7629-3871EB43AE9E}"/>
              </a:ext>
            </a:extLst>
          </p:cNvPr>
          <p:cNvSpPr txBox="1"/>
          <p:nvPr/>
        </p:nvSpPr>
        <p:spPr>
          <a:xfrm>
            <a:off x="548640" y="1459468"/>
            <a:ext cx="810735" cy="369332"/>
          </a:xfrm>
          <a:prstGeom prst="rect">
            <a:avLst/>
          </a:prstGeom>
          <a:noFill/>
        </p:spPr>
        <p:txBody>
          <a:bodyPr wrap="none" rtlCol="0">
            <a:spAutoFit/>
          </a:bodyPr>
          <a:lstStyle/>
          <a:p>
            <a:r>
              <a:rPr lang="en-US" sz="1600" b="1" dirty="0"/>
              <a:t>Syntax</a:t>
            </a:r>
            <a:r>
              <a:rPr lang="en-US" dirty="0"/>
              <a:t>:</a:t>
            </a:r>
          </a:p>
        </p:txBody>
      </p:sp>
      <p:pic>
        <p:nvPicPr>
          <p:cNvPr id="10" name="Picture 2">
            <a:extLst>
              <a:ext uri="{FF2B5EF4-FFF2-40B4-BE49-F238E27FC236}">
                <a16:creationId xmlns:a16="http://schemas.microsoft.com/office/drawing/2014/main" id="{DEE411F3-C88F-2A6C-E84B-330BEA912180}"/>
              </a:ext>
            </a:extLst>
          </p:cNvPr>
          <p:cNvPicPr>
            <a:picLocks noChangeAspect="1"/>
          </p:cNvPicPr>
          <p:nvPr/>
        </p:nvPicPr>
        <p:blipFill>
          <a:blip r:embed="rId3"/>
          <a:stretch>
            <a:fillRect/>
          </a:stretch>
        </p:blipFill>
        <p:spPr>
          <a:xfrm>
            <a:off x="4661484" y="1770077"/>
            <a:ext cx="7427053" cy="4228051"/>
          </a:xfrm>
          <a:prstGeom prst="rect">
            <a:avLst/>
          </a:prstGeom>
        </p:spPr>
      </p:pic>
      <p:sp>
        <p:nvSpPr>
          <p:cNvPr id="11" name="TextBox 10">
            <a:extLst>
              <a:ext uri="{FF2B5EF4-FFF2-40B4-BE49-F238E27FC236}">
                <a16:creationId xmlns:a16="http://schemas.microsoft.com/office/drawing/2014/main" id="{D44FAB13-EC83-A23A-5549-9F40EF1D73FD}"/>
              </a:ext>
            </a:extLst>
          </p:cNvPr>
          <p:cNvSpPr txBox="1"/>
          <p:nvPr/>
        </p:nvSpPr>
        <p:spPr>
          <a:xfrm>
            <a:off x="393148" y="3540901"/>
            <a:ext cx="4195629" cy="2462213"/>
          </a:xfrm>
          <a:prstGeom prst="rect">
            <a:avLst/>
          </a:prstGeom>
          <a:noFill/>
        </p:spPr>
        <p:txBody>
          <a:bodyPr wrap="square" rtlCol="0">
            <a:spAutoFit/>
          </a:bodyPr>
          <a:lstStyle/>
          <a:p>
            <a:pPr marL="285750" indent="-285750">
              <a:buFont typeface="Arial" panose="020B0604020202020204" pitchFamily="34" charset="0"/>
              <a:buChar char="•"/>
            </a:pPr>
            <a:r>
              <a:rPr lang="en-US" sz="1400" dirty="0"/>
              <a:t>The </a:t>
            </a:r>
            <a:r>
              <a:rPr lang="en-US" sz="1400" b="1" dirty="0"/>
              <a:t>keyword</a:t>
            </a:r>
            <a:r>
              <a:rPr lang="en-US" sz="1400" dirty="0"/>
              <a:t> </a:t>
            </a:r>
            <a:r>
              <a:rPr lang="en-US" sz="1400" b="1" dirty="0"/>
              <a:t>class</a:t>
            </a:r>
            <a:r>
              <a:rPr lang="en-US" sz="1400" dirty="0"/>
              <a:t> is used to define a class in C++, where the class identifier is given by </a:t>
            </a:r>
            <a:r>
              <a:rPr lang="en-US" sz="1400" b="1" dirty="0" err="1"/>
              <a:t>ClassName</a:t>
            </a:r>
            <a:r>
              <a:rPr lang="en-US" sz="1400" dirty="0"/>
              <a:t>.</a:t>
            </a:r>
          </a:p>
          <a:p>
            <a:pPr marL="285750" indent="-285750">
              <a:buFont typeface="Arial" panose="020B0604020202020204" pitchFamily="34" charset="0"/>
              <a:buChar char="•"/>
            </a:pPr>
            <a:r>
              <a:rPr lang="en-US" sz="1400" dirty="0"/>
              <a:t>The </a:t>
            </a:r>
            <a:r>
              <a:rPr lang="en-US" sz="1400" b="1" dirty="0" err="1"/>
              <a:t>access_specifier</a:t>
            </a:r>
            <a:r>
              <a:rPr lang="en-US" sz="1400" dirty="0"/>
              <a:t> is the access controller which defines the visibility of class members. It can be private, public, and protected; we will elaborate on these in a later section.</a:t>
            </a:r>
          </a:p>
          <a:p>
            <a:pPr marL="285750" indent="-285750">
              <a:buFont typeface="Arial" panose="020B0604020202020204" pitchFamily="34" charset="0"/>
              <a:buChar char="•"/>
            </a:pPr>
            <a:r>
              <a:rPr lang="en-US" sz="1400" b="1" dirty="0" err="1"/>
              <a:t>Data_members</a:t>
            </a:r>
            <a:r>
              <a:rPr lang="en-US" sz="1400" dirty="0"/>
              <a:t> are the variables that hold data related to an object of the class.</a:t>
            </a:r>
          </a:p>
          <a:p>
            <a:pPr marL="285750" indent="-285750">
              <a:buFont typeface="Arial" panose="020B0604020202020204" pitchFamily="34" charset="0"/>
              <a:buChar char="•"/>
            </a:pPr>
            <a:r>
              <a:rPr lang="en-US" sz="1400" b="1" dirty="0" err="1"/>
              <a:t>Member_functions</a:t>
            </a:r>
            <a:r>
              <a:rPr lang="en-US" sz="1400" b="1" dirty="0"/>
              <a:t>()</a:t>
            </a:r>
            <a:r>
              <a:rPr lang="en-US" sz="1400" dirty="0"/>
              <a:t> are class methods that define what operations can be performed on objects and how. </a:t>
            </a:r>
          </a:p>
        </p:txBody>
      </p:sp>
    </p:spTree>
    <p:extLst>
      <p:ext uri="{BB962C8B-B14F-4D97-AF65-F5344CB8AC3E}">
        <p14:creationId xmlns:p14="http://schemas.microsoft.com/office/powerpoint/2010/main" val="67782555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B4FCC-8686-BDD8-A925-AEAC149DF78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03C0281-1EE4-A163-C676-347420FFE669}"/>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4</a:t>
            </a:r>
            <a:endParaRPr lang="en-US" sz="1400" dirty="0"/>
          </a:p>
        </p:txBody>
      </p:sp>
      <p:sp>
        <p:nvSpPr>
          <p:cNvPr id="3" name="Text 1">
            <a:extLst>
              <a:ext uri="{FF2B5EF4-FFF2-40B4-BE49-F238E27FC236}">
                <a16:creationId xmlns:a16="http://schemas.microsoft.com/office/drawing/2014/main" id="{65D0C9A9-8C86-957A-D1F9-EC17C1F99416}"/>
              </a:ext>
            </a:extLst>
          </p:cNvPr>
          <p:cNvSpPr/>
          <p:nvPr/>
        </p:nvSpPr>
        <p:spPr>
          <a:xfrm>
            <a:off x="548640" y="731520"/>
            <a:ext cx="11091672" cy="731520"/>
          </a:xfrm>
          <a:prstGeom prst="rect">
            <a:avLst/>
          </a:prstGeom>
          <a:noFill/>
          <a:ln/>
        </p:spPr>
        <p:txBody>
          <a:bodyPr wrap="square" rtlCol="0" anchor="ctr"/>
          <a:lstStyle/>
          <a:p>
            <a:pPr marL="0" indent="0">
              <a:buNone/>
            </a:pPr>
            <a:r>
              <a:rPr lang="en-US" sz="2400" b="1" dirty="0">
                <a:solidFill>
                  <a:srgbClr val="000000"/>
                </a:solidFill>
                <a:latin typeface="Helvetica" pitchFamily="34" charset="0"/>
                <a:ea typeface="Helvetica" pitchFamily="34" charset="-122"/>
                <a:cs typeface="Helvetica" pitchFamily="34" charset="-120"/>
              </a:rPr>
              <a:t>Objects</a:t>
            </a:r>
            <a:endParaRPr lang="en-US" sz="2800" dirty="0"/>
          </a:p>
        </p:txBody>
      </p:sp>
      <p:sp>
        <p:nvSpPr>
          <p:cNvPr id="4" name="Text 2">
            <a:extLst>
              <a:ext uri="{FF2B5EF4-FFF2-40B4-BE49-F238E27FC236}">
                <a16:creationId xmlns:a16="http://schemas.microsoft.com/office/drawing/2014/main" id="{1B21CF34-2B09-3194-05DE-314D055DEBD0}"/>
              </a:ext>
            </a:extLst>
          </p:cNvPr>
          <p:cNvSpPr/>
          <p:nvPr/>
        </p:nvSpPr>
        <p:spPr>
          <a:xfrm>
            <a:off x="548640" y="1449576"/>
            <a:ext cx="11014710" cy="3278419"/>
          </a:xfrm>
          <a:prstGeom prst="rect">
            <a:avLst/>
          </a:prstGeom>
          <a:noFill/>
          <a:ln/>
        </p:spPr>
        <p:txBody>
          <a:bodyPr wrap="square" rtlCol="0" anchor="t"/>
          <a:lstStyle/>
          <a:p>
            <a:r>
              <a:rPr lang="en-US" sz="1400" i="1" dirty="0"/>
              <a:t>An </a:t>
            </a:r>
            <a:r>
              <a:rPr lang="en-US" sz="1400" b="1" i="1" dirty="0"/>
              <a:t>object</a:t>
            </a:r>
            <a:r>
              <a:rPr lang="en-US" sz="1400" i="1" dirty="0"/>
              <a:t> is anything in the real world that has a distinct identity, observable characteristics, and defined behaviors.</a:t>
            </a:r>
          </a:p>
          <a:p>
            <a:endParaRPr lang="en-US" sz="1400" i="1" dirty="0"/>
          </a:p>
          <a:p>
            <a:r>
              <a:rPr lang="en-US" sz="1400" dirty="0"/>
              <a:t>Think of it like a </a:t>
            </a:r>
            <a:r>
              <a:rPr lang="en-US" sz="1400" b="1" dirty="0"/>
              <a:t>smartphone</a:t>
            </a:r>
            <a:r>
              <a:rPr lang="en-US" sz="1400" dirty="0"/>
              <a:t>:</a:t>
            </a:r>
          </a:p>
          <a:p>
            <a:pPr lvl="1"/>
            <a:r>
              <a:rPr lang="en-US" sz="1400" b="1" dirty="0"/>
              <a:t>State (Attributes):</a:t>
            </a:r>
            <a:r>
              <a:rPr lang="en-US" sz="1400" dirty="0"/>
              <a:t> Brand, model, color, battery level.</a:t>
            </a:r>
          </a:p>
          <a:p>
            <a:pPr lvl="1"/>
            <a:r>
              <a:rPr lang="en-US" sz="1400" b="1" dirty="0"/>
              <a:t>Behavior (Methods):</a:t>
            </a:r>
            <a:r>
              <a:rPr lang="en-US" sz="1400" dirty="0"/>
              <a:t> Making a call, sending a text, or opening an app.</a:t>
            </a:r>
          </a:p>
          <a:p>
            <a:endParaRPr lang="en-US" sz="1400" dirty="0"/>
          </a:p>
          <a:p>
            <a:r>
              <a:rPr lang="en-US" sz="1400" dirty="0"/>
              <a:t>According to the Webster’s New World dictionary, an Object is defined as:</a:t>
            </a:r>
          </a:p>
          <a:p>
            <a:pPr lvl="1"/>
            <a:r>
              <a:rPr lang="en-US" sz="1400" i="1" dirty="0"/>
              <a:t>“</a:t>
            </a:r>
            <a:r>
              <a:rPr lang="en-US" sz="1400" dirty="0"/>
              <a:t>A thing that can be seen or touched; material thing; a person or thing to which action, thought or feeling is directed</a:t>
            </a:r>
            <a:r>
              <a:rPr lang="en-US" sz="1400" i="1" dirty="0"/>
              <a:t>”. </a:t>
            </a:r>
          </a:p>
          <a:p>
            <a:pPr lvl="1"/>
            <a:endParaRPr lang="en-US" sz="1400" i="1" dirty="0"/>
          </a:p>
          <a:p>
            <a:r>
              <a:rPr lang="en-US" sz="1400" dirty="0"/>
              <a:t>An </a:t>
            </a:r>
            <a:r>
              <a:rPr lang="en-US" sz="1400" b="1" dirty="0"/>
              <a:t>object</a:t>
            </a:r>
            <a:r>
              <a:rPr lang="en-US" sz="1400" dirty="0"/>
              <a:t> is an instance of a class. When an object is created, a real-world entity is created that has the properties and behaviors defined by the class. While a class only defines what an object will be, an object is an actual instance that occupies memory and can be manipulated.</a:t>
            </a:r>
          </a:p>
          <a:p>
            <a:endParaRPr lang="en-US" sz="1400" dirty="0"/>
          </a:p>
          <a:p>
            <a:r>
              <a:rPr lang="en-US" sz="1400" b="1" dirty="0"/>
              <a:t>Creating an Object:</a:t>
            </a:r>
          </a:p>
          <a:p>
            <a:r>
              <a:rPr lang="en-US" sz="1400" dirty="0"/>
              <a:t>To use the data members and functions of a class, you need to create an object. When you create an object, memory is allocated for it, allowing you to access and manipulate the data members and functions defined in the class.</a:t>
            </a:r>
          </a:p>
          <a:p>
            <a:endParaRPr lang="en-US" i="1" dirty="0"/>
          </a:p>
        </p:txBody>
      </p:sp>
      <p:sp>
        <p:nvSpPr>
          <p:cNvPr id="6" name="TextBox 5">
            <a:extLst>
              <a:ext uri="{FF2B5EF4-FFF2-40B4-BE49-F238E27FC236}">
                <a16:creationId xmlns:a16="http://schemas.microsoft.com/office/drawing/2014/main" id="{2BA7255A-6F77-36AE-F07F-8B6BC1233759}"/>
              </a:ext>
            </a:extLst>
          </p:cNvPr>
          <p:cNvSpPr txBox="1"/>
          <p:nvPr/>
        </p:nvSpPr>
        <p:spPr>
          <a:xfrm>
            <a:off x="548640" y="4881527"/>
            <a:ext cx="810735" cy="369332"/>
          </a:xfrm>
          <a:prstGeom prst="rect">
            <a:avLst/>
          </a:prstGeom>
          <a:noFill/>
        </p:spPr>
        <p:txBody>
          <a:bodyPr wrap="none" rtlCol="0">
            <a:spAutoFit/>
          </a:bodyPr>
          <a:lstStyle/>
          <a:p>
            <a:r>
              <a:rPr lang="en-US" sz="1600" b="1" dirty="0"/>
              <a:t>Syntax</a:t>
            </a:r>
            <a:r>
              <a:rPr lang="en-US" dirty="0"/>
              <a:t>:</a:t>
            </a:r>
          </a:p>
        </p:txBody>
      </p:sp>
      <p:sp>
        <p:nvSpPr>
          <p:cNvPr id="8" name="Text 2">
            <a:extLst>
              <a:ext uri="{FF2B5EF4-FFF2-40B4-BE49-F238E27FC236}">
                <a16:creationId xmlns:a16="http://schemas.microsoft.com/office/drawing/2014/main" id="{3EF93394-A94D-EEC0-12D6-29BAF81B5C86}"/>
              </a:ext>
            </a:extLst>
          </p:cNvPr>
          <p:cNvSpPr/>
          <p:nvPr/>
        </p:nvSpPr>
        <p:spPr>
          <a:xfrm>
            <a:off x="548640" y="5209347"/>
            <a:ext cx="10763600" cy="500137"/>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250" dirty="0" err="1">
                <a:solidFill>
                  <a:srgbClr val="000000"/>
                </a:solidFill>
                <a:latin typeface="Courier New" pitchFamily="34" charset="0"/>
                <a:cs typeface="Courier New" pitchFamily="34" charset="-120"/>
              </a:rPr>
              <a:t>ClassName</a:t>
            </a:r>
            <a:r>
              <a:rPr lang="en-US" sz="1250" dirty="0">
                <a:solidFill>
                  <a:srgbClr val="000000"/>
                </a:solidFill>
                <a:latin typeface="Courier New" pitchFamily="34" charset="0"/>
                <a:cs typeface="Courier New" pitchFamily="34" charset="-120"/>
              </a:rPr>
              <a:t> </a:t>
            </a:r>
            <a:r>
              <a:rPr lang="en-US" sz="1250" dirty="0" err="1">
                <a:solidFill>
                  <a:srgbClr val="000000"/>
                </a:solidFill>
                <a:latin typeface="Courier New" pitchFamily="34" charset="0"/>
                <a:cs typeface="Courier New" pitchFamily="34" charset="-120"/>
              </a:rPr>
              <a:t>ObjectName</a:t>
            </a:r>
            <a:r>
              <a:rPr lang="en-US" sz="1250" dirty="0">
                <a:solidFill>
                  <a:srgbClr val="000000"/>
                </a:solidFill>
                <a:latin typeface="Courier New" pitchFamily="34" charset="0"/>
                <a:cs typeface="Courier New" pitchFamily="34" charset="-120"/>
              </a:rPr>
              <a:t>; //Creating an object</a:t>
            </a:r>
          </a:p>
        </p:txBody>
      </p:sp>
      <p:sp>
        <p:nvSpPr>
          <p:cNvPr id="10" name="TextBox 9">
            <a:extLst>
              <a:ext uri="{FF2B5EF4-FFF2-40B4-BE49-F238E27FC236}">
                <a16:creationId xmlns:a16="http://schemas.microsoft.com/office/drawing/2014/main" id="{A1FB50AF-4F38-BAAC-D707-FA22DAECFA38}"/>
              </a:ext>
            </a:extLst>
          </p:cNvPr>
          <p:cNvSpPr txBox="1"/>
          <p:nvPr/>
        </p:nvSpPr>
        <p:spPr>
          <a:xfrm>
            <a:off x="538993" y="5816574"/>
            <a:ext cx="10773248" cy="523220"/>
          </a:xfrm>
          <a:prstGeom prst="rect">
            <a:avLst/>
          </a:prstGeom>
          <a:noFill/>
        </p:spPr>
        <p:txBody>
          <a:bodyPr wrap="square">
            <a:spAutoFit/>
          </a:bodyPr>
          <a:lstStyle/>
          <a:p>
            <a:pPr marL="285750" indent="-285750">
              <a:buFont typeface="Arial" panose="020B0604020202020204" pitchFamily="34" charset="0"/>
              <a:buChar char="•"/>
            </a:pPr>
            <a:r>
              <a:rPr lang="en-US" sz="1400" b="1" dirty="0" err="1"/>
              <a:t>Class_name</a:t>
            </a:r>
            <a:r>
              <a:rPr lang="en-US" sz="1400" dirty="0"/>
              <a:t>: It is the name of the class for which the object is created</a:t>
            </a:r>
          </a:p>
          <a:p>
            <a:pPr marL="285750" indent="-285750">
              <a:buFont typeface="Arial" panose="020B0604020202020204" pitchFamily="34" charset="0"/>
              <a:buChar char="•"/>
            </a:pPr>
            <a:r>
              <a:rPr lang="en-US" sz="1400" b="1" dirty="0" err="1"/>
              <a:t>Object_name</a:t>
            </a:r>
            <a:r>
              <a:rPr lang="en-US" sz="1400" dirty="0"/>
              <a:t>: It is the name of the object. Note that having a meaningful object name enhances code readability</a:t>
            </a:r>
          </a:p>
        </p:txBody>
      </p:sp>
    </p:spTree>
    <p:extLst>
      <p:ext uri="{BB962C8B-B14F-4D97-AF65-F5344CB8AC3E}">
        <p14:creationId xmlns:p14="http://schemas.microsoft.com/office/powerpoint/2010/main" val="42163257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5A56C-33A6-C1B5-D234-56992CA2D64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C0C585A-F295-733A-107D-0B017A31D41A}"/>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4</a:t>
            </a:r>
            <a:endParaRPr lang="en-US" sz="1400" dirty="0"/>
          </a:p>
        </p:txBody>
      </p:sp>
      <p:sp>
        <p:nvSpPr>
          <p:cNvPr id="3" name="Text 1">
            <a:extLst>
              <a:ext uri="{FF2B5EF4-FFF2-40B4-BE49-F238E27FC236}">
                <a16:creationId xmlns:a16="http://schemas.microsoft.com/office/drawing/2014/main" id="{7E5C1207-D768-C120-4ABB-9590D1100934}"/>
              </a:ext>
            </a:extLst>
          </p:cNvPr>
          <p:cNvSpPr/>
          <p:nvPr/>
        </p:nvSpPr>
        <p:spPr>
          <a:xfrm>
            <a:off x="548640" y="731520"/>
            <a:ext cx="11091672" cy="731520"/>
          </a:xfrm>
          <a:prstGeom prst="rect">
            <a:avLst/>
          </a:prstGeom>
          <a:noFill/>
          <a:ln/>
        </p:spPr>
        <p:txBody>
          <a:bodyPr wrap="square" rtlCol="0" anchor="ctr"/>
          <a:lstStyle/>
          <a:p>
            <a:pPr marL="0" indent="0">
              <a:buNone/>
            </a:pPr>
            <a:r>
              <a:rPr lang="en-US" sz="2400" b="1" dirty="0">
                <a:solidFill>
                  <a:srgbClr val="000000"/>
                </a:solidFill>
                <a:latin typeface="Helvetica" pitchFamily="34" charset="0"/>
                <a:ea typeface="Helvetica" pitchFamily="34" charset="-122"/>
                <a:cs typeface="Helvetica" pitchFamily="34" charset="-120"/>
              </a:rPr>
              <a:t>Objects</a:t>
            </a:r>
            <a:endParaRPr lang="en-US" sz="2800" dirty="0"/>
          </a:p>
        </p:txBody>
      </p:sp>
      <p:sp>
        <p:nvSpPr>
          <p:cNvPr id="4" name="Text 2">
            <a:extLst>
              <a:ext uri="{FF2B5EF4-FFF2-40B4-BE49-F238E27FC236}">
                <a16:creationId xmlns:a16="http://schemas.microsoft.com/office/drawing/2014/main" id="{EFF8137C-B269-ECAC-8E64-241E0EF664E4}"/>
              </a:ext>
            </a:extLst>
          </p:cNvPr>
          <p:cNvSpPr/>
          <p:nvPr/>
        </p:nvSpPr>
        <p:spPr>
          <a:xfrm>
            <a:off x="548640" y="1449576"/>
            <a:ext cx="4014971" cy="5202894"/>
          </a:xfrm>
          <a:prstGeom prst="rect">
            <a:avLst/>
          </a:prstGeom>
          <a:noFill/>
          <a:ln/>
        </p:spPr>
        <p:txBody>
          <a:bodyPr wrap="square" rtlCol="0" anchor="t"/>
          <a:lstStyle/>
          <a:p>
            <a:pPr marL="342900" indent="-342900">
              <a:buFont typeface="+mj-lt"/>
              <a:buAutoNum type="arabicPeriod"/>
            </a:pPr>
            <a:r>
              <a:rPr lang="en-US" sz="1400" b="1" dirty="0"/>
              <a:t>Declare and Define a Class in C++ Program:</a:t>
            </a:r>
            <a:r>
              <a:rPr lang="en-US" sz="1400" dirty="0"/>
              <a:t> The first step is to create a class, as mentioned in the syntax given above. The C++ class definition must specify-</a:t>
            </a:r>
          </a:p>
          <a:p>
            <a:pPr marL="800100" lvl="1" indent="-342900">
              <a:buFont typeface="Wingdings" panose="05000000000000000000" pitchFamily="2" charset="2"/>
              <a:buChar char="ü"/>
            </a:pPr>
            <a:r>
              <a:rPr lang="en-US" sz="1400" dirty="0"/>
              <a:t>Data members, i.e., the attributes or member variables of objects in C++.</a:t>
            </a:r>
          </a:p>
          <a:p>
            <a:pPr marL="800100" lvl="1" indent="-342900">
              <a:buFont typeface="Wingdings" panose="05000000000000000000" pitchFamily="2" charset="2"/>
              <a:buChar char="ü"/>
            </a:pPr>
            <a:r>
              <a:rPr lang="en-US" sz="1400" dirty="0"/>
              <a:t>Member functions, i.e., C++ class methods that define how we can manipulate the data stored in the member variables to full required tasks.</a:t>
            </a:r>
          </a:p>
          <a:p>
            <a:pPr marL="342900" indent="-342900">
              <a:buFont typeface="+mj-lt"/>
              <a:buAutoNum type="arabicPeriod"/>
            </a:pPr>
            <a:r>
              <a:rPr lang="en-US" sz="1400" b="1" dirty="0"/>
              <a:t>Create an Object in C++ Program: </a:t>
            </a:r>
            <a:r>
              <a:rPr lang="en-US" sz="1400" dirty="0"/>
              <a:t>After a class has been defined, an object of that class can be declared by writing the class name and then the object name. The memory for the object is assigned after this declaration.</a:t>
            </a:r>
          </a:p>
          <a:p>
            <a:pPr marL="342900" indent="-342900">
              <a:buFont typeface="+mj-lt"/>
              <a:buAutoNum type="arabicPeriod"/>
            </a:pPr>
            <a:r>
              <a:rPr lang="en-US" sz="1400" dirty="0"/>
              <a:t>The creation of a C++ class object is usually done in the main() part of the program. </a:t>
            </a:r>
          </a:p>
          <a:p>
            <a:pPr marL="342900" indent="-342900">
              <a:buFont typeface="+mj-lt"/>
              <a:buAutoNum type="arabicPeriod"/>
            </a:pPr>
            <a:r>
              <a:rPr lang="en-US" sz="1400" dirty="0"/>
              <a:t>Once declared and initialized, the C++ class object can be used to invoke special functions in the class.</a:t>
            </a:r>
          </a:p>
        </p:txBody>
      </p:sp>
      <p:sp>
        <p:nvSpPr>
          <p:cNvPr id="7" name="Text 2">
            <a:extLst>
              <a:ext uri="{FF2B5EF4-FFF2-40B4-BE49-F238E27FC236}">
                <a16:creationId xmlns:a16="http://schemas.microsoft.com/office/drawing/2014/main" id="{16A50007-384F-2C70-586A-658276DCFA39}"/>
              </a:ext>
            </a:extLst>
          </p:cNvPr>
          <p:cNvSpPr/>
          <p:nvPr/>
        </p:nvSpPr>
        <p:spPr>
          <a:xfrm>
            <a:off x="4840448" y="1463040"/>
            <a:ext cx="7248088" cy="4878259"/>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100" dirty="0">
                <a:solidFill>
                  <a:srgbClr val="000000"/>
                </a:solidFill>
                <a:latin typeface="Courier New" pitchFamily="34" charset="0"/>
                <a:cs typeface="Courier New" pitchFamily="34" charset="-120"/>
              </a:rPr>
              <a:t>#include &lt;iostream&gt;</a:t>
            </a:r>
          </a:p>
          <a:p>
            <a:r>
              <a:rPr lang="en-US" sz="1100" dirty="0">
                <a:solidFill>
                  <a:srgbClr val="000000"/>
                </a:solidFill>
                <a:latin typeface="Courier New" pitchFamily="34" charset="0"/>
                <a:cs typeface="Courier New" pitchFamily="34" charset="-120"/>
              </a:rPr>
              <a:t>using namespace std;</a:t>
            </a:r>
          </a:p>
          <a:p>
            <a:r>
              <a:rPr lang="en-US" sz="1100" dirty="0">
                <a:solidFill>
                  <a:srgbClr val="000000"/>
                </a:solidFill>
                <a:latin typeface="Courier New" pitchFamily="34" charset="0"/>
                <a:cs typeface="Courier New" pitchFamily="34" charset="-120"/>
              </a:rPr>
              <a:t>// Define a class called 'Car'</a:t>
            </a:r>
          </a:p>
          <a:p>
            <a:br>
              <a:rPr lang="en-US" sz="1100" dirty="0">
                <a:solidFill>
                  <a:srgbClr val="000000"/>
                </a:solidFill>
                <a:latin typeface="Courier New" pitchFamily="34" charset="0"/>
                <a:cs typeface="Courier New" pitchFamily="34" charset="-120"/>
              </a:rPr>
            </a:br>
            <a:r>
              <a:rPr lang="en-US" sz="1100" dirty="0">
                <a:solidFill>
                  <a:srgbClr val="000000"/>
                </a:solidFill>
                <a:latin typeface="Courier New" pitchFamily="34" charset="0"/>
                <a:cs typeface="Courier New" pitchFamily="34" charset="-120"/>
              </a:rPr>
              <a:t>class Car {</a:t>
            </a:r>
          </a:p>
          <a:p>
            <a:r>
              <a:rPr lang="en-US" sz="1100" dirty="0">
                <a:solidFill>
                  <a:srgbClr val="000000"/>
                </a:solidFill>
                <a:latin typeface="Courier New" pitchFamily="34" charset="0"/>
                <a:cs typeface="Courier New" pitchFamily="34" charset="-120"/>
              </a:rPr>
              <a:t>    public:     // Access specifier</a:t>
            </a:r>
          </a:p>
          <a:p>
            <a:r>
              <a:rPr lang="en-US" sz="1100" dirty="0">
                <a:solidFill>
                  <a:srgbClr val="000000"/>
                </a:solidFill>
                <a:latin typeface="Courier New" pitchFamily="34" charset="0"/>
                <a:cs typeface="Courier New" pitchFamily="34" charset="-120"/>
              </a:rPr>
              <a:t>        string brand;  // Data member</a:t>
            </a:r>
          </a:p>
          <a:p>
            <a:r>
              <a:rPr lang="en-US" sz="1100" dirty="0">
                <a:solidFill>
                  <a:srgbClr val="000000"/>
                </a:solidFill>
                <a:latin typeface="Courier New" pitchFamily="34" charset="0"/>
                <a:cs typeface="Courier New" pitchFamily="34" charset="-120"/>
              </a:rPr>
              <a:t>        int speed;     // Data member</a:t>
            </a:r>
          </a:p>
          <a:p>
            <a:r>
              <a:rPr lang="en-US" sz="1100" dirty="0">
                <a:solidFill>
                  <a:srgbClr val="000000"/>
                </a:solidFill>
                <a:latin typeface="Courier New" pitchFamily="34" charset="0"/>
                <a:cs typeface="Courier New" pitchFamily="34" charset="-120"/>
              </a:rPr>
              <a:t>        </a:t>
            </a:r>
          </a:p>
          <a:p>
            <a:r>
              <a:rPr lang="en-US" sz="1100" dirty="0">
                <a:solidFill>
                  <a:srgbClr val="000000"/>
                </a:solidFill>
                <a:latin typeface="Courier New" pitchFamily="34" charset="0"/>
                <a:cs typeface="Courier New" pitchFamily="34" charset="-120"/>
              </a:rPr>
              <a:t>        void display() {        // Member function</a:t>
            </a:r>
          </a:p>
          <a:p>
            <a:r>
              <a:rPr lang="en-US" sz="1100" dirty="0">
                <a:solidFill>
                  <a:srgbClr val="000000"/>
                </a:solidFill>
                <a:latin typeface="Courier New" pitchFamily="34" charset="0"/>
                <a:cs typeface="Courier New" pitchFamily="34" charset="-120"/>
              </a:rPr>
              <a:t>            </a:t>
            </a:r>
            <a:r>
              <a:rPr lang="en-US" sz="1100" dirty="0" err="1">
                <a:solidFill>
                  <a:srgbClr val="000000"/>
                </a:solidFill>
                <a:latin typeface="Courier New" pitchFamily="34" charset="0"/>
                <a:cs typeface="Courier New" pitchFamily="34" charset="-120"/>
              </a:rPr>
              <a:t>cout</a:t>
            </a:r>
            <a:r>
              <a:rPr lang="en-US" sz="1100" dirty="0">
                <a:solidFill>
                  <a:srgbClr val="000000"/>
                </a:solidFill>
                <a:latin typeface="Courier New" pitchFamily="34" charset="0"/>
                <a:cs typeface="Courier New" pitchFamily="34" charset="-120"/>
              </a:rPr>
              <a:t> &lt;&lt; "Brand: " &lt;&lt; brand &lt;&lt; ", Speed: " &lt;&lt; speed &lt;&lt; " km/h" &lt;&lt; </a:t>
            </a:r>
            <a:r>
              <a:rPr lang="en-US" sz="1100" dirty="0" err="1">
                <a:solidFill>
                  <a:srgbClr val="000000"/>
                </a:solidFill>
                <a:latin typeface="Courier New" pitchFamily="34" charset="0"/>
                <a:cs typeface="Courier New" pitchFamily="34" charset="-120"/>
              </a:rPr>
              <a:t>endl</a:t>
            </a:r>
            <a:r>
              <a:rPr lang="en-US" sz="1100" dirty="0">
                <a:solidFill>
                  <a:srgbClr val="000000"/>
                </a:solidFill>
                <a:latin typeface="Courier New" pitchFamily="34" charset="0"/>
                <a:cs typeface="Courier New" pitchFamily="34" charset="-120"/>
              </a:rPr>
              <a:t>;</a:t>
            </a:r>
          </a:p>
          <a:p>
            <a:r>
              <a:rPr lang="en-US" sz="1100" dirty="0">
                <a:solidFill>
                  <a:srgbClr val="000000"/>
                </a:solidFill>
                <a:latin typeface="Courier New" pitchFamily="34" charset="0"/>
                <a:cs typeface="Courier New" pitchFamily="34" charset="-120"/>
              </a:rPr>
              <a:t>        }</a:t>
            </a:r>
          </a:p>
          <a:p>
            <a:r>
              <a:rPr lang="en-US" sz="1100" dirty="0">
                <a:solidFill>
                  <a:srgbClr val="000000"/>
                </a:solidFill>
                <a:latin typeface="Courier New" pitchFamily="34" charset="0"/>
                <a:cs typeface="Courier New" pitchFamily="34" charset="-120"/>
              </a:rPr>
              <a:t>};</a:t>
            </a:r>
          </a:p>
          <a:p>
            <a:endParaRPr lang="en-US" sz="1100" dirty="0">
              <a:solidFill>
                <a:srgbClr val="000000"/>
              </a:solidFill>
              <a:latin typeface="Courier New" pitchFamily="34" charset="0"/>
              <a:cs typeface="Courier New" pitchFamily="34" charset="-120"/>
            </a:endParaRPr>
          </a:p>
          <a:p>
            <a:r>
              <a:rPr lang="en-US" sz="1100" dirty="0">
                <a:solidFill>
                  <a:srgbClr val="000000"/>
                </a:solidFill>
                <a:latin typeface="Courier New" pitchFamily="34" charset="0"/>
                <a:cs typeface="Courier New" pitchFamily="34" charset="-120"/>
              </a:rPr>
              <a:t>int main() {</a:t>
            </a:r>
          </a:p>
          <a:p>
            <a:r>
              <a:rPr lang="en-US" sz="1100" dirty="0">
                <a:solidFill>
                  <a:srgbClr val="000000"/>
                </a:solidFill>
                <a:latin typeface="Courier New" pitchFamily="34" charset="0"/>
                <a:cs typeface="Courier New" pitchFamily="34" charset="-120"/>
              </a:rPr>
              <a:t>    // Creating an object of the Car class</a:t>
            </a:r>
          </a:p>
          <a:p>
            <a:r>
              <a:rPr lang="en-US" sz="1100" dirty="0">
                <a:solidFill>
                  <a:srgbClr val="000000"/>
                </a:solidFill>
                <a:latin typeface="Courier New" pitchFamily="34" charset="0"/>
                <a:cs typeface="Courier New" pitchFamily="34" charset="-120"/>
              </a:rPr>
              <a:t>    Car </a:t>
            </a:r>
            <a:r>
              <a:rPr lang="en-US" sz="1100" dirty="0" err="1">
                <a:solidFill>
                  <a:srgbClr val="000000"/>
                </a:solidFill>
                <a:latin typeface="Courier New" pitchFamily="34" charset="0"/>
                <a:cs typeface="Courier New" pitchFamily="34" charset="-120"/>
              </a:rPr>
              <a:t>myCar</a:t>
            </a:r>
            <a:r>
              <a:rPr lang="en-US" sz="1100" dirty="0">
                <a:solidFill>
                  <a:srgbClr val="000000"/>
                </a:solidFill>
                <a:latin typeface="Courier New" pitchFamily="34" charset="0"/>
                <a:cs typeface="Courier New" pitchFamily="34" charset="-120"/>
              </a:rPr>
              <a:t>;</a:t>
            </a:r>
          </a:p>
          <a:p>
            <a:r>
              <a:rPr lang="en-US" sz="1100" dirty="0">
                <a:solidFill>
                  <a:srgbClr val="000000"/>
                </a:solidFill>
                <a:latin typeface="Courier New" pitchFamily="34" charset="0"/>
                <a:cs typeface="Courier New" pitchFamily="34" charset="-120"/>
              </a:rPr>
              <a:t>    </a:t>
            </a:r>
          </a:p>
          <a:p>
            <a:r>
              <a:rPr lang="en-US" sz="1100" dirty="0">
                <a:solidFill>
                  <a:srgbClr val="000000"/>
                </a:solidFill>
                <a:latin typeface="Courier New" pitchFamily="34" charset="0"/>
                <a:cs typeface="Courier New" pitchFamily="34" charset="-120"/>
              </a:rPr>
              <a:t>    // Setting values for the object's data members</a:t>
            </a:r>
          </a:p>
          <a:p>
            <a:r>
              <a:rPr lang="en-US" sz="1100" dirty="0">
                <a:solidFill>
                  <a:srgbClr val="000000"/>
                </a:solidFill>
                <a:latin typeface="Courier New" pitchFamily="34" charset="0"/>
                <a:cs typeface="Courier New" pitchFamily="34" charset="-120"/>
              </a:rPr>
              <a:t>    </a:t>
            </a:r>
            <a:r>
              <a:rPr lang="en-US" sz="1100" dirty="0" err="1">
                <a:solidFill>
                  <a:srgbClr val="000000"/>
                </a:solidFill>
                <a:latin typeface="Courier New" pitchFamily="34" charset="0"/>
                <a:cs typeface="Courier New" pitchFamily="34" charset="-120"/>
              </a:rPr>
              <a:t>myCar.brand</a:t>
            </a:r>
            <a:r>
              <a:rPr lang="en-US" sz="1100" dirty="0">
                <a:solidFill>
                  <a:srgbClr val="000000"/>
                </a:solidFill>
                <a:latin typeface="Courier New" pitchFamily="34" charset="0"/>
                <a:cs typeface="Courier New" pitchFamily="34" charset="-120"/>
              </a:rPr>
              <a:t> = "Toyota";  // Assign brand name</a:t>
            </a:r>
          </a:p>
          <a:p>
            <a:r>
              <a:rPr lang="en-US" sz="1100" dirty="0">
                <a:solidFill>
                  <a:srgbClr val="000000"/>
                </a:solidFill>
                <a:latin typeface="Courier New" pitchFamily="34" charset="0"/>
                <a:cs typeface="Courier New" pitchFamily="34" charset="-120"/>
              </a:rPr>
              <a:t>    </a:t>
            </a:r>
            <a:r>
              <a:rPr lang="en-US" sz="1100" dirty="0" err="1">
                <a:solidFill>
                  <a:srgbClr val="000000"/>
                </a:solidFill>
                <a:latin typeface="Courier New" pitchFamily="34" charset="0"/>
                <a:cs typeface="Courier New" pitchFamily="34" charset="-120"/>
              </a:rPr>
              <a:t>myCar.speed</a:t>
            </a:r>
            <a:r>
              <a:rPr lang="en-US" sz="1100" dirty="0">
                <a:solidFill>
                  <a:srgbClr val="000000"/>
                </a:solidFill>
                <a:latin typeface="Courier New" pitchFamily="34" charset="0"/>
                <a:cs typeface="Courier New" pitchFamily="34" charset="-120"/>
              </a:rPr>
              <a:t> = 120;       // Assign speed value</a:t>
            </a:r>
          </a:p>
          <a:p>
            <a:r>
              <a:rPr lang="en-US" sz="1100" dirty="0">
                <a:solidFill>
                  <a:srgbClr val="000000"/>
                </a:solidFill>
                <a:latin typeface="Courier New" pitchFamily="34" charset="0"/>
                <a:cs typeface="Courier New" pitchFamily="34" charset="-120"/>
              </a:rPr>
              <a:t>    </a:t>
            </a:r>
          </a:p>
          <a:p>
            <a:r>
              <a:rPr lang="en-US" sz="1100" dirty="0">
                <a:solidFill>
                  <a:srgbClr val="000000"/>
                </a:solidFill>
                <a:latin typeface="Courier New" pitchFamily="34" charset="0"/>
                <a:cs typeface="Courier New" pitchFamily="34" charset="-120"/>
              </a:rPr>
              <a:t>    // Displaying the car details</a:t>
            </a:r>
          </a:p>
          <a:p>
            <a:r>
              <a:rPr lang="en-US" sz="1100" dirty="0">
                <a:solidFill>
                  <a:srgbClr val="000000"/>
                </a:solidFill>
                <a:latin typeface="Courier New" pitchFamily="34" charset="0"/>
                <a:cs typeface="Courier New" pitchFamily="34" charset="-120"/>
              </a:rPr>
              <a:t>    </a:t>
            </a:r>
            <a:r>
              <a:rPr lang="en-US" sz="1100" dirty="0" err="1">
                <a:solidFill>
                  <a:srgbClr val="000000"/>
                </a:solidFill>
                <a:latin typeface="Courier New" pitchFamily="34" charset="0"/>
                <a:cs typeface="Courier New" pitchFamily="34" charset="-120"/>
              </a:rPr>
              <a:t>myCar.display</a:t>
            </a:r>
            <a:r>
              <a:rPr lang="en-US" sz="1100" dirty="0">
                <a:solidFill>
                  <a:srgbClr val="000000"/>
                </a:solidFill>
                <a:latin typeface="Courier New" pitchFamily="34" charset="0"/>
                <a:cs typeface="Courier New" pitchFamily="34" charset="-120"/>
              </a:rPr>
              <a:t>();  // Call the display function to output car information</a:t>
            </a:r>
          </a:p>
          <a:p>
            <a:r>
              <a:rPr lang="en-US" sz="1100" dirty="0">
                <a:solidFill>
                  <a:srgbClr val="000000"/>
                </a:solidFill>
                <a:latin typeface="Courier New" pitchFamily="34" charset="0"/>
                <a:cs typeface="Courier New" pitchFamily="34" charset="-120"/>
              </a:rPr>
              <a:t>    </a:t>
            </a:r>
          </a:p>
          <a:p>
            <a:r>
              <a:rPr lang="en-US" sz="1100" dirty="0">
                <a:solidFill>
                  <a:srgbClr val="000000"/>
                </a:solidFill>
                <a:latin typeface="Courier New" pitchFamily="34" charset="0"/>
                <a:cs typeface="Courier New" pitchFamily="34" charset="-120"/>
              </a:rPr>
              <a:t>    return 0;  // Indicate successful program completion</a:t>
            </a:r>
          </a:p>
          <a:p>
            <a:r>
              <a:rPr lang="en-US" sz="1100" dirty="0">
                <a:solidFill>
                  <a:srgbClr val="000000"/>
                </a:solidFill>
                <a:latin typeface="Courier New" pitchFamily="34" charset="0"/>
                <a:cs typeface="Courier New" pitchFamily="34" charset="-120"/>
              </a:rPr>
              <a:t>}</a:t>
            </a:r>
          </a:p>
        </p:txBody>
      </p:sp>
    </p:spTree>
    <p:extLst>
      <p:ext uri="{BB962C8B-B14F-4D97-AF65-F5344CB8AC3E}">
        <p14:creationId xmlns:p14="http://schemas.microsoft.com/office/powerpoint/2010/main" val="14791399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30F0F-E3BA-DF89-37A1-F886C085EA4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1C59CF8-1053-077A-4B50-A833A37D2340}"/>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4</a:t>
            </a:r>
            <a:endParaRPr lang="en-US" sz="1400" dirty="0"/>
          </a:p>
        </p:txBody>
      </p:sp>
      <p:sp>
        <p:nvSpPr>
          <p:cNvPr id="3" name="Text 1">
            <a:extLst>
              <a:ext uri="{FF2B5EF4-FFF2-40B4-BE49-F238E27FC236}">
                <a16:creationId xmlns:a16="http://schemas.microsoft.com/office/drawing/2014/main" id="{7012B2F6-3E30-E526-DBE9-3F8FF0EC5DA8}"/>
              </a:ext>
            </a:extLst>
          </p:cNvPr>
          <p:cNvSpPr/>
          <p:nvPr/>
        </p:nvSpPr>
        <p:spPr>
          <a:xfrm>
            <a:off x="548640" y="731520"/>
            <a:ext cx="11091672" cy="731520"/>
          </a:xfrm>
          <a:prstGeom prst="rect">
            <a:avLst/>
          </a:prstGeom>
          <a:noFill/>
          <a:ln/>
        </p:spPr>
        <p:txBody>
          <a:bodyPr wrap="square" rtlCol="0" anchor="ctr"/>
          <a:lstStyle/>
          <a:p>
            <a:pPr marL="0" indent="0">
              <a:buNone/>
            </a:pPr>
            <a:r>
              <a:rPr lang="en-US" sz="2400" b="1" dirty="0">
                <a:solidFill>
                  <a:srgbClr val="000000"/>
                </a:solidFill>
                <a:latin typeface="Helvetica" pitchFamily="34" charset="0"/>
                <a:cs typeface="Helvetica" pitchFamily="34" charset="-120"/>
              </a:rPr>
              <a:t>Data Member</a:t>
            </a:r>
            <a:endParaRPr lang="en-US" sz="2800" dirty="0"/>
          </a:p>
        </p:txBody>
      </p:sp>
      <p:sp>
        <p:nvSpPr>
          <p:cNvPr id="4" name="Text 2">
            <a:extLst>
              <a:ext uri="{FF2B5EF4-FFF2-40B4-BE49-F238E27FC236}">
                <a16:creationId xmlns:a16="http://schemas.microsoft.com/office/drawing/2014/main" id="{D2336F0F-03E7-5290-8788-28BCD0764792}"/>
              </a:ext>
            </a:extLst>
          </p:cNvPr>
          <p:cNvSpPr/>
          <p:nvPr/>
        </p:nvSpPr>
        <p:spPr>
          <a:xfrm>
            <a:off x="548640" y="1446711"/>
            <a:ext cx="11091672" cy="1741944"/>
          </a:xfrm>
          <a:prstGeom prst="rect">
            <a:avLst/>
          </a:prstGeom>
          <a:noFill/>
          <a:ln/>
        </p:spPr>
        <p:txBody>
          <a:bodyPr wrap="square" rtlCol="0" anchor="t"/>
          <a:lstStyle/>
          <a:p>
            <a:r>
              <a:rPr lang="en-US" sz="1400" dirty="0"/>
              <a:t>A </a:t>
            </a:r>
            <a:r>
              <a:rPr lang="en-US" sz="1400" b="1" dirty="0"/>
              <a:t>data member</a:t>
            </a:r>
            <a:r>
              <a:rPr lang="en-US" sz="1400" dirty="0"/>
              <a:t> is a variable declared within a class or struct that holds data (state) for objects of that class type. It represents the attributes or properties of the class.</a:t>
            </a:r>
          </a:p>
          <a:p>
            <a:endParaRPr lang="en-US" sz="1400" dirty="0"/>
          </a:p>
          <a:p>
            <a:r>
              <a:rPr lang="en-US" sz="1400" b="1" dirty="0"/>
              <a:t>Formal Definition</a:t>
            </a:r>
          </a:p>
          <a:p>
            <a:pPr lvl="1"/>
            <a:r>
              <a:rPr lang="en-US" sz="1400" b="1" dirty="0"/>
              <a:t>A data member</a:t>
            </a:r>
            <a:r>
              <a:rPr lang="en-US" sz="1400" dirty="0"/>
              <a:t> (also called a field, attribute, or instance variable) is a non-function member of a class that stores data. It can be of any type, including fundamental types, pointers, references, arrays, or other class types. Each data member has storage associated with it for each object instance (except static members, which are shared).</a:t>
            </a:r>
          </a:p>
        </p:txBody>
      </p:sp>
      <p:sp>
        <p:nvSpPr>
          <p:cNvPr id="7" name="Text 2">
            <a:extLst>
              <a:ext uri="{FF2B5EF4-FFF2-40B4-BE49-F238E27FC236}">
                <a16:creationId xmlns:a16="http://schemas.microsoft.com/office/drawing/2014/main" id="{FBB2EC3A-96E3-7907-055D-E21A783853F1}"/>
              </a:ext>
            </a:extLst>
          </p:cNvPr>
          <p:cNvSpPr/>
          <p:nvPr/>
        </p:nvSpPr>
        <p:spPr>
          <a:xfrm>
            <a:off x="590305" y="3415577"/>
            <a:ext cx="11011389" cy="3016210"/>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100" dirty="0">
                <a:solidFill>
                  <a:srgbClr val="000000"/>
                </a:solidFill>
                <a:latin typeface="Courier New" pitchFamily="34" charset="0"/>
                <a:cs typeface="Courier New" pitchFamily="34" charset="-120"/>
              </a:rPr>
              <a:t>#include &lt;iostream&gt;</a:t>
            </a:r>
          </a:p>
          <a:p>
            <a:pPr latinLnBrk="1"/>
            <a:r>
              <a:rPr lang="en-US" sz="1100" dirty="0">
                <a:solidFill>
                  <a:srgbClr val="000000"/>
                </a:solidFill>
                <a:latin typeface="Courier New" pitchFamily="34" charset="0"/>
                <a:cs typeface="Courier New" pitchFamily="34" charset="-120"/>
              </a:rPr>
              <a:t>class </a:t>
            </a:r>
            <a:r>
              <a:rPr lang="en-US" sz="1100" dirty="0" err="1">
                <a:solidFill>
                  <a:srgbClr val="000000"/>
                </a:solidFill>
                <a:latin typeface="Courier New" pitchFamily="34" charset="0"/>
                <a:cs typeface="Courier New" pitchFamily="34" charset="-120"/>
              </a:rPr>
              <a:t>ClassName</a:t>
            </a:r>
            <a:r>
              <a:rPr lang="en-US" sz="1100" dirty="0">
                <a:solidFill>
                  <a:srgbClr val="000000"/>
                </a:solidFill>
                <a:latin typeface="Courier New" pitchFamily="34" charset="0"/>
                <a:cs typeface="Courier New" pitchFamily="34" charset="-120"/>
              </a:rPr>
              <a:t> {</a:t>
            </a:r>
          </a:p>
          <a:p>
            <a:pPr latinLnBrk="1"/>
            <a:r>
              <a:rPr lang="en-US" sz="1100" dirty="0">
                <a:solidFill>
                  <a:srgbClr val="000000"/>
                </a:solidFill>
                <a:latin typeface="Courier New" pitchFamily="34" charset="0"/>
                <a:cs typeface="Courier New" pitchFamily="34" charset="-120"/>
              </a:rPr>
              <a:t>    // Data member declaration syntax:</a:t>
            </a:r>
          </a:p>
          <a:p>
            <a:pPr latinLnBrk="1"/>
            <a:r>
              <a:rPr lang="en-US" sz="1100" dirty="0">
                <a:solidFill>
                  <a:srgbClr val="000000"/>
                </a:solidFill>
                <a:latin typeface="Courier New" pitchFamily="34" charset="0"/>
                <a:cs typeface="Courier New" pitchFamily="34" charset="-120"/>
              </a:rPr>
              <a:t>    [</a:t>
            </a:r>
            <a:r>
              <a:rPr lang="en-US" sz="1100" dirty="0" err="1">
                <a:solidFill>
                  <a:srgbClr val="000000"/>
                </a:solidFill>
                <a:latin typeface="Courier New" pitchFamily="34" charset="0"/>
                <a:cs typeface="Courier New" pitchFamily="34" charset="-120"/>
              </a:rPr>
              <a:t>access_specifier</a:t>
            </a:r>
            <a:r>
              <a:rPr lang="en-US" sz="1100" dirty="0">
                <a:solidFill>
                  <a:srgbClr val="000000"/>
                </a:solidFill>
                <a:latin typeface="Courier New" pitchFamily="34" charset="0"/>
                <a:cs typeface="Courier New" pitchFamily="34" charset="-120"/>
              </a:rPr>
              <a:t>:] [modifiers] type name [= initializer];</a:t>
            </a:r>
          </a:p>
          <a:p>
            <a:pPr latinLnBrk="1"/>
            <a:r>
              <a:rPr lang="en-US" sz="1100" dirty="0">
                <a:solidFill>
                  <a:srgbClr val="000000"/>
                </a:solidFill>
                <a:latin typeface="Courier New" pitchFamily="34" charset="0"/>
                <a:cs typeface="Courier New" pitchFamily="34" charset="-120"/>
              </a:rPr>
              <a:t>    </a:t>
            </a:r>
          </a:p>
          <a:p>
            <a:pPr latinLnBrk="1"/>
            <a:r>
              <a:rPr lang="en-US" sz="1100" dirty="0">
                <a:solidFill>
                  <a:srgbClr val="000000"/>
                </a:solidFill>
                <a:latin typeface="Courier New" pitchFamily="34" charset="0"/>
                <a:cs typeface="Courier New" pitchFamily="34" charset="-120"/>
              </a:rPr>
              <a:t>private:</a:t>
            </a:r>
          </a:p>
          <a:p>
            <a:pPr latinLnBrk="1"/>
            <a:r>
              <a:rPr lang="en-US" sz="1100" dirty="0">
                <a:solidFill>
                  <a:srgbClr val="000000"/>
                </a:solidFill>
                <a:latin typeface="Courier New" pitchFamily="34" charset="0"/>
                <a:cs typeface="Courier New" pitchFamily="34" charset="-120"/>
              </a:rPr>
              <a:t>    int age;                          // simple data member</a:t>
            </a:r>
          </a:p>
          <a:p>
            <a:pPr latinLnBrk="1"/>
            <a:r>
              <a:rPr lang="en-US" sz="1100" dirty="0">
                <a:solidFill>
                  <a:srgbClr val="000000"/>
                </a:solidFill>
                <a:latin typeface="Courier New" pitchFamily="34" charset="0"/>
                <a:cs typeface="Courier New" pitchFamily="34" charset="-120"/>
              </a:rPr>
              <a:t>    std::string name;                 // object data member</a:t>
            </a:r>
          </a:p>
          <a:p>
            <a:pPr latinLnBrk="1"/>
            <a:r>
              <a:rPr lang="en-US" sz="1100" dirty="0">
                <a:solidFill>
                  <a:srgbClr val="000000"/>
                </a:solidFill>
                <a:latin typeface="Courier New" pitchFamily="34" charset="0"/>
                <a:cs typeface="Courier New" pitchFamily="34" charset="-120"/>
              </a:rPr>
              <a:t>    static int count;                 // static data member</a:t>
            </a:r>
          </a:p>
          <a:p>
            <a:pPr latinLnBrk="1"/>
            <a:r>
              <a:rPr lang="en-US" sz="1100" dirty="0">
                <a:solidFill>
                  <a:srgbClr val="000000"/>
                </a:solidFill>
                <a:latin typeface="Courier New" pitchFamily="34" charset="0"/>
                <a:cs typeface="Courier New" pitchFamily="34" charset="-120"/>
              </a:rPr>
              <a:t>    const double PI = 3.14159;        // const data member</a:t>
            </a:r>
          </a:p>
          <a:p>
            <a:pPr latinLnBrk="1"/>
            <a:r>
              <a:rPr lang="en-US" sz="1100" dirty="0">
                <a:solidFill>
                  <a:srgbClr val="000000"/>
                </a:solidFill>
                <a:latin typeface="Courier New" pitchFamily="34" charset="0"/>
                <a:cs typeface="Courier New" pitchFamily="34" charset="-120"/>
              </a:rPr>
              <a:t>    int* </a:t>
            </a:r>
            <a:r>
              <a:rPr lang="en-US" sz="1100" dirty="0" err="1">
                <a:solidFill>
                  <a:srgbClr val="000000"/>
                </a:solidFill>
                <a:latin typeface="Courier New" pitchFamily="34" charset="0"/>
                <a:cs typeface="Courier New" pitchFamily="34" charset="-120"/>
              </a:rPr>
              <a:t>ptr</a:t>
            </a:r>
            <a:r>
              <a:rPr lang="en-US" sz="1100" dirty="0">
                <a:solidFill>
                  <a:srgbClr val="000000"/>
                </a:solidFill>
                <a:latin typeface="Courier New" pitchFamily="34" charset="0"/>
                <a:cs typeface="Courier New" pitchFamily="34" charset="-120"/>
              </a:rPr>
              <a:t>;                         // pointer data member</a:t>
            </a:r>
          </a:p>
          <a:p>
            <a:pPr latinLnBrk="1"/>
            <a:r>
              <a:rPr lang="en-US" sz="1100" dirty="0">
                <a:solidFill>
                  <a:srgbClr val="000000"/>
                </a:solidFill>
                <a:latin typeface="Courier New" pitchFamily="34" charset="0"/>
                <a:cs typeface="Courier New" pitchFamily="34" charset="-120"/>
              </a:rPr>
              <a:t>    int&amp; ref;                         // reference data member (must be initialized)</a:t>
            </a:r>
          </a:p>
          <a:p>
            <a:pPr latinLnBrk="1"/>
            <a:r>
              <a:rPr lang="en-US" sz="1100" dirty="0">
                <a:solidFill>
                  <a:srgbClr val="000000"/>
                </a:solidFill>
                <a:latin typeface="Courier New" pitchFamily="34" charset="0"/>
                <a:cs typeface="Courier New" pitchFamily="34" charset="-120"/>
              </a:rPr>
              <a:t>    mutable int cache;                // mutable data member</a:t>
            </a:r>
          </a:p>
          <a:p>
            <a:pPr latinLnBrk="1"/>
            <a:r>
              <a:rPr lang="en-US" sz="1100" dirty="0">
                <a:solidFill>
                  <a:srgbClr val="000000"/>
                </a:solidFill>
                <a:latin typeface="Courier New" pitchFamily="34" charset="0"/>
                <a:cs typeface="Courier New" pitchFamily="34" charset="-120"/>
              </a:rPr>
              <a:t>    int </a:t>
            </a:r>
            <a:r>
              <a:rPr lang="en-US" sz="1100" dirty="0" err="1">
                <a:solidFill>
                  <a:srgbClr val="000000"/>
                </a:solidFill>
                <a:latin typeface="Courier New" pitchFamily="34" charset="0"/>
                <a:cs typeface="Courier New" pitchFamily="34" charset="-120"/>
              </a:rPr>
              <a:t>arr</a:t>
            </a:r>
            <a:r>
              <a:rPr lang="en-US" sz="1100" dirty="0">
                <a:solidFill>
                  <a:srgbClr val="000000"/>
                </a:solidFill>
                <a:latin typeface="Courier New" pitchFamily="34" charset="0"/>
                <a:cs typeface="Courier New" pitchFamily="34" charset="-120"/>
              </a:rPr>
              <a:t>[10];                      // array data member</a:t>
            </a:r>
          </a:p>
          <a:p>
            <a:pPr latinLnBrk="1"/>
            <a:r>
              <a:rPr lang="en-US" sz="1100" dirty="0">
                <a:solidFill>
                  <a:srgbClr val="000000"/>
                </a:solidFill>
                <a:latin typeface="Courier New" pitchFamily="34" charset="0"/>
                <a:cs typeface="Courier New" pitchFamily="34" charset="-120"/>
              </a:rPr>
              <a:t>    std::vector&lt;int&gt; scores;          // container data member</a:t>
            </a:r>
          </a:p>
          <a:p>
            <a:pPr latinLnBrk="1"/>
            <a:r>
              <a:rPr lang="en-US" sz="1100" dirty="0">
                <a:solidFill>
                  <a:srgbClr val="000000"/>
                </a:solidFill>
                <a:latin typeface="Courier New" pitchFamily="34" charset="0"/>
                <a:cs typeface="Courier New" pitchFamily="34" charset="-120"/>
              </a:rPr>
              <a:t>};</a:t>
            </a:r>
          </a:p>
        </p:txBody>
      </p:sp>
    </p:spTree>
    <p:extLst>
      <p:ext uri="{BB962C8B-B14F-4D97-AF65-F5344CB8AC3E}">
        <p14:creationId xmlns:p14="http://schemas.microsoft.com/office/powerpoint/2010/main" val="332748983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F71DC-1D94-14AB-150E-53F2EC57A32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38D662A-BF4B-6618-4F67-BB5113EF04BF}"/>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4</a:t>
            </a:r>
            <a:endParaRPr lang="en-US" sz="1400" dirty="0"/>
          </a:p>
        </p:txBody>
      </p:sp>
      <p:sp>
        <p:nvSpPr>
          <p:cNvPr id="3" name="Text 1">
            <a:extLst>
              <a:ext uri="{FF2B5EF4-FFF2-40B4-BE49-F238E27FC236}">
                <a16:creationId xmlns:a16="http://schemas.microsoft.com/office/drawing/2014/main" id="{8BD605F4-C8E4-5CE3-FC64-1580B690D475}"/>
              </a:ext>
            </a:extLst>
          </p:cNvPr>
          <p:cNvSpPr/>
          <p:nvPr/>
        </p:nvSpPr>
        <p:spPr>
          <a:xfrm>
            <a:off x="548640" y="731520"/>
            <a:ext cx="11091672" cy="731520"/>
          </a:xfrm>
          <a:prstGeom prst="rect">
            <a:avLst/>
          </a:prstGeom>
          <a:noFill/>
          <a:ln/>
        </p:spPr>
        <p:txBody>
          <a:bodyPr wrap="square" rtlCol="0" anchor="ctr"/>
          <a:lstStyle/>
          <a:p>
            <a:pPr marL="0" indent="0">
              <a:buNone/>
            </a:pPr>
            <a:r>
              <a:rPr lang="en-US" sz="2400" b="1" dirty="0">
                <a:solidFill>
                  <a:srgbClr val="000000"/>
                </a:solidFill>
                <a:latin typeface="Helvetica" pitchFamily="34" charset="0"/>
                <a:cs typeface="Helvetica" pitchFamily="34" charset="-120"/>
              </a:rPr>
              <a:t>Data Member</a:t>
            </a:r>
            <a:endParaRPr lang="en-US" sz="2800" dirty="0"/>
          </a:p>
        </p:txBody>
      </p:sp>
      <p:sp>
        <p:nvSpPr>
          <p:cNvPr id="4" name="Text 2">
            <a:extLst>
              <a:ext uri="{FF2B5EF4-FFF2-40B4-BE49-F238E27FC236}">
                <a16:creationId xmlns:a16="http://schemas.microsoft.com/office/drawing/2014/main" id="{CB375C9D-CEB9-E9A8-B2B8-652C79077E3C}"/>
              </a:ext>
            </a:extLst>
          </p:cNvPr>
          <p:cNvSpPr/>
          <p:nvPr/>
        </p:nvSpPr>
        <p:spPr>
          <a:xfrm>
            <a:off x="548640" y="1446711"/>
            <a:ext cx="11091672" cy="264643"/>
          </a:xfrm>
          <a:prstGeom prst="rect">
            <a:avLst/>
          </a:prstGeom>
          <a:noFill/>
          <a:ln/>
        </p:spPr>
        <p:txBody>
          <a:bodyPr wrap="square" rtlCol="0" anchor="t"/>
          <a:lstStyle/>
          <a:p>
            <a:r>
              <a:rPr lang="en-US" sz="1400" b="1" dirty="0"/>
              <a:t>Type of Data Member</a:t>
            </a:r>
            <a:endParaRPr lang="en-US" sz="1400" dirty="0"/>
          </a:p>
        </p:txBody>
      </p:sp>
      <p:graphicFrame>
        <p:nvGraphicFramePr>
          <p:cNvPr id="6" name="Table 5">
            <a:extLst>
              <a:ext uri="{FF2B5EF4-FFF2-40B4-BE49-F238E27FC236}">
                <a16:creationId xmlns:a16="http://schemas.microsoft.com/office/drawing/2014/main" id="{7661BAB9-3CBC-0F5B-0A11-097F8C036A1C}"/>
              </a:ext>
            </a:extLst>
          </p:cNvPr>
          <p:cNvGraphicFramePr>
            <a:graphicFrameLocks noGrp="1"/>
          </p:cNvGraphicFramePr>
          <p:nvPr>
            <p:extLst>
              <p:ext uri="{D42A27DB-BD31-4B8C-83A1-F6EECF244321}">
                <p14:modId xmlns:p14="http://schemas.microsoft.com/office/powerpoint/2010/main" val="3879231305"/>
              </p:ext>
            </p:extLst>
          </p:nvPr>
        </p:nvGraphicFramePr>
        <p:xfrm>
          <a:off x="609878" y="1918434"/>
          <a:ext cx="11091671" cy="3492855"/>
        </p:xfrm>
        <a:graphic>
          <a:graphicData uri="http://schemas.openxmlformats.org/drawingml/2006/table">
            <a:tbl>
              <a:tblPr>
                <a:tableStyleId>{8EC20E35-A176-4012-BC5E-935CFFF8708E}</a:tableStyleId>
              </a:tblPr>
              <a:tblGrid>
                <a:gridCol w="1649892">
                  <a:extLst>
                    <a:ext uri="{9D8B030D-6E8A-4147-A177-3AD203B41FA5}">
                      <a16:colId xmlns:a16="http://schemas.microsoft.com/office/drawing/2014/main" val="2242010043"/>
                    </a:ext>
                  </a:extLst>
                </a:gridCol>
                <a:gridCol w="2681930">
                  <a:extLst>
                    <a:ext uri="{9D8B030D-6E8A-4147-A177-3AD203B41FA5}">
                      <a16:colId xmlns:a16="http://schemas.microsoft.com/office/drawing/2014/main" val="3590362288"/>
                    </a:ext>
                  </a:extLst>
                </a:gridCol>
                <a:gridCol w="3955774">
                  <a:extLst>
                    <a:ext uri="{9D8B030D-6E8A-4147-A177-3AD203B41FA5}">
                      <a16:colId xmlns:a16="http://schemas.microsoft.com/office/drawing/2014/main" val="1995386332"/>
                    </a:ext>
                  </a:extLst>
                </a:gridCol>
                <a:gridCol w="2804075">
                  <a:extLst>
                    <a:ext uri="{9D8B030D-6E8A-4147-A177-3AD203B41FA5}">
                      <a16:colId xmlns:a16="http://schemas.microsoft.com/office/drawing/2014/main" val="13056247"/>
                    </a:ext>
                  </a:extLst>
                </a:gridCol>
              </a:tblGrid>
              <a:tr h="360297">
                <a:tc>
                  <a:txBody>
                    <a:bodyPr/>
                    <a:lstStyle/>
                    <a:p>
                      <a:pPr algn="l">
                        <a:lnSpc>
                          <a:spcPts val="1875"/>
                        </a:lnSpc>
                        <a:buNone/>
                      </a:pPr>
                      <a:r>
                        <a:rPr lang="en-US" sz="1600" b="1" dirty="0">
                          <a:effectLst/>
                        </a:rPr>
                        <a:t>Type</a:t>
                      </a:r>
                      <a:endParaRPr lang="en-US" sz="1600" b="1" dirty="0">
                        <a:effectLst/>
                        <a:latin typeface="quote-cjk-patch"/>
                      </a:endParaRPr>
                    </a:p>
                  </a:txBody>
                  <a:tcPr marL="84189" marR="93543" marT="58464" marB="58464" anchor="ctr">
                    <a:lnB w="12700" cap="flat" cmpd="sng" algn="ctr">
                      <a:solidFill>
                        <a:schemeClr val="tx1"/>
                      </a:solidFill>
                      <a:prstDash val="solid"/>
                      <a:round/>
                      <a:headEnd type="none" w="med" len="med"/>
                      <a:tailEnd type="none" w="med" len="med"/>
                    </a:lnB>
                  </a:tcPr>
                </a:tc>
                <a:tc>
                  <a:txBody>
                    <a:bodyPr/>
                    <a:lstStyle/>
                    <a:p>
                      <a:pPr algn="l">
                        <a:lnSpc>
                          <a:spcPts val="1875"/>
                        </a:lnSpc>
                        <a:buNone/>
                      </a:pPr>
                      <a:r>
                        <a:rPr lang="en-US" sz="1600" b="1">
                          <a:effectLst/>
                        </a:rPr>
                        <a:t>Declaration</a:t>
                      </a:r>
                      <a:endParaRPr lang="en-US" sz="1600" b="1">
                        <a:effectLst/>
                        <a:latin typeface="quote-cjk-patch"/>
                      </a:endParaRPr>
                    </a:p>
                  </a:txBody>
                  <a:tcPr marL="93543" marR="93543" marT="58464" marB="58464" anchor="ctr">
                    <a:lnB w="12700" cap="flat" cmpd="sng" algn="ctr">
                      <a:solidFill>
                        <a:schemeClr val="tx1"/>
                      </a:solidFill>
                      <a:prstDash val="solid"/>
                      <a:round/>
                      <a:headEnd type="none" w="med" len="med"/>
                      <a:tailEnd type="none" w="med" len="med"/>
                    </a:lnB>
                  </a:tcPr>
                </a:tc>
                <a:tc>
                  <a:txBody>
                    <a:bodyPr/>
                    <a:lstStyle/>
                    <a:p>
                      <a:pPr algn="l">
                        <a:lnSpc>
                          <a:spcPts val="1875"/>
                        </a:lnSpc>
                        <a:buNone/>
                      </a:pPr>
                      <a:r>
                        <a:rPr lang="en-US" sz="1600" b="1" dirty="0">
                          <a:effectLst/>
                        </a:rPr>
                        <a:t>Storage</a:t>
                      </a:r>
                      <a:endParaRPr lang="en-US" sz="1600" b="1" dirty="0">
                        <a:effectLst/>
                        <a:latin typeface="quote-cjk-patch"/>
                      </a:endParaRPr>
                    </a:p>
                  </a:txBody>
                  <a:tcPr marL="93543" marR="93543" marT="58464" marB="58464" anchor="ctr">
                    <a:lnB w="12700" cap="flat" cmpd="sng" algn="ctr">
                      <a:solidFill>
                        <a:schemeClr val="tx1"/>
                      </a:solidFill>
                      <a:prstDash val="solid"/>
                      <a:round/>
                      <a:headEnd type="none" w="med" len="med"/>
                      <a:tailEnd type="none" w="med" len="med"/>
                    </a:lnB>
                  </a:tcPr>
                </a:tc>
                <a:tc>
                  <a:txBody>
                    <a:bodyPr/>
                    <a:lstStyle/>
                    <a:p>
                      <a:pPr algn="l">
                        <a:lnSpc>
                          <a:spcPts val="1875"/>
                        </a:lnSpc>
                        <a:buNone/>
                      </a:pPr>
                      <a:r>
                        <a:rPr lang="en-US" sz="1600" b="1" dirty="0">
                          <a:effectLst/>
                        </a:rPr>
                        <a:t>Example</a:t>
                      </a:r>
                      <a:endParaRPr lang="en-US" sz="1600" b="1" dirty="0">
                        <a:effectLst/>
                        <a:latin typeface="quote-cjk-patch"/>
                      </a:endParaRPr>
                    </a:p>
                  </a:txBody>
                  <a:tcPr marL="93543" marR="93543" marT="58464" marB="58464"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8560975"/>
                  </a:ext>
                </a:extLst>
              </a:tr>
              <a:tr h="360297">
                <a:tc>
                  <a:txBody>
                    <a:bodyPr/>
                    <a:lstStyle/>
                    <a:p>
                      <a:pPr>
                        <a:lnSpc>
                          <a:spcPts val="1875"/>
                        </a:lnSpc>
                        <a:buNone/>
                      </a:pPr>
                      <a:r>
                        <a:rPr lang="en-US" sz="1600" b="1">
                          <a:effectLst/>
                        </a:rPr>
                        <a:t>Instance</a:t>
                      </a:r>
                      <a:endParaRPr lang="en-US" sz="1600" b="0">
                        <a:effectLst/>
                        <a:latin typeface="quote-cjk-patch"/>
                      </a:endParaRPr>
                    </a:p>
                  </a:txBody>
                  <a:tcPr marL="84189" marR="93543" marT="58464" marB="58464" anchor="ctr">
                    <a:lnT w="12700" cap="flat" cmpd="sng" algn="ctr">
                      <a:solidFill>
                        <a:schemeClr val="tx1"/>
                      </a:solidFill>
                      <a:prstDash val="solid"/>
                      <a:round/>
                      <a:headEnd type="none" w="med" len="med"/>
                      <a:tailEnd type="none" w="med" len="med"/>
                    </a:lnT>
                  </a:tcPr>
                </a:tc>
                <a:tc>
                  <a:txBody>
                    <a:bodyPr/>
                    <a:lstStyle/>
                    <a:p>
                      <a:pPr>
                        <a:lnSpc>
                          <a:spcPts val="1650"/>
                        </a:lnSpc>
                        <a:buNone/>
                      </a:pPr>
                      <a:r>
                        <a:rPr lang="en-US" sz="1600" b="0">
                          <a:effectLst/>
                        </a:rPr>
                        <a:t>type name;</a:t>
                      </a:r>
                      <a:endParaRPr lang="en-US" sz="1600" b="0">
                        <a:effectLst/>
                        <a:latin typeface="quote-cjk-patch"/>
                      </a:endParaRPr>
                    </a:p>
                  </a:txBody>
                  <a:tcPr marL="93543" marR="93543" marT="58464" marB="58464" anchor="ctr">
                    <a:lnT w="12700" cap="flat" cmpd="sng" algn="ctr">
                      <a:solidFill>
                        <a:schemeClr val="tx1"/>
                      </a:solidFill>
                      <a:prstDash val="solid"/>
                      <a:round/>
                      <a:headEnd type="none" w="med" len="med"/>
                      <a:tailEnd type="none" w="med" len="med"/>
                    </a:lnT>
                  </a:tcPr>
                </a:tc>
                <a:tc>
                  <a:txBody>
                    <a:bodyPr/>
                    <a:lstStyle/>
                    <a:p>
                      <a:pPr>
                        <a:lnSpc>
                          <a:spcPts val="1875"/>
                        </a:lnSpc>
                        <a:buNone/>
                      </a:pPr>
                      <a:r>
                        <a:rPr lang="en-US" sz="1600" b="0">
                          <a:effectLst/>
                        </a:rPr>
                        <a:t>Per object</a:t>
                      </a:r>
                      <a:endParaRPr lang="en-US" sz="1600" b="0">
                        <a:effectLst/>
                        <a:latin typeface="quote-cjk-patch"/>
                      </a:endParaRPr>
                    </a:p>
                  </a:txBody>
                  <a:tcPr marL="93543" marR="93543" marT="58464" marB="58464" anchor="ctr">
                    <a:lnT w="12700" cap="flat" cmpd="sng" algn="ctr">
                      <a:solidFill>
                        <a:schemeClr val="tx1"/>
                      </a:solidFill>
                      <a:prstDash val="solid"/>
                      <a:round/>
                      <a:headEnd type="none" w="med" len="med"/>
                      <a:tailEnd type="none" w="med" len="med"/>
                    </a:lnT>
                  </a:tcPr>
                </a:tc>
                <a:tc>
                  <a:txBody>
                    <a:bodyPr/>
                    <a:lstStyle/>
                    <a:p>
                      <a:pPr>
                        <a:lnSpc>
                          <a:spcPts val="1650"/>
                        </a:lnSpc>
                        <a:buNone/>
                      </a:pPr>
                      <a:r>
                        <a:rPr lang="en-US" sz="1600" b="0" dirty="0">
                          <a:effectLst/>
                        </a:rPr>
                        <a:t>int x;</a:t>
                      </a:r>
                      <a:endParaRPr lang="en-US" sz="1600" b="0" dirty="0">
                        <a:effectLst/>
                        <a:latin typeface="quote-cjk-patch"/>
                      </a:endParaRPr>
                    </a:p>
                  </a:txBody>
                  <a:tcPr marL="93543" marR="84189" marT="58464" marB="58464"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39189853"/>
                  </a:ext>
                </a:extLst>
              </a:tr>
              <a:tr h="602991">
                <a:tc>
                  <a:txBody>
                    <a:bodyPr/>
                    <a:lstStyle/>
                    <a:p>
                      <a:pPr>
                        <a:lnSpc>
                          <a:spcPts val="1875"/>
                        </a:lnSpc>
                        <a:buNone/>
                      </a:pPr>
                      <a:r>
                        <a:rPr lang="en-US" sz="1600" b="1" dirty="0">
                          <a:effectLst/>
                        </a:rPr>
                        <a:t>Static</a:t>
                      </a:r>
                      <a:endParaRPr lang="en-US" sz="1600" b="0" dirty="0">
                        <a:effectLst/>
                        <a:latin typeface="quote-cjk-patch"/>
                      </a:endParaRPr>
                    </a:p>
                  </a:txBody>
                  <a:tcPr marL="84189" marR="93543" marT="58464" marB="58464" anchor="ctr"/>
                </a:tc>
                <a:tc>
                  <a:txBody>
                    <a:bodyPr/>
                    <a:lstStyle/>
                    <a:p>
                      <a:pPr>
                        <a:lnSpc>
                          <a:spcPts val="1650"/>
                        </a:lnSpc>
                        <a:buNone/>
                      </a:pPr>
                      <a:r>
                        <a:rPr lang="en-US" sz="1600" b="0" dirty="0">
                          <a:effectLst/>
                        </a:rPr>
                        <a:t>static type name;</a:t>
                      </a:r>
                      <a:endParaRPr lang="en-US" sz="1600" b="0" dirty="0">
                        <a:effectLst/>
                        <a:latin typeface="quote-cjk-patch"/>
                      </a:endParaRPr>
                    </a:p>
                  </a:txBody>
                  <a:tcPr marL="93543" marR="93543" marT="58464" marB="58464" anchor="ctr"/>
                </a:tc>
                <a:tc>
                  <a:txBody>
                    <a:bodyPr/>
                    <a:lstStyle/>
                    <a:p>
                      <a:pPr>
                        <a:lnSpc>
                          <a:spcPts val="1875"/>
                        </a:lnSpc>
                        <a:buNone/>
                      </a:pPr>
                      <a:r>
                        <a:rPr lang="en-US" sz="1600" b="0">
                          <a:effectLst/>
                        </a:rPr>
                        <a:t>Shared across all objects</a:t>
                      </a:r>
                      <a:endParaRPr lang="en-US" sz="1600" b="0">
                        <a:effectLst/>
                        <a:latin typeface="quote-cjk-patch"/>
                      </a:endParaRPr>
                    </a:p>
                  </a:txBody>
                  <a:tcPr marL="93543" marR="93543" marT="58464" marB="58464" anchor="ctr"/>
                </a:tc>
                <a:tc>
                  <a:txBody>
                    <a:bodyPr/>
                    <a:lstStyle/>
                    <a:p>
                      <a:pPr>
                        <a:lnSpc>
                          <a:spcPts val="1650"/>
                        </a:lnSpc>
                        <a:buNone/>
                      </a:pPr>
                      <a:r>
                        <a:rPr lang="en-US" sz="1600" b="0">
                          <a:effectLst/>
                        </a:rPr>
                        <a:t>static int count;</a:t>
                      </a:r>
                      <a:endParaRPr lang="en-US" sz="1600" b="0">
                        <a:effectLst/>
                        <a:latin typeface="quote-cjk-patch"/>
                      </a:endParaRPr>
                    </a:p>
                  </a:txBody>
                  <a:tcPr marL="93543" marR="84189" marT="58464" marB="58464" anchor="ctr"/>
                </a:tc>
                <a:extLst>
                  <a:ext uri="{0D108BD9-81ED-4DB2-BD59-A6C34878D82A}">
                    <a16:rowId xmlns:a16="http://schemas.microsoft.com/office/drawing/2014/main" val="4142242827"/>
                  </a:ext>
                </a:extLst>
              </a:tr>
              <a:tr h="602991">
                <a:tc>
                  <a:txBody>
                    <a:bodyPr/>
                    <a:lstStyle/>
                    <a:p>
                      <a:pPr>
                        <a:lnSpc>
                          <a:spcPts val="1875"/>
                        </a:lnSpc>
                        <a:buNone/>
                      </a:pPr>
                      <a:r>
                        <a:rPr lang="en-US" sz="1600" b="1" dirty="0">
                          <a:effectLst/>
                        </a:rPr>
                        <a:t>Const</a:t>
                      </a:r>
                      <a:endParaRPr lang="en-US" sz="1600" b="0" dirty="0">
                        <a:effectLst/>
                        <a:latin typeface="quote-cjk-patch"/>
                      </a:endParaRPr>
                    </a:p>
                  </a:txBody>
                  <a:tcPr marL="84189" marR="93543" marT="58464" marB="58464" anchor="ctr"/>
                </a:tc>
                <a:tc>
                  <a:txBody>
                    <a:bodyPr/>
                    <a:lstStyle/>
                    <a:p>
                      <a:pPr>
                        <a:lnSpc>
                          <a:spcPts val="1650"/>
                        </a:lnSpc>
                        <a:buNone/>
                      </a:pPr>
                      <a:r>
                        <a:rPr lang="en-US" sz="1600" b="0">
                          <a:effectLst/>
                        </a:rPr>
                        <a:t>const type name;</a:t>
                      </a:r>
                      <a:endParaRPr lang="en-US" sz="1600" b="0">
                        <a:effectLst/>
                        <a:latin typeface="quote-cjk-patch"/>
                      </a:endParaRPr>
                    </a:p>
                  </a:txBody>
                  <a:tcPr marL="93543" marR="93543" marT="58464" marB="58464" anchor="ctr"/>
                </a:tc>
                <a:tc>
                  <a:txBody>
                    <a:bodyPr/>
                    <a:lstStyle/>
                    <a:p>
                      <a:pPr>
                        <a:lnSpc>
                          <a:spcPts val="1875"/>
                        </a:lnSpc>
                        <a:buNone/>
                      </a:pPr>
                      <a:r>
                        <a:rPr lang="en-US" sz="1600" b="0">
                          <a:effectLst/>
                        </a:rPr>
                        <a:t>Per object, cannot modify</a:t>
                      </a:r>
                      <a:endParaRPr lang="en-US" sz="1600" b="0">
                        <a:effectLst/>
                        <a:latin typeface="quote-cjk-patch"/>
                      </a:endParaRPr>
                    </a:p>
                  </a:txBody>
                  <a:tcPr marL="93543" marR="93543" marT="58464" marB="58464" anchor="ctr"/>
                </a:tc>
                <a:tc>
                  <a:txBody>
                    <a:bodyPr/>
                    <a:lstStyle/>
                    <a:p>
                      <a:pPr>
                        <a:lnSpc>
                          <a:spcPts val="1650"/>
                        </a:lnSpc>
                        <a:buNone/>
                      </a:pPr>
                      <a:r>
                        <a:rPr lang="en-US" sz="1600" b="0">
                          <a:effectLst/>
                        </a:rPr>
                        <a:t>const int id;</a:t>
                      </a:r>
                      <a:endParaRPr lang="en-US" sz="1600" b="0">
                        <a:effectLst/>
                        <a:latin typeface="quote-cjk-patch"/>
                      </a:endParaRPr>
                    </a:p>
                  </a:txBody>
                  <a:tcPr marL="93543" marR="84189" marT="58464" marB="58464" anchor="ctr"/>
                </a:tc>
                <a:extLst>
                  <a:ext uri="{0D108BD9-81ED-4DB2-BD59-A6C34878D82A}">
                    <a16:rowId xmlns:a16="http://schemas.microsoft.com/office/drawing/2014/main" val="3364418557"/>
                  </a:ext>
                </a:extLst>
              </a:tr>
              <a:tr h="602991">
                <a:tc>
                  <a:txBody>
                    <a:bodyPr/>
                    <a:lstStyle/>
                    <a:p>
                      <a:pPr>
                        <a:lnSpc>
                          <a:spcPts val="1875"/>
                        </a:lnSpc>
                        <a:buNone/>
                      </a:pPr>
                      <a:r>
                        <a:rPr lang="en-US" sz="1600" b="1">
                          <a:effectLst/>
                        </a:rPr>
                        <a:t>Reference</a:t>
                      </a:r>
                      <a:endParaRPr lang="en-US" sz="1600" b="0">
                        <a:effectLst/>
                        <a:latin typeface="quote-cjk-patch"/>
                      </a:endParaRPr>
                    </a:p>
                  </a:txBody>
                  <a:tcPr marL="84189" marR="93543" marT="58464" marB="58464" anchor="ctr"/>
                </a:tc>
                <a:tc>
                  <a:txBody>
                    <a:bodyPr/>
                    <a:lstStyle/>
                    <a:p>
                      <a:pPr>
                        <a:lnSpc>
                          <a:spcPts val="1650"/>
                        </a:lnSpc>
                        <a:buNone/>
                      </a:pPr>
                      <a:r>
                        <a:rPr lang="en-US" sz="1600" b="0">
                          <a:effectLst/>
                        </a:rPr>
                        <a:t>type&amp; name;</a:t>
                      </a:r>
                      <a:endParaRPr lang="en-US" sz="1600" b="0">
                        <a:effectLst/>
                        <a:latin typeface="quote-cjk-patch"/>
                      </a:endParaRPr>
                    </a:p>
                  </a:txBody>
                  <a:tcPr marL="93543" marR="93543" marT="58464" marB="58464" anchor="ctr"/>
                </a:tc>
                <a:tc>
                  <a:txBody>
                    <a:bodyPr/>
                    <a:lstStyle/>
                    <a:p>
                      <a:pPr>
                        <a:lnSpc>
                          <a:spcPts val="1875"/>
                        </a:lnSpc>
                        <a:buNone/>
                      </a:pPr>
                      <a:r>
                        <a:rPr lang="en-US" sz="1600" b="0">
                          <a:effectLst/>
                        </a:rPr>
                        <a:t>Per object, must bind</a:t>
                      </a:r>
                      <a:endParaRPr lang="en-US" sz="1600" b="0">
                        <a:effectLst/>
                        <a:latin typeface="quote-cjk-patch"/>
                      </a:endParaRPr>
                    </a:p>
                  </a:txBody>
                  <a:tcPr marL="93543" marR="93543" marT="58464" marB="58464" anchor="ctr"/>
                </a:tc>
                <a:tc>
                  <a:txBody>
                    <a:bodyPr/>
                    <a:lstStyle/>
                    <a:p>
                      <a:pPr>
                        <a:lnSpc>
                          <a:spcPts val="1650"/>
                        </a:lnSpc>
                        <a:buNone/>
                      </a:pPr>
                      <a:r>
                        <a:rPr lang="en-US" sz="1600" b="0">
                          <a:effectLst/>
                        </a:rPr>
                        <a:t>int&amp; ref;</a:t>
                      </a:r>
                      <a:endParaRPr lang="en-US" sz="1600" b="0">
                        <a:effectLst/>
                        <a:latin typeface="quote-cjk-patch"/>
                      </a:endParaRPr>
                    </a:p>
                  </a:txBody>
                  <a:tcPr marL="93543" marR="84189" marT="58464" marB="58464" anchor="ctr"/>
                </a:tc>
                <a:extLst>
                  <a:ext uri="{0D108BD9-81ED-4DB2-BD59-A6C34878D82A}">
                    <a16:rowId xmlns:a16="http://schemas.microsoft.com/office/drawing/2014/main" val="1126528348"/>
                  </a:ext>
                </a:extLst>
              </a:tr>
              <a:tr h="602991">
                <a:tc>
                  <a:txBody>
                    <a:bodyPr/>
                    <a:lstStyle/>
                    <a:p>
                      <a:pPr>
                        <a:lnSpc>
                          <a:spcPts val="1875"/>
                        </a:lnSpc>
                        <a:buNone/>
                      </a:pPr>
                      <a:r>
                        <a:rPr lang="en-US" sz="1600" b="1">
                          <a:effectLst/>
                        </a:rPr>
                        <a:t>Mutable</a:t>
                      </a:r>
                      <a:endParaRPr lang="en-US" sz="1600" b="0">
                        <a:effectLst/>
                        <a:latin typeface="quote-cjk-patch"/>
                      </a:endParaRPr>
                    </a:p>
                  </a:txBody>
                  <a:tcPr marL="84189" marR="93543" marT="58464" marB="58464" anchor="ctr"/>
                </a:tc>
                <a:tc>
                  <a:txBody>
                    <a:bodyPr/>
                    <a:lstStyle/>
                    <a:p>
                      <a:pPr>
                        <a:lnSpc>
                          <a:spcPts val="1650"/>
                        </a:lnSpc>
                        <a:buNone/>
                      </a:pPr>
                      <a:r>
                        <a:rPr lang="en-US" sz="1600" b="0">
                          <a:effectLst/>
                        </a:rPr>
                        <a:t>mutable type name;</a:t>
                      </a:r>
                      <a:endParaRPr lang="en-US" sz="1600" b="0">
                        <a:effectLst/>
                        <a:latin typeface="quote-cjk-patch"/>
                      </a:endParaRPr>
                    </a:p>
                  </a:txBody>
                  <a:tcPr marL="93543" marR="93543" marT="58464" marB="58464" anchor="ctr"/>
                </a:tc>
                <a:tc>
                  <a:txBody>
                    <a:bodyPr/>
                    <a:lstStyle/>
                    <a:p>
                      <a:pPr>
                        <a:lnSpc>
                          <a:spcPts val="1875"/>
                        </a:lnSpc>
                        <a:buNone/>
                      </a:pPr>
                      <a:r>
                        <a:rPr lang="en-US" sz="1600" b="0">
                          <a:effectLst/>
                        </a:rPr>
                        <a:t>Can modify in const methods</a:t>
                      </a:r>
                      <a:endParaRPr lang="en-US" sz="1600" b="0">
                        <a:effectLst/>
                        <a:latin typeface="quote-cjk-patch"/>
                      </a:endParaRPr>
                    </a:p>
                  </a:txBody>
                  <a:tcPr marL="93543" marR="93543" marT="58464" marB="58464" anchor="ctr"/>
                </a:tc>
                <a:tc>
                  <a:txBody>
                    <a:bodyPr/>
                    <a:lstStyle/>
                    <a:p>
                      <a:pPr>
                        <a:lnSpc>
                          <a:spcPts val="1650"/>
                        </a:lnSpc>
                        <a:buNone/>
                      </a:pPr>
                      <a:r>
                        <a:rPr lang="en-US" sz="1600" b="0">
                          <a:effectLst/>
                        </a:rPr>
                        <a:t>mutable int cache;</a:t>
                      </a:r>
                      <a:endParaRPr lang="en-US" sz="1600" b="0">
                        <a:effectLst/>
                        <a:latin typeface="quote-cjk-patch"/>
                      </a:endParaRPr>
                    </a:p>
                  </a:txBody>
                  <a:tcPr marL="93543" marR="84189" marT="58464" marB="58464" anchor="ctr"/>
                </a:tc>
                <a:extLst>
                  <a:ext uri="{0D108BD9-81ED-4DB2-BD59-A6C34878D82A}">
                    <a16:rowId xmlns:a16="http://schemas.microsoft.com/office/drawing/2014/main" val="3012151413"/>
                  </a:ext>
                </a:extLst>
              </a:tr>
              <a:tr h="360297">
                <a:tc>
                  <a:txBody>
                    <a:bodyPr/>
                    <a:lstStyle/>
                    <a:p>
                      <a:pPr>
                        <a:lnSpc>
                          <a:spcPts val="1875"/>
                        </a:lnSpc>
                        <a:buNone/>
                      </a:pPr>
                      <a:r>
                        <a:rPr lang="en-US" sz="1600" b="1">
                          <a:effectLst/>
                        </a:rPr>
                        <a:t>Bit-field</a:t>
                      </a:r>
                      <a:endParaRPr lang="en-US" sz="1600" b="0">
                        <a:effectLst/>
                        <a:latin typeface="quote-cjk-patch"/>
                      </a:endParaRPr>
                    </a:p>
                  </a:txBody>
                  <a:tcPr marL="84189" marR="93543" marT="58464" marB="58464" anchor="ctr"/>
                </a:tc>
                <a:tc>
                  <a:txBody>
                    <a:bodyPr/>
                    <a:lstStyle/>
                    <a:p>
                      <a:pPr>
                        <a:lnSpc>
                          <a:spcPts val="1650"/>
                        </a:lnSpc>
                        <a:buNone/>
                      </a:pPr>
                      <a:r>
                        <a:rPr lang="en-US" sz="1600" b="0">
                          <a:effectLst/>
                        </a:rPr>
                        <a:t>type name : bits;</a:t>
                      </a:r>
                      <a:endParaRPr lang="en-US" sz="1600" b="0">
                        <a:effectLst/>
                        <a:latin typeface="quote-cjk-patch"/>
                      </a:endParaRPr>
                    </a:p>
                  </a:txBody>
                  <a:tcPr marL="93543" marR="93543" marT="58464" marB="58464" anchor="ctr"/>
                </a:tc>
                <a:tc>
                  <a:txBody>
                    <a:bodyPr/>
                    <a:lstStyle/>
                    <a:p>
                      <a:pPr>
                        <a:lnSpc>
                          <a:spcPts val="1875"/>
                        </a:lnSpc>
                        <a:buNone/>
                      </a:pPr>
                      <a:r>
                        <a:rPr lang="en-US" sz="1600" b="0">
                          <a:effectLst/>
                        </a:rPr>
                        <a:t>Space-efficient</a:t>
                      </a:r>
                      <a:endParaRPr lang="en-US" sz="1600" b="0">
                        <a:effectLst/>
                        <a:latin typeface="quote-cjk-patch"/>
                      </a:endParaRPr>
                    </a:p>
                  </a:txBody>
                  <a:tcPr marL="93543" marR="93543" marT="58464" marB="58464" anchor="ctr"/>
                </a:tc>
                <a:tc>
                  <a:txBody>
                    <a:bodyPr/>
                    <a:lstStyle/>
                    <a:p>
                      <a:pPr>
                        <a:lnSpc>
                          <a:spcPts val="1650"/>
                        </a:lnSpc>
                        <a:buNone/>
                      </a:pPr>
                      <a:r>
                        <a:rPr lang="en-US" sz="1600" b="0" dirty="0">
                          <a:effectLst/>
                        </a:rPr>
                        <a:t>int flag : 1;</a:t>
                      </a:r>
                      <a:endParaRPr lang="en-US" sz="1600" b="0" dirty="0">
                        <a:effectLst/>
                        <a:latin typeface="quote-cjk-patch"/>
                      </a:endParaRPr>
                    </a:p>
                  </a:txBody>
                  <a:tcPr marL="93543" marR="84189" marT="58464" marB="58464" anchor="ctr"/>
                </a:tc>
                <a:extLst>
                  <a:ext uri="{0D108BD9-81ED-4DB2-BD59-A6C34878D82A}">
                    <a16:rowId xmlns:a16="http://schemas.microsoft.com/office/drawing/2014/main" val="1146585231"/>
                  </a:ext>
                </a:extLst>
              </a:tr>
            </a:tbl>
          </a:graphicData>
        </a:graphic>
      </p:graphicFrame>
    </p:spTree>
    <p:extLst>
      <p:ext uri="{BB962C8B-B14F-4D97-AF65-F5344CB8AC3E}">
        <p14:creationId xmlns:p14="http://schemas.microsoft.com/office/powerpoint/2010/main" val="41393180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DB099-CB6A-FABA-94D0-946EA5FA0BF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45E0512-5563-2914-9C90-6DF28F6C4D85}"/>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4</a:t>
            </a:r>
            <a:endParaRPr lang="en-US" sz="1400" dirty="0"/>
          </a:p>
        </p:txBody>
      </p:sp>
      <p:sp>
        <p:nvSpPr>
          <p:cNvPr id="3" name="Text 1">
            <a:extLst>
              <a:ext uri="{FF2B5EF4-FFF2-40B4-BE49-F238E27FC236}">
                <a16:creationId xmlns:a16="http://schemas.microsoft.com/office/drawing/2014/main" id="{F05CFA7C-CB2B-A229-7688-9436BFB90A63}"/>
              </a:ext>
            </a:extLst>
          </p:cNvPr>
          <p:cNvSpPr/>
          <p:nvPr/>
        </p:nvSpPr>
        <p:spPr>
          <a:xfrm>
            <a:off x="548640" y="731520"/>
            <a:ext cx="11091672" cy="731520"/>
          </a:xfrm>
          <a:prstGeom prst="rect">
            <a:avLst/>
          </a:prstGeom>
          <a:noFill/>
          <a:ln/>
        </p:spPr>
        <p:txBody>
          <a:bodyPr wrap="square" rtlCol="0" anchor="ctr"/>
          <a:lstStyle/>
          <a:p>
            <a:pPr marL="0" indent="0">
              <a:buNone/>
            </a:pPr>
            <a:r>
              <a:rPr lang="en-US" sz="2400" b="1" dirty="0">
                <a:solidFill>
                  <a:srgbClr val="000000"/>
                </a:solidFill>
                <a:latin typeface="Helvetica" pitchFamily="34" charset="0"/>
                <a:cs typeface="Helvetica" pitchFamily="34" charset="-120"/>
              </a:rPr>
              <a:t>Member Function</a:t>
            </a:r>
            <a:endParaRPr lang="en-US" sz="2800" dirty="0"/>
          </a:p>
        </p:txBody>
      </p:sp>
      <p:sp>
        <p:nvSpPr>
          <p:cNvPr id="4" name="Text 2">
            <a:extLst>
              <a:ext uri="{FF2B5EF4-FFF2-40B4-BE49-F238E27FC236}">
                <a16:creationId xmlns:a16="http://schemas.microsoft.com/office/drawing/2014/main" id="{54BE5DA4-CFD4-99EC-A357-2FFCC5E848FF}"/>
              </a:ext>
            </a:extLst>
          </p:cNvPr>
          <p:cNvSpPr/>
          <p:nvPr/>
        </p:nvSpPr>
        <p:spPr>
          <a:xfrm>
            <a:off x="670867" y="1463040"/>
            <a:ext cx="11091672" cy="2923953"/>
          </a:xfrm>
          <a:prstGeom prst="rect">
            <a:avLst/>
          </a:prstGeom>
          <a:noFill/>
          <a:ln/>
        </p:spPr>
        <p:txBody>
          <a:bodyPr wrap="square" rtlCol="0" anchor="t"/>
          <a:lstStyle/>
          <a:p>
            <a:r>
              <a:rPr lang="en-US" sz="1400" dirty="0"/>
              <a:t>A function that is defined as a class member is known as a </a:t>
            </a:r>
            <a:r>
              <a:rPr lang="en-US" sz="1400" b="1" dirty="0"/>
              <a:t>member function </a:t>
            </a:r>
            <a:r>
              <a:rPr lang="en-US" sz="1400" dirty="0"/>
              <a:t>in C++ programming. </a:t>
            </a:r>
          </a:p>
          <a:p>
            <a:endParaRPr lang="en-US" sz="1400" dirty="0"/>
          </a:p>
          <a:p>
            <a:r>
              <a:rPr lang="en-US" sz="1400" b="1" dirty="0"/>
              <a:t>Characteristics of Member Function</a:t>
            </a:r>
          </a:p>
          <a:p>
            <a:pPr marL="742950" lvl="1" indent="-285750">
              <a:buFont typeface="Arial" panose="020B0604020202020204" pitchFamily="34" charset="0"/>
              <a:buChar char="•"/>
            </a:pPr>
            <a:r>
              <a:rPr lang="en-US" sz="1400" b="1" dirty="0"/>
              <a:t>Member functions </a:t>
            </a:r>
            <a:r>
              <a:rPr lang="en-US" sz="1400" dirty="0"/>
              <a:t>are functions defined within a class. </a:t>
            </a:r>
          </a:p>
          <a:p>
            <a:pPr marL="742950" lvl="1" indent="-285750">
              <a:buFont typeface="Arial" panose="020B0604020202020204" pitchFamily="34" charset="0"/>
              <a:buChar char="•"/>
            </a:pPr>
            <a:r>
              <a:rPr lang="en-US" sz="1400" dirty="0"/>
              <a:t>They can access the values of the data members and can also carry out operations on the data members. </a:t>
            </a:r>
          </a:p>
          <a:p>
            <a:pPr marL="742950" lvl="1" indent="-285750">
              <a:buFont typeface="Arial" panose="020B0604020202020204" pitchFamily="34" charset="0"/>
              <a:buChar char="•"/>
            </a:pPr>
            <a:r>
              <a:rPr lang="en-US" sz="1400" dirty="0"/>
              <a:t>Their definition may be included in or excluded from the class body. A member function in C++ can access both public and private class members.</a:t>
            </a:r>
          </a:p>
          <a:p>
            <a:pPr marL="742950" lvl="1" indent="-285750">
              <a:buFont typeface="Arial" panose="020B0604020202020204" pitchFamily="34" charset="0"/>
              <a:buChar char="•"/>
            </a:pPr>
            <a:r>
              <a:rPr lang="en-US" sz="1400" dirty="0"/>
              <a:t>Member function makes the program modular by increasing code reusability and making it easier to understand, hence making the code maintainable.</a:t>
            </a:r>
          </a:p>
          <a:p>
            <a:pPr marL="742950" lvl="1" indent="-285750">
              <a:buFont typeface="Arial" panose="020B0604020202020204" pitchFamily="34" charset="0"/>
              <a:buChar char="•"/>
            </a:pPr>
            <a:r>
              <a:rPr lang="en-US" sz="1400" dirty="0"/>
              <a:t>Member functions also provide the ability to restrict access to the data of members of the class. This can be done by making specific functions private, thus ensuring that only the class itself may access or modify sensitive data.</a:t>
            </a:r>
          </a:p>
          <a:p>
            <a:pPr marL="742950" lvl="1" indent="-285750">
              <a:buFont typeface="Arial" panose="020B0604020202020204" pitchFamily="34" charset="0"/>
              <a:buChar char="•"/>
            </a:pPr>
            <a:r>
              <a:rPr lang="en-US" sz="1400" dirty="0"/>
              <a:t>Member functions are essential in C++ as they encapsulate the behavior and functionality of objects. They enable objects to interact with their data and serve as a means for other components of the program to modify the data.</a:t>
            </a:r>
          </a:p>
          <a:p>
            <a:pPr marL="742950" lvl="1" indent="-285750">
              <a:buFont typeface="Arial" panose="020B0604020202020204" pitchFamily="34" charset="0"/>
              <a:buChar char="•"/>
            </a:pPr>
            <a:endParaRPr lang="en-US" sz="1400" dirty="0"/>
          </a:p>
        </p:txBody>
      </p:sp>
      <p:sp>
        <p:nvSpPr>
          <p:cNvPr id="7" name="Text 2">
            <a:extLst>
              <a:ext uri="{FF2B5EF4-FFF2-40B4-BE49-F238E27FC236}">
                <a16:creationId xmlns:a16="http://schemas.microsoft.com/office/drawing/2014/main" id="{D46A65FC-D7A1-E815-1E55-211903548334}"/>
              </a:ext>
            </a:extLst>
          </p:cNvPr>
          <p:cNvSpPr/>
          <p:nvPr/>
        </p:nvSpPr>
        <p:spPr>
          <a:xfrm>
            <a:off x="756561" y="4505135"/>
            <a:ext cx="11011389" cy="1323439"/>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100" dirty="0">
                <a:solidFill>
                  <a:srgbClr val="000000"/>
                </a:solidFill>
                <a:latin typeface="Courier New" pitchFamily="34" charset="0"/>
                <a:cs typeface="Courier New" pitchFamily="34" charset="-120"/>
              </a:rPr>
              <a:t>// Member function declaration</a:t>
            </a:r>
            <a:br>
              <a:rPr lang="en-US" sz="1100" dirty="0">
                <a:solidFill>
                  <a:srgbClr val="000000"/>
                </a:solidFill>
                <a:latin typeface="Courier New" pitchFamily="34" charset="0"/>
                <a:cs typeface="Courier New" pitchFamily="34" charset="-120"/>
              </a:rPr>
            </a:br>
            <a:r>
              <a:rPr lang="en-US" sz="1100" dirty="0" err="1">
                <a:solidFill>
                  <a:srgbClr val="000000"/>
                </a:solidFill>
                <a:latin typeface="Courier New" pitchFamily="34" charset="0"/>
                <a:cs typeface="Courier New" pitchFamily="34" charset="-120"/>
              </a:rPr>
              <a:t>returnType</a:t>
            </a:r>
            <a:r>
              <a:rPr lang="en-US" sz="1100" dirty="0">
                <a:solidFill>
                  <a:srgbClr val="000000"/>
                </a:solidFill>
                <a:latin typeface="Courier New" pitchFamily="34" charset="0"/>
                <a:cs typeface="Courier New" pitchFamily="34" charset="-120"/>
              </a:rPr>
              <a:t> </a:t>
            </a:r>
            <a:r>
              <a:rPr lang="en-US" sz="1100" dirty="0" err="1">
                <a:solidFill>
                  <a:srgbClr val="000000"/>
                </a:solidFill>
                <a:latin typeface="Courier New" pitchFamily="34" charset="0"/>
                <a:cs typeface="Courier New" pitchFamily="34" charset="-120"/>
              </a:rPr>
              <a:t>functionName</a:t>
            </a:r>
            <a:r>
              <a:rPr lang="en-US" sz="1100" dirty="0">
                <a:solidFill>
                  <a:srgbClr val="000000"/>
                </a:solidFill>
                <a:latin typeface="Courier New" pitchFamily="34" charset="0"/>
                <a:cs typeface="Courier New" pitchFamily="34" charset="-120"/>
              </a:rPr>
              <a:t> (arguments)</a:t>
            </a:r>
            <a:br>
              <a:rPr lang="en-US" sz="1100" dirty="0">
                <a:solidFill>
                  <a:srgbClr val="000000"/>
                </a:solidFill>
                <a:latin typeface="Courier New" pitchFamily="34" charset="0"/>
                <a:cs typeface="Courier New" pitchFamily="34" charset="-120"/>
              </a:rPr>
            </a:br>
            <a:r>
              <a:rPr lang="en-US" sz="1100" dirty="0">
                <a:solidFill>
                  <a:srgbClr val="000000"/>
                </a:solidFill>
                <a:latin typeface="Courier New" pitchFamily="34" charset="0"/>
                <a:cs typeface="Courier New" pitchFamily="34" charset="-120"/>
              </a:rPr>
              <a:t>{</a:t>
            </a:r>
          </a:p>
          <a:p>
            <a:r>
              <a:rPr lang="en-US" sz="1100" dirty="0">
                <a:solidFill>
                  <a:srgbClr val="000000"/>
                </a:solidFill>
                <a:latin typeface="Courier New" pitchFamily="34" charset="0"/>
                <a:cs typeface="Courier New" pitchFamily="34" charset="-120"/>
              </a:rPr>
              <a:t>	//function body</a:t>
            </a:r>
            <a:br>
              <a:rPr lang="en-US" sz="1100" dirty="0">
                <a:solidFill>
                  <a:srgbClr val="000000"/>
                </a:solidFill>
                <a:latin typeface="Courier New" pitchFamily="34" charset="0"/>
                <a:cs typeface="Courier New" pitchFamily="34" charset="-120"/>
              </a:rPr>
            </a:br>
            <a:r>
              <a:rPr lang="en-US" sz="1100" dirty="0">
                <a:solidFill>
                  <a:srgbClr val="000000"/>
                </a:solidFill>
                <a:latin typeface="Courier New" pitchFamily="34" charset="0"/>
                <a:cs typeface="Courier New" pitchFamily="34" charset="-120"/>
              </a:rPr>
              <a:t>};</a:t>
            </a:r>
          </a:p>
          <a:p>
            <a:endParaRPr lang="en-US" sz="1100" dirty="0">
              <a:solidFill>
                <a:srgbClr val="000000"/>
              </a:solidFill>
              <a:latin typeface="Courier New" pitchFamily="34" charset="0"/>
              <a:cs typeface="Courier New" pitchFamily="34" charset="-120"/>
            </a:endParaRPr>
          </a:p>
        </p:txBody>
      </p:sp>
      <p:sp>
        <p:nvSpPr>
          <p:cNvPr id="6" name="TextBox 5">
            <a:extLst>
              <a:ext uri="{FF2B5EF4-FFF2-40B4-BE49-F238E27FC236}">
                <a16:creationId xmlns:a16="http://schemas.microsoft.com/office/drawing/2014/main" id="{5797406B-5258-A158-5F99-20B4D12D2941}"/>
              </a:ext>
            </a:extLst>
          </p:cNvPr>
          <p:cNvSpPr txBox="1"/>
          <p:nvPr/>
        </p:nvSpPr>
        <p:spPr>
          <a:xfrm>
            <a:off x="756561" y="5886952"/>
            <a:ext cx="11011389" cy="738664"/>
          </a:xfrm>
          <a:prstGeom prst="rect">
            <a:avLst/>
          </a:prstGeom>
          <a:noFill/>
        </p:spPr>
        <p:txBody>
          <a:bodyPr wrap="square">
            <a:spAutoFit/>
          </a:bodyPr>
          <a:lstStyle/>
          <a:p>
            <a:pPr marL="285750" indent="-285750">
              <a:buFont typeface="Arial" panose="020B0604020202020204" pitchFamily="34" charset="0"/>
              <a:buChar char="•"/>
            </a:pPr>
            <a:r>
              <a:rPr lang="en-US" sz="1400" dirty="0"/>
              <a:t>The </a:t>
            </a:r>
            <a:r>
              <a:rPr lang="en-US" sz="1400" b="1" dirty="0" err="1"/>
              <a:t>functionName</a:t>
            </a:r>
            <a:r>
              <a:rPr lang="en-US" sz="1400" dirty="0"/>
              <a:t> refers to the name of the function, with the </a:t>
            </a:r>
            <a:r>
              <a:rPr lang="en-US" sz="1400" b="1" dirty="0" err="1"/>
              <a:t>returnType</a:t>
            </a:r>
            <a:r>
              <a:rPr lang="en-US" sz="1400" dirty="0"/>
              <a:t> specifying the data type of its return value.</a:t>
            </a:r>
          </a:p>
          <a:p>
            <a:pPr marL="285750" indent="-285750">
              <a:buFont typeface="Arial" panose="020B0604020202020204" pitchFamily="34" charset="0"/>
              <a:buChar char="•"/>
            </a:pPr>
            <a:r>
              <a:rPr lang="en-US" sz="1400" dirty="0"/>
              <a:t>The </a:t>
            </a:r>
            <a:r>
              <a:rPr lang="en-US" sz="1400" b="1" dirty="0"/>
              <a:t>arguments</a:t>
            </a:r>
            <a:r>
              <a:rPr lang="en-US" sz="1400" dirty="0"/>
              <a:t> refer to the parameters the member function can take. </a:t>
            </a:r>
          </a:p>
          <a:p>
            <a:pPr marL="285750" indent="-285750">
              <a:buFont typeface="Arial" panose="020B0604020202020204" pitchFamily="34" charset="0"/>
              <a:buChar char="•"/>
            </a:pPr>
            <a:r>
              <a:rPr lang="en-US" sz="1400" dirty="0"/>
              <a:t>The </a:t>
            </a:r>
            <a:r>
              <a:rPr lang="en-US" sz="1400" b="1" dirty="0"/>
              <a:t>curly brackets {}</a:t>
            </a:r>
            <a:r>
              <a:rPr lang="en-US" sz="1400" dirty="0"/>
              <a:t> contain the function body, i.e., the operations that are performed on the data members of the class.</a:t>
            </a:r>
          </a:p>
        </p:txBody>
      </p:sp>
    </p:spTree>
    <p:extLst>
      <p:ext uri="{BB962C8B-B14F-4D97-AF65-F5344CB8AC3E}">
        <p14:creationId xmlns:p14="http://schemas.microsoft.com/office/powerpoint/2010/main" val="182778392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D076A-0857-07CD-8F56-2C327E833A0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CF3BECF-8EC0-2407-C9A1-5D10D0576EE7}"/>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4</a:t>
            </a:r>
            <a:endParaRPr lang="en-US" sz="1400" dirty="0"/>
          </a:p>
        </p:txBody>
      </p:sp>
      <p:sp>
        <p:nvSpPr>
          <p:cNvPr id="3" name="Text 1">
            <a:extLst>
              <a:ext uri="{FF2B5EF4-FFF2-40B4-BE49-F238E27FC236}">
                <a16:creationId xmlns:a16="http://schemas.microsoft.com/office/drawing/2014/main" id="{F1426047-E426-9D46-0338-D8E72B2C25FD}"/>
              </a:ext>
            </a:extLst>
          </p:cNvPr>
          <p:cNvSpPr/>
          <p:nvPr/>
        </p:nvSpPr>
        <p:spPr>
          <a:xfrm>
            <a:off x="548640" y="731520"/>
            <a:ext cx="11091672" cy="731520"/>
          </a:xfrm>
          <a:prstGeom prst="rect">
            <a:avLst/>
          </a:prstGeom>
          <a:noFill/>
          <a:ln/>
        </p:spPr>
        <p:txBody>
          <a:bodyPr wrap="square" rtlCol="0" anchor="ctr"/>
          <a:lstStyle/>
          <a:p>
            <a:pPr marL="0" indent="0">
              <a:buNone/>
            </a:pPr>
            <a:r>
              <a:rPr lang="en-US" sz="2400" b="1" dirty="0">
                <a:solidFill>
                  <a:srgbClr val="000000"/>
                </a:solidFill>
                <a:latin typeface="Helvetica" pitchFamily="34" charset="0"/>
                <a:cs typeface="Helvetica" pitchFamily="34" charset="-120"/>
              </a:rPr>
              <a:t>Member Function</a:t>
            </a:r>
            <a:endParaRPr lang="en-US" sz="2800" dirty="0"/>
          </a:p>
        </p:txBody>
      </p:sp>
      <p:sp>
        <p:nvSpPr>
          <p:cNvPr id="4" name="Text 2">
            <a:extLst>
              <a:ext uri="{FF2B5EF4-FFF2-40B4-BE49-F238E27FC236}">
                <a16:creationId xmlns:a16="http://schemas.microsoft.com/office/drawing/2014/main" id="{83230CDC-4CB5-1929-8732-E5538F7FA90F}"/>
              </a:ext>
            </a:extLst>
          </p:cNvPr>
          <p:cNvSpPr/>
          <p:nvPr/>
        </p:nvSpPr>
        <p:spPr>
          <a:xfrm>
            <a:off x="548640" y="2803522"/>
            <a:ext cx="3523377" cy="1484852"/>
          </a:xfrm>
          <a:prstGeom prst="rect">
            <a:avLst/>
          </a:prstGeom>
          <a:noFill/>
          <a:ln/>
        </p:spPr>
        <p:txBody>
          <a:bodyPr wrap="square" rtlCol="0" anchor="t"/>
          <a:lstStyle/>
          <a:p>
            <a:r>
              <a:rPr lang="en-US" sz="1400" b="1" dirty="0"/>
              <a:t>Defining a Function in C++</a:t>
            </a:r>
          </a:p>
          <a:p>
            <a:endParaRPr lang="en-US" sz="1400" dirty="0"/>
          </a:p>
          <a:p>
            <a:r>
              <a:rPr lang="en-US" sz="1400" dirty="0"/>
              <a:t>There are mainly two ways to define a member function in C++. </a:t>
            </a:r>
          </a:p>
          <a:p>
            <a:pPr marL="742950" lvl="1" indent="-285750">
              <a:buFont typeface="Arial" panose="020B0604020202020204" pitchFamily="34" charset="0"/>
              <a:buChar char="•"/>
            </a:pPr>
            <a:r>
              <a:rPr lang="en-US" sz="1400" dirty="0"/>
              <a:t>Inside the class definition</a:t>
            </a:r>
          </a:p>
          <a:p>
            <a:pPr marL="742950" lvl="1" indent="-285750">
              <a:buFont typeface="Arial" panose="020B0604020202020204" pitchFamily="34" charset="0"/>
              <a:buChar char="•"/>
            </a:pPr>
            <a:r>
              <a:rPr lang="en-US" sz="1400" dirty="0"/>
              <a:t>Outside the class definition.</a:t>
            </a:r>
          </a:p>
          <a:p>
            <a:pPr lvl="1"/>
            <a:endParaRPr lang="en-US" sz="1400" dirty="0"/>
          </a:p>
          <a:p>
            <a:pPr lvl="1"/>
            <a:endParaRPr lang="en-US" sz="1400" dirty="0"/>
          </a:p>
        </p:txBody>
      </p:sp>
      <p:pic>
        <p:nvPicPr>
          <p:cNvPr id="8" name="Picture 7">
            <a:extLst>
              <a:ext uri="{FF2B5EF4-FFF2-40B4-BE49-F238E27FC236}">
                <a16:creationId xmlns:a16="http://schemas.microsoft.com/office/drawing/2014/main" id="{C2C94BC3-E303-900A-B162-DD6572D5C1E5}"/>
              </a:ext>
            </a:extLst>
          </p:cNvPr>
          <p:cNvPicPr>
            <a:picLocks noChangeAspect="1"/>
          </p:cNvPicPr>
          <p:nvPr/>
        </p:nvPicPr>
        <p:blipFill>
          <a:blip r:embed="rId3"/>
          <a:stretch>
            <a:fillRect/>
          </a:stretch>
        </p:blipFill>
        <p:spPr>
          <a:xfrm>
            <a:off x="4367307" y="1374479"/>
            <a:ext cx="7524926" cy="4342939"/>
          </a:xfrm>
          <a:prstGeom prst="rect">
            <a:avLst/>
          </a:prstGeom>
        </p:spPr>
      </p:pic>
    </p:spTree>
    <p:extLst>
      <p:ext uri="{BB962C8B-B14F-4D97-AF65-F5344CB8AC3E}">
        <p14:creationId xmlns:p14="http://schemas.microsoft.com/office/powerpoint/2010/main" val="40197358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C7AEA-04BF-8353-9B28-DB5A35487DD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CB44FDE-A2F9-E02E-6516-13397F42B2A5}"/>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4</a:t>
            </a:r>
            <a:endParaRPr lang="en-US" sz="1400" dirty="0"/>
          </a:p>
        </p:txBody>
      </p:sp>
      <p:sp>
        <p:nvSpPr>
          <p:cNvPr id="3" name="Text 1">
            <a:extLst>
              <a:ext uri="{FF2B5EF4-FFF2-40B4-BE49-F238E27FC236}">
                <a16:creationId xmlns:a16="http://schemas.microsoft.com/office/drawing/2014/main" id="{09E81CD8-C370-A508-E10B-01F265EF5FCD}"/>
              </a:ext>
            </a:extLst>
          </p:cNvPr>
          <p:cNvSpPr/>
          <p:nvPr/>
        </p:nvSpPr>
        <p:spPr>
          <a:xfrm>
            <a:off x="548640" y="731520"/>
            <a:ext cx="11091672" cy="731520"/>
          </a:xfrm>
          <a:prstGeom prst="rect">
            <a:avLst/>
          </a:prstGeom>
          <a:noFill/>
          <a:ln/>
        </p:spPr>
        <p:txBody>
          <a:bodyPr wrap="square" rtlCol="0" anchor="ctr"/>
          <a:lstStyle/>
          <a:p>
            <a:pPr marL="0" indent="0">
              <a:buNone/>
            </a:pPr>
            <a:r>
              <a:rPr lang="en-US" sz="2400" b="1" dirty="0">
                <a:solidFill>
                  <a:srgbClr val="000000"/>
                </a:solidFill>
                <a:latin typeface="Helvetica" pitchFamily="34" charset="0"/>
                <a:cs typeface="Helvetica" pitchFamily="34" charset="-120"/>
              </a:rPr>
              <a:t>Member Function</a:t>
            </a:r>
            <a:endParaRPr lang="en-US" sz="2800" dirty="0"/>
          </a:p>
        </p:txBody>
      </p:sp>
      <p:sp>
        <p:nvSpPr>
          <p:cNvPr id="4" name="Text 2">
            <a:extLst>
              <a:ext uri="{FF2B5EF4-FFF2-40B4-BE49-F238E27FC236}">
                <a16:creationId xmlns:a16="http://schemas.microsoft.com/office/drawing/2014/main" id="{D8B6BF17-59C9-A572-F2A5-7326A1603E4E}"/>
              </a:ext>
            </a:extLst>
          </p:cNvPr>
          <p:cNvSpPr/>
          <p:nvPr/>
        </p:nvSpPr>
        <p:spPr>
          <a:xfrm>
            <a:off x="823672" y="1652631"/>
            <a:ext cx="10944278" cy="973123"/>
          </a:xfrm>
          <a:prstGeom prst="rect">
            <a:avLst/>
          </a:prstGeom>
          <a:noFill/>
          <a:ln/>
        </p:spPr>
        <p:txBody>
          <a:bodyPr wrap="square" rtlCol="0" anchor="t"/>
          <a:lstStyle/>
          <a:p>
            <a:r>
              <a:rPr lang="en-US" sz="1400" b="1" dirty="0"/>
              <a:t>Defining a Function in C++ Inside The Class Definition</a:t>
            </a:r>
          </a:p>
          <a:p>
            <a:endParaRPr lang="en-US" sz="1050" b="1" dirty="0"/>
          </a:p>
          <a:p>
            <a:r>
              <a:rPr lang="en-US" sz="1400" dirty="0"/>
              <a:t>A member function can be both declared and defined within a class itself. When a member function is defined within a class, it is referred to as an inline function. All of the constraints and limitations that apply to inline functions also apply to functions declared within a class.</a:t>
            </a:r>
          </a:p>
          <a:p>
            <a:pPr marL="742950" lvl="1" indent="-285750">
              <a:buFont typeface="Arial" panose="020B0604020202020204" pitchFamily="34" charset="0"/>
              <a:buChar char="•"/>
            </a:pPr>
            <a:endParaRPr lang="en-US" sz="1400" dirty="0"/>
          </a:p>
          <a:p>
            <a:pPr lvl="1"/>
            <a:endParaRPr lang="en-US" sz="1400" dirty="0"/>
          </a:p>
        </p:txBody>
      </p:sp>
      <p:sp>
        <p:nvSpPr>
          <p:cNvPr id="7" name="Text 2">
            <a:extLst>
              <a:ext uri="{FF2B5EF4-FFF2-40B4-BE49-F238E27FC236}">
                <a16:creationId xmlns:a16="http://schemas.microsoft.com/office/drawing/2014/main" id="{C720E037-8456-3448-5EA3-AB8C74B9C2DD}"/>
              </a:ext>
            </a:extLst>
          </p:cNvPr>
          <p:cNvSpPr/>
          <p:nvPr/>
        </p:nvSpPr>
        <p:spPr>
          <a:xfrm>
            <a:off x="823672" y="2709988"/>
            <a:ext cx="11011389" cy="2000548"/>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100" dirty="0">
                <a:solidFill>
                  <a:srgbClr val="000000"/>
                </a:solidFill>
                <a:latin typeface="Courier New" pitchFamily="34" charset="0"/>
                <a:cs typeface="Courier New" pitchFamily="34" charset="-120"/>
              </a:rPr>
              <a:t>class </a:t>
            </a:r>
            <a:r>
              <a:rPr lang="en-US" sz="1100" dirty="0" err="1">
                <a:solidFill>
                  <a:srgbClr val="000000"/>
                </a:solidFill>
                <a:latin typeface="Courier New" pitchFamily="34" charset="0"/>
                <a:cs typeface="Courier New" pitchFamily="34" charset="-120"/>
              </a:rPr>
              <a:t>MyClass</a:t>
            </a:r>
            <a:r>
              <a:rPr lang="en-US" sz="1100" dirty="0">
                <a:solidFill>
                  <a:srgbClr val="000000"/>
                </a:solidFill>
                <a:latin typeface="Courier New" pitchFamily="34" charset="0"/>
                <a:cs typeface="Courier New" pitchFamily="34" charset="-120"/>
              </a:rPr>
              <a:t>{</a:t>
            </a:r>
            <a:br>
              <a:rPr lang="en-US" sz="1100" dirty="0">
                <a:solidFill>
                  <a:srgbClr val="000000"/>
                </a:solidFill>
                <a:latin typeface="Courier New" pitchFamily="34" charset="0"/>
                <a:cs typeface="Courier New" pitchFamily="34" charset="-120"/>
              </a:rPr>
            </a:br>
            <a:r>
              <a:rPr lang="en-US" sz="1100" dirty="0">
                <a:solidFill>
                  <a:srgbClr val="000000"/>
                </a:solidFill>
                <a:latin typeface="Courier New" pitchFamily="34" charset="0"/>
                <a:cs typeface="Courier New" pitchFamily="34" charset="-120"/>
              </a:rPr>
              <a:t>      private:</a:t>
            </a:r>
            <a:br>
              <a:rPr lang="en-US" sz="1100" dirty="0">
                <a:solidFill>
                  <a:srgbClr val="000000"/>
                </a:solidFill>
                <a:latin typeface="Courier New" pitchFamily="34" charset="0"/>
                <a:cs typeface="Courier New" pitchFamily="34" charset="-120"/>
              </a:rPr>
            </a:br>
            <a:r>
              <a:rPr lang="en-US" sz="1100" dirty="0">
                <a:solidFill>
                  <a:srgbClr val="000000"/>
                </a:solidFill>
                <a:latin typeface="Courier New" pitchFamily="34" charset="0"/>
                <a:cs typeface="Courier New" pitchFamily="34" charset="-120"/>
              </a:rPr>
              <a:t>      //Data Members variables</a:t>
            </a:r>
          </a:p>
          <a:p>
            <a:pPr lvl="1"/>
            <a:endParaRPr lang="en-US" sz="1100" dirty="0">
              <a:solidFill>
                <a:srgbClr val="000000"/>
              </a:solidFill>
              <a:latin typeface="Courier New" pitchFamily="34" charset="0"/>
              <a:cs typeface="Courier New" pitchFamily="34" charset="-120"/>
            </a:endParaRPr>
          </a:p>
          <a:p>
            <a:pPr lvl="1"/>
            <a:r>
              <a:rPr lang="en-US" sz="1100" dirty="0">
                <a:solidFill>
                  <a:srgbClr val="000000"/>
                </a:solidFill>
                <a:latin typeface="Courier New" pitchFamily="34" charset="0"/>
                <a:cs typeface="Courier New" pitchFamily="34" charset="-120"/>
              </a:rPr>
              <a:t>public:</a:t>
            </a:r>
            <a:br>
              <a:rPr lang="en-US" sz="1100" dirty="0">
                <a:solidFill>
                  <a:srgbClr val="000000"/>
                </a:solidFill>
                <a:latin typeface="Courier New" pitchFamily="34" charset="0"/>
                <a:cs typeface="Courier New" pitchFamily="34" charset="-120"/>
              </a:rPr>
            </a:br>
            <a:r>
              <a:rPr lang="en-US" sz="1100" dirty="0">
                <a:solidFill>
                  <a:srgbClr val="000000"/>
                </a:solidFill>
                <a:latin typeface="Courier New" pitchFamily="34" charset="0"/>
                <a:cs typeface="Courier New" pitchFamily="34" charset="-120"/>
              </a:rPr>
              <a:t>//Member Function</a:t>
            </a:r>
            <a:br>
              <a:rPr lang="en-US" sz="1100" dirty="0">
                <a:solidFill>
                  <a:srgbClr val="000000"/>
                </a:solidFill>
                <a:latin typeface="Courier New" pitchFamily="34" charset="0"/>
                <a:cs typeface="Courier New" pitchFamily="34" charset="-120"/>
              </a:rPr>
            </a:br>
            <a:r>
              <a:rPr lang="en-US" sz="1100" dirty="0" err="1">
                <a:solidFill>
                  <a:srgbClr val="000000"/>
                </a:solidFill>
                <a:latin typeface="Courier New" pitchFamily="34" charset="0"/>
                <a:cs typeface="Courier New" pitchFamily="34" charset="-120"/>
              </a:rPr>
              <a:t>returnType</a:t>
            </a:r>
            <a:r>
              <a:rPr lang="en-US" sz="1100" dirty="0">
                <a:solidFill>
                  <a:srgbClr val="000000"/>
                </a:solidFill>
                <a:latin typeface="Courier New" pitchFamily="34" charset="0"/>
                <a:cs typeface="Courier New" pitchFamily="34" charset="-120"/>
              </a:rPr>
              <a:t> </a:t>
            </a:r>
            <a:r>
              <a:rPr lang="en-US" sz="1100" dirty="0" err="1">
                <a:solidFill>
                  <a:srgbClr val="000000"/>
                </a:solidFill>
                <a:latin typeface="Courier New" pitchFamily="34" charset="0"/>
                <a:cs typeface="Courier New" pitchFamily="34" charset="-120"/>
              </a:rPr>
              <a:t>functionName</a:t>
            </a:r>
            <a:r>
              <a:rPr lang="en-US" sz="1100" dirty="0">
                <a:solidFill>
                  <a:srgbClr val="000000"/>
                </a:solidFill>
                <a:latin typeface="Courier New" pitchFamily="34" charset="0"/>
                <a:cs typeface="Courier New" pitchFamily="34" charset="-120"/>
              </a:rPr>
              <a:t>(argument){</a:t>
            </a:r>
            <a:br>
              <a:rPr lang="en-US" sz="1100" dirty="0">
                <a:solidFill>
                  <a:srgbClr val="000000"/>
                </a:solidFill>
                <a:latin typeface="Courier New" pitchFamily="34" charset="0"/>
                <a:cs typeface="Courier New" pitchFamily="34" charset="-120"/>
              </a:rPr>
            </a:br>
            <a:r>
              <a:rPr lang="en-US" sz="1100" dirty="0">
                <a:solidFill>
                  <a:srgbClr val="000000"/>
                </a:solidFill>
                <a:latin typeface="Courier New" pitchFamily="34" charset="0"/>
                <a:cs typeface="Courier New" pitchFamily="34" charset="-120"/>
              </a:rPr>
              <a:t>//Function Definition</a:t>
            </a:r>
            <a:br>
              <a:rPr lang="en-US" sz="1100" dirty="0">
                <a:solidFill>
                  <a:srgbClr val="000000"/>
                </a:solidFill>
                <a:latin typeface="Courier New" pitchFamily="34" charset="0"/>
                <a:cs typeface="Courier New" pitchFamily="34" charset="-120"/>
              </a:rPr>
            </a:br>
            <a:r>
              <a:rPr lang="en-US" sz="1100" dirty="0">
                <a:solidFill>
                  <a:srgbClr val="000000"/>
                </a:solidFill>
                <a:latin typeface="Courier New" pitchFamily="34" charset="0"/>
                <a:cs typeface="Courier New" pitchFamily="34" charset="-120"/>
              </a:rPr>
              <a:t>}</a:t>
            </a:r>
          </a:p>
          <a:p>
            <a:r>
              <a:rPr lang="en-US" sz="1100" dirty="0">
                <a:solidFill>
                  <a:srgbClr val="000000"/>
                </a:solidFill>
                <a:latin typeface="Courier New" pitchFamily="34" charset="0"/>
                <a:cs typeface="Courier New" pitchFamily="34" charset="-120"/>
              </a:rPr>
              <a:t>};</a:t>
            </a:r>
          </a:p>
        </p:txBody>
      </p:sp>
    </p:spTree>
    <p:extLst>
      <p:ext uri="{BB962C8B-B14F-4D97-AF65-F5344CB8AC3E}">
        <p14:creationId xmlns:p14="http://schemas.microsoft.com/office/powerpoint/2010/main" val="18203608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8D9C3-B1DE-26C3-9F4A-DE043D16362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8E71205-454A-7117-A73E-7C3363B3C6D4}"/>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4</a:t>
            </a:r>
            <a:endParaRPr lang="en-US" sz="1400" dirty="0"/>
          </a:p>
        </p:txBody>
      </p:sp>
      <p:sp>
        <p:nvSpPr>
          <p:cNvPr id="3" name="Text 1">
            <a:extLst>
              <a:ext uri="{FF2B5EF4-FFF2-40B4-BE49-F238E27FC236}">
                <a16:creationId xmlns:a16="http://schemas.microsoft.com/office/drawing/2014/main" id="{741A94AA-0F7C-7431-4727-2028502A1F84}"/>
              </a:ext>
            </a:extLst>
          </p:cNvPr>
          <p:cNvSpPr/>
          <p:nvPr/>
        </p:nvSpPr>
        <p:spPr>
          <a:xfrm>
            <a:off x="548640" y="731520"/>
            <a:ext cx="11091672" cy="731520"/>
          </a:xfrm>
          <a:prstGeom prst="rect">
            <a:avLst/>
          </a:prstGeom>
          <a:noFill/>
          <a:ln/>
        </p:spPr>
        <p:txBody>
          <a:bodyPr wrap="square" rtlCol="0" anchor="ctr"/>
          <a:lstStyle/>
          <a:p>
            <a:pPr marL="0" indent="0">
              <a:buNone/>
            </a:pPr>
            <a:r>
              <a:rPr lang="en-US" sz="2400" b="1" dirty="0">
                <a:solidFill>
                  <a:srgbClr val="000000"/>
                </a:solidFill>
                <a:latin typeface="Helvetica" pitchFamily="34" charset="0"/>
                <a:cs typeface="Helvetica" pitchFamily="34" charset="-120"/>
              </a:rPr>
              <a:t>Member Function</a:t>
            </a:r>
            <a:endParaRPr lang="en-US" sz="2800" dirty="0"/>
          </a:p>
        </p:txBody>
      </p:sp>
      <p:sp>
        <p:nvSpPr>
          <p:cNvPr id="4" name="Text 2">
            <a:extLst>
              <a:ext uri="{FF2B5EF4-FFF2-40B4-BE49-F238E27FC236}">
                <a16:creationId xmlns:a16="http://schemas.microsoft.com/office/drawing/2014/main" id="{579A1A7C-933E-8D6E-7E86-1261D96E2687}"/>
              </a:ext>
            </a:extLst>
          </p:cNvPr>
          <p:cNvSpPr/>
          <p:nvPr/>
        </p:nvSpPr>
        <p:spPr>
          <a:xfrm>
            <a:off x="6576969" y="1707040"/>
            <a:ext cx="5100191" cy="4803536"/>
          </a:xfrm>
          <a:prstGeom prst="rect">
            <a:avLst/>
          </a:prstGeom>
          <a:noFill/>
          <a:ln/>
        </p:spPr>
        <p:txBody>
          <a:bodyPr wrap="square" rtlCol="0" anchor="t"/>
          <a:lstStyle/>
          <a:p>
            <a:pPr marL="285750" indent="-285750">
              <a:lnSpc>
                <a:spcPts val="1470"/>
              </a:lnSpc>
              <a:spcBef>
                <a:spcPts val="1125"/>
              </a:spcBef>
              <a:spcAft>
                <a:spcPts val="750"/>
              </a:spcAft>
              <a:buFont typeface="Arial" panose="020B0604020202020204" pitchFamily="34" charset="0"/>
              <a:buChar char="•"/>
            </a:pPr>
            <a:r>
              <a:rPr lang="en-US" sz="1400" b="1" i="1" dirty="0">
                <a:solidFill>
                  <a:srgbClr val="383838"/>
                </a:solidFill>
              </a:rPr>
              <a:t>Circle class </a:t>
            </a:r>
            <a:r>
              <a:rPr lang="en-US" sz="1400" dirty="0">
                <a:solidFill>
                  <a:srgbClr val="383838"/>
                </a:solidFill>
              </a:rPr>
              <a:t>is defined , which has a </a:t>
            </a:r>
            <a:r>
              <a:rPr lang="en-US" sz="1400" b="1" i="1" dirty="0">
                <a:solidFill>
                  <a:srgbClr val="383838"/>
                </a:solidFill>
              </a:rPr>
              <a:t>private data member</a:t>
            </a:r>
            <a:r>
              <a:rPr lang="en-US" sz="1400" dirty="0">
                <a:solidFill>
                  <a:srgbClr val="383838"/>
                </a:solidFill>
              </a:rPr>
              <a:t> called </a:t>
            </a:r>
            <a:r>
              <a:rPr lang="en-US" sz="1400" b="1" i="1" dirty="0">
                <a:solidFill>
                  <a:srgbClr val="383838"/>
                </a:solidFill>
              </a:rPr>
              <a:t>rad</a:t>
            </a:r>
            <a:r>
              <a:rPr lang="en-US" sz="1400" dirty="0">
                <a:solidFill>
                  <a:srgbClr val="383838"/>
                </a:solidFill>
              </a:rPr>
              <a:t> (of float type).</a:t>
            </a:r>
          </a:p>
          <a:p>
            <a:pPr marL="285750" indent="-285750">
              <a:lnSpc>
                <a:spcPts val="1470"/>
              </a:lnSpc>
              <a:spcBef>
                <a:spcPts val="1125"/>
              </a:spcBef>
              <a:spcAft>
                <a:spcPts val="750"/>
              </a:spcAft>
              <a:buFont typeface="Arial" panose="020B0604020202020204" pitchFamily="34" charset="0"/>
              <a:buChar char="•"/>
            </a:pPr>
            <a:r>
              <a:rPr lang="en-US" sz="1400" dirty="0">
                <a:solidFill>
                  <a:srgbClr val="383838"/>
                </a:solidFill>
              </a:rPr>
              <a:t>In the class is the member function called </a:t>
            </a:r>
            <a:r>
              <a:rPr lang="en-US" sz="1400" b="1" i="1" dirty="0" err="1">
                <a:solidFill>
                  <a:srgbClr val="383838"/>
                </a:solidFill>
              </a:rPr>
              <a:t>getradius</a:t>
            </a:r>
            <a:r>
              <a:rPr lang="en-US" sz="1400" b="1" i="1" dirty="0">
                <a:solidFill>
                  <a:srgbClr val="383838"/>
                </a:solidFill>
              </a:rPr>
              <a:t>()</a:t>
            </a:r>
            <a:r>
              <a:rPr lang="en-US" sz="1400" dirty="0">
                <a:solidFill>
                  <a:srgbClr val="383838"/>
                </a:solidFill>
              </a:rPr>
              <a:t>, which prompts the user to enter the radius of the circle </a:t>
            </a:r>
            <a:r>
              <a:rPr lang="en-US" sz="1400" b="1" i="1" dirty="0">
                <a:solidFill>
                  <a:srgbClr val="383838"/>
                </a:solidFill>
              </a:rPr>
              <a:t>using </a:t>
            </a:r>
            <a:r>
              <a:rPr lang="en-US" sz="1400" b="1" i="1" dirty="0" err="1">
                <a:solidFill>
                  <a:srgbClr val="383838"/>
                </a:solidFill>
              </a:rPr>
              <a:t>cout</a:t>
            </a:r>
            <a:r>
              <a:rPr lang="en-US" sz="1400" dirty="0">
                <a:solidFill>
                  <a:srgbClr val="383838"/>
                </a:solidFill>
              </a:rPr>
              <a:t>, stores it in the rad data member, and reads the input using the </a:t>
            </a:r>
            <a:r>
              <a:rPr lang="en-US" sz="1400" b="1" i="1" dirty="0" err="1">
                <a:solidFill>
                  <a:srgbClr val="383838"/>
                </a:solidFill>
              </a:rPr>
              <a:t>cin</a:t>
            </a:r>
            <a:r>
              <a:rPr lang="en-US" sz="1400" b="1" i="1" dirty="0">
                <a:solidFill>
                  <a:srgbClr val="383838"/>
                </a:solidFill>
              </a:rPr>
              <a:t> command</a:t>
            </a:r>
            <a:r>
              <a:rPr lang="en-US" sz="1400" dirty="0">
                <a:solidFill>
                  <a:srgbClr val="383838"/>
                </a:solidFill>
              </a:rPr>
              <a:t>.</a:t>
            </a:r>
          </a:p>
          <a:p>
            <a:pPr marL="285750" indent="-285750">
              <a:lnSpc>
                <a:spcPts val="1470"/>
              </a:lnSpc>
              <a:spcBef>
                <a:spcPts val="1125"/>
              </a:spcBef>
              <a:spcAft>
                <a:spcPts val="750"/>
              </a:spcAft>
              <a:buFont typeface="Arial" panose="020B0604020202020204" pitchFamily="34" charset="0"/>
              <a:buChar char="•"/>
            </a:pPr>
            <a:r>
              <a:rPr lang="en-US" sz="1400" dirty="0">
                <a:solidFill>
                  <a:srgbClr val="383838"/>
                </a:solidFill>
              </a:rPr>
              <a:t>Also, another void member function called </a:t>
            </a:r>
            <a:r>
              <a:rPr lang="en-US" sz="1400" b="1" i="1" dirty="0" err="1">
                <a:solidFill>
                  <a:srgbClr val="383838"/>
                </a:solidFill>
              </a:rPr>
              <a:t>calc_area</a:t>
            </a:r>
            <a:r>
              <a:rPr lang="en-US" sz="1400" b="1" i="1" dirty="0">
                <a:solidFill>
                  <a:srgbClr val="383838"/>
                </a:solidFill>
              </a:rPr>
              <a:t> </a:t>
            </a:r>
            <a:r>
              <a:rPr lang="en-US" sz="1400" dirty="0">
                <a:solidFill>
                  <a:srgbClr val="383838"/>
                </a:solidFill>
              </a:rPr>
              <a:t>within the Circle class. It calculates the area of the circle using the formula a = 3.14*rad*rad and displays it on the console.</a:t>
            </a:r>
          </a:p>
          <a:p>
            <a:pPr marL="285750" indent="-285750">
              <a:lnSpc>
                <a:spcPts val="1470"/>
              </a:lnSpc>
              <a:spcBef>
                <a:spcPts val="1125"/>
              </a:spcBef>
              <a:spcAft>
                <a:spcPts val="750"/>
              </a:spcAft>
              <a:buFont typeface="Arial" panose="020B0604020202020204" pitchFamily="34" charset="0"/>
              <a:buChar char="•"/>
            </a:pPr>
            <a:r>
              <a:rPr lang="en-US" sz="1400" dirty="0">
                <a:solidFill>
                  <a:srgbClr val="383838"/>
                </a:solidFill>
              </a:rPr>
              <a:t>In the </a:t>
            </a:r>
            <a:r>
              <a:rPr lang="en-US" sz="1400" b="1" i="1" dirty="0">
                <a:solidFill>
                  <a:srgbClr val="383838"/>
                </a:solidFill>
              </a:rPr>
              <a:t>main() function</a:t>
            </a:r>
            <a:r>
              <a:rPr lang="en-US" sz="1400" dirty="0">
                <a:solidFill>
                  <a:srgbClr val="383838"/>
                </a:solidFill>
              </a:rPr>
              <a:t>, we first create an </a:t>
            </a:r>
            <a:r>
              <a:rPr lang="en-US" sz="1400" b="1" i="1" dirty="0">
                <a:solidFill>
                  <a:srgbClr val="383838"/>
                </a:solidFill>
              </a:rPr>
              <a:t>object c</a:t>
            </a:r>
            <a:r>
              <a:rPr lang="en-US" sz="1400" dirty="0">
                <a:solidFill>
                  <a:srgbClr val="383838"/>
                </a:solidFill>
              </a:rPr>
              <a:t> of the Circle class.</a:t>
            </a:r>
          </a:p>
          <a:p>
            <a:pPr marL="285750" indent="-285750">
              <a:lnSpc>
                <a:spcPts val="1470"/>
              </a:lnSpc>
              <a:spcBef>
                <a:spcPts val="1125"/>
              </a:spcBef>
              <a:spcAft>
                <a:spcPts val="750"/>
              </a:spcAft>
              <a:buFont typeface="Arial" panose="020B0604020202020204" pitchFamily="34" charset="0"/>
              <a:buChar char="•"/>
            </a:pPr>
            <a:r>
              <a:rPr lang="en-US" sz="1400" dirty="0">
                <a:solidFill>
                  <a:srgbClr val="383838"/>
                </a:solidFill>
              </a:rPr>
              <a:t>We then </a:t>
            </a:r>
            <a:r>
              <a:rPr lang="en-US" sz="1400" b="1" i="1" dirty="0">
                <a:solidFill>
                  <a:srgbClr val="383838"/>
                </a:solidFill>
              </a:rPr>
              <a:t>call the </a:t>
            </a:r>
            <a:r>
              <a:rPr lang="en-US" sz="1400" b="1" i="1" dirty="0" err="1">
                <a:solidFill>
                  <a:srgbClr val="383838"/>
                </a:solidFill>
              </a:rPr>
              <a:t>getradius</a:t>
            </a:r>
            <a:r>
              <a:rPr lang="en-US" sz="1400" b="1" i="1" dirty="0">
                <a:solidFill>
                  <a:srgbClr val="383838"/>
                </a:solidFill>
              </a:rPr>
              <a:t>() </a:t>
            </a:r>
            <a:r>
              <a:rPr lang="en-US" sz="1400" dirty="0">
                <a:solidFill>
                  <a:srgbClr val="383838"/>
                </a:solidFill>
              </a:rPr>
              <a:t>member function on the c object, which prompts the user for input and stores the radius in the rad data member. The </a:t>
            </a:r>
            <a:r>
              <a:rPr lang="en-US" sz="1400" b="1" dirty="0" err="1">
                <a:solidFill>
                  <a:srgbClr val="383838"/>
                </a:solidFill>
              </a:rPr>
              <a:t>calc_area</a:t>
            </a:r>
            <a:r>
              <a:rPr lang="en-US" sz="1400" b="1" dirty="0">
                <a:solidFill>
                  <a:srgbClr val="383838"/>
                </a:solidFill>
              </a:rPr>
              <a:t>() </a:t>
            </a:r>
            <a:r>
              <a:rPr lang="en-US" sz="1400" dirty="0">
                <a:solidFill>
                  <a:srgbClr val="383838"/>
                </a:solidFill>
              </a:rPr>
              <a:t>member function then calculates the area of the circle and displays it on the console.</a:t>
            </a:r>
          </a:p>
          <a:p>
            <a:pPr lvl="1"/>
            <a:endParaRPr lang="en-US" sz="1400" dirty="0"/>
          </a:p>
        </p:txBody>
      </p:sp>
      <p:sp>
        <p:nvSpPr>
          <p:cNvPr id="7" name="Text 2">
            <a:extLst>
              <a:ext uri="{FF2B5EF4-FFF2-40B4-BE49-F238E27FC236}">
                <a16:creationId xmlns:a16="http://schemas.microsoft.com/office/drawing/2014/main" id="{16A55685-C747-75B4-F547-285D2D24941C}"/>
              </a:ext>
            </a:extLst>
          </p:cNvPr>
          <p:cNvSpPr/>
          <p:nvPr/>
        </p:nvSpPr>
        <p:spPr>
          <a:xfrm>
            <a:off x="622336" y="1463040"/>
            <a:ext cx="5954633" cy="5047536"/>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100" dirty="0">
                <a:solidFill>
                  <a:srgbClr val="000000"/>
                </a:solidFill>
                <a:latin typeface="Courier New" pitchFamily="34" charset="0"/>
                <a:cs typeface="Courier New" pitchFamily="34" charset="-120"/>
              </a:rPr>
              <a:t>#include &lt;iostream&gt;</a:t>
            </a:r>
          </a:p>
          <a:p>
            <a:r>
              <a:rPr lang="en-US" sz="1100" dirty="0">
                <a:solidFill>
                  <a:srgbClr val="000000"/>
                </a:solidFill>
                <a:latin typeface="Courier New" pitchFamily="34" charset="0"/>
                <a:cs typeface="Courier New" pitchFamily="34" charset="-120"/>
              </a:rPr>
              <a:t>using namespace std;</a:t>
            </a:r>
          </a:p>
          <a:p>
            <a:endParaRPr lang="en-US" sz="1100" dirty="0">
              <a:solidFill>
                <a:srgbClr val="000000"/>
              </a:solidFill>
              <a:latin typeface="Courier New" pitchFamily="34" charset="0"/>
              <a:cs typeface="Courier New" pitchFamily="34" charset="-120"/>
            </a:endParaRPr>
          </a:p>
          <a:p>
            <a:r>
              <a:rPr lang="en-US" sz="1100" dirty="0">
                <a:solidFill>
                  <a:srgbClr val="000000"/>
                </a:solidFill>
                <a:latin typeface="Courier New" pitchFamily="34" charset="0"/>
                <a:cs typeface="Courier New" pitchFamily="34" charset="-120"/>
              </a:rPr>
              <a:t>class Circle{</a:t>
            </a:r>
          </a:p>
          <a:p>
            <a:pPr lvl="1"/>
            <a:r>
              <a:rPr lang="en-US" sz="1100" dirty="0">
                <a:solidFill>
                  <a:srgbClr val="000000"/>
                </a:solidFill>
                <a:latin typeface="Courier New" pitchFamily="34" charset="0"/>
                <a:cs typeface="Courier New" pitchFamily="34" charset="-120"/>
              </a:rPr>
              <a:t>private:</a:t>
            </a:r>
          </a:p>
          <a:p>
            <a:pPr lvl="1"/>
            <a:r>
              <a:rPr lang="en-US" sz="1100" dirty="0">
                <a:solidFill>
                  <a:srgbClr val="000000"/>
                </a:solidFill>
                <a:latin typeface="Courier New" pitchFamily="34" charset="0"/>
                <a:cs typeface="Courier New" pitchFamily="34" charset="-120"/>
              </a:rPr>
              <a:t>//Data Members</a:t>
            </a:r>
          </a:p>
          <a:p>
            <a:pPr lvl="1"/>
            <a:r>
              <a:rPr lang="en-US" sz="1100" dirty="0">
                <a:solidFill>
                  <a:srgbClr val="000000"/>
                </a:solidFill>
                <a:latin typeface="Courier New" pitchFamily="34" charset="0"/>
                <a:cs typeface="Courier New" pitchFamily="34" charset="-120"/>
              </a:rPr>
              <a:t>float rad;</a:t>
            </a:r>
          </a:p>
          <a:p>
            <a:pPr lvl="1"/>
            <a:endParaRPr lang="en-US" sz="1100" dirty="0">
              <a:solidFill>
                <a:srgbClr val="000000"/>
              </a:solidFill>
              <a:latin typeface="Courier New" pitchFamily="34" charset="0"/>
              <a:cs typeface="Courier New" pitchFamily="34" charset="-120"/>
            </a:endParaRPr>
          </a:p>
          <a:p>
            <a:pPr lvl="1"/>
            <a:r>
              <a:rPr lang="en-US" sz="1100" dirty="0">
                <a:solidFill>
                  <a:srgbClr val="000000"/>
                </a:solidFill>
                <a:latin typeface="Courier New" pitchFamily="34" charset="0"/>
                <a:cs typeface="Courier New" pitchFamily="34" charset="-120"/>
              </a:rPr>
              <a:t>public:</a:t>
            </a:r>
          </a:p>
          <a:p>
            <a:pPr lvl="1"/>
            <a:r>
              <a:rPr lang="en-US" sz="1100" dirty="0">
                <a:solidFill>
                  <a:srgbClr val="000000"/>
                </a:solidFill>
                <a:latin typeface="Courier New" pitchFamily="34" charset="0"/>
                <a:cs typeface="Courier New" pitchFamily="34" charset="-120"/>
              </a:rPr>
              <a:t>//Member Function</a:t>
            </a:r>
          </a:p>
          <a:p>
            <a:pPr lvl="1"/>
            <a:r>
              <a:rPr lang="en-US" sz="1100" dirty="0">
                <a:solidFill>
                  <a:srgbClr val="000000"/>
                </a:solidFill>
                <a:latin typeface="Courier New" pitchFamily="34" charset="0"/>
                <a:cs typeface="Courier New" pitchFamily="34" charset="-120"/>
              </a:rPr>
              <a:t>void </a:t>
            </a:r>
            <a:r>
              <a:rPr lang="en-US" sz="1100" dirty="0" err="1">
                <a:solidFill>
                  <a:srgbClr val="000000"/>
                </a:solidFill>
                <a:latin typeface="Courier New" pitchFamily="34" charset="0"/>
                <a:cs typeface="Courier New" pitchFamily="34" charset="-120"/>
              </a:rPr>
              <a:t>getradius</a:t>
            </a:r>
            <a:r>
              <a:rPr lang="en-US" sz="1100" dirty="0">
                <a:solidFill>
                  <a:srgbClr val="000000"/>
                </a:solidFill>
                <a:latin typeface="Courier New" pitchFamily="34" charset="0"/>
                <a:cs typeface="Courier New" pitchFamily="34" charset="-120"/>
              </a:rPr>
              <a:t>(){</a:t>
            </a:r>
          </a:p>
          <a:p>
            <a:pPr lvl="1"/>
            <a:r>
              <a:rPr lang="en-US" sz="1100" dirty="0" err="1">
                <a:solidFill>
                  <a:srgbClr val="000000"/>
                </a:solidFill>
                <a:latin typeface="Courier New" pitchFamily="34" charset="0"/>
                <a:cs typeface="Courier New" pitchFamily="34" charset="-120"/>
              </a:rPr>
              <a:t>cout</a:t>
            </a:r>
            <a:r>
              <a:rPr lang="en-US" sz="1100" dirty="0">
                <a:solidFill>
                  <a:srgbClr val="000000"/>
                </a:solidFill>
                <a:latin typeface="Courier New" pitchFamily="34" charset="0"/>
                <a:cs typeface="Courier New" pitchFamily="34" charset="-120"/>
              </a:rPr>
              <a:t>&lt;&lt;"Enter Radius"&lt;&lt;</a:t>
            </a:r>
            <a:r>
              <a:rPr lang="en-US" sz="1100" dirty="0" err="1">
                <a:solidFill>
                  <a:srgbClr val="000000"/>
                </a:solidFill>
                <a:latin typeface="Courier New" pitchFamily="34" charset="0"/>
                <a:cs typeface="Courier New" pitchFamily="34" charset="-120"/>
              </a:rPr>
              <a:t>endl</a:t>
            </a:r>
            <a:r>
              <a:rPr lang="en-US" sz="1100" dirty="0">
                <a:solidFill>
                  <a:srgbClr val="000000"/>
                </a:solidFill>
                <a:latin typeface="Courier New" pitchFamily="34" charset="0"/>
                <a:cs typeface="Courier New" pitchFamily="34" charset="-120"/>
              </a:rPr>
              <a:t>;</a:t>
            </a:r>
          </a:p>
          <a:p>
            <a:pPr lvl="1"/>
            <a:r>
              <a:rPr lang="en-US" sz="1100" dirty="0" err="1">
                <a:solidFill>
                  <a:srgbClr val="000000"/>
                </a:solidFill>
                <a:latin typeface="Courier New" pitchFamily="34" charset="0"/>
                <a:cs typeface="Courier New" pitchFamily="34" charset="-120"/>
              </a:rPr>
              <a:t>cin</a:t>
            </a:r>
            <a:r>
              <a:rPr lang="en-US" sz="1100" dirty="0">
                <a:solidFill>
                  <a:srgbClr val="000000"/>
                </a:solidFill>
                <a:latin typeface="Courier New" pitchFamily="34" charset="0"/>
                <a:cs typeface="Courier New" pitchFamily="34" charset="-120"/>
              </a:rPr>
              <a:t>&gt;&gt;rad;}</a:t>
            </a:r>
          </a:p>
          <a:p>
            <a:pPr lvl="1"/>
            <a:endParaRPr lang="en-US" sz="1100" dirty="0">
              <a:solidFill>
                <a:srgbClr val="000000"/>
              </a:solidFill>
              <a:latin typeface="Courier New" pitchFamily="34" charset="0"/>
              <a:cs typeface="Courier New" pitchFamily="34" charset="-120"/>
            </a:endParaRPr>
          </a:p>
          <a:p>
            <a:pPr lvl="1"/>
            <a:r>
              <a:rPr lang="en-US" sz="1100" dirty="0">
                <a:solidFill>
                  <a:srgbClr val="000000"/>
                </a:solidFill>
                <a:latin typeface="Courier New" pitchFamily="34" charset="0"/>
                <a:cs typeface="Courier New" pitchFamily="34" charset="-120"/>
              </a:rPr>
              <a:t>void </a:t>
            </a:r>
            <a:r>
              <a:rPr lang="en-US" sz="1100" dirty="0" err="1">
                <a:solidFill>
                  <a:srgbClr val="000000"/>
                </a:solidFill>
                <a:latin typeface="Courier New" pitchFamily="34" charset="0"/>
                <a:cs typeface="Courier New" pitchFamily="34" charset="-120"/>
              </a:rPr>
              <a:t>calc_area</a:t>
            </a:r>
            <a:r>
              <a:rPr lang="en-US" sz="1100" dirty="0">
                <a:solidFill>
                  <a:srgbClr val="000000"/>
                </a:solidFill>
                <a:latin typeface="Courier New" pitchFamily="34" charset="0"/>
                <a:cs typeface="Courier New" pitchFamily="34" charset="-120"/>
              </a:rPr>
              <a:t>(){</a:t>
            </a:r>
          </a:p>
          <a:p>
            <a:pPr lvl="1"/>
            <a:r>
              <a:rPr lang="en-US" sz="1100" dirty="0">
                <a:solidFill>
                  <a:srgbClr val="000000"/>
                </a:solidFill>
                <a:latin typeface="Courier New" pitchFamily="34" charset="0"/>
                <a:cs typeface="Courier New" pitchFamily="34" charset="-120"/>
              </a:rPr>
              <a:t>float a;</a:t>
            </a:r>
          </a:p>
          <a:p>
            <a:pPr lvl="1"/>
            <a:r>
              <a:rPr lang="en-US" sz="1100" dirty="0">
                <a:solidFill>
                  <a:srgbClr val="000000"/>
                </a:solidFill>
                <a:latin typeface="Courier New" pitchFamily="34" charset="0"/>
                <a:cs typeface="Courier New" pitchFamily="34" charset="-120"/>
              </a:rPr>
              <a:t>a = 3.14*rad*rad;</a:t>
            </a:r>
          </a:p>
          <a:p>
            <a:pPr lvl="1"/>
            <a:r>
              <a:rPr lang="en-US" sz="1100" dirty="0" err="1">
                <a:solidFill>
                  <a:srgbClr val="000000"/>
                </a:solidFill>
                <a:latin typeface="Courier New" pitchFamily="34" charset="0"/>
                <a:cs typeface="Courier New" pitchFamily="34" charset="-120"/>
              </a:rPr>
              <a:t>cout</a:t>
            </a:r>
            <a:r>
              <a:rPr lang="en-US" sz="1100" dirty="0">
                <a:solidFill>
                  <a:srgbClr val="000000"/>
                </a:solidFill>
                <a:latin typeface="Courier New" pitchFamily="34" charset="0"/>
                <a:cs typeface="Courier New" pitchFamily="34" charset="-120"/>
              </a:rPr>
              <a:t>&lt;&lt;"The Area of the Circle is = "&lt;&lt;a&lt;&lt;</a:t>
            </a:r>
            <a:r>
              <a:rPr lang="en-US" sz="1100" dirty="0" err="1">
                <a:solidFill>
                  <a:srgbClr val="000000"/>
                </a:solidFill>
                <a:latin typeface="Courier New" pitchFamily="34" charset="0"/>
                <a:cs typeface="Courier New" pitchFamily="34" charset="-120"/>
              </a:rPr>
              <a:t>endl</a:t>
            </a:r>
            <a:r>
              <a:rPr lang="en-US" sz="1100" dirty="0">
                <a:solidFill>
                  <a:srgbClr val="000000"/>
                </a:solidFill>
                <a:latin typeface="Courier New" pitchFamily="34" charset="0"/>
                <a:cs typeface="Courier New" pitchFamily="34" charset="-120"/>
              </a:rPr>
              <a:t>;</a:t>
            </a:r>
          </a:p>
          <a:p>
            <a:pPr lvl="1"/>
            <a:r>
              <a:rPr lang="en-US" sz="1100" dirty="0">
                <a:solidFill>
                  <a:srgbClr val="000000"/>
                </a:solidFill>
                <a:latin typeface="Courier New" pitchFamily="34" charset="0"/>
                <a:cs typeface="Courier New" pitchFamily="34" charset="-120"/>
              </a:rPr>
              <a:t>}</a:t>
            </a:r>
          </a:p>
          <a:p>
            <a:r>
              <a:rPr lang="en-US" sz="1100" dirty="0">
                <a:solidFill>
                  <a:srgbClr val="000000"/>
                </a:solidFill>
                <a:latin typeface="Courier New" pitchFamily="34" charset="0"/>
                <a:cs typeface="Courier New" pitchFamily="34" charset="-120"/>
              </a:rPr>
              <a:t>};</a:t>
            </a:r>
          </a:p>
          <a:p>
            <a:pPr lvl="1"/>
            <a:endParaRPr lang="en-US" sz="1100" dirty="0">
              <a:solidFill>
                <a:srgbClr val="000000"/>
              </a:solidFill>
              <a:latin typeface="Courier New" pitchFamily="34" charset="0"/>
              <a:cs typeface="Courier New" pitchFamily="34" charset="-120"/>
            </a:endParaRPr>
          </a:p>
          <a:p>
            <a:r>
              <a:rPr lang="en-US" sz="1100" dirty="0">
                <a:solidFill>
                  <a:srgbClr val="000000"/>
                </a:solidFill>
                <a:latin typeface="Courier New" pitchFamily="34" charset="0"/>
                <a:cs typeface="Courier New" pitchFamily="34" charset="-120"/>
              </a:rPr>
              <a:t>int main(){</a:t>
            </a:r>
          </a:p>
          <a:p>
            <a:pPr lvl="1"/>
            <a:r>
              <a:rPr lang="en-US" sz="1100" dirty="0">
                <a:solidFill>
                  <a:srgbClr val="000000"/>
                </a:solidFill>
                <a:latin typeface="Courier New" pitchFamily="34" charset="0"/>
                <a:cs typeface="Courier New" pitchFamily="34" charset="-120"/>
              </a:rPr>
              <a:t>Circle c;</a:t>
            </a:r>
          </a:p>
          <a:p>
            <a:pPr lvl="1"/>
            <a:r>
              <a:rPr lang="en-US" sz="1100" dirty="0" err="1">
                <a:solidFill>
                  <a:srgbClr val="000000"/>
                </a:solidFill>
                <a:latin typeface="Courier New" pitchFamily="34" charset="0"/>
                <a:cs typeface="Courier New" pitchFamily="34" charset="-120"/>
              </a:rPr>
              <a:t>c.getradius</a:t>
            </a:r>
            <a:r>
              <a:rPr lang="en-US" sz="1100" dirty="0">
                <a:solidFill>
                  <a:srgbClr val="000000"/>
                </a:solidFill>
                <a:latin typeface="Courier New" pitchFamily="34" charset="0"/>
                <a:cs typeface="Courier New" pitchFamily="34" charset="-120"/>
              </a:rPr>
              <a:t>();</a:t>
            </a:r>
          </a:p>
          <a:p>
            <a:pPr lvl="1"/>
            <a:r>
              <a:rPr lang="en-US" sz="1100" dirty="0" err="1">
                <a:solidFill>
                  <a:srgbClr val="000000"/>
                </a:solidFill>
                <a:latin typeface="Courier New" pitchFamily="34" charset="0"/>
                <a:cs typeface="Courier New" pitchFamily="34" charset="-120"/>
              </a:rPr>
              <a:t>c.calc_area</a:t>
            </a:r>
            <a:r>
              <a:rPr lang="en-US" sz="1100" dirty="0">
                <a:solidFill>
                  <a:srgbClr val="000000"/>
                </a:solidFill>
                <a:latin typeface="Courier New" pitchFamily="34" charset="0"/>
                <a:cs typeface="Courier New" pitchFamily="34" charset="-120"/>
              </a:rPr>
              <a:t>();</a:t>
            </a:r>
          </a:p>
          <a:p>
            <a:pPr lvl="1"/>
            <a:r>
              <a:rPr lang="en-US" sz="1100" dirty="0">
                <a:solidFill>
                  <a:srgbClr val="000000"/>
                </a:solidFill>
                <a:latin typeface="Courier New" pitchFamily="34" charset="0"/>
                <a:cs typeface="Courier New" pitchFamily="34" charset="-120"/>
              </a:rPr>
              <a:t>return 0;</a:t>
            </a:r>
          </a:p>
          <a:p>
            <a:r>
              <a:rPr lang="en-US" sz="1100" dirty="0">
                <a:solidFill>
                  <a:srgbClr val="000000"/>
                </a:solidFill>
                <a:latin typeface="Courier New" pitchFamily="34" charset="0"/>
                <a:cs typeface="Courier New" pitchFamily="34" charset="-120"/>
              </a:rPr>
              <a:t>}</a:t>
            </a:r>
          </a:p>
          <a:p>
            <a:endParaRPr lang="en-US" sz="1100" dirty="0">
              <a:solidFill>
                <a:srgbClr val="000000"/>
              </a:solidFill>
              <a:latin typeface="Courier New" pitchFamily="34" charset="0"/>
              <a:cs typeface="Courier New" pitchFamily="34" charset="-120"/>
            </a:endParaRPr>
          </a:p>
        </p:txBody>
      </p:sp>
    </p:spTree>
    <p:extLst>
      <p:ext uri="{BB962C8B-B14F-4D97-AF65-F5344CB8AC3E}">
        <p14:creationId xmlns:p14="http://schemas.microsoft.com/office/powerpoint/2010/main" val="19023255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7852A-8A40-E187-E49E-074DE3C282A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74B0B98-A1A6-E9A1-7DD7-BBEA80C7159B}"/>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4</a:t>
            </a:r>
            <a:endParaRPr lang="en-US" sz="1400" dirty="0"/>
          </a:p>
        </p:txBody>
      </p:sp>
      <p:sp>
        <p:nvSpPr>
          <p:cNvPr id="3" name="Text 1">
            <a:extLst>
              <a:ext uri="{FF2B5EF4-FFF2-40B4-BE49-F238E27FC236}">
                <a16:creationId xmlns:a16="http://schemas.microsoft.com/office/drawing/2014/main" id="{F8C7B423-7DEC-22E8-4D51-01A73E6F56CF}"/>
              </a:ext>
            </a:extLst>
          </p:cNvPr>
          <p:cNvSpPr/>
          <p:nvPr/>
        </p:nvSpPr>
        <p:spPr>
          <a:xfrm>
            <a:off x="548640" y="731520"/>
            <a:ext cx="11091672" cy="731520"/>
          </a:xfrm>
          <a:prstGeom prst="rect">
            <a:avLst/>
          </a:prstGeom>
          <a:noFill/>
          <a:ln/>
        </p:spPr>
        <p:txBody>
          <a:bodyPr wrap="square" rtlCol="0" anchor="ctr"/>
          <a:lstStyle/>
          <a:p>
            <a:pPr marL="0" indent="0">
              <a:buNone/>
            </a:pPr>
            <a:r>
              <a:rPr lang="en-US" sz="2400" b="1" dirty="0">
                <a:solidFill>
                  <a:srgbClr val="000000"/>
                </a:solidFill>
                <a:latin typeface="Helvetica" pitchFamily="34" charset="0"/>
                <a:cs typeface="Helvetica" pitchFamily="34" charset="-120"/>
              </a:rPr>
              <a:t>Member Function</a:t>
            </a:r>
            <a:endParaRPr lang="en-US" sz="2800" dirty="0"/>
          </a:p>
        </p:txBody>
      </p:sp>
      <p:sp>
        <p:nvSpPr>
          <p:cNvPr id="4" name="Text 2">
            <a:extLst>
              <a:ext uri="{FF2B5EF4-FFF2-40B4-BE49-F238E27FC236}">
                <a16:creationId xmlns:a16="http://schemas.microsoft.com/office/drawing/2014/main" id="{E5A18287-2F15-72F7-24A1-F063A7048E1A}"/>
              </a:ext>
            </a:extLst>
          </p:cNvPr>
          <p:cNvSpPr/>
          <p:nvPr/>
        </p:nvSpPr>
        <p:spPr>
          <a:xfrm>
            <a:off x="823672" y="1652631"/>
            <a:ext cx="10944278" cy="973123"/>
          </a:xfrm>
          <a:prstGeom prst="rect">
            <a:avLst/>
          </a:prstGeom>
          <a:noFill/>
          <a:ln/>
        </p:spPr>
        <p:txBody>
          <a:bodyPr wrap="square" rtlCol="0" anchor="t"/>
          <a:lstStyle/>
          <a:p>
            <a:r>
              <a:rPr lang="en-US" sz="1400" b="1" dirty="0"/>
              <a:t>Defining a Function in C++ Outside The Class Definition</a:t>
            </a:r>
          </a:p>
          <a:p>
            <a:endParaRPr lang="en-US" sz="900" b="1" dirty="0"/>
          </a:p>
          <a:p>
            <a:r>
              <a:rPr lang="en-US" sz="1400" dirty="0"/>
              <a:t>In this case, the declaration and definition of the member function are not made together. That is, while the functions are declared inside the class, their definition is given outside.</a:t>
            </a:r>
          </a:p>
          <a:p>
            <a:endParaRPr lang="en-US" sz="1400" dirty="0"/>
          </a:p>
          <a:p>
            <a:r>
              <a:rPr lang="en-US" sz="1400" dirty="0"/>
              <a:t>However, the definitions of member functions are very similar to those of normal functions. They should have a function header and body. Unlike a normal function, a member function includes a membership identity label in the header. The identity label is used to indicate that the function belongs to a particular class.</a:t>
            </a:r>
          </a:p>
          <a:p>
            <a:pPr marL="742950" lvl="1" indent="-285750">
              <a:buFont typeface="Arial" panose="020B0604020202020204" pitchFamily="34" charset="0"/>
              <a:buChar char="•"/>
            </a:pPr>
            <a:endParaRPr lang="en-US" sz="1400" dirty="0"/>
          </a:p>
          <a:p>
            <a:pPr lvl="1"/>
            <a:endParaRPr lang="en-US" sz="1400" dirty="0"/>
          </a:p>
        </p:txBody>
      </p:sp>
      <p:sp>
        <p:nvSpPr>
          <p:cNvPr id="7" name="Text 2">
            <a:extLst>
              <a:ext uri="{FF2B5EF4-FFF2-40B4-BE49-F238E27FC236}">
                <a16:creationId xmlns:a16="http://schemas.microsoft.com/office/drawing/2014/main" id="{1C826EE6-4597-EC31-B040-65983B46602C}"/>
              </a:ext>
            </a:extLst>
          </p:cNvPr>
          <p:cNvSpPr/>
          <p:nvPr/>
        </p:nvSpPr>
        <p:spPr>
          <a:xfrm>
            <a:off x="823672" y="3710262"/>
            <a:ext cx="11011389" cy="815608"/>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100" dirty="0" err="1">
                <a:solidFill>
                  <a:srgbClr val="000000"/>
                </a:solidFill>
                <a:latin typeface="Courier New" pitchFamily="34" charset="0"/>
                <a:cs typeface="Courier New" pitchFamily="34" charset="-120"/>
              </a:rPr>
              <a:t>return_type</a:t>
            </a:r>
            <a:r>
              <a:rPr lang="en-US" sz="1100" dirty="0">
                <a:solidFill>
                  <a:srgbClr val="000000"/>
                </a:solidFill>
                <a:latin typeface="Courier New" pitchFamily="34" charset="0"/>
                <a:cs typeface="Courier New" pitchFamily="34" charset="-120"/>
              </a:rPr>
              <a:t> </a:t>
            </a:r>
            <a:r>
              <a:rPr lang="en-US" sz="1100" dirty="0" err="1">
                <a:solidFill>
                  <a:srgbClr val="000000"/>
                </a:solidFill>
                <a:latin typeface="Courier New" pitchFamily="34" charset="0"/>
                <a:cs typeface="Courier New" pitchFamily="34" charset="-120"/>
              </a:rPr>
              <a:t>class_name</a:t>
            </a:r>
            <a:r>
              <a:rPr lang="en-US" sz="1100" dirty="0">
                <a:solidFill>
                  <a:srgbClr val="000000"/>
                </a:solidFill>
                <a:latin typeface="Courier New" pitchFamily="34" charset="0"/>
                <a:cs typeface="Courier New" pitchFamily="34" charset="-120"/>
              </a:rPr>
              <a:t> :: function-name (argument declaration){</a:t>
            </a:r>
            <a:br>
              <a:rPr lang="en-US" sz="1100" dirty="0">
                <a:solidFill>
                  <a:srgbClr val="000000"/>
                </a:solidFill>
                <a:latin typeface="Courier New" pitchFamily="34" charset="0"/>
                <a:cs typeface="Courier New" pitchFamily="34" charset="-120"/>
              </a:rPr>
            </a:br>
            <a:r>
              <a:rPr lang="en-US" sz="1100" dirty="0">
                <a:solidFill>
                  <a:srgbClr val="000000"/>
                </a:solidFill>
                <a:latin typeface="Courier New" pitchFamily="34" charset="0"/>
                <a:cs typeface="Courier New" pitchFamily="34" charset="-120"/>
              </a:rPr>
              <a:t>//Function body</a:t>
            </a:r>
            <a:br>
              <a:rPr lang="en-US" sz="1100" dirty="0">
                <a:solidFill>
                  <a:srgbClr val="000000"/>
                </a:solidFill>
                <a:latin typeface="Courier New" pitchFamily="34" charset="0"/>
                <a:cs typeface="Courier New" pitchFamily="34" charset="-120"/>
              </a:rPr>
            </a:br>
            <a:r>
              <a:rPr lang="en-US" sz="1100" dirty="0">
                <a:solidFill>
                  <a:srgbClr val="000000"/>
                </a:solidFill>
                <a:latin typeface="Courier New" pitchFamily="34" charset="0"/>
                <a:cs typeface="Courier New" pitchFamily="34" charset="-120"/>
              </a:rPr>
              <a:t>}</a:t>
            </a:r>
          </a:p>
        </p:txBody>
      </p:sp>
      <p:sp>
        <p:nvSpPr>
          <p:cNvPr id="6" name="TextBox 5">
            <a:extLst>
              <a:ext uri="{FF2B5EF4-FFF2-40B4-BE49-F238E27FC236}">
                <a16:creationId xmlns:a16="http://schemas.microsoft.com/office/drawing/2014/main" id="{AD8C0D5C-7463-2251-AE26-5B58209976BC}"/>
              </a:ext>
            </a:extLst>
          </p:cNvPr>
          <p:cNvSpPr txBox="1"/>
          <p:nvPr/>
        </p:nvSpPr>
        <p:spPr>
          <a:xfrm>
            <a:off x="823671" y="4740678"/>
            <a:ext cx="11011389" cy="1349087"/>
          </a:xfrm>
          <a:prstGeom prst="rect">
            <a:avLst/>
          </a:prstGeom>
          <a:noFill/>
        </p:spPr>
        <p:txBody>
          <a:bodyPr wrap="square">
            <a:spAutoFit/>
          </a:bodyPr>
          <a:lstStyle/>
          <a:p>
            <a:pPr marL="285750" indent="-285750" algn="l">
              <a:lnSpc>
                <a:spcPts val="1470"/>
              </a:lnSpc>
              <a:spcBef>
                <a:spcPts val="1125"/>
              </a:spcBef>
              <a:spcAft>
                <a:spcPts val="750"/>
              </a:spcAft>
              <a:buFont typeface="Arial" panose="020B0604020202020204" pitchFamily="34" charset="0"/>
              <a:buChar char="•"/>
            </a:pPr>
            <a:r>
              <a:rPr lang="en-US" sz="1400" b="0" i="0" dirty="0">
                <a:solidFill>
                  <a:srgbClr val="383838"/>
                </a:solidFill>
                <a:effectLst/>
              </a:rPr>
              <a:t>The </a:t>
            </a:r>
            <a:r>
              <a:rPr lang="en-US" sz="1400" b="1" i="0" dirty="0" err="1">
                <a:solidFill>
                  <a:srgbClr val="383838"/>
                </a:solidFill>
                <a:effectLst/>
              </a:rPr>
              <a:t>class_name</a:t>
            </a:r>
            <a:r>
              <a:rPr lang="en-US" sz="1400" b="0" i="0" dirty="0">
                <a:solidFill>
                  <a:srgbClr val="383838"/>
                </a:solidFill>
                <a:effectLst/>
              </a:rPr>
              <a:t> is the membership label or the name of the class to which the member function belongs.</a:t>
            </a:r>
          </a:p>
          <a:p>
            <a:pPr marL="285750" indent="-285750" algn="l">
              <a:lnSpc>
                <a:spcPts val="1470"/>
              </a:lnSpc>
              <a:spcBef>
                <a:spcPts val="1125"/>
              </a:spcBef>
              <a:spcAft>
                <a:spcPts val="750"/>
              </a:spcAft>
              <a:buFont typeface="Arial" panose="020B0604020202020204" pitchFamily="34" charset="0"/>
              <a:buChar char="•"/>
            </a:pPr>
            <a:r>
              <a:rPr lang="en-US" sz="1400" b="0" i="0" dirty="0">
                <a:solidFill>
                  <a:srgbClr val="383838"/>
                </a:solidFill>
                <a:effectLst/>
              </a:rPr>
              <a:t>The </a:t>
            </a:r>
            <a:r>
              <a:rPr lang="en-US" sz="1400" b="1" i="0" dirty="0" err="1">
                <a:solidFill>
                  <a:srgbClr val="383838"/>
                </a:solidFill>
                <a:effectLst/>
              </a:rPr>
              <a:t>function_name</a:t>
            </a:r>
            <a:r>
              <a:rPr lang="en-US" sz="1400" b="1" i="0" dirty="0">
                <a:solidFill>
                  <a:srgbClr val="383838"/>
                </a:solidFill>
                <a:effectLst/>
              </a:rPr>
              <a:t> </a:t>
            </a:r>
            <a:r>
              <a:rPr lang="en-US" sz="1400" b="0" i="0" dirty="0">
                <a:solidFill>
                  <a:srgbClr val="383838"/>
                </a:solidFill>
                <a:effectLst/>
              </a:rPr>
              <a:t>and the double colon </a:t>
            </a:r>
            <a:r>
              <a:rPr lang="en-US" sz="1400" b="1" i="0" dirty="0">
                <a:solidFill>
                  <a:srgbClr val="383838"/>
                </a:solidFill>
                <a:effectLst/>
              </a:rPr>
              <a:t>(::) </a:t>
            </a:r>
            <a:r>
              <a:rPr lang="en-US" sz="1400" b="0" i="0" dirty="0">
                <a:solidFill>
                  <a:srgbClr val="383838"/>
                </a:solidFill>
                <a:effectLst/>
              </a:rPr>
              <a:t>are the name of the function and the scope resolution operator, which tells the compiler that the function belongs to the </a:t>
            </a:r>
            <a:r>
              <a:rPr lang="en-US" sz="1400" b="0" i="0" dirty="0" err="1">
                <a:solidFill>
                  <a:srgbClr val="383838"/>
                </a:solidFill>
                <a:effectLst/>
              </a:rPr>
              <a:t>class_name</a:t>
            </a:r>
            <a:r>
              <a:rPr lang="en-US" sz="1400" b="0" i="0" dirty="0">
                <a:solidFill>
                  <a:srgbClr val="383838"/>
                </a:solidFill>
                <a:effectLst/>
              </a:rPr>
              <a:t>.</a:t>
            </a:r>
          </a:p>
          <a:p>
            <a:pPr marL="285750" indent="-285750" algn="l">
              <a:lnSpc>
                <a:spcPts val="1470"/>
              </a:lnSpc>
              <a:spcBef>
                <a:spcPts val="1125"/>
              </a:spcBef>
              <a:spcAft>
                <a:spcPts val="1875"/>
              </a:spcAft>
              <a:buFont typeface="Arial" panose="020B0604020202020204" pitchFamily="34" charset="0"/>
              <a:buChar char="•"/>
            </a:pPr>
            <a:r>
              <a:rPr lang="en-US" sz="1400" b="0" i="0" dirty="0">
                <a:solidFill>
                  <a:srgbClr val="383838"/>
                </a:solidFill>
                <a:effectLst/>
              </a:rPr>
              <a:t>The </a:t>
            </a:r>
            <a:r>
              <a:rPr lang="en-US" sz="1400" b="1" i="0" dirty="0">
                <a:solidFill>
                  <a:srgbClr val="383838"/>
                </a:solidFill>
                <a:effectLst/>
              </a:rPr>
              <a:t>arguments</a:t>
            </a:r>
            <a:r>
              <a:rPr lang="en-US" sz="1400" b="0" i="0" dirty="0">
                <a:solidFill>
                  <a:srgbClr val="383838"/>
                </a:solidFill>
                <a:effectLst/>
              </a:rPr>
              <a:t> and the </a:t>
            </a:r>
            <a:r>
              <a:rPr lang="en-US" sz="1400" b="1" i="0" dirty="0" err="1">
                <a:solidFill>
                  <a:srgbClr val="383838"/>
                </a:solidFill>
                <a:effectLst/>
              </a:rPr>
              <a:t>return_type</a:t>
            </a:r>
            <a:r>
              <a:rPr lang="en-US" sz="1400" b="0" i="0" dirty="0">
                <a:solidFill>
                  <a:srgbClr val="383838"/>
                </a:solidFill>
                <a:effectLst/>
              </a:rPr>
              <a:t> refer to the parameters the function takes and the data type of its return value, respectively.</a:t>
            </a:r>
          </a:p>
        </p:txBody>
      </p:sp>
    </p:spTree>
    <p:extLst>
      <p:ext uri="{BB962C8B-B14F-4D97-AF65-F5344CB8AC3E}">
        <p14:creationId xmlns:p14="http://schemas.microsoft.com/office/powerpoint/2010/main" val="16283459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824D9-325B-EB4C-2544-A98618E1DF1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25A20DB-BBA8-9354-FB1C-0783E218415C}"/>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4</a:t>
            </a:r>
            <a:endParaRPr lang="en-US" sz="1400" dirty="0"/>
          </a:p>
        </p:txBody>
      </p:sp>
      <p:sp>
        <p:nvSpPr>
          <p:cNvPr id="3" name="Text 1">
            <a:extLst>
              <a:ext uri="{FF2B5EF4-FFF2-40B4-BE49-F238E27FC236}">
                <a16:creationId xmlns:a16="http://schemas.microsoft.com/office/drawing/2014/main" id="{0B8F2D63-DE0E-2CB3-22F9-EB63CA719C4C}"/>
              </a:ext>
            </a:extLst>
          </p:cNvPr>
          <p:cNvSpPr/>
          <p:nvPr/>
        </p:nvSpPr>
        <p:spPr>
          <a:xfrm>
            <a:off x="548640" y="731520"/>
            <a:ext cx="11091672" cy="731520"/>
          </a:xfrm>
          <a:prstGeom prst="rect">
            <a:avLst/>
          </a:prstGeom>
          <a:noFill/>
          <a:ln/>
        </p:spPr>
        <p:txBody>
          <a:bodyPr wrap="square" rtlCol="0" anchor="ctr"/>
          <a:lstStyle/>
          <a:p>
            <a:pPr marL="0" indent="0">
              <a:buNone/>
            </a:pPr>
            <a:r>
              <a:rPr lang="en-US" sz="2400" b="1" dirty="0">
                <a:solidFill>
                  <a:srgbClr val="000000"/>
                </a:solidFill>
                <a:latin typeface="Helvetica" pitchFamily="34" charset="0"/>
                <a:cs typeface="Helvetica" pitchFamily="34" charset="-120"/>
              </a:rPr>
              <a:t>Member Function</a:t>
            </a:r>
            <a:endParaRPr lang="en-US" sz="2800" dirty="0"/>
          </a:p>
        </p:txBody>
      </p:sp>
      <p:sp>
        <p:nvSpPr>
          <p:cNvPr id="4" name="Text 2">
            <a:extLst>
              <a:ext uri="{FF2B5EF4-FFF2-40B4-BE49-F238E27FC236}">
                <a16:creationId xmlns:a16="http://schemas.microsoft.com/office/drawing/2014/main" id="{35ADC1CE-88BC-2F8C-64CC-9B75CD80C521}"/>
              </a:ext>
            </a:extLst>
          </p:cNvPr>
          <p:cNvSpPr/>
          <p:nvPr/>
        </p:nvSpPr>
        <p:spPr>
          <a:xfrm>
            <a:off x="6576969" y="1707040"/>
            <a:ext cx="5100191" cy="4803536"/>
          </a:xfrm>
          <a:prstGeom prst="rect">
            <a:avLst/>
          </a:prstGeom>
          <a:noFill/>
          <a:ln/>
        </p:spPr>
        <p:txBody>
          <a:bodyPr wrap="square" rtlCol="0" anchor="t"/>
          <a:lstStyle/>
          <a:p>
            <a:pPr marL="285750" indent="-285750">
              <a:lnSpc>
                <a:spcPts val="1470"/>
              </a:lnSpc>
              <a:spcBef>
                <a:spcPts val="1125"/>
              </a:spcBef>
              <a:spcAft>
                <a:spcPts val="750"/>
              </a:spcAft>
              <a:buFont typeface="Arial" panose="020B0604020202020204" pitchFamily="34" charset="0"/>
              <a:buChar char="•"/>
            </a:pPr>
            <a:r>
              <a:rPr lang="en-US" sz="1400" b="1" i="1" dirty="0">
                <a:solidFill>
                  <a:srgbClr val="383838"/>
                </a:solidFill>
              </a:rPr>
              <a:t>Circle class </a:t>
            </a:r>
            <a:r>
              <a:rPr lang="en-US" sz="1400" dirty="0">
                <a:solidFill>
                  <a:srgbClr val="383838"/>
                </a:solidFill>
              </a:rPr>
              <a:t>is defined , which has a </a:t>
            </a:r>
            <a:r>
              <a:rPr lang="en-US" sz="1400" b="1" i="1" dirty="0">
                <a:solidFill>
                  <a:srgbClr val="383838"/>
                </a:solidFill>
              </a:rPr>
              <a:t>private data member</a:t>
            </a:r>
            <a:r>
              <a:rPr lang="en-US" sz="1400" dirty="0">
                <a:solidFill>
                  <a:srgbClr val="383838"/>
                </a:solidFill>
              </a:rPr>
              <a:t> called </a:t>
            </a:r>
            <a:r>
              <a:rPr lang="en-US" sz="1400" b="1" i="1" dirty="0">
                <a:solidFill>
                  <a:srgbClr val="383838"/>
                </a:solidFill>
              </a:rPr>
              <a:t>rad</a:t>
            </a:r>
            <a:r>
              <a:rPr lang="en-US" sz="1400" dirty="0">
                <a:solidFill>
                  <a:srgbClr val="383838"/>
                </a:solidFill>
              </a:rPr>
              <a:t> (of float type).</a:t>
            </a:r>
          </a:p>
          <a:p>
            <a:pPr marL="285750" indent="-285750">
              <a:lnSpc>
                <a:spcPts val="1470"/>
              </a:lnSpc>
              <a:spcBef>
                <a:spcPts val="1125"/>
              </a:spcBef>
              <a:spcAft>
                <a:spcPts val="750"/>
              </a:spcAft>
              <a:buFont typeface="Arial" panose="020B0604020202020204" pitchFamily="34" charset="0"/>
              <a:buChar char="•"/>
            </a:pPr>
            <a:r>
              <a:rPr lang="en-US" sz="1400" dirty="0">
                <a:solidFill>
                  <a:srgbClr val="383838"/>
                </a:solidFill>
              </a:rPr>
              <a:t>It contains the member functions called </a:t>
            </a:r>
            <a:r>
              <a:rPr lang="en-US" sz="1400" b="1" i="1" dirty="0" err="1">
                <a:solidFill>
                  <a:srgbClr val="383838"/>
                </a:solidFill>
              </a:rPr>
              <a:t>getradius</a:t>
            </a:r>
            <a:r>
              <a:rPr lang="en-US" sz="1400" b="1" i="1" dirty="0">
                <a:solidFill>
                  <a:srgbClr val="383838"/>
                </a:solidFill>
              </a:rPr>
              <a:t>()</a:t>
            </a:r>
            <a:r>
              <a:rPr lang="en-US" sz="1400" dirty="0">
                <a:solidFill>
                  <a:srgbClr val="383838"/>
                </a:solidFill>
              </a:rPr>
              <a:t>,</a:t>
            </a:r>
            <a:r>
              <a:rPr lang="en-US" b="1" i="1" dirty="0"/>
              <a:t> </a:t>
            </a:r>
            <a:r>
              <a:rPr lang="en-US" sz="1400" b="1" i="1" dirty="0" err="1">
                <a:solidFill>
                  <a:srgbClr val="383838"/>
                </a:solidFill>
              </a:rPr>
              <a:t>calc_area</a:t>
            </a:r>
            <a:r>
              <a:rPr lang="en-US" sz="1400" b="1" i="1" dirty="0">
                <a:solidFill>
                  <a:srgbClr val="383838"/>
                </a:solidFill>
              </a:rPr>
              <a:t>() </a:t>
            </a:r>
            <a:r>
              <a:rPr lang="en-US" sz="1400" dirty="0">
                <a:solidFill>
                  <a:srgbClr val="383838"/>
                </a:solidFill>
              </a:rPr>
              <a:t>which are defined outside the class using scope resolution operators </a:t>
            </a:r>
            <a:r>
              <a:rPr lang="en-US" sz="1400" b="1" dirty="0">
                <a:solidFill>
                  <a:srgbClr val="383838"/>
                </a:solidFill>
              </a:rPr>
              <a:t>(::)</a:t>
            </a:r>
          </a:p>
          <a:p>
            <a:pPr marL="285750" indent="-285750">
              <a:lnSpc>
                <a:spcPts val="1470"/>
              </a:lnSpc>
              <a:spcBef>
                <a:spcPts val="1125"/>
              </a:spcBef>
              <a:spcAft>
                <a:spcPts val="750"/>
              </a:spcAft>
              <a:buFont typeface="Arial" panose="020B0604020202020204" pitchFamily="34" charset="0"/>
              <a:buChar char="•"/>
            </a:pPr>
            <a:r>
              <a:rPr lang="en-US" sz="1400" dirty="0">
                <a:solidFill>
                  <a:srgbClr val="383838"/>
                </a:solidFill>
              </a:rPr>
              <a:t>In the </a:t>
            </a:r>
            <a:r>
              <a:rPr lang="en-US" sz="1400" b="1" i="1" dirty="0">
                <a:solidFill>
                  <a:srgbClr val="383838"/>
                </a:solidFill>
              </a:rPr>
              <a:t>main() function</a:t>
            </a:r>
            <a:r>
              <a:rPr lang="en-US" sz="1400" dirty="0">
                <a:solidFill>
                  <a:srgbClr val="383838"/>
                </a:solidFill>
              </a:rPr>
              <a:t>, we first create an </a:t>
            </a:r>
            <a:r>
              <a:rPr lang="en-US" sz="1400" b="1" i="1" dirty="0">
                <a:solidFill>
                  <a:srgbClr val="383838"/>
                </a:solidFill>
              </a:rPr>
              <a:t>object c</a:t>
            </a:r>
            <a:r>
              <a:rPr lang="en-US" sz="1400" dirty="0">
                <a:solidFill>
                  <a:srgbClr val="383838"/>
                </a:solidFill>
              </a:rPr>
              <a:t> of the Circle class.</a:t>
            </a:r>
          </a:p>
          <a:p>
            <a:pPr marL="285750" indent="-285750">
              <a:lnSpc>
                <a:spcPts val="1470"/>
              </a:lnSpc>
              <a:spcBef>
                <a:spcPts val="1125"/>
              </a:spcBef>
              <a:spcAft>
                <a:spcPts val="750"/>
              </a:spcAft>
              <a:buFont typeface="Arial" panose="020B0604020202020204" pitchFamily="34" charset="0"/>
              <a:buChar char="•"/>
            </a:pPr>
            <a:r>
              <a:rPr lang="en-US" sz="1400" dirty="0">
                <a:solidFill>
                  <a:srgbClr val="383838"/>
                </a:solidFill>
              </a:rPr>
              <a:t>We then </a:t>
            </a:r>
            <a:r>
              <a:rPr lang="en-US" sz="1400" b="1" i="1" dirty="0">
                <a:solidFill>
                  <a:srgbClr val="383838"/>
                </a:solidFill>
              </a:rPr>
              <a:t>call the </a:t>
            </a:r>
            <a:r>
              <a:rPr lang="en-US" sz="1400" b="1" i="1" dirty="0" err="1">
                <a:solidFill>
                  <a:srgbClr val="383838"/>
                </a:solidFill>
              </a:rPr>
              <a:t>getradius</a:t>
            </a:r>
            <a:r>
              <a:rPr lang="en-US" sz="1400" b="1" i="1" dirty="0">
                <a:solidFill>
                  <a:srgbClr val="383838"/>
                </a:solidFill>
              </a:rPr>
              <a:t>() </a:t>
            </a:r>
            <a:r>
              <a:rPr lang="en-US" sz="1400" dirty="0">
                <a:solidFill>
                  <a:srgbClr val="383838"/>
                </a:solidFill>
              </a:rPr>
              <a:t>member function on the c object, which prompts the user for input and stores the radius in the rad data member. The </a:t>
            </a:r>
            <a:r>
              <a:rPr lang="en-US" sz="1400" b="1" dirty="0" err="1">
                <a:solidFill>
                  <a:srgbClr val="383838"/>
                </a:solidFill>
              </a:rPr>
              <a:t>calc_area</a:t>
            </a:r>
            <a:r>
              <a:rPr lang="en-US" sz="1400" b="1" dirty="0">
                <a:solidFill>
                  <a:srgbClr val="383838"/>
                </a:solidFill>
              </a:rPr>
              <a:t>() </a:t>
            </a:r>
            <a:r>
              <a:rPr lang="en-US" sz="1400" dirty="0">
                <a:solidFill>
                  <a:srgbClr val="383838"/>
                </a:solidFill>
              </a:rPr>
              <a:t>member function then calculates the area of the circle and displays it on the console.</a:t>
            </a:r>
          </a:p>
        </p:txBody>
      </p:sp>
      <p:sp>
        <p:nvSpPr>
          <p:cNvPr id="7" name="Text 2">
            <a:extLst>
              <a:ext uri="{FF2B5EF4-FFF2-40B4-BE49-F238E27FC236}">
                <a16:creationId xmlns:a16="http://schemas.microsoft.com/office/drawing/2014/main" id="{8CEFE30A-79CC-6C42-F9C7-584BD83550C2}"/>
              </a:ext>
            </a:extLst>
          </p:cNvPr>
          <p:cNvSpPr/>
          <p:nvPr/>
        </p:nvSpPr>
        <p:spPr>
          <a:xfrm>
            <a:off x="622336" y="1463040"/>
            <a:ext cx="5954633" cy="5047536"/>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100" dirty="0">
                <a:solidFill>
                  <a:srgbClr val="000000"/>
                </a:solidFill>
                <a:latin typeface="Courier New" pitchFamily="34" charset="0"/>
                <a:cs typeface="Courier New" pitchFamily="34" charset="-120"/>
              </a:rPr>
              <a:t>#include &lt;iostream&gt;</a:t>
            </a:r>
          </a:p>
          <a:p>
            <a:r>
              <a:rPr lang="en-US" sz="1100" dirty="0">
                <a:solidFill>
                  <a:srgbClr val="000000"/>
                </a:solidFill>
                <a:latin typeface="Courier New" pitchFamily="34" charset="0"/>
                <a:cs typeface="Courier New" pitchFamily="34" charset="-120"/>
              </a:rPr>
              <a:t>using namespace std;</a:t>
            </a:r>
          </a:p>
          <a:p>
            <a:endParaRPr lang="en-US" sz="1100" dirty="0">
              <a:solidFill>
                <a:srgbClr val="000000"/>
              </a:solidFill>
              <a:latin typeface="Courier New" pitchFamily="34" charset="0"/>
              <a:cs typeface="Courier New" pitchFamily="34" charset="-120"/>
            </a:endParaRPr>
          </a:p>
          <a:p>
            <a:pPr lvl="1"/>
            <a:r>
              <a:rPr lang="en-US" sz="1100" dirty="0">
                <a:solidFill>
                  <a:srgbClr val="000000"/>
                </a:solidFill>
                <a:latin typeface="Courier New" pitchFamily="34" charset="0"/>
                <a:cs typeface="Courier New" pitchFamily="34" charset="-120"/>
              </a:rPr>
              <a:t>class Circle{</a:t>
            </a:r>
          </a:p>
          <a:p>
            <a:pPr lvl="1"/>
            <a:r>
              <a:rPr lang="en-US" sz="1100" dirty="0">
                <a:solidFill>
                  <a:srgbClr val="000000"/>
                </a:solidFill>
                <a:latin typeface="Courier New" pitchFamily="34" charset="0"/>
                <a:cs typeface="Courier New" pitchFamily="34" charset="-120"/>
              </a:rPr>
              <a:t>private:</a:t>
            </a:r>
          </a:p>
          <a:p>
            <a:pPr lvl="1"/>
            <a:r>
              <a:rPr lang="en-US" sz="1100" dirty="0">
                <a:solidFill>
                  <a:srgbClr val="000000"/>
                </a:solidFill>
                <a:latin typeface="Courier New" pitchFamily="34" charset="0"/>
                <a:cs typeface="Courier New" pitchFamily="34" charset="-120"/>
              </a:rPr>
              <a:t>float rad; //Data Members</a:t>
            </a:r>
          </a:p>
          <a:p>
            <a:pPr lvl="1"/>
            <a:endParaRPr lang="en-US" sz="1100" dirty="0">
              <a:solidFill>
                <a:srgbClr val="000000"/>
              </a:solidFill>
              <a:latin typeface="Courier New" pitchFamily="34" charset="0"/>
              <a:cs typeface="Courier New" pitchFamily="34" charset="-120"/>
            </a:endParaRPr>
          </a:p>
          <a:p>
            <a:pPr lvl="1"/>
            <a:r>
              <a:rPr lang="en-US" sz="1100" dirty="0">
                <a:solidFill>
                  <a:srgbClr val="000000"/>
                </a:solidFill>
                <a:latin typeface="Courier New" pitchFamily="34" charset="0"/>
                <a:cs typeface="Courier New" pitchFamily="34" charset="-120"/>
              </a:rPr>
              <a:t>public:</a:t>
            </a:r>
          </a:p>
          <a:p>
            <a:pPr lvl="1"/>
            <a:r>
              <a:rPr lang="en-US" sz="1100" dirty="0">
                <a:solidFill>
                  <a:srgbClr val="000000"/>
                </a:solidFill>
                <a:latin typeface="Courier New" pitchFamily="34" charset="0"/>
                <a:cs typeface="Courier New" pitchFamily="34" charset="-120"/>
              </a:rPr>
              <a:t>void </a:t>
            </a:r>
            <a:r>
              <a:rPr lang="en-US" sz="1100" dirty="0" err="1">
                <a:solidFill>
                  <a:srgbClr val="000000"/>
                </a:solidFill>
                <a:latin typeface="Courier New" pitchFamily="34" charset="0"/>
                <a:cs typeface="Courier New" pitchFamily="34" charset="-120"/>
              </a:rPr>
              <a:t>getradius</a:t>
            </a:r>
            <a:r>
              <a:rPr lang="en-US" sz="1100" dirty="0">
                <a:solidFill>
                  <a:srgbClr val="000000"/>
                </a:solidFill>
                <a:latin typeface="Courier New" pitchFamily="34" charset="0"/>
                <a:cs typeface="Courier New" pitchFamily="34" charset="-120"/>
              </a:rPr>
              <a:t>(); //Member Function</a:t>
            </a:r>
          </a:p>
          <a:p>
            <a:pPr lvl="1"/>
            <a:r>
              <a:rPr lang="en-US" sz="1100" dirty="0">
                <a:solidFill>
                  <a:srgbClr val="000000"/>
                </a:solidFill>
                <a:latin typeface="Courier New" pitchFamily="34" charset="0"/>
                <a:cs typeface="Courier New" pitchFamily="34" charset="-120"/>
              </a:rPr>
              <a:t>void </a:t>
            </a:r>
            <a:r>
              <a:rPr lang="en-US" sz="1100" dirty="0" err="1">
                <a:solidFill>
                  <a:srgbClr val="000000"/>
                </a:solidFill>
                <a:latin typeface="Courier New" pitchFamily="34" charset="0"/>
                <a:cs typeface="Courier New" pitchFamily="34" charset="-120"/>
              </a:rPr>
              <a:t>calc_area</a:t>
            </a:r>
            <a:r>
              <a:rPr lang="en-US" sz="1100" dirty="0">
                <a:solidFill>
                  <a:srgbClr val="000000"/>
                </a:solidFill>
                <a:latin typeface="Courier New" pitchFamily="34" charset="0"/>
                <a:cs typeface="Courier New" pitchFamily="34" charset="-120"/>
              </a:rPr>
              <a:t>(); //Member Function</a:t>
            </a:r>
          </a:p>
          <a:p>
            <a:pPr lvl="1"/>
            <a:r>
              <a:rPr lang="en-US" sz="1100" dirty="0">
                <a:solidFill>
                  <a:srgbClr val="000000"/>
                </a:solidFill>
                <a:latin typeface="Courier New" pitchFamily="34" charset="0"/>
                <a:cs typeface="Courier New" pitchFamily="34" charset="-120"/>
              </a:rPr>
              <a:t>};</a:t>
            </a:r>
          </a:p>
          <a:p>
            <a:pPr lvl="2"/>
            <a:endParaRPr lang="en-US" sz="1100" dirty="0">
              <a:solidFill>
                <a:srgbClr val="000000"/>
              </a:solidFill>
              <a:latin typeface="Courier New" pitchFamily="34" charset="0"/>
              <a:cs typeface="Courier New" pitchFamily="34" charset="-120"/>
            </a:endParaRPr>
          </a:p>
          <a:p>
            <a:pPr lvl="1"/>
            <a:r>
              <a:rPr lang="en-US" sz="1100" dirty="0">
                <a:solidFill>
                  <a:srgbClr val="000000"/>
                </a:solidFill>
                <a:latin typeface="Courier New" pitchFamily="34" charset="0"/>
                <a:cs typeface="Courier New" pitchFamily="34" charset="-120"/>
              </a:rPr>
              <a:t>void Circle :: </a:t>
            </a:r>
            <a:r>
              <a:rPr lang="en-US" sz="1100" dirty="0" err="1">
                <a:solidFill>
                  <a:srgbClr val="000000"/>
                </a:solidFill>
                <a:latin typeface="Courier New" pitchFamily="34" charset="0"/>
                <a:cs typeface="Courier New" pitchFamily="34" charset="-120"/>
              </a:rPr>
              <a:t>getradius</a:t>
            </a:r>
            <a:r>
              <a:rPr lang="en-US" sz="1100" dirty="0">
                <a:solidFill>
                  <a:srgbClr val="000000"/>
                </a:solidFill>
                <a:latin typeface="Courier New" pitchFamily="34" charset="0"/>
                <a:cs typeface="Courier New" pitchFamily="34" charset="-120"/>
              </a:rPr>
              <a:t>(){</a:t>
            </a:r>
          </a:p>
          <a:p>
            <a:pPr lvl="1"/>
            <a:r>
              <a:rPr lang="en-US" sz="1100" dirty="0" err="1">
                <a:solidFill>
                  <a:srgbClr val="000000"/>
                </a:solidFill>
                <a:latin typeface="Courier New" pitchFamily="34" charset="0"/>
                <a:cs typeface="Courier New" pitchFamily="34" charset="-120"/>
              </a:rPr>
              <a:t>cout</a:t>
            </a:r>
            <a:r>
              <a:rPr lang="en-US" sz="1100" dirty="0">
                <a:solidFill>
                  <a:srgbClr val="000000"/>
                </a:solidFill>
                <a:latin typeface="Courier New" pitchFamily="34" charset="0"/>
                <a:cs typeface="Courier New" pitchFamily="34" charset="-120"/>
              </a:rPr>
              <a:t>&lt;&lt;"Enter Radius ";</a:t>
            </a:r>
          </a:p>
          <a:p>
            <a:pPr lvl="1"/>
            <a:r>
              <a:rPr lang="en-US" sz="1100" dirty="0" err="1">
                <a:solidFill>
                  <a:srgbClr val="000000"/>
                </a:solidFill>
                <a:latin typeface="Courier New" pitchFamily="34" charset="0"/>
                <a:cs typeface="Courier New" pitchFamily="34" charset="-120"/>
              </a:rPr>
              <a:t>cin</a:t>
            </a:r>
            <a:r>
              <a:rPr lang="en-US" sz="1100" dirty="0">
                <a:solidFill>
                  <a:srgbClr val="000000"/>
                </a:solidFill>
                <a:latin typeface="Courier New" pitchFamily="34" charset="0"/>
                <a:cs typeface="Courier New" pitchFamily="34" charset="-120"/>
              </a:rPr>
              <a:t>&gt;&gt;rad;}</a:t>
            </a:r>
          </a:p>
          <a:p>
            <a:pPr lvl="1"/>
            <a:endParaRPr lang="en-US" sz="1100" dirty="0">
              <a:solidFill>
                <a:srgbClr val="000000"/>
              </a:solidFill>
              <a:latin typeface="Courier New" pitchFamily="34" charset="0"/>
              <a:cs typeface="Courier New" pitchFamily="34" charset="-120"/>
            </a:endParaRPr>
          </a:p>
          <a:p>
            <a:pPr lvl="1"/>
            <a:r>
              <a:rPr lang="en-US" sz="1100" dirty="0">
                <a:solidFill>
                  <a:srgbClr val="000000"/>
                </a:solidFill>
                <a:latin typeface="Courier New" pitchFamily="34" charset="0"/>
                <a:cs typeface="Courier New" pitchFamily="34" charset="-120"/>
              </a:rPr>
              <a:t>void Circle :: </a:t>
            </a:r>
            <a:r>
              <a:rPr lang="en-US" sz="1100" dirty="0" err="1">
                <a:solidFill>
                  <a:srgbClr val="000000"/>
                </a:solidFill>
                <a:latin typeface="Courier New" pitchFamily="34" charset="0"/>
                <a:cs typeface="Courier New" pitchFamily="34" charset="-120"/>
              </a:rPr>
              <a:t>calc_area</a:t>
            </a:r>
            <a:r>
              <a:rPr lang="en-US" sz="1100" dirty="0">
                <a:solidFill>
                  <a:srgbClr val="000000"/>
                </a:solidFill>
                <a:latin typeface="Courier New" pitchFamily="34" charset="0"/>
                <a:cs typeface="Courier New" pitchFamily="34" charset="-120"/>
              </a:rPr>
              <a:t>(){</a:t>
            </a:r>
          </a:p>
          <a:p>
            <a:pPr lvl="1"/>
            <a:r>
              <a:rPr lang="en-US" sz="1100" dirty="0">
                <a:solidFill>
                  <a:srgbClr val="000000"/>
                </a:solidFill>
                <a:latin typeface="Courier New" pitchFamily="34" charset="0"/>
                <a:cs typeface="Courier New" pitchFamily="34" charset="-120"/>
              </a:rPr>
              <a:t>float a;</a:t>
            </a:r>
          </a:p>
          <a:p>
            <a:pPr lvl="1"/>
            <a:r>
              <a:rPr lang="en-US" sz="1100" dirty="0">
                <a:solidFill>
                  <a:srgbClr val="000000"/>
                </a:solidFill>
                <a:latin typeface="Courier New" pitchFamily="34" charset="0"/>
                <a:cs typeface="Courier New" pitchFamily="34" charset="-120"/>
              </a:rPr>
              <a:t>a = 3.14*rad*rad;</a:t>
            </a:r>
          </a:p>
          <a:p>
            <a:pPr lvl="1"/>
            <a:r>
              <a:rPr lang="en-US" sz="1100" dirty="0" err="1">
                <a:solidFill>
                  <a:srgbClr val="000000"/>
                </a:solidFill>
                <a:latin typeface="Courier New" pitchFamily="34" charset="0"/>
                <a:cs typeface="Courier New" pitchFamily="34" charset="-120"/>
              </a:rPr>
              <a:t>cout</a:t>
            </a:r>
            <a:r>
              <a:rPr lang="en-US" sz="1100" dirty="0">
                <a:solidFill>
                  <a:srgbClr val="000000"/>
                </a:solidFill>
                <a:latin typeface="Courier New" pitchFamily="34" charset="0"/>
                <a:cs typeface="Courier New" pitchFamily="34" charset="-120"/>
              </a:rPr>
              <a:t>&lt;&lt;"The Area of the Circle is = "&lt;&lt;a&lt;&lt;</a:t>
            </a:r>
            <a:r>
              <a:rPr lang="en-US" sz="1100" dirty="0" err="1">
                <a:solidFill>
                  <a:srgbClr val="000000"/>
                </a:solidFill>
                <a:latin typeface="Courier New" pitchFamily="34" charset="0"/>
                <a:cs typeface="Courier New" pitchFamily="34" charset="-120"/>
              </a:rPr>
              <a:t>endl</a:t>
            </a:r>
            <a:r>
              <a:rPr lang="en-US" sz="1100" dirty="0">
                <a:solidFill>
                  <a:srgbClr val="000000"/>
                </a:solidFill>
                <a:latin typeface="Courier New" pitchFamily="34" charset="0"/>
                <a:cs typeface="Courier New" pitchFamily="34" charset="-120"/>
              </a:rPr>
              <a:t>;}</a:t>
            </a:r>
          </a:p>
          <a:p>
            <a:pPr lvl="1"/>
            <a:endParaRPr lang="en-US" sz="1100" dirty="0">
              <a:solidFill>
                <a:srgbClr val="000000"/>
              </a:solidFill>
              <a:latin typeface="Courier New" pitchFamily="34" charset="0"/>
              <a:cs typeface="Courier New" pitchFamily="34" charset="-120"/>
            </a:endParaRPr>
          </a:p>
          <a:p>
            <a:r>
              <a:rPr lang="en-US" sz="1100" dirty="0">
                <a:solidFill>
                  <a:srgbClr val="000000"/>
                </a:solidFill>
                <a:latin typeface="Courier New" pitchFamily="34" charset="0"/>
                <a:cs typeface="Courier New" pitchFamily="34" charset="-120"/>
              </a:rPr>
              <a:t>int main(){</a:t>
            </a:r>
          </a:p>
          <a:p>
            <a:pPr lvl="1"/>
            <a:r>
              <a:rPr lang="en-US" sz="1100" dirty="0">
                <a:solidFill>
                  <a:srgbClr val="000000"/>
                </a:solidFill>
                <a:latin typeface="Courier New" pitchFamily="34" charset="0"/>
                <a:cs typeface="Courier New" pitchFamily="34" charset="-120"/>
              </a:rPr>
              <a:t>Circle c;</a:t>
            </a:r>
          </a:p>
          <a:p>
            <a:pPr lvl="1"/>
            <a:r>
              <a:rPr lang="en-US" sz="1100" dirty="0" err="1">
                <a:solidFill>
                  <a:srgbClr val="000000"/>
                </a:solidFill>
                <a:latin typeface="Courier New" pitchFamily="34" charset="0"/>
                <a:cs typeface="Courier New" pitchFamily="34" charset="-120"/>
              </a:rPr>
              <a:t>c.getradius</a:t>
            </a:r>
            <a:r>
              <a:rPr lang="en-US" sz="1100" dirty="0">
                <a:solidFill>
                  <a:srgbClr val="000000"/>
                </a:solidFill>
                <a:latin typeface="Courier New" pitchFamily="34" charset="0"/>
                <a:cs typeface="Courier New" pitchFamily="34" charset="-120"/>
              </a:rPr>
              <a:t>();</a:t>
            </a:r>
          </a:p>
          <a:p>
            <a:pPr lvl="1"/>
            <a:r>
              <a:rPr lang="en-US" sz="1100" dirty="0" err="1">
                <a:solidFill>
                  <a:srgbClr val="000000"/>
                </a:solidFill>
                <a:latin typeface="Courier New" pitchFamily="34" charset="0"/>
                <a:cs typeface="Courier New" pitchFamily="34" charset="-120"/>
              </a:rPr>
              <a:t>c.calc_area</a:t>
            </a:r>
            <a:r>
              <a:rPr lang="en-US" sz="1100" dirty="0">
                <a:solidFill>
                  <a:srgbClr val="000000"/>
                </a:solidFill>
                <a:latin typeface="Courier New" pitchFamily="34" charset="0"/>
                <a:cs typeface="Courier New" pitchFamily="34" charset="-120"/>
              </a:rPr>
              <a:t>();</a:t>
            </a:r>
          </a:p>
          <a:p>
            <a:pPr lvl="1"/>
            <a:r>
              <a:rPr lang="en-US" sz="1100" dirty="0">
                <a:solidFill>
                  <a:srgbClr val="000000"/>
                </a:solidFill>
                <a:latin typeface="Courier New" pitchFamily="34" charset="0"/>
                <a:cs typeface="Courier New" pitchFamily="34" charset="-120"/>
              </a:rPr>
              <a:t>return 0;</a:t>
            </a:r>
          </a:p>
          <a:p>
            <a:r>
              <a:rPr lang="en-US" sz="1100" dirty="0">
                <a:solidFill>
                  <a:srgbClr val="000000"/>
                </a:solidFill>
                <a:latin typeface="Courier New" pitchFamily="34" charset="0"/>
                <a:cs typeface="Courier New" pitchFamily="34" charset="-120"/>
              </a:rPr>
              <a:t>}</a:t>
            </a:r>
          </a:p>
          <a:p>
            <a:endParaRPr lang="en-US" sz="1100" dirty="0">
              <a:solidFill>
                <a:srgbClr val="000000"/>
              </a:solidFill>
              <a:latin typeface="Courier New" pitchFamily="34" charset="0"/>
              <a:cs typeface="Courier New" pitchFamily="34" charset="-120"/>
            </a:endParaRPr>
          </a:p>
        </p:txBody>
      </p:sp>
    </p:spTree>
    <p:extLst>
      <p:ext uri="{BB962C8B-B14F-4D97-AF65-F5344CB8AC3E}">
        <p14:creationId xmlns:p14="http://schemas.microsoft.com/office/powerpoint/2010/main" val="116836908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B97F3-B380-A4A6-93DF-4C594980889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5AC1705-DBCC-785A-6282-A20450B53A30}"/>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4</a:t>
            </a:r>
            <a:endParaRPr lang="en-US" sz="1400" dirty="0"/>
          </a:p>
        </p:txBody>
      </p:sp>
      <p:sp>
        <p:nvSpPr>
          <p:cNvPr id="3" name="Text 1">
            <a:extLst>
              <a:ext uri="{FF2B5EF4-FFF2-40B4-BE49-F238E27FC236}">
                <a16:creationId xmlns:a16="http://schemas.microsoft.com/office/drawing/2014/main" id="{9770A82E-666B-A3B7-65DF-E6484A9BEF52}"/>
              </a:ext>
            </a:extLst>
          </p:cNvPr>
          <p:cNvSpPr/>
          <p:nvPr/>
        </p:nvSpPr>
        <p:spPr>
          <a:xfrm>
            <a:off x="548640" y="731520"/>
            <a:ext cx="11091672" cy="731520"/>
          </a:xfrm>
          <a:prstGeom prst="rect">
            <a:avLst/>
          </a:prstGeom>
          <a:noFill/>
          <a:ln/>
        </p:spPr>
        <p:txBody>
          <a:bodyPr wrap="square" rtlCol="0" anchor="ctr"/>
          <a:lstStyle/>
          <a:p>
            <a:pPr marL="0" indent="0">
              <a:buNone/>
            </a:pPr>
            <a:r>
              <a:rPr lang="en-US" sz="2400" b="1" dirty="0">
                <a:solidFill>
                  <a:srgbClr val="000000"/>
                </a:solidFill>
                <a:latin typeface="Helvetica" pitchFamily="34" charset="0"/>
                <a:cs typeface="Helvetica" pitchFamily="34" charset="-120"/>
              </a:rPr>
              <a:t>Static Data Member</a:t>
            </a:r>
            <a:endParaRPr lang="en-US" sz="2800" dirty="0"/>
          </a:p>
        </p:txBody>
      </p:sp>
      <p:sp>
        <p:nvSpPr>
          <p:cNvPr id="4" name="Text 2">
            <a:extLst>
              <a:ext uri="{FF2B5EF4-FFF2-40B4-BE49-F238E27FC236}">
                <a16:creationId xmlns:a16="http://schemas.microsoft.com/office/drawing/2014/main" id="{D421C6D6-BF24-B5CC-97B4-8DB05EC362BD}"/>
              </a:ext>
            </a:extLst>
          </p:cNvPr>
          <p:cNvSpPr/>
          <p:nvPr/>
        </p:nvSpPr>
        <p:spPr>
          <a:xfrm>
            <a:off x="823672" y="1577130"/>
            <a:ext cx="10944278" cy="2877424"/>
          </a:xfrm>
          <a:prstGeom prst="rect">
            <a:avLst/>
          </a:prstGeom>
          <a:noFill/>
          <a:ln/>
        </p:spPr>
        <p:txBody>
          <a:bodyPr wrap="square" rtlCol="0" anchor="t"/>
          <a:lstStyle/>
          <a:p>
            <a:r>
              <a:rPr lang="en-US" sz="1400" b="1" dirty="0"/>
              <a:t>Introduction</a:t>
            </a:r>
          </a:p>
          <a:p>
            <a:pPr marL="742950" lvl="1" indent="-285750">
              <a:buFont typeface="Arial" panose="020B0604020202020204" pitchFamily="34" charset="0"/>
              <a:buChar char="•"/>
            </a:pPr>
            <a:r>
              <a:rPr lang="en-US" sz="1400" dirty="0"/>
              <a:t>Declared using the keyword static inside the class.</a:t>
            </a:r>
          </a:p>
          <a:p>
            <a:pPr marL="742950" lvl="1" indent="-285750">
              <a:buFont typeface="Arial" panose="020B0604020202020204" pitchFamily="34" charset="0"/>
              <a:buChar char="•"/>
            </a:pPr>
            <a:r>
              <a:rPr lang="en-US" sz="1400" dirty="0"/>
              <a:t>Must be defined outside the class .</a:t>
            </a:r>
          </a:p>
          <a:p>
            <a:pPr marL="742950" lvl="1" indent="-285750">
              <a:buFont typeface="Arial" panose="020B0604020202020204" pitchFamily="34" charset="0"/>
              <a:buChar char="•"/>
            </a:pPr>
            <a:r>
              <a:rPr lang="en-US" sz="1400" dirty="0"/>
              <a:t>Shared by all the objects of the class.</a:t>
            </a:r>
          </a:p>
          <a:p>
            <a:pPr marL="742950" lvl="1" indent="-285750">
              <a:buFont typeface="Arial" panose="020B0604020202020204" pitchFamily="34" charset="0"/>
              <a:buChar char="•"/>
            </a:pPr>
            <a:r>
              <a:rPr lang="en-US" sz="1400" dirty="0"/>
              <a:t>Accessed using the class name followed by the scope resolution operator(::).</a:t>
            </a:r>
          </a:p>
          <a:p>
            <a:pPr marL="742950" lvl="1" indent="-285750">
              <a:buFont typeface="Arial" panose="020B0604020202020204" pitchFamily="34" charset="0"/>
              <a:buChar char="•"/>
            </a:pPr>
            <a:r>
              <a:rPr lang="en-US" sz="1400" dirty="0"/>
              <a:t>Can initialize a static data member in C++ programs using a constant expression or a compile-time constant</a:t>
            </a:r>
          </a:p>
          <a:p>
            <a:pPr lvl="1"/>
            <a:endParaRPr lang="en-US" sz="1400" dirty="0"/>
          </a:p>
          <a:p>
            <a:r>
              <a:rPr lang="en-US" sz="1400" i="1" dirty="0"/>
              <a:t>A static data member in C++ refers to a member of a class that is common to all its objects. In other words, it is associated with the class as a whole. These members are created using the static keyword.</a:t>
            </a:r>
          </a:p>
          <a:p>
            <a:endParaRPr lang="en-US" sz="1400" i="1" dirty="0"/>
          </a:p>
          <a:p>
            <a:r>
              <a:rPr lang="en-US" sz="1400" b="1" dirty="0"/>
              <a:t>Static Data Member In C++?</a:t>
            </a:r>
          </a:p>
          <a:p>
            <a:r>
              <a:rPr lang="en-US" sz="1400" dirty="0"/>
              <a:t>The static data member in C++ programming is a special type of class member that is associated with the class rather than with an individual object of a class. It means that all instances of the class share the same static data member. In other words, unlike regular (non-static members) data members, which have separate copies for each object, static data members are shared among all objects of the class.</a:t>
            </a:r>
          </a:p>
          <a:p>
            <a:endParaRPr lang="en-US" sz="1400" dirty="0"/>
          </a:p>
          <a:p>
            <a:pPr lvl="1"/>
            <a:endParaRPr lang="en-US" sz="1400" dirty="0"/>
          </a:p>
          <a:p>
            <a:pPr lvl="1"/>
            <a:endParaRPr lang="en-US" sz="1400" dirty="0"/>
          </a:p>
        </p:txBody>
      </p:sp>
      <p:sp>
        <p:nvSpPr>
          <p:cNvPr id="8" name="Text 2">
            <a:extLst>
              <a:ext uri="{FF2B5EF4-FFF2-40B4-BE49-F238E27FC236}">
                <a16:creationId xmlns:a16="http://schemas.microsoft.com/office/drawing/2014/main" id="{2B9BBF3C-35A3-2E8C-6A38-FCF11D4DA05E}"/>
              </a:ext>
            </a:extLst>
          </p:cNvPr>
          <p:cNvSpPr/>
          <p:nvPr/>
        </p:nvSpPr>
        <p:spPr>
          <a:xfrm>
            <a:off x="890785" y="4852905"/>
            <a:ext cx="10877166" cy="984885"/>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100" dirty="0">
                <a:solidFill>
                  <a:srgbClr val="000000"/>
                </a:solidFill>
                <a:latin typeface="Courier New" pitchFamily="34" charset="0"/>
                <a:cs typeface="Courier New" pitchFamily="34" charset="-120"/>
              </a:rPr>
              <a:t>class </a:t>
            </a:r>
            <a:r>
              <a:rPr lang="en-US" sz="1100" dirty="0" err="1">
                <a:solidFill>
                  <a:srgbClr val="000000"/>
                </a:solidFill>
                <a:latin typeface="Courier New" pitchFamily="34" charset="0"/>
                <a:cs typeface="Courier New" pitchFamily="34" charset="-120"/>
              </a:rPr>
              <a:t>ClassName</a:t>
            </a:r>
            <a:r>
              <a:rPr lang="en-US" sz="1100" dirty="0">
                <a:solidFill>
                  <a:srgbClr val="000000"/>
                </a:solidFill>
                <a:latin typeface="Courier New" pitchFamily="34" charset="0"/>
                <a:cs typeface="Courier New" pitchFamily="34" charset="-120"/>
              </a:rPr>
              <a:t> {</a:t>
            </a:r>
            <a:br>
              <a:rPr lang="en-US" sz="1100" dirty="0">
                <a:solidFill>
                  <a:srgbClr val="000000"/>
                </a:solidFill>
                <a:latin typeface="Courier New" pitchFamily="34" charset="0"/>
                <a:cs typeface="Courier New" pitchFamily="34" charset="-120"/>
              </a:rPr>
            </a:br>
            <a:r>
              <a:rPr lang="en-US" sz="1100" dirty="0" err="1">
                <a:solidFill>
                  <a:srgbClr val="000000"/>
                </a:solidFill>
                <a:latin typeface="Courier New" pitchFamily="34" charset="0"/>
                <a:cs typeface="Courier New" pitchFamily="34" charset="-120"/>
              </a:rPr>
              <a:t>access_specifier</a:t>
            </a:r>
            <a:r>
              <a:rPr lang="en-US" sz="1100" dirty="0">
                <a:solidFill>
                  <a:srgbClr val="000000"/>
                </a:solidFill>
                <a:latin typeface="Courier New" pitchFamily="34" charset="0"/>
                <a:cs typeface="Courier New" pitchFamily="34" charset="-120"/>
              </a:rPr>
              <a:t>:</a:t>
            </a:r>
            <a:br>
              <a:rPr lang="en-US" sz="1100" dirty="0">
                <a:solidFill>
                  <a:srgbClr val="000000"/>
                </a:solidFill>
                <a:latin typeface="Courier New" pitchFamily="34" charset="0"/>
                <a:cs typeface="Courier New" pitchFamily="34" charset="-120"/>
              </a:rPr>
            </a:br>
            <a:r>
              <a:rPr lang="en-US" sz="1100" dirty="0">
                <a:solidFill>
                  <a:srgbClr val="000000"/>
                </a:solidFill>
                <a:latin typeface="Courier New" pitchFamily="34" charset="0"/>
                <a:cs typeface="Courier New" pitchFamily="34" charset="-120"/>
              </a:rPr>
              <a:t>static </a:t>
            </a:r>
            <a:r>
              <a:rPr lang="en-US" sz="1100" dirty="0" err="1">
                <a:solidFill>
                  <a:srgbClr val="000000"/>
                </a:solidFill>
                <a:latin typeface="Courier New" pitchFamily="34" charset="0"/>
                <a:cs typeface="Courier New" pitchFamily="34" charset="-120"/>
              </a:rPr>
              <a:t>data_type</a:t>
            </a:r>
            <a:r>
              <a:rPr lang="en-US" sz="1100" dirty="0">
                <a:solidFill>
                  <a:srgbClr val="000000"/>
                </a:solidFill>
                <a:latin typeface="Courier New" pitchFamily="34" charset="0"/>
                <a:cs typeface="Courier New" pitchFamily="34" charset="-120"/>
              </a:rPr>
              <a:t> </a:t>
            </a:r>
            <a:r>
              <a:rPr lang="en-US" sz="1100" dirty="0" err="1">
                <a:solidFill>
                  <a:srgbClr val="000000"/>
                </a:solidFill>
                <a:latin typeface="Courier New" pitchFamily="34" charset="0"/>
                <a:cs typeface="Courier New" pitchFamily="34" charset="-120"/>
              </a:rPr>
              <a:t>data_member_name</a:t>
            </a:r>
            <a:r>
              <a:rPr lang="en-US" sz="1100" dirty="0">
                <a:solidFill>
                  <a:srgbClr val="000000"/>
                </a:solidFill>
                <a:latin typeface="Courier New" pitchFamily="34" charset="0"/>
                <a:cs typeface="Courier New" pitchFamily="34" charset="-120"/>
              </a:rPr>
              <a:t>;</a:t>
            </a:r>
            <a:br>
              <a:rPr lang="en-US" sz="1100" dirty="0">
                <a:solidFill>
                  <a:srgbClr val="000000"/>
                </a:solidFill>
                <a:latin typeface="Courier New" pitchFamily="34" charset="0"/>
                <a:cs typeface="Courier New" pitchFamily="34" charset="-120"/>
              </a:rPr>
            </a:br>
            <a:r>
              <a:rPr lang="en-US" sz="1100" dirty="0">
                <a:solidFill>
                  <a:srgbClr val="000000"/>
                </a:solidFill>
                <a:latin typeface="Courier New" pitchFamily="34" charset="0"/>
                <a:cs typeface="Courier New" pitchFamily="34" charset="-120"/>
              </a:rPr>
              <a:t>};</a:t>
            </a:r>
          </a:p>
        </p:txBody>
      </p:sp>
      <p:sp>
        <p:nvSpPr>
          <p:cNvPr id="10" name="TextBox 9">
            <a:extLst>
              <a:ext uri="{FF2B5EF4-FFF2-40B4-BE49-F238E27FC236}">
                <a16:creationId xmlns:a16="http://schemas.microsoft.com/office/drawing/2014/main" id="{25412E79-EE14-6854-27E2-F452A7FD0F14}"/>
              </a:ext>
            </a:extLst>
          </p:cNvPr>
          <p:cNvSpPr txBox="1"/>
          <p:nvPr/>
        </p:nvSpPr>
        <p:spPr>
          <a:xfrm>
            <a:off x="890785" y="5850139"/>
            <a:ext cx="10877165" cy="738664"/>
          </a:xfrm>
          <a:prstGeom prst="rect">
            <a:avLst/>
          </a:prstGeom>
          <a:noFill/>
        </p:spPr>
        <p:txBody>
          <a:bodyPr wrap="square">
            <a:spAutoFit/>
          </a:bodyPr>
          <a:lstStyle/>
          <a:p>
            <a:pPr marL="285750" indent="-285750">
              <a:buFont typeface="Arial" panose="020B0604020202020204" pitchFamily="34" charset="0"/>
              <a:buChar char="•"/>
            </a:pPr>
            <a:r>
              <a:rPr lang="en-US" sz="1400" dirty="0"/>
              <a:t>The </a:t>
            </a:r>
            <a:r>
              <a:rPr lang="en-US" sz="1400" b="1" dirty="0" err="1"/>
              <a:t>ClassName</a:t>
            </a:r>
            <a:r>
              <a:rPr lang="en-US" sz="1400" dirty="0"/>
              <a:t> and </a:t>
            </a:r>
            <a:r>
              <a:rPr lang="en-US" sz="1400" b="1" dirty="0" err="1"/>
              <a:t>data_member_name</a:t>
            </a:r>
            <a:r>
              <a:rPr lang="en-US" sz="1400" dirty="0"/>
              <a:t> refer to the names of the class and the data member we are creating.</a:t>
            </a:r>
          </a:p>
          <a:p>
            <a:pPr marL="285750" indent="-285750">
              <a:buFont typeface="Arial" panose="020B0604020202020204" pitchFamily="34" charset="0"/>
              <a:buChar char="•"/>
            </a:pPr>
            <a:r>
              <a:rPr lang="en-US" sz="1400" dirty="0"/>
              <a:t>An </a:t>
            </a:r>
            <a:r>
              <a:rPr lang="en-US" sz="1400" b="1" dirty="0"/>
              <a:t>access specifier </a:t>
            </a:r>
            <a:r>
              <a:rPr lang="en-US" sz="1400" dirty="0"/>
              <a:t>indicates the visibility of the class member, which can be private, public or protected.</a:t>
            </a:r>
          </a:p>
          <a:p>
            <a:pPr marL="285750" indent="-285750">
              <a:buFont typeface="Arial" panose="020B0604020202020204" pitchFamily="34" charset="0"/>
              <a:buChar char="•"/>
            </a:pPr>
            <a:r>
              <a:rPr lang="en-US" sz="1400" dirty="0"/>
              <a:t>The </a:t>
            </a:r>
            <a:r>
              <a:rPr lang="en-US" sz="1400" b="1" dirty="0"/>
              <a:t>static</a:t>
            </a:r>
            <a:r>
              <a:rPr lang="en-US" sz="1400" dirty="0"/>
              <a:t> keyword indicates that the respective member is of a static nature and the type of data it stores is given by </a:t>
            </a:r>
            <a:r>
              <a:rPr lang="en-US" sz="1400" b="1" dirty="0" err="1"/>
              <a:t>data_type</a:t>
            </a:r>
            <a:r>
              <a:rPr lang="en-US" sz="1400" dirty="0"/>
              <a:t>.</a:t>
            </a:r>
          </a:p>
        </p:txBody>
      </p:sp>
    </p:spTree>
    <p:extLst>
      <p:ext uri="{BB962C8B-B14F-4D97-AF65-F5344CB8AC3E}">
        <p14:creationId xmlns:p14="http://schemas.microsoft.com/office/powerpoint/2010/main" val="1719618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C466A-4A16-A094-1F64-86AE14E910F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D545408-784B-AD2F-0113-E16DF578FC60}"/>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4</a:t>
            </a:r>
            <a:endParaRPr lang="en-US" sz="1400" dirty="0"/>
          </a:p>
        </p:txBody>
      </p:sp>
      <p:sp>
        <p:nvSpPr>
          <p:cNvPr id="3" name="Text 1">
            <a:extLst>
              <a:ext uri="{FF2B5EF4-FFF2-40B4-BE49-F238E27FC236}">
                <a16:creationId xmlns:a16="http://schemas.microsoft.com/office/drawing/2014/main" id="{45671747-4452-42CC-7826-BF770DBF321D}"/>
              </a:ext>
            </a:extLst>
          </p:cNvPr>
          <p:cNvSpPr/>
          <p:nvPr/>
        </p:nvSpPr>
        <p:spPr>
          <a:xfrm>
            <a:off x="622336" y="711386"/>
            <a:ext cx="11091672" cy="466428"/>
          </a:xfrm>
          <a:prstGeom prst="rect">
            <a:avLst/>
          </a:prstGeom>
          <a:noFill/>
          <a:ln/>
        </p:spPr>
        <p:txBody>
          <a:bodyPr wrap="square" rtlCol="0" anchor="ctr"/>
          <a:lstStyle/>
          <a:p>
            <a:r>
              <a:rPr lang="en-US" sz="2400" b="1" dirty="0">
                <a:solidFill>
                  <a:srgbClr val="000000"/>
                </a:solidFill>
                <a:latin typeface="Helvetica" pitchFamily="34" charset="0"/>
                <a:cs typeface="Helvetica" pitchFamily="34" charset="-120"/>
              </a:rPr>
              <a:t>Static Data Member</a:t>
            </a:r>
            <a:endParaRPr lang="en-US" sz="2800" dirty="0"/>
          </a:p>
        </p:txBody>
      </p:sp>
      <p:sp>
        <p:nvSpPr>
          <p:cNvPr id="7" name="Text 2">
            <a:extLst>
              <a:ext uri="{FF2B5EF4-FFF2-40B4-BE49-F238E27FC236}">
                <a16:creationId xmlns:a16="http://schemas.microsoft.com/office/drawing/2014/main" id="{E80F7F76-1ED9-8BE5-6D40-10D9726C3928}"/>
              </a:ext>
            </a:extLst>
          </p:cNvPr>
          <p:cNvSpPr/>
          <p:nvPr/>
        </p:nvSpPr>
        <p:spPr>
          <a:xfrm>
            <a:off x="622336" y="1177814"/>
            <a:ext cx="11091672" cy="5394960"/>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100" dirty="0">
                <a:solidFill>
                  <a:srgbClr val="000000"/>
                </a:solidFill>
                <a:latin typeface="Courier New" pitchFamily="34" charset="0"/>
                <a:cs typeface="Courier New" pitchFamily="34" charset="-120"/>
              </a:rPr>
              <a:t>#include &lt;iostream&gt;</a:t>
            </a:r>
          </a:p>
          <a:p>
            <a:r>
              <a:rPr lang="en-US" sz="1100" dirty="0">
                <a:solidFill>
                  <a:srgbClr val="000000"/>
                </a:solidFill>
                <a:latin typeface="Courier New" pitchFamily="34" charset="0"/>
                <a:cs typeface="Courier New" pitchFamily="34" charset="-120"/>
              </a:rPr>
              <a:t>using namespace std; </a:t>
            </a:r>
          </a:p>
          <a:p>
            <a:endParaRPr lang="en-US" sz="1100" dirty="0">
              <a:solidFill>
                <a:srgbClr val="000000"/>
              </a:solidFill>
              <a:latin typeface="Courier New" pitchFamily="34" charset="0"/>
              <a:cs typeface="Courier New" pitchFamily="34" charset="-120"/>
            </a:endParaRPr>
          </a:p>
          <a:p>
            <a:r>
              <a:rPr lang="en-US" sz="1100" dirty="0">
                <a:solidFill>
                  <a:srgbClr val="000000"/>
                </a:solidFill>
                <a:latin typeface="Courier New" pitchFamily="34" charset="0"/>
                <a:cs typeface="Courier New" pitchFamily="34" charset="-120"/>
              </a:rPr>
              <a:t>class Mercedes {</a:t>
            </a:r>
          </a:p>
          <a:p>
            <a:r>
              <a:rPr lang="en-US" sz="1100" dirty="0">
                <a:solidFill>
                  <a:srgbClr val="000000"/>
                </a:solidFill>
                <a:latin typeface="Courier New" pitchFamily="34" charset="0"/>
                <a:cs typeface="Courier New" pitchFamily="34" charset="-120"/>
              </a:rPr>
              <a:t>public:</a:t>
            </a:r>
          </a:p>
          <a:p>
            <a:r>
              <a:rPr lang="en-US" sz="1100" dirty="0">
                <a:solidFill>
                  <a:srgbClr val="000000"/>
                </a:solidFill>
                <a:latin typeface="Courier New" pitchFamily="34" charset="0"/>
                <a:cs typeface="Courier New" pitchFamily="34" charset="-120"/>
              </a:rPr>
              <a:t>    // Declaration of static data </a:t>
            </a:r>
            <a:r>
              <a:rPr lang="en-US" sz="1100" dirty="0" err="1">
                <a:solidFill>
                  <a:srgbClr val="000000"/>
                </a:solidFill>
                <a:latin typeface="Courier New" pitchFamily="34" charset="0"/>
                <a:cs typeface="Courier New" pitchFamily="34" charset="-120"/>
              </a:rPr>
              <a:t>member.Static</a:t>
            </a:r>
            <a:r>
              <a:rPr lang="en-US" sz="1100" dirty="0">
                <a:solidFill>
                  <a:srgbClr val="000000"/>
                </a:solidFill>
                <a:latin typeface="Courier New" pitchFamily="34" charset="0"/>
                <a:cs typeface="Courier New" pitchFamily="34" charset="-120"/>
              </a:rPr>
              <a:t> members belong to the class itself, not to individual objects</a:t>
            </a:r>
          </a:p>
          <a:p>
            <a:r>
              <a:rPr lang="en-US" sz="1100" dirty="0">
                <a:solidFill>
                  <a:srgbClr val="000000"/>
                </a:solidFill>
                <a:latin typeface="Courier New" pitchFamily="34" charset="0"/>
                <a:cs typeface="Courier New" pitchFamily="34" charset="-120"/>
              </a:rPr>
              <a:t>       static int </a:t>
            </a:r>
            <a:r>
              <a:rPr lang="en-US" sz="1100" dirty="0" err="1">
                <a:solidFill>
                  <a:srgbClr val="000000"/>
                </a:solidFill>
                <a:latin typeface="Courier New" pitchFamily="34" charset="0"/>
                <a:cs typeface="Courier New" pitchFamily="34" charset="-120"/>
              </a:rPr>
              <a:t>modelCount</a:t>
            </a:r>
            <a:r>
              <a:rPr lang="en-US" sz="1100" dirty="0">
                <a:solidFill>
                  <a:srgbClr val="000000"/>
                </a:solidFill>
                <a:latin typeface="Courier New" pitchFamily="34" charset="0"/>
                <a:cs typeface="Courier New" pitchFamily="34" charset="-120"/>
              </a:rPr>
              <a:t>;</a:t>
            </a:r>
          </a:p>
          <a:p>
            <a:endParaRPr lang="en-US" sz="1100" dirty="0">
              <a:solidFill>
                <a:srgbClr val="000000"/>
              </a:solidFill>
              <a:latin typeface="Courier New" pitchFamily="34" charset="0"/>
              <a:cs typeface="Courier New" pitchFamily="34" charset="-120"/>
            </a:endParaRPr>
          </a:p>
          <a:p>
            <a:r>
              <a:rPr lang="en-US" sz="1100" dirty="0">
                <a:solidFill>
                  <a:srgbClr val="000000"/>
                </a:solidFill>
                <a:latin typeface="Courier New" pitchFamily="34" charset="0"/>
                <a:cs typeface="Courier New" pitchFamily="34" charset="-120"/>
              </a:rPr>
              <a:t>    // Constructor - automatically called when a Mercedes object is created</a:t>
            </a:r>
          </a:p>
          <a:p>
            <a:r>
              <a:rPr lang="en-US" sz="1100" dirty="0">
                <a:solidFill>
                  <a:srgbClr val="000000"/>
                </a:solidFill>
                <a:latin typeface="Courier New" pitchFamily="34" charset="0"/>
                <a:cs typeface="Courier New" pitchFamily="34" charset="-120"/>
              </a:rPr>
              <a:t>    Mercedes() {</a:t>
            </a:r>
          </a:p>
          <a:p>
            <a:r>
              <a:rPr lang="en-US" sz="1100" dirty="0">
                <a:solidFill>
                  <a:srgbClr val="000000"/>
                </a:solidFill>
                <a:latin typeface="Courier New" pitchFamily="34" charset="0"/>
                <a:cs typeface="Courier New" pitchFamily="34" charset="-120"/>
              </a:rPr>
              <a:t>    // Increment </a:t>
            </a:r>
            <a:r>
              <a:rPr lang="en-US" sz="1100" dirty="0" err="1">
                <a:solidFill>
                  <a:srgbClr val="000000"/>
                </a:solidFill>
                <a:latin typeface="Courier New" pitchFamily="34" charset="0"/>
                <a:cs typeface="Courier New" pitchFamily="34" charset="-120"/>
              </a:rPr>
              <a:t>modelCount</a:t>
            </a:r>
            <a:r>
              <a:rPr lang="en-US" sz="1100" dirty="0">
                <a:solidFill>
                  <a:srgbClr val="000000"/>
                </a:solidFill>
                <a:latin typeface="Courier New" pitchFamily="34" charset="0"/>
                <a:cs typeface="Courier New" pitchFamily="34" charset="-120"/>
              </a:rPr>
              <a:t> for each object </a:t>
            </a:r>
            <a:r>
              <a:rPr lang="en-US" sz="1100" dirty="0" err="1">
                <a:solidFill>
                  <a:srgbClr val="000000"/>
                </a:solidFill>
                <a:latin typeface="Courier New" pitchFamily="34" charset="0"/>
                <a:cs typeface="Courier New" pitchFamily="34" charset="-120"/>
              </a:rPr>
              <a:t>created.modelCount</a:t>
            </a:r>
            <a:r>
              <a:rPr lang="en-US" sz="1100" dirty="0">
                <a:solidFill>
                  <a:srgbClr val="000000"/>
                </a:solidFill>
                <a:latin typeface="Courier New" pitchFamily="34" charset="0"/>
                <a:cs typeface="Courier New" pitchFamily="34" charset="-120"/>
              </a:rPr>
              <a:t> is static, it keeps its value across all objects</a:t>
            </a:r>
          </a:p>
          <a:p>
            <a:r>
              <a:rPr lang="en-US" sz="1100" dirty="0">
                <a:solidFill>
                  <a:srgbClr val="000000"/>
                </a:solidFill>
                <a:latin typeface="Courier New" pitchFamily="34" charset="0"/>
                <a:cs typeface="Courier New" pitchFamily="34" charset="-120"/>
              </a:rPr>
              <a:t>        </a:t>
            </a:r>
            <a:r>
              <a:rPr lang="en-US" sz="1100" dirty="0" err="1">
                <a:solidFill>
                  <a:srgbClr val="000000"/>
                </a:solidFill>
                <a:latin typeface="Courier New" pitchFamily="34" charset="0"/>
                <a:cs typeface="Courier New" pitchFamily="34" charset="-120"/>
              </a:rPr>
              <a:t>modelCount</a:t>
            </a:r>
            <a:r>
              <a:rPr lang="en-US" sz="1100" dirty="0">
                <a:solidFill>
                  <a:srgbClr val="000000"/>
                </a:solidFill>
                <a:latin typeface="Courier New" pitchFamily="34" charset="0"/>
                <a:cs typeface="Courier New" pitchFamily="34" charset="-120"/>
              </a:rPr>
              <a:t>++;</a:t>
            </a:r>
          </a:p>
          <a:p>
            <a:r>
              <a:rPr lang="en-US" sz="1100" dirty="0">
                <a:solidFill>
                  <a:srgbClr val="000000"/>
                </a:solidFill>
                <a:latin typeface="Courier New" pitchFamily="34" charset="0"/>
                <a:cs typeface="Courier New" pitchFamily="34" charset="-120"/>
              </a:rPr>
              <a:t>    }</a:t>
            </a:r>
          </a:p>
          <a:p>
            <a:r>
              <a:rPr lang="en-US" sz="1100" dirty="0">
                <a:solidFill>
                  <a:srgbClr val="000000"/>
                </a:solidFill>
                <a:latin typeface="Courier New" pitchFamily="34" charset="0"/>
                <a:cs typeface="Courier New" pitchFamily="34" charset="-120"/>
              </a:rPr>
              <a:t>};</a:t>
            </a:r>
          </a:p>
          <a:p>
            <a:endParaRPr lang="en-US" sz="1100" dirty="0">
              <a:solidFill>
                <a:srgbClr val="000000"/>
              </a:solidFill>
              <a:latin typeface="Courier New" pitchFamily="34" charset="0"/>
              <a:cs typeface="Courier New" pitchFamily="34" charset="-120"/>
            </a:endParaRPr>
          </a:p>
          <a:p>
            <a:r>
              <a:rPr lang="en-US" sz="1100" dirty="0">
                <a:solidFill>
                  <a:srgbClr val="000000"/>
                </a:solidFill>
                <a:latin typeface="Courier New" pitchFamily="34" charset="0"/>
                <a:cs typeface="Courier New" pitchFamily="34" charset="-120"/>
              </a:rPr>
              <a:t>// Definition and initialization of static data member outside the class</a:t>
            </a:r>
          </a:p>
          <a:p>
            <a:r>
              <a:rPr lang="en-US" sz="1100" dirty="0">
                <a:solidFill>
                  <a:srgbClr val="000000"/>
                </a:solidFill>
                <a:latin typeface="Courier New" pitchFamily="34" charset="0"/>
                <a:cs typeface="Courier New" pitchFamily="34" charset="-120"/>
              </a:rPr>
              <a:t>// This allocates memory for the static variable</a:t>
            </a:r>
          </a:p>
          <a:p>
            <a:r>
              <a:rPr lang="en-US" sz="1100" dirty="0">
                <a:solidFill>
                  <a:srgbClr val="000000"/>
                </a:solidFill>
                <a:latin typeface="Courier New" pitchFamily="34" charset="0"/>
                <a:cs typeface="Courier New" pitchFamily="34" charset="-120"/>
              </a:rPr>
              <a:t>// Must be done exactly once in exactly one source file</a:t>
            </a:r>
          </a:p>
          <a:p>
            <a:r>
              <a:rPr lang="en-US" sz="1100" dirty="0">
                <a:solidFill>
                  <a:srgbClr val="000000"/>
                </a:solidFill>
                <a:latin typeface="Courier New" pitchFamily="34" charset="0"/>
                <a:cs typeface="Courier New" pitchFamily="34" charset="-120"/>
              </a:rPr>
              <a:t>int Mercedes::</a:t>
            </a:r>
            <a:r>
              <a:rPr lang="en-US" sz="1100" dirty="0" err="1">
                <a:solidFill>
                  <a:srgbClr val="000000"/>
                </a:solidFill>
                <a:latin typeface="Courier New" pitchFamily="34" charset="0"/>
                <a:cs typeface="Courier New" pitchFamily="34" charset="-120"/>
              </a:rPr>
              <a:t>modelCount</a:t>
            </a:r>
            <a:r>
              <a:rPr lang="en-US" sz="1100" dirty="0">
                <a:solidFill>
                  <a:srgbClr val="000000"/>
                </a:solidFill>
                <a:latin typeface="Courier New" pitchFamily="34" charset="0"/>
                <a:cs typeface="Courier New" pitchFamily="34" charset="-120"/>
              </a:rPr>
              <a:t> = 0;</a:t>
            </a:r>
          </a:p>
          <a:p>
            <a:endParaRPr lang="en-US" sz="1100" dirty="0">
              <a:solidFill>
                <a:srgbClr val="000000"/>
              </a:solidFill>
              <a:latin typeface="Courier New" pitchFamily="34" charset="0"/>
              <a:cs typeface="Courier New" pitchFamily="34" charset="-120"/>
            </a:endParaRPr>
          </a:p>
          <a:p>
            <a:r>
              <a:rPr lang="en-US" sz="1100" dirty="0">
                <a:solidFill>
                  <a:srgbClr val="000000"/>
                </a:solidFill>
                <a:latin typeface="Courier New" pitchFamily="34" charset="0"/>
                <a:cs typeface="Courier New" pitchFamily="34" charset="-120"/>
              </a:rPr>
              <a:t>int main() {</a:t>
            </a:r>
          </a:p>
          <a:p>
            <a:r>
              <a:rPr lang="en-US" sz="1100" dirty="0">
                <a:solidFill>
                  <a:srgbClr val="000000"/>
                </a:solidFill>
                <a:latin typeface="Courier New" pitchFamily="34" charset="0"/>
                <a:cs typeface="Courier New" pitchFamily="34" charset="-120"/>
              </a:rPr>
              <a:t>    // Creating Mercedes objects - each triggers the constructor</a:t>
            </a:r>
          </a:p>
          <a:p>
            <a:r>
              <a:rPr lang="en-US" sz="1100" dirty="0">
                <a:solidFill>
                  <a:srgbClr val="000000"/>
                </a:solidFill>
                <a:latin typeface="Courier New" pitchFamily="34" charset="0"/>
                <a:cs typeface="Courier New" pitchFamily="34" charset="-120"/>
              </a:rPr>
              <a:t>    Mercedes m1; // Creates first Mercedes object → </a:t>
            </a:r>
            <a:r>
              <a:rPr lang="en-US" sz="1100" dirty="0" err="1">
                <a:solidFill>
                  <a:srgbClr val="000000"/>
                </a:solidFill>
                <a:latin typeface="Courier New" pitchFamily="34" charset="0"/>
                <a:cs typeface="Courier New" pitchFamily="34" charset="-120"/>
              </a:rPr>
              <a:t>modelCount</a:t>
            </a:r>
            <a:r>
              <a:rPr lang="en-US" sz="1100" dirty="0">
                <a:solidFill>
                  <a:srgbClr val="000000"/>
                </a:solidFill>
                <a:latin typeface="Courier New" pitchFamily="34" charset="0"/>
                <a:cs typeface="Courier New" pitchFamily="34" charset="-120"/>
              </a:rPr>
              <a:t> becomes 1</a:t>
            </a:r>
          </a:p>
          <a:p>
            <a:r>
              <a:rPr lang="en-US" sz="1100" dirty="0">
                <a:solidFill>
                  <a:srgbClr val="000000"/>
                </a:solidFill>
                <a:latin typeface="Courier New" pitchFamily="34" charset="0"/>
                <a:cs typeface="Courier New" pitchFamily="34" charset="-120"/>
              </a:rPr>
              <a:t>    Mercedes m2; // Creates second Mercedes object → </a:t>
            </a:r>
            <a:r>
              <a:rPr lang="en-US" sz="1100" dirty="0" err="1">
                <a:solidFill>
                  <a:srgbClr val="000000"/>
                </a:solidFill>
                <a:latin typeface="Courier New" pitchFamily="34" charset="0"/>
                <a:cs typeface="Courier New" pitchFamily="34" charset="-120"/>
              </a:rPr>
              <a:t>modelCount</a:t>
            </a:r>
            <a:r>
              <a:rPr lang="en-US" sz="1100" dirty="0">
                <a:solidFill>
                  <a:srgbClr val="000000"/>
                </a:solidFill>
                <a:latin typeface="Courier New" pitchFamily="34" charset="0"/>
                <a:cs typeface="Courier New" pitchFamily="34" charset="-120"/>
              </a:rPr>
              <a:t> becomes 2</a:t>
            </a:r>
          </a:p>
          <a:p>
            <a:r>
              <a:rPr lang="en-US" sz="1100" dirty="0">
                <a:solidFill>
                  <a:srgbClr val="000000"/>
                </a:solidFill>
                <a:latin typeface="Courier New" pitchFamily="34" charset="0"/>
                <a:cs typeface="Courier New" pitchFamily="34" charset="-120"/>
              </a:rPr>
              <a:t>    Mercedes m3; // Creates third Mercedes object → </a:t>
            </a:r>
            <a:r>
              <a:rPr lang="en-US" sz="1100" dirty="0" err="1">
                <a:solidFill>
                  <a:srgbClr val="000000"/>
                </a:solidFill>
                <a:latin typeface="Courier New" pitchFamily="34" charset="0"/>
                <a:cs typeface="Courier New" pitchFamily="34" charset="-120"/>
              </a:rPr>
              <a:t>modelCount</a:t>
            </a:r>
            <a:r>
              <a:rPr lang="en-US" sz="1100" dirty="0">
                <a:solidFill>
                  <a:srgbClr val="000000"/>
                </a:solidFill>
                <a:latin typeface="Courier New" pitchFamily="34" charset="0"/>
                <a:cs typeface="Courier New" pitchFamily="34" charset="-120"/>
              </a:rPr>
              <a:t> becomes 3</a:t>
            </a:r>
          </a:p>
          <a:p>
            <a:endParaRPr lang="en-US" sz="1100" dirty="0">
              <a:solidFill>
                <a:srgbClr val="000000"/>
              </a:solidFill>
              <a:latin typeface="Courier New" pitchFamily="34" charset="0"/>
              <a:cs typeface="Courier New" pitchFamily="34" charset="-120"/>
            </a:endParaRPr>
          </a:p>
          <a:p>
            <a:r>
              <a:rPr lang="en-US" sz="1100" dirty="0">
                <a:solidFill>
                  <a:srgbClr val="000000"/>
                </a:solidFill>
                <a:latin typeface="Courier New" pitchFamily="34" charset="0"/>
                <a:cs typeface="Courier New" pitchFamily="34" charset="-120"/>
              </a:rPr>
              <a:t>     // Static members can be accessed even without creating any objects</a:t>
            </a:r>
          </a:p>
          <a:p>
            <a:r>
              <a:rPr lang="en-US" sz="1100" dirty="0">
                <a:solidFill>
                  <a:srgbClr val="000000"/>
                </a:solidFill>
                <a:latin typeface="Courier New" pitchFamily="34" charset="0"/>
                <a:cs typeface="Courier New" pitchFamily="34" charset="-120"/>
              </a:rPr>
              <a:t>    </a:t>
            </a:r>
            <a:r>
              <a:rPr lang="en-US" sz="1100" dirty="0" err="1">
                <a:solidFill>
                  <a:srgbClr val="000000"/>
                </a:solidFill>
                <a:latin typeface="Courier New" pitchFamily="34" charset="0"/>
                <a:cs typeface="Courier New" pitchFamily="34" charset="-120"/>
              </a:rPr>
              <a:t>cout</a:t>
            </a:r>
            <a:r>
              <a:rPr lang="en-US" sz="1100" dirty="0">
                <a:solidFill>
                  <a:srgbClr val="000000"/>
                </a:solidFill>
                <a:latin typeface="Courier New" pitchFamily="34" charset="0"/>
                <a:cs typeface="Courier New" pitchFamily="34" charset="-120"/>
              </a:rPr>
              <a:t> &lt;&lt; "Total Mercedes models: " &lt;&lt; Mercedes::</a:t>
            </a:r>
            <a:r>
              <a:rPr lang="en-US" sz="1100" dirty="0" err="1">
                <a:solidFill>
                  <a:srgbClr val="000000"/>
                </a:solidFill>
                <a:latin typeface="Courier New" pitchFamily="34" charset="0"/>
                <a:cs typeface="Courier New" pitchFamily="34" charset="-120"/>
              </a:rPr>
              <a:t>modelCount</a:t>
            </a:r>
            <a:r>
              <a:rPr lang="en-US" sz="1100" dirty="0">
                <a:solidFill>
                  <a:srgbClr val="000000"/>
                </a:solidFill>
                <a:latin typeface="Courier New" pitchFamily="34" charset="0"/>
                <a:cs typeface="Courier New" pitchFamily="34" charset="-120"/>
              </a:rPr>
              <a:t> &lt;&lt; </a:t>
            </a:r>
            <a:r>
              <a:rPr lang="en-US" sz="1100" dirty="0" err="1">
                <a:solidFill>
                  <a:srgbClr val="000000"/>
                </a:solidFill>
                <a:latin typeface="Courier New" pitchFamily="34" charset="0"/>
                <a:cs typeface="Courier New" pitchFamily="34" charset="-120"/>
              </a:rPr>
              <a:t>endl</a:t>
            </a:r>
            <a:r>
              <a:rPr lang="en-US" sz="1100" dirty="0">
                <a:solidFill>
                  <a:srgbClr val="000000"/>
                </a:solidFill>
                <a:latin typeface="Courier New" pitchFamily="34" charset="0"/>
                <a:cs typeface="Courier New" pitchFamily="34" charset="-120"/>
              </a:rPr>
              <a:t>;</a:t>
            </a:r>
          </a:p>
          <a:p>
            <a:endParaRPr lang="en-US" sz="1100" dirty="0">
              <a:solidFill>
                <a:srgbClr val="000000"/>
              </a:solidFill>
              <a:latin typeface="Courier New" pitchFamily="34" charset="0"/>
              <a:cs typeface="Courier New" pitchFamily="34" charset="-120"/>
            </a:endParaRPr>
          </a:p>
          <a:p>
            <a:r>
              <a:rPr lang="en-US" sz="1100" dirty="0">
                <a:solidFill>
                  <a:srgbClr val="000000"/>
                </a:solidFill>
                <a:latin typeface="Courier New" pitchFamily="34" charset="0"/>
                <a:cs typeface="Courier New" pitchFamily="34" charset="-120"/>
              </a:rPr>
              <a:t>    return 0; </a:t>
            </a:r>
          </a:p>
          <a:p>
            <a:r>
              <a:rPr lang="en-US" sz="1100" dirty="0">
                <a:solidFill>
                  <a:srgbClr val="000000"/>
                </a:solidFill>
                <a:latin typeface="Courier New" pitchFamily="34" charset="0"/>
                <a:cs typeface="Courier New" pitchFamily="34" charset="-120"/>
              </a:rPr>
              <a:t>}</a:t>
            </a:r>
          </a:p>
        </p:txBody>
      </p:sp>
    </p:spTree>
    <p:extLst>
      <p:ext uri="{BB962C8B-B14F-4D97-AF65-F5344CB8AC3E}">
        <p14:creationId xmlns:p14="http://schemas.microsoft.com/office/powerpoint/2010/main" val="41890043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47DD5-A62F-BA0D-06ED-837E74DFE8D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2313644-F0B4-A7DE-938F-1611F6AADAF7}"/>
              </a:ext>
            </a:extLst>
          </p:cNvPr>
          <p:cNvSpPr/>
          <p:nvPr/>
        </p:nvSpPr>
        <p:spPr>
          <a:xfrm>
            <a:off x="0" y="-3692"/>
            <a:ext cx="12192000" cy="1036320"/>
          </a:xfrm>
          <a:prstGeom prst="rect">
            <a:avLst/>
          </a:prstGeom>
          <a:solidFill>
            <a:schemeClr val="tx2">
              <a:lumMod val="75000"/>
            </a:schemeClr>
          </a:solidFill>
          <a:ln/>
        </p:spPr>
      </p:sp>
      <p:sp>
        <p:nvSpPr>
          <p:cNvPr id="3" name="Text 1">
            <a:extLst>
              <a:ext uri="{FF2B5EF4-FFF2-40B4-BE49-F238E27FC236}">
                <a16:creationId xmlns:a16="http://schemas.microsoft.com/office/drawing/2014/main" id="{0EAE466F-69C8-BD8D-A233-94D659B1466D}"/>
              </a:ext>
            </a:extLst>
          </p:cNvPr>
          <p:cNvSpPr/>
          <p:nvPr/>
        </p:nvSpPr>
        <p:spPr>
          <a:xfrm>
            <a:off x="365760" y="57268"/>
            <a:ext cx="11460480" cy="792480"/>
          </a:xfrm>
          <a:prstGeom prst="rect">
            <a:avLst/>
          </a:prstGeom>
          <a:noFill/>
          <a:ln/>
        </p:spPr>
        <p:txBody>
          <a:bodyPr wrap="square" rtlCol="0" anchor="ctr"/>
          <a:lstStyle/>
          <a:p>
            <a:r>
              <a:rPr lang="en-US" sz="2933" b="1" dirty="0">
                <a:solidFill>
                  <a:srgbClr val="F4A01C"/>
                </a:solidFill>
                <a:latin typeface="Calibri" pitchFamily="34" charset="0"/>
                <a:ea typeface="Calibri" pitchFamily="34" charset="-122"/>
                <a:cs typeface="Calibri" pitchFamily="34" charset="-120"/>
              </a:rPr>
              <a:t>Lab Work</a:t>
            </a:r>
            <a:endParaRPr lang="en-US" sz="2933" dirty="0"/>
          </a:p>
        </p:txBody>
      </p:sp>
      <p:sp>
        <p:nvSpPr>
          <p:cNvPr id="4" name="Shape 2">
            <a:extLst>
              <a:ext uri="{FF2B5EF4-FFF2-40B4-BE49-F238E27FC236}">
                <a16:creationId xmlns:a16="http://schemas.microsoft.com/office/drawing/2014/main" id="{577BF293-49F8-E962-969D-7EC34F745F41}"/>
              </a:ext>
            </a:extLst>
          </p:cNvPr>
          <p:cNvSpPr/>
          <p:nvPr/>
        </p:nvSpPr>
        <p:spPr>
          <a:xfrm>
            <a:off x="609600" y="1071423"/>
            <a:ext cx="10972800" cy="5346700"/>
          </a:xfrm>
          <a:prstGeom prst="roundRect">
            <a:avLst>
              <a:gd name="adj" fmla="val 12014"/>
            </a:avLst>
          </a:prstGeom>
          <a:solidFill>
            <a:srgbClr val="2C3E50"/>
          </a:solidFill>
          <a:ln/>
        </p:spPr>
      </p:sp>
      <p:sp>
        <p:nvSpPr>
          <p:cNvPr id="5" name="Text 3">
            <a:extLst>
              <a:ext uri="{FF2B5EF4-FFF2-40B4-BE49-F238E27FC236}">
                <a16:creationId xmlns:a16="http://schemas.microsoft.com/office/drawing/2014/main" id="{86E31AAD-0B64-3698-A55F-EAEB052C8EEB}"/>
              </a:ext>
            </a:extLst>
          </p:cNvPr>
          <p:cNvSpPr/>
          <p:nvPr/>
        </p:nvSpPr>
        <p:spPr>
          <a:xfrm>
            <a:off x="853440" y="1230288"/>
            <a:ext cx="975360" cy="975360"/>
          </a:xfrm>
          <a:prstGeom prst="rect">
            <a:avLst/>
          </a:prstGeom>
          <a:noFill/>
          <a:ln/>
        </p:spPr>
        <p:txBody>
          <a:bodyPr wrap="square" rtlCol="0" anchor="ctr"/>
          <a:lstStyle/>
          <a:p>
            <a:endParaRPr lang="en-US" sz="4267" dirty="0"/>
          </a:p>
        </p:txBody>
      </p:sp>
      <p:sp>
        <p:nvSpPr>
          <p:cNvPr id="7" name="Text 5">
            <a:extLst>
              <a:ext uri="{FF2B5EF4-FFF2-40B4-BE49-F238E27FC236}">
                <a16:creationId xmlns:a16="http://schemas.microsoft.com/office/drawing/2014/main" id="{0F314E7F-D3CA-CDC7-A120-256C76AE3B93}"/>
              </a:ext>
            </a:extLst>
          </p:cNvPr>
          <p:cNvSpPr/>
          <p:nvPr/>
        </p:nvSpPr>
        <p:spPr>
          <a:xfrm>
            <a:off x="1142838" y="2326455"/>
            <a:ext cx="9804795" cy="2848664"/>
          </a:xfrm>
          <a:prstGeom prst="rect">
            <a:avLst/>
          </a:prstGeom>
          <a:noFill/>
          <a:ln/>
        </p:spPr>
        <p:txBody>
          <a:bodyPr wrap="square" rtlCol="0" anchor="ctr"/>
          <a:lstStyle/>
          <a:p>
            <a:r>
              <a:rPr lang="en-US" sz="2000" b="1" i="1" dirty="0">
                <a:solidFill>
                  <a:srgbClr val="CCDDEE"/>
                </a:solidFill>
                <a:latin typeface="Calibri" pitchFamily="34" charset="0"/>
                <a:cs typeface="Calibri" pitchFamily="34" charset="-120"/>
              </a:rPr>
              <a:t>Context: Student count using Static Data Member </a:t>
            </a:r>
          </a:p>
          <a:p>
            <a:endParaRPr lang="en-US" sz="2000" i="1" dirty="0">
              <a:solidFill>
                <a:srgbClr val="CCDDEE"/>
              </a:solidFill>
              <a:latin typeface="Calibri" pitchFamily="34" charset="0"/>
              <a:cs typeface="Calibri" pitchFamily="34" charset="-120"/>
            </a:endParaRPr>
          </a:p>
          <a:p>
            <a:r>
              <a:rPr lang="en-US" sz="2000" b="1" i="1" dirty="0">
                <a:solidFill>
                  <a:srgbClr val="CCDDEE"/>
                </a:solidFill>
                <a:latin typeface="Calibri" pitchFamily="34" charset="0"/>
                <a:cs typeface="Calibri" pitchFamily="34" charset="-120"/>
              </a:rPr>
              <a:t>Problem Statement</a:t>
            </a:r>
          </a:p>
          <a:p>
            <a:r>
              <a:rPr lang="en-US" sz="2000" i="1" dirty="0">
                <a:solidFill>
                  <a:srgbClr val="CCDDEE"/>
                </a:solidFill>
                <a:latin typeface="Calibri" pitchFamily="34" charset="0"/>
                <a:cs typeface="Calibri" pitchFamily="34" charset="-120"/>
              </a:rPr>
              <a:t> 	1.  Needed a Program that will output the total number of students(object) recorded</a:t>
            </a:r>
          </a:p>
          <a:p>
            <a:r>
              <a:rPr lang="en-US" sz="2000" i="1" dirty="0">
                <a:solidFill>
                  <a:srgbClr val="CCDDEE"/>
                </a:solidFill>
                <a:latin typeface="Calibri" pitchFamily="34" charset="0"/>
                <a:cs typeface="Calibri" pitchFamily="34" charset="-120"/>
              </a:rPr>
              <a:t>	2. Also demonstrate the difference with normal Data Member  </a:t>
            </a:r>
          </a:p>
          <a:p>
            <a:endParaRPr lang="en-US" sz="1867" i="1" dirty="0">
              <a:solidFill>
                <a:srgbClr val="CCDDEE"/>
              </a:solidFill>
              <a:latin typeface="Calibri" pitchFamily="34" charset="0"/>
              <a:cs typeface="Calibri" pitchFamily="34" charset="-120"/>
            </a:endParaRPr>
          </a:p>
        </p:txBody>
      </p:sp>
      <p:sp>
        <p:nvSpPr>
          <p:cNvPr id="11" name="Shape 9">
            <a:extLst>
              <a:ext uri="{FF2B5EF4-FFF2-40B4-BE49-F238E27FC236}">
                <a16:creationId xmlns:a16="http://schemas.microsoft.com/office/drawing/2014/main" id="{D82DE0EC-BF12-08F0-B8CA-F6C317C0AAB9}"/>
              </a:ext>
            </a:extLst>
          </p:cNvPr>
          <p:cNvSpPr/>
          <p:nvPr/>
        </p:nvSpPr>
        <p:spPr>
          <a:xfrm>
            <a:off x="0" y="6461760"/>
            <a:ext cx="12192000" cy="396240"/>
          </a:xfrm>
          <a:prstGeom prst="rect">
            <a:avLst/>
          </a:prstGeom>
          <a:solidFill>
            <a:schemeClr val="tx2">
              <a:lumMod val="75000"/>
            </a:schemeClr>
          </a:solidFill>
          <a:ln/>
        </p:spPr>
      </p:sp>
    </p:spTree>
    <p:extLst>
      <p:ext uri="{BB962C8B-B14F-4D97-AF65-F5344CB8AC3E}">
        <p14:creationId xmlns:p14="http://schemas.microsoft.com/office/powerpoint/2010/main" val="296366323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1951E01-7D5E-FB04-451A-C8A3056CD84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115DE00-F8D3-2E51-217F-06FD5A7CBEAF}"/>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4</a:t>
            </a:r>
            <a:endParaRPr lang="en-US" sz="1400" dirty="0"/>
          </a:p>
        </p:txBody>
      </p:sp>
      <p:sp>
        <p:nvSpPr>
          <p:cNvPr id="3" name="Text 1">
            <a:extLst>
              <a:ext uri="{FF2B5EF4-FFF2-40B4-BE49-F238E27FC236}">
                <a16:creationId xmlns:a16="http://schemas.microsoft.com/office/drawing/2014/main" id="{37BC6A02-1D1B-7528-A77B-00BD08E8CB68}"/>
              </a:ext>
            </a:extLst>
          </p:cNvPr>
          <p:cNvSpPr/>
          <p:nvPr/>
        </p:nvSpPr>
        <p:spPr>
          <a:xfrm>
            <a:off x="548640" y="731520"/>
            <a:ext cx="11091672" cy="731520"/>
          </a:xfrm>
          <a:prstGeom prst="rect">
            <a:avLst/>
          </a:prstGeom>
          <a:noFill/>
          <a:ln/>
        </p:spPr>
        <p:txBody>
          <a:bodyPr wrap="square" rtlCol="0" anchor="ctr"/>
          <a:lstStyle/>
          <a:p>
            <a:pPr marL="0" indent="0">
              <a:buNone/>
            </a:pPr>
            <a:r>
              <a:rPr lang="en-US" sz="2800" b="1" dirty="0">
                <a:solidFill>
                  <a:srgbClr val="000000"/>
                </a:solidFill>
                <a:latin typeface="Helvetica" pitchFamily="34" charset="0"/>
                <a:ea typeface="Helvetica" pitchFamily="34" charset="-122"/>
                <a:cs typeface="Helvetica" pitchFamily="34" charset="-120"/>
              </a:rPr>
              <a:t>Access Specifiers &amp; this Pointer</a:t>
            </a:r>
            <a:endParaRPr lang="en-US" sz="2800" dirty="0"/>
          </a:p>
        </p:txBody>
      </p:sp>
      <p:sp>
        <p:nvSpPr>
          <p:cNvPr id="4" name="Text 2">
            <a:extLst>
              <a:ext uri="{FF2B5EF4-FFF2-40B4-BE49-F238E27FC236}">
                <a16:creationId xmlns:a16="http://schemas.microsoft.com/office/drawing/2014/main" id="{763038DB-5545-9B80-DFAF-712B16784F50}"/>
              </a:ext>
            </a:extLst>
          </p:cNvPr>
          <p:cNvSpPr/>
          <p:nvPr/>
        </p:nvSpPr>
        <p:spPr>
          <a:xfrm>
            <a:off x="548640" y="1645920"/>
            <a:ext cx="11091672" cy="4663440"/>
          </a:xfrm>
          <a:prstGeom prst="rect">
            <a:avLst/>
          </a:prstGeom>
          <a:noFill/>
          <a:ln/>
        </p:spPr>
        <p:txBody>
          <a:bodyPr wrap="square" rtlCol="0" anchor="t"/>
          <a:lstStyle/>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private — accessible only inside the class's own member functions</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public — the class's external interface, accessible from anywhere</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protected — like private, but also accessible to derived classes</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this — hidden pointer to the current object; resolves name clashes, enables chaining</a:t>
            </a:r>
            <a:endParaRPr lang="en-US" sz="1700" dirty="0"/>
          </a:p>
        </p:txBody>
      </p:sp>
      <p:sp>
        <p:nvSpPr>
          <p:cNvPr id="5" name="Text 3">
            <a:extLst>
              <a:ext uri="{FF2B5EF4-FFF2-40B4-BE49-F238E27FC236}">
                <a16:creationId xmlns:a16="http://schemas.microsoft.com/office/drawing/2014/main" id="{6327E8E8-53F2-D3FE-DD3B-138D948CC33D}"/>
              </a:ext>
            </a:extLst>
          </p:cNvPr>
          <p:cNvSpPr/>
          <p:nvPr/>
        </p:nvSpPr>
        <p:spPr>
          <a:xfrm>
            <a:off x="548640" y="5669280"/>
            <a:ext cx="11091672" cy="822960"/>
          </a:xfrm>
          <a:prstGeom prst="rect">
            <a:avLst/>
          </a:prstGeom>
          <a:solidFill>
            <a:srgbClr val="F2F2F2"/>
          </a:solidFill>
          <a:ln/>
        </p:spPr>
        <p:txBody>
          <a:bodyPr wrap="square" lIns="127000" tIns="127000" rIns="127000" bIns="127000" rtlCol="0" anchor="t"/>
          <a:lstStyle/>
          <a:p>
            <a:pPr marL="0" indent="0">
              <a:buNone/>
            </a:pPr>
            <a:r>
              <a:rPr lang="en-US" sz="1350" b="1" i="1" dirty="0">
                <a:solidFill>
                  <a:srgbClr val="595959"/>
                </a:solidFill>
                <a:latin typeface="Helvetica" pitchFamily="34" charset="0"/>
                <a:ea typeface="Helvetica" pitchFamily="34" charset="-122"/>
                <a:cs typeface="Helvetica" pitchFamily="34" charset="-120"/>
              </a:rPr>
              <a:t>Real-life analogy:  </a:t>
            </a:r>
            <a:r>
              <a:rPr lang="en-US" sz="1350" i="1" dirty="0">
                <a:solidFill>
                  <a:srgbClr val="595959"/>
                </a:solidFill>
                <a:latin typeface="Helvetica" pitchFamily="34" charset="0"/>
                <a:ea typeface="Helvetica" pitchFamily="34" charset="-122"/>
                <a:cs typeface="Helvetica" pitchFamily="34" charset="-120"/>
              </a:rPr>
              <a:t>private is the room safe, protected is a connecting door for family (derived classes), public is the front door.</a:t>
            </a:r>
            <a:endParaRPr lang="en-US" sz="1350" dirty="0"/>
          </a:p>
        </p:txBody>
      </p:sp>
    </p:spTree>
    <p:extLst>
      <p:ext uri="{BB962C8B-B14F-4D97-AF65-F5344CB8AC3E}">
        <p14:creationId xmlns:p14="http://schemas.microsoft.com/office/powerpoint/2010/main" val="284598399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4</a:t>
            </a:r>
            <a:endParaRPr lang="en-US" sz="1400" dirty="0"/>
          </a:p>
        </p:txBody>
      </p:sp>
      <p:sp>
        <p:nvSpPr>
          <p:cNvPr id="3" name="Text 1"/>
          <p:cNvSpPr/>
          <p:nvPr/>
        </p:nvSpPr>
        <p:spPr>
          <a:xfrm>
            <a:off x="548640" y="731520"/>
            <a:ext cx="11091672" cy="731520"/>
          </a:xfrm>
          <a:prstGeom prst="rect">
            <a:avLst/>
          </a:prstGeom>
          <a:noFill/>
          <a:ln/>
        </p:spPr>
        <p:txBody>
          <a:bodyPr wrap="square" rtlCol="0" anchor="ctr"/>
          <a:lstStyle/>
          <a:p>
            <a:pPr marL="0" indent="0">
              <a:buNone/>
            </a:pPr>
            <a:r>
              <a:rPr lang="en-US" sz="2800" b="1" dirty="0">
                <a:solidFill>
                  <a:srgbClr val="000000"/>
                </a:solidFill>
                <a:latin typeface="Helvetica" pitchFamily="34" charset="0"/>
                <a:ea typeface="Helvetica" pitchFamily="34" charset="-122"/>
                <a:cs typeface="Helvetica" pitchFamily="34" charset="-120"/>
              </a:rPr>
              <a:t>Constructors &amp; Destructors</a:t>
            </a:r>
            <a:endParaRPr lang="en-US" sz="2800" dirty="0"/>
          </a:p>
        </p:txBody>
      </p:sp>
      <p:sp>
        <p:nvSpPr>
          <p:cNvPr id="4" name="Text 2"/>
          <p:cNvSpPr/>
          <p:nvPr/>
        </p:nvSpPr>
        <p:spPr>
          <a:xfrm>
            <a:off x="548640" y="1645920"/>
            <a:ext cx="11091672" cy="4663440"/>
          </a:xfrm>
          <a:prstGeom prst="rect">
            <a:avLst/>
          </a:prstGeom>
          <a:noFill/>
          <a:ln/>
        </p:spPr>
        <p:txBody>
          <a:bodyPr wrap="square" rtlCol="0" anchor="t"/>
          <a:lstStyle/>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Constructor — same name as class, no return type, runs automatically on creation</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Destructor (~ClassName) — runs automatically on destruction; releases resources</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Default constructor — takes no arguments</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Parameterized constructor — takes arguments to set initial state</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Copy constructor — ClassName(const ClassName&amp;); deep copy needed if class holds pointers</a:t>
            </a:r>
            <a:endParaRPr lang="en-US" sz="17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4 — PROGRAM 4.3</a:t>
            </a:r>
            <a:endParaRPr lang="en-US" sz="1400" dirty="0"/>
          </a:p>
        </p:txBody>
      </p:sp>
      <p:sp>
        <p:nvSpPr>
          <p:cNvPr id="3" name="Text 1"/>
          <p:cNvSpPr/>
          <p:nvPr/>
        </p:nvSpPr>
        <p:spPr>
          <a:xfrm>
            <a:off x="548640" y="731520"/>
            <a:ext cx="11091672" cy="54864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Copy Constructor — Why Deep Copy Matters</a:t>
            </a:r>
            <a:endParaRPr lang="en-US" sz="2200" dirty="0"/>
          </a:p>
        </p:txBody>
      </p:sp>
      <p:sp>
        <p:nvSpPr>
          <p:cNvPr id="4" name="Text 2"/>
          <p:cNvSpPr/>
          <p:nvPr/>
        </p:nvSpPr>
        <p:spPr>
          <a:xfrm>
            <a:off x="548640" y="1417320"/>
            <a:ext cx="11091672" cy="5029200"/>
          </a:xfrm>
          <a:prstGeom prst="rect">
            <a:avLst/>
          </a:prstGeom>
          <a:solidFill>
            <a:srgbClr val="F2F2F2"/>
          </a:solidFill>
          <a:ln w="9525">
            <a:solidFill>
              <a:srgbClr val="000000"/>
            </a:solidFill>
          </a:ln>
        </p:spPr>
        <p:txBody>
          <a:bodyPr wrap="square" lIns="152400" tIns="152400" rIns="152400" bIns="152400" rtlCol="0" anchor="t">
            <a:spAutoFit/>
          </a:bodyPr>
          <a:lstStyle/>
          <a:p>
            <a:pPr marL="0" indent="0">
              <a:buNone/>
            </a:pPr>
            <a:r>
              <a:rPr lang="en-US" sz="1250" dirty="0">
                <a:solidFill>
                  <a:srgbClr val="000000"/>
                </a:solidFill>
                <a:latin typeface="Courier New" pitchFamily="34" charset="0"/>
                <a:ea typeface="Courier New" pitchFamily="34" charset="-122"/>
                <a:cs typeface="Courier New" pitchFamily="34" charset="-120"/>
              </a:rPr>
              <a:t>class Name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char *text;</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public:</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Name(const char *s){ text=new char[strlen(s)+1]; strcpy(text,s);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Name(const Name &amp;src) {              // DEEP copy</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text = new char[strlen(src.text)+1];  // NEW memory</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strcpy(text, src.text);</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~Name() { delete[] text;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Without a hand-written copy ctor, two objects would share</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ONE pointer -&gt; delete[] runs twice -&gt; undefined behaviour</a:t>
            </a:r>
            <a:endParaRPr lang="en-US" sz="12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4</a:t>
            </a:r>
            <a:endParaRPr lang="en-US" sz="1400" dirty="0"/>
          </a:p>
        </p:txBody>
      </p:sp>
      <p:sp>
        <p:nvSpPr>
          <p:cNvPr id="3" name="Text 1"/>
          <p:cNvSpPr/>
          <p:nvPr/>
        </p:nvSpPr>
        <p:spPr>
          <a:xfrm>
            <a:off x="548640" y="731520"/>
            <a:ext cx="11091672" cy="731520"/>
          </a:xfrm>
          <a:prstGeom prst="rect">
            <a:avLst/>
          </a:prstGeom>
          <a:noFill/>
          <a:ln/>
        </p:spPr>
        <p:txBody>
          <a:bodyPr wrap="square" rtlCol="0" anchor="ctr"/>
          <a:lstStyle/>
          <a:p>
            <a:pPr marL="0" indent="0">
              <a:buNone/>
            </a:pPr>
            <a:r>
              <a:rPr lang="en-US" sz="2800" b="1" dirty="0">
                <a:solidFill>
                  <a:srgbClr val="000000"/>
                </a:solidFill>
                <a:latin typeface="Helvetica" pitchFamily="34" charset="0"/>
                <a:ea typeface="Helvetica" pitchFamily="34" charset="-122"/>
                <a:cs typeface="Helvetica" pitchFamily="34" charset="-120"/>
              </a:rPr>
              <a:t>Static Members &amp; Friend Functions</a:t>
            </a:r>
            <a:endParaRPr lang="en-US" sz="2800" dirty="0"/>
          </a:p>
        </p:txBody>
      </p:sp>
      <p:sp>
        <p:nvSpPr>
          <p:cNvPr id="4" name="Text 2"/>
          <p:cNvSpPr/>
          <p:nvPr/>
        </p:nvSpPr>
        <p:spPr>
          <a:xfrm>
            <a:off x="548640" y="1645920"/>
            <a:ext cx="11091672" cy="4663440"/>
          </a:xfrm>
          <a:prstGeom prst="rect">
            <a:avLst/>
          </a:prstGeom>
          <a:noFill/>
          <a:ln/>
        </p:spPr>
        <p:txBody>
          <a:bodyPr wrap="square" rtlCol="0" anchor="t"/>
          <a:lstStyle/>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static data member — ONE copy shared by every object of the class</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static member function — called via ClassName::func(); no 'this' pointer</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friend function — NOT a member, but explicitly granted access to private data</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friend class — every member function of that class gets the same access</a:t>
            </a:r>
            <a:endParaRPr lang="en-US" sz="1700" dirty="0"/>
          </a:p>
        </p:txBody>
      </p:sp>
      <p:sp>
        <p:nvSpPr>
          <p:cNvPr id="5" name="Text 3"/>
          <p:cNvSpPr/>
          <p:nvPr/>
        </p:nvSpPr>
        <p:spPr>
          <a:xfrm>
            <a:off x="548640" y="5669280"/>
            <a:ext cx="11091672" cy="822960"/>
          </a:xfrm>
          <a:prstGeom prst="rect">
            <a:avLst/>
          </a:prstGeom>
          <a:solidFill>
            <a:srgbClr val="F2F2F2"/>
          </a:solidFill>
          <a:ln/>
        </p:spPr>
        <p:txBody>
          <a:bodyPr wrap="square" lIns="127000" tIns="127000" rIns="127000" bIns="127000" rtlCol="0" anchor="t"/>
          <a:lstStyle/>
          <a:p>
            <a:pPr marL="0" indent="0">
              <a:buNone/>
            </a:pPr>
            <a:r>
              <a:rPr lang="en-US" sz="1350" b="1" i="1" dirty="0">
                <a:solidFill>
                  <a:srgbClr val="595959"/>
                </a:solidFill>
                <a:latin typeface="Helvetica" pitchFamily="34" charset="0"/>
                <a:ea typeface="Helvetica" pitchFamily="34" charset="-122"/>
                <a:cs typeface="Helvetica" pitchFamily="34" charset="-120"/>
              </a:rPr>
              <a:t>Real-life analogy:  </a:t>
            </a:r>
            <a:r>
              <a:rPr lang="en-US" sz="1350" i="1" dirty="0">
                <a:solidFill>
                  <a:srgbClr val="595959"/>
                </a:solidFill>
                <a:latin typeface="Helvetica" pitchFamily="34" charset="0"/>
                <a:ea typeface="Helvetica" pitchFamily="34" charset="-122"/>
                <a:cs typeface="Helvetica" pitchFamily="34" charset="-120"/>
              </a:rPr>
              <a:t>A friend function is like giving your accountant a key to your private filing cabinet — trusted by name, not automatic.</a:t>
            </a:r>
            <a:endParaRPr lang="en-US" sz="13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4 — REVIEW</a:t>
            </a:r>
            <a:endParaRPr lang="en-US" sz="1400" dirty="0"/>
          </a:p>
        </p:txBody>
      </p:sp>
      <p:sp>
        <p:nvSpPr>
          <p:cNvPr id="3" name="Text 1"/>
          <p:cNvSpPr/>
          <p:nvPr/>
        </p:nvSpPr>
        <p:spPr>
          <a:xfrm>
            <a:off x="548640" y="731520"/>
            <a:ext cx="11091672" cy="640080"/>
          </a:xfrm>
          <a:prstGeom prst="rect">
            <a:avLst/>
          </a:prstGeom>
          <a:noFill/>
          <a:ln/>
        </p:spPr>
        <p:txBody>
          <a:bodyPr wrap="square" rtlCol="0" anchor="ctr"/>
          <a:lstStyle/>
          <a:p>
            <a:pPr marL="0" indent="0">
              <a:buNone/>
            </a:pPr>
            <a:r>
              <a:rPr lang="en-US" sz="2600" b="1" dirty="0">
                <a:solidFill>
                  <a:srgbClr val="000000"/>
                </a:solidFill>
                <a:latin typeface="Helvetica" pitchFamily="34" charset="0"/>
                <a:ea typeface="Helvetica" pitchFamily="34" charset="-122"/>
                <a:cs typeface="Helvetica" pitchFamily="34" charset="-120"/>
              </a:rPr>
              <a:t>Practice &amp; Exam-style Questions</a:t>
            </a:r>
            <a:endParaRPr lang="en-US" sz="2600" dirty="0"/>
          </a:p>
        </p:txBody>
      </p:sp>
      <p:sp>
        <p:nvSpPr>
          <p:cNvPr id="4" name="Text 2"/>
          <p:cNvSpPr/>
          <p:nvPr/>
        </p:nvSpPr>
        <p:spPr>
          <a:xfrm>
            <a:off x="548640" y="1554480"/>
            <a:ext cx="11091672" cy="4846320"/>
          </a:xfrm>
          <a:prstGeom prst="rect">
            <a:avLst/>
          </a:prstGeom>
          <a:noFill/>
          <a:ln/>
        </p:spPr>
        <p:txBody>
          <a:bodyPr wrap="square" rtlCol="0" anchor="t"/>
          <a:lstStyle/>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What is a constructor? Explain its types with examples.</a:t>
            </a:r>
            <a:endParaRPr lang="en-US" sz="1550" dirty="0"/>
          </a:p>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What is a copy constructor? Why is it needed?</a:t>
            </a:r>
            <a:endParaRPr lang="en-US" sz="1550" dirty="0"/>
          </a:p>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Explain static data members and static functions with an example.</a:t>
            </a:r>
            <a:endParaRPr lang="en-US" sz="1550" dirty="0"/>
          </a:p>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What is a friend function? Write a program using one.</a:t>
            </a:r>
            <a:endParaRPr lang="en-US" sz="15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48640" y="2103120"/>
            <a:ext cx="11091672" cy="548640"/>
          </a:xfrm>
          <a:prstGeom prst="rect">
            <a:avLst/>
          </a:prstGeom>
          <a:noFill/>
          <a:ln/>
        </p:spPr>
        <p:txBody>
          <a:bodyPr wrap="square" rtlCol="0" anchor="ctr"/>
          <a:lstStyle/>
          <a:p>
            <a:pPr marL="0" indent="0">
              <a:buNone/>
            </a:pPr>
            <a:r>
              <a:rPr lang="en-US" sz="1800" b="1" kern="0" spc="200" dirty="0">
                <a:solidFill>
                  <a:srgbClr val="BFBFBF"/>
                </a:solidFill>
                <a:latin typeface="Helvetica" pitchFamily="34" charset="0"/>
                <a:ea typeface="Helvetica" pitchFamily="34" charset="-122"/>
                <a:cs typeface="Helvetica" pitchFamily="34" charset="-120"/>
              </a:rPr>
              <a:t>CHAPTER 5</a:t>
            </a:r>
            <a:endParaRPr lang="en-US" sz="1800" dirty="0"/>
          </a:p>
        </p:txBody>
      </p:sp>
      <p:sp>
        <p:nvSpPr>
          <p:cNvPr id="3" name="Text 1"/>
          <p:cNvSpPr/>
          <p:nvPr/>
        </p:nvSpPr>
        <p:spPr>
          <a:xfrm>
            <a:off x="548640" y="2651760"/>
            <a:ext cx="11091672" cy="1280160"/>
          </a:xfrm>
          <a:prstGeom prst="rect">
            <a:avLst/>
          </a:prstGeom>
          <a:noFill/>
          <a:ln/>
        </p:spPr>
        <p:txBody>
          <a:bodyPr wrap="square" rtlCol="0" anchor="ctr"/>
          <a:lstStyle/>
          <a:p>
            <a:pPr marL="0" indent="0">
              <a:buNone/>
            </a:pPr>
            <a:r>
              <a:rPr lang="en-US" sz="3600" b="1" dirty="0">
                <a:solidFill>
                  <a:srgbClr val="FFFFFF"/>
                </a:solidFill>
                <a:latin typeface="Helvetica" pitchFamily="34" charset="0"/>
                <a:ea typeface="Helvetica" pitchFamily="34" charset="-122"/>
                <a:cs typeface="Helvetica" pitchFamily="34" charset="-120"/>
              </a:rPr>
              <a:t>Operator Overloading</a:t>
            </a:r>
            <a:endParaRPr lang="en-US" sz="3600" dirty="0"/>
          </a:p>
        </p:txBody>
      </p:sp>
      <p:sp>
        <p:nvSpPr>
          <p:cNvPr id="4" name="Text 2"/>
          <p:cNvSpPr/>
          <p:nvPr/>
        </p:nvSpPr>
        <p:spPr>
          <a:xfrm>
            <a:off x="548640" y="4023360"/>
            <a:ext cx="11091672" cy="2011680"/>
          </a:xfrm>
          <a:prstGeom prst="rect">
            <a:avLst/>
          </a:prstGeom>
          <a:noFill/>
          <a:ln/>
        </p:spPr>
        <p:txBody>
          <a:bodyPr wrap="square" rtlCol="0" anchor="t"/>
          <a:lstStyle/>
          <a:p>
            <a:pPr marL="0" indent="0">
              <a:buNone/>
            </a:pPr>
            <a:r>
              <a:rPr lang="en-US" sz="1500" dirty="0">
                <a:solidFill>
                  <a:srgbClr val="D9D9D9"/>
                </a:solidFill>
                <a:latin typeface="Helvetica" pitchFamily="34" charset="0"/>
                <a:ea typeface="Helvetica" pitchFamily="34" charset="-122"/>
                <a:cs typeface="Helvetica" pitchFamily="34" charset="-120"/>
              </a:rPr>
              <a:t>Rules &amp; restrictions · Unary/binary operators · Friend operators · Type conversion</a:t>
            </a:r>
            <a:endParaRPr lang="en-US" sz="15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5</a:t>
            </a:r>
            <a:endParaRPr lang="en-US" sz="1400" dirty="0"/>
          </a:p>
        </p:txBody>
      </p:sp>
      <p:sp>
        <p:nvSpPr>
          <p:cNvPr id="3" name="Text 1"/>
          <p:cNvSpPr/>
          <p:nvPr/>
        </p:nvSpPr>
        <p:spPr>
          <a:xfrm>
            <a:off x="548640" y="731520"/>
            <a:ext cx="11091672" cy="731520"/>
          </a:xfrm>
          <a:prstGeom prst="rect">
            <a:avLst/>
          </a:prstGeom>
          <a:noFill/>
          <a:ln/>
        </p:spPr>
        <p:txBody>
          <a:bodyPr wrap="square" rtlCol="0" anchor="ctr"/>
          <a:lstStyle/>
          <a:p>
            <a:pPr marL="0" indent="0">
              <a:buNone/>
            </a:pPr>
            <a:r>
              <a:rPr lang="en-US" sz="2800" b="1" dirty="0">
                <a:solidFill>
                  <a:srgbClr val="000000"/>
                </a:solidFill>
                <a:latin typeface="Helvetica" pitchFamily="34" charset="0"/>
                <a:ea typeface="Helvetica" pitchFamily="34" charset="-122"/>
                <a:cs typeface="Helvetica" pitchFamily="34" charset="-120"/>
              </a:rPr>
              <a:t>Rules &amp; Restrictions</a:t>
            </a:r>
            <a:endParaRPr lang="en-US" sz="2800" dirty="0"/>
          </a:p>
        </p:txBody>
      </p:sp>
      <p:sp>
        <p:nvSpPr>
          <p:cNvPr id="4" name="Text 2"/>
          <p:cNvSpPr/>
          <p:nvPr/>
        </p:nvSpPr>
        <p:spPr>
          <a:xfrm>
            <a:off x="548640" y="1645920"/>
            <a:ext cx="11091672" cy="4663440"/>
          </a:xfrm>
          <a:prstGeom prst="rect">
            <a:avLst/>
          </a:prstGeom>
          <a:noFill/>
          <a:ln/>
        </p:spPr>
        <p:txBody>
          <a:bodyPr wrap="square" rtlCol="0" anchor="t"/>
          <a:lstStyle/>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operator keyword redefines what +, -, ==, [], &lt;&lt; mean for your class</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At least one operand must be a user-defined type</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Cannot overload: :: . .* ?: sizeof — and cannot change precedence/arity</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Member function: left operand = this. Friend function: both operands explicit</a:t>
            </a:r>
            <a:endParaRPr lang="en-US" sz="17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5 — PROGRAM 5.1</a:t>
            </a:r>
            <a:endParaRPr lang="en-US" sz="1400" dirty="0"/>
          </a:p>
        </p:txBody>
      </p:sp>
      <p:sp>
        <p:nvSpPr>
          <p:cNvPr id="3" name="Text 1"/>
          <p:cNvSpPr/>
          <p:nvPr/>
        </p:nvSpPr>
        <p:spPr>
          <a:xfrm>
            <a:off x="548640" y="731520"/>
            <a:ext cx="11091672" cy="54864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Overloading + and == (Complex numbers)</a:t>
            </a:r>
            <a:endParaRPr lang="en-US" sz="2200" dirty="0"/>
          </a:p>
        </p:txBody>
      </p:sp>
      <p:sp>
        <p:nvSpPr>
          <p:cNvPr id="4" name="Text 2"/>
          <p:cNvSpPr/>
          <p:nvPr/>
        </p:nvSpPr>
        <p:spPr>
          <a:xfrm>
            <a:off x="548640" y="1417320"/>
            <a:ext cx="11091672" cy="5029200"/>
          </a:xfrm>
          <a:prstGeom prst="rect">
            <a:avLst/>
          </a:prstGeom>
          <a:solidFill>
            <a:srgbClr val="F2F2F2"/>
          </a:solidFill>
          <a:ln w="9525">
            <a:solidFill>
              <a:srgbClr val="000000"/>
            </a:solidFill>
          </a:ln>
        </p:spPr>
        <p:txBody>
          <a:bodyPr wrap="square" lIns="152400" tIns="152400" rIns="152400" bIns="152400" rtlCol="0" anchor="t">
            <a:spAutoFit/>
          </a:bodyPr>
          <a:lstStyle/>
          <a:p>
            <a:pPr marL="0" indent="0">
              <a:buNone/>
            </a:pPr>
            <a:r>
              <a:rPr lang="en-US" sz="1250" dirty="0">
                <a:solidFill>
                  <a:srgbClr val="000000"/>
                </a:solidFill>
                <a:latin typeface="Courier New" pitchFamily="34" charset="0"/>
                <a:ea typeface="Courier New" pitchFamily="34" charset="-122"/>
                <a:cs typeface="Courier New" pitchFamily="34" charset="-120"/>
              </a:rPr>
              <a:t>class Complex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double real, imag;</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public:</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Complex(double r=0,double i=0){real=r;imag=i;}</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Complex operator+(const Complex &amp;c)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return Complex(real+c.real, imag+c.imag);</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bool operator==(const Complex &amp;c)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return real==c.real &amp;&amp; imag==c.imag;</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Complex c = a + b;  -&gt;  compiler rewrites as  a.operator+(b)</a:t>
            </a:r>
            <a:endParaRPr lang="en-US" sz="12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5</a:t>
            </a:r>
            <a:endParaRPr lang="en-US" sz="1400" dirty="0"/>
          </a:p>
        </p:txBody>
      </p:sp>
      <p:sp>
        <p:nvSpPr>
          <p:cNvPr id="3" name="Text 1"/>
          <p:cNvSpPr/>
          <p:nvPr/>
        </p:nvSpPr>
        <p:spPr>
          <a:xfrm>
            <a:off x="548640" y="731520"/>
            <a:ext cx="11091672" cy="731520"/>
          </a:xfrm>
          <a:prstGeom prst="rect">
            <a:avLst/>
          </a:prstGeom>
          <a:noFill/>
          <a:ln/>
        </p:spPr>
        <p:txBody>
          <a:bodyPr wrap="square" rtlCol="0" anchor="ctr"/>
          <a:lstStyle/>
          <a:p>
            <a:pPr marL="0" indent="0">
              <a:buNone/>
            </a:pPr>
            <a:r>
              <a:rPr lang="en-US" sz="2800" b="1" dirty="0">
                <a:solidFill>
                  <a:srgbClr val="000000"/>
                </a:solidFill>
                <a:latin typeface="Helvetica" pitchFamily="34" charset="0"/>
                <a:ea typeface="Helvetica" pitchFamily="34" charset="-122"/>
                <a:cs typeface="Helvetica" pitchFamily="34" charset="-120"/>
              </a:rPr>
              <a:t>Friend Operators &amp; Data Conversion</a:t>
            </a:r>
            <a:endParaRPr lang="en-US" sz="2800" dirty="0"/>
          </a:p>
        </p:txBody>
      </p:sp>
      <p:sp>
        <p:nvSpPr>
          <p:cNvPr id="4" name="Text 2"/>
          <p:cNvSpPr/>
          <p:nvPr/>
        </p:nvSpPr>
        <p:spPr>
          <a:xfrm>
            <a:off x="548640" y="1645920"/>
            <a:ext cx="11091672" cy="4663440"/>
          </a:xfrm>
          <a:prstGeom prst="rect">
            <a:avLst/>
          </a:prstGeom>
          <a:noFill/>
          <a:ln/>
        </p:spPr>
        <p:txBody>
          <a:bodyPr wrap="square" rtlCol="0" anchor="t"/>
          <a:lstStyle/>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10 + complexObj needs a FRIEND operator+ (left operand isn't the class type)</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operator&lt;&lt; as a friend enables cout &lt;&lt; myObject</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Basic -&gt; Object: a single-argument constructor acts as implicit conversion</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Object -&gt; Basic: operator TargetType() const { ... } (no return type, no params)</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Object -&gt; different Object: a constructor in the destination class OR a conversion operator in the source class</a:t>
            </a:r>
            <a:endParaRPr lang="en-US" sz="17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5 — REVIEW</a:t>
            </a:r>
            <a:endParaRPr lang="en-US" sz="1400" dirty="0"/>
          </a:p>
        </p:txBody>
      </p:sp>
      <p:sp>
        <p:nvSpPr>
          <p:cNvPr id="3" name="Text 1"/>
          <p:cNvSpPr/>
          <p:nvPr/>
        </p:nvSpPr>
        <p:spPr>
          <a:xfrm>
            <a:off x="548640" y="731520"/>
            <a:ext cx="11091672" cy="640080"/>
          </a:xfrm>
          <a:prstGeom prst="rect">
            <a:avLst/>
          </a:prstGeom>
          <a:noFill/>
          <a:ln/>
        </p:spPr>
        <p:txBody>
          <a:bodyPr wrap="square" rtlCol="0" anchor="ctr"/>
          <a:lstStyle/>
          <a:p>
            <a:pPr marL="0" indent="0">
              <a:buNone/>
            </a:pPr>
            <a:r>
              <a:rPr lang="en-US" sz="2600" b="1" dirty="0">
                <a:solidFill>
                  <a:srgbClr val="000000"/>
                </a:solidFill>
                <a:latin typeface="Helvetica" pitchFamily="34" charset="0"/>
                <a:ea typeface="Helvetica" pitchFamily="34" charset="-122"/>
                <a:cs typeface="Helvetica" pitchFamily="34" charset="-120"/>
              </a:rPr>
              <a:t>Practice &amp; Exam-style Questions</a:t>
            </a:r>
            <a:endParaRPr lang="en-US" sz="2600" dirty="0"/>
          </a:p>
        </p:txBody>
      </p:sp>
      <p:sp>
        <p:nvSpPr>
          <p:cNvPr id="4" name="Text 2"/>
          <p:cNvSpPr/>
          <p:nvPr/>
        </p:nvSpPr>
        <p:spPr>
          <a:xfrm>
            <a:off x="548640" y="1554480"/>
            <a:ext cx="11091672" cy="4846320"/>
          </a:xfrm>
          <a:prstGeom prst="rect">
            <a:avLst/>
          </a:prstGeom>
          <a:noFill/>
          <a:ln/>
        </p:spPr>
        <p:txBody>
          <a:bodyPr wrap="square" rtlCol="0" anchor="t"/>
          <a:lstStyle/>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State the general rules for overloading operators.</a:t>
            </a:r>
            <a:endParaRPr lang="en-US" sz="1550" dirty="0"/>
          </a:p>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Overload + to add two complex numbers (member function).</a:t>
            </a:r>
            <a:endParaRPr lang="en-US" sz="1550" dirty="0"/>
          </a:p>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Explain unary vs binary operator overloading with examples.</a:t>
            </a:r>
            <a:endParaRPr lang="en-US" sz="1550" dirty="0"/>
          </a:p>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Explain type conversion between basic types and class objects.</a:t>
            </a:r>
            <a:endParaRPr lang="en-US" sz="15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31">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48640" y="2103120"/>
            <a:ext cx="11091672" cy="548640"/>
          </a:xfrm>
          <a:prstGeom prst="rect">
            <a:avLst/>
          </a:prstGeom>
          <a:noFill/>
          <a:ln/>
        </p:spPr>
        <p:txBody>
          <a:bodyPr wrap="square" rtlCol="0" anchor="ctr"/>
          <a:lstStyle/>
          <a:p>
            <a:pPr marL="0" indent="0">
              <a:buNone/>
            </a:pPr>
            <a:r>
              <a:rPr lang="en-US" sz="1800" b="1" kern="0" spc="200" dirty="0">
                <a:solidFill>
                  <a:srgbClr val="BFBFBF"/>
                </a:solidFill>
                <a:latin typeface="Helvetica" pitchFamily="34" charset="0"/>
                <a:ea typeface="Helvetica" pitchFamily="34" charset="-122"/>
                <a:cs typeface="Helvetica" pitchFamily="34" charset="-120"/>
              </a:rPr>
              <a:t>CHAPTER 6</a:t>
            </a:r>
            <a:endParaRPr lang="en-US" sz="1800" dirty="0"/>
          </a:p>
        </p:txBody>
      </p:sp>
      <p:sp>
        <p:nvSpPr>
          <p:cNvPr id="3" name="Text 1"/>
          <p:cNvSpPr/>
          <p:nvPr/>
        </p:nvSpPr>
        <p:spPr>
          <a:xfrm>
            <a:off x="548640" y="2651760"/>
            <a:ext cx="11091672" cy="1280160"/>
          </a:xfrm>
          <a:prstGeom prst="rect">
            <a:avLst/>
          </a:prstGeom>
          <a:noFill/>
          <a:ln/>
        </p:spPr>
        <p:txBody>
          <a:bodyPr wrap="square" rtlCol="0" anchor="ctr"/>
          <a:lstStyle/>
          <a:p>
            <a:pPr marL="0" indent="0">
              <a:buNone/>
            </a:pPr>
            <a:r>
              <a:rPr lang="en-US" sz="3600" b="1" dirty="0">
                <a:solidFill>
                  <a:srgbClr val="FFFFFF"/>
                </a:solidFill>
                <a:latin typeface="Helvetica" pitchFamily="34" charset="0"/>
                <a:ea typeface="Helvetica" pitchFamily="34" charset="-122"/>
                <a:cs typeface="Helvetica" pitchFamily="34" charset="-120"/>
              </a:rPr>
              <a:t>Virtual Functions and Polymorphism</a:t>
            </a:r>
            <a:endParaRPr lang="en-US" sz="3600" dirty="0"/>
          </a:p>
        </p:txBody>
      </p:sp>
      <p:sp>
        <p:nvSpPr>
          <p:cNvPr id="4" name="Text 2"/>
          <p:cNvSpPr/>
          <p:nvPr/>
        </p:nvSpPr>
        <p:spPr>
          <a:xfrm>
            <a:off x="548640" y="4023360"/>
            <a:ext cx="11091672" cy="2011680"/>
          </a:xfrm>
          <a:prstGeom prst="rect">
            <a:avLst/>
          </a:prstGeom>
          <a:noFill/>
          <a:ln/>
        </p:spPr>
        <p:txBody>
          <a:bodyPr wrap="square" rtlCol="0" anchor="t"/>
          <a:lstStyle/>
          <a:p>
            <a:pPr marL="0" indent="0">
              <a:buNone/>
            </a:pPr>
            <a:r>
              <a:rPr lang="en-US" sz="1500" dirty="0">
                <a:solidFill>
                  <a:srgbClr val="D9D9D9"/>
                </a:solidFill>
                <a:latin typeface="Helvetica" pitchFamily="34" charset="0"/>
                <a:ea typeface="Helvetica" pitchFamily="34" charset="-122"/>
                <a:cs typeface="Helvetica" pitchFamily="34" charset="-120"/>
              </a:rPr>
              <a:t>Early vs late binding · Virtual functions · Pure virtual &amp; abstract classes · Virtual base classes</a:t>
            </a:r>
            <a:endParaRPr lang="en-US" sz="15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6</a:t>
            </a:r>
            <a:endParaRPr lang="en-US" sz="1400" dirty="0"/>
          </a:p>
        </p:txBody>
      </p:sp>
      <p:sp>
        <p:nvSpPr>
          <p:cNvPr id="3" name="Text 1"/>
          <p:cNvSpPr/>
          <p:nvPr/>
        </p:nvSpPr>
        <p:spPr>
          <a:xfrm>
            <a:off x="548640" y="731520"/>
            <a:ext cx="11091672" cy="731520"/>
          </a:xfrm>
          <a:prstGeom prst="rect">
            <a:avLst/>
          </a:prstGeom>
          <a:noFill/>
          <a:ln/>
        </p:spPr>
        <p:txBody>
          <a:bodyPr wrap="square" rtlCol="0" anchor="ctr"/>
          <a:lstStyle/>
          <a:p>
            <a:pPr marL="0" indent="0">
              <a:buNone/>
            </a:pPr>
            <a:r>
              <a:rPr lang="en-US" sz="2800" b="1" dirty="0">
                <a:solidFill>
                  <a:srgbClr val="000000"/>
                </a:solidFill>
                <a:latin typeface="Helvetica" pitchFamily="34" charset="0"/>
                <a:ea typeface="Helvetica" pitchFamily="34" charset="-122"/>
                <a:cs typeface="Helvetica" pitchFamily="34" charset="-120"/>
              </a:rPr>
              <a:t>Early Binding vs Late Binding</a:t>
            </a:r>
            <a:endParaRPr lang="en-US" sz="2800" dirty="0"/>
          </a:p>
        </p:txBody>
      </p:sp>
      <p:sp>
        <p:nvSpPr>
          <p:cNvPr id="4" name="Text 2"/>
          <p:cNvSpPr/>
          <p:nvPr/>
        </p:nvSpPr>
        <p:spPr>
          <a:xfrm>
            <a:off x="548640" y="1645920"/>
            <a:ext cx="11091672" cy="4663440"/>
          </a:xfrm>
          <a:prstGeom prst="rect">
            <a:avLst/>
          </a:prstGeom>
          <a:noFill/>
          <a:ln/>
        </p:spPr>
        <p:txBody>
          <a:bodyPr wrap="square" rtlCol="0" anchor="t"/>
          <a:lstStyle/>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Early (static) binding — compiler decides which function to call, at compile time</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Late (dynamic) binding — decided at RUN TIME, based on the object's real type</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C++ implements late binding through virtual functions (conceptually via a vtable)</a:t>
            </a:r>
            <a:endParaRPr lang="en-US" sz="1700" dirty="0"/>
          </a:p>
        </p:txBody>
      </p:sp>
      <p:sp>
        <p:nvSpPr>
          <p:cNvPr id="5" name="Text 3"/>
          <p:cNvSpPr/>
          <p:nvPr/>
        </p:nvSpPr>
        <p:spPr>
          <a:xfrm>
            <a:off x="548640" y="5669280"/>
            <a:ext cx="11091672" cy="822960"/>
          </a:xfrm>
          <a:prstGeom prst="rect">
            <a:avLst/>
          </a:prstGeom>
          <a:solidFill>
            <a:srgbClr val="F2F2F2"/>
          </a:solidFill>
          <a:ln/>
        </p:spPr>
        <p:txBody>
          <a:bodyPr wrap="square" lIns="127000" tIns="127000" rIns="127000" bIns="127000" rtlCol="0" anchor="t"/>
          <a:lstStyle/>
          <a:p>
            <a:pPr marL="0" indent="0">
              <a:buNone/>
            </a:pPr>
            <a:r>
              <a:rPr lang="en-US" sz="1350" b="1" i="1" dirty="0">
                <a:solidFill>
                  <a:srgbClr val="595959"/>
                </a:solidFill>
                <a:latin typeface="Helvetica" pitchFamily="34" charset="0"/>
                <a:ea typeface="Helvetica" pitchFamily="34" charset="-122"/>
                <a:cs typeface="Helvetica" pitchFamily="34" charset="-120"/>
              </a:rPr>
              <a:t>Real-life analogy:  </a:t>
            </a:r>
            <a:r>
              <a:rPr lang="en-US" sz="1350" i="1" dirty="0">
                <a:solidFill>
                  <a:srgbClr val="595959"/>
                </a:solidFill>
                <a:latin typeface="Helvetica" pitchFamily="34" charset="0"/>
                <a:ea typeface="Helvetica" pitchFamily="34" charset="-122"/>
                <a:cs typeface="Helvetica" pitchFamily="34" charset="-120"/>
              </a:rPr>
              <a:t>Early binding = a letter addressed to 'Room 5'. Late binding = a letter addressed to 'the current Manager'.</a:t>
            </a:r>
            <a:endParaRPr lang="en-US" sz="13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6 — PROGRAM 6.1</a:t>
            </a:r>
            <a:endParaRPr lang="en-US" sz="1400" dirty="0"/>
          </a:p>
        </p:txBody>
      </p:sp>
      <p:sp>
        <p:nvSpPr>
          <p:cNvPr id="3" name="Text 1"/>
          <p:cNvSpPr/>
          <p:nvPr/>
        </p:nvSpPr>
        <p:spPr>
          <a:xfrm>
            <a:off x="548640" y="731520"/>
            <a:ext cx="11091672" cy="54864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Virtual Functions in Action</a:t>
            </a:r>
            <a:endParaRPr lang="en-US" sz="2200" dirty="0"/>
          </a:p>
        </p:txBody>
      </p:sp>
      <p:sp>
        <p:nvSpPr>
          <p:cNvPr id="4" name="Text 2"/>
          <p:cNvSpPr/>
          <p:nvPr/>
        </p:nvSpPr>
        <p:spPr>
          <a:xfrm>
            <a:off x="548640" y="1417320"/>
            <a:ext cx="11091672" cy="5029200"/>
          </a:xfrm>
          <a:prstGeom prst="rect">
            <a:avLst/>
          </a:prstGeom>
          <a:solidFill>
            <a:srgbClr val="F2F2F2"/>
          </a:solidFill>
          <a:ln w="9525">
            <a:solidFill>
              <a:srgbClr val="000000"/>
            </a:solidFill>
          </a:ln>
        </p:spPr>
        <p:txBody>
          <a:bodyPr wrap="square" lIns="152400" tIns="152400" rIns="152400" bIns="152400" rtlCol="0" anchor="t">
            <a:spAutoFit/>
          </a:bodyPr>
          <a:lstStyle/>
          <a:p>
            <a:pPr marL="0" indent="0">
              <a:buNone/>
            </a:pPr>
            <a:r>
              <a:rPr lang="en-US" sz="1250" dirty="0">
                <a:solidFill>
                  <a:srgbClr val="000000"/>
                </a:solidFill>
                <a:latin typeface="Courier New" pitchFamily="34" charset="0"/>
                <a:ea typeface="Courier New" pitchFamily="34" charset="-122"/>
                <a:cs typeface="Courier New" pitchFamily="34" charset="-120"/>
              </a:rPr>
              <a:t>class Shape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public: virtual void identify()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cout &lt;&lt; "generic shape";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class Circle : public Shape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public: void identify() override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cout &lt;&lt; "I am a Circle";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a:t>
            </a:r>
            <a:endParaRPr lang="en-US" sz="1250" dirty="0"/>
          </a:p>
          <a:p>
            <a:pPr marL="0" indent="0">
              <a:buNone/>
            </a:pP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Shape *s = new Circle();</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s-&gt;identify();   // calls Circle::identify — decided at RUN TIME</a:t>
            </a:r>
            <a:endParaRPr lang="en-US" sz="12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6</a:t>
            </a:r>
            <a:endParaRPr lang="en-US" sz="1400" dirty="0"/>
          </a:p>
        </p:txBody>
      </p:sp>
      <p:sp>
        <p:nvSpPr>
          <p:cNvPr id="3" name="Text 1"/>
          <p:cNvSpPr/>
          <p:nvPr/>
        </p:nvSpPr>
        <p:spPr>
          <a:xfrm>
            <a:off x="548640" y="731520"/>
            <a:ext cx="11091672" cy="731520"/>
          </a:xfrm>
          <a:prstGeom prst="rect">
            <a:avLst/>
          </a:prstGeom>
          <a:noFill/>
          <a:ln/>
        </p:spPr>
        <p:txBody>
          <a:bodyPr wrap="square" rtlCol="0" anchor="ctr"/>
          <a:lstStyle/>
          <a:p>
            <a:pPr marL="0" indent="0">
              <a:buNone/>
            </a:pPr>
            <a:r>
              <a:rPr lang="en-US" sz="2800" b="1" dirty="0">
                <a:solidFill>
                  <a:srgbClr val="000000"/>
                </a:solidFill>
                <a:latin typeface="Helvetica" pitchFamily="34" charset="0"/>
                <a:ea typeface="Helvetica" pitchFamily="34" charset="-122"/>
                <a:cs typeface="Helvetica" pitchFamily="34" charset="-120"/>
              </a:rPr>
              <a:t>Pure Virtual Functions, Abstract Classes, Virtual Base Classes</a:t>
            </a:r>
            <a:endParaRPr lang="en-US" sz="2800" dirty="0"/>
          </a:p>
        </p:txBody>
      </p:sp>
      <p:sp>
        <p:nvSpPr>
          <p:cNvPr id="4" name="Text 2"/>
          <p:cNvSpPr/>
          <p:nvPr/>
        </p:nvSpPr>
        <p:spPr>
          <a:xfrm>
            <a:off x="548640" y="1645920"/>
            <a:ext cx="11091672" cy="4663440"/>
          </a:xfrm>
          <a:prstGeom prst="rect">
            <a:avLst/>
          </a:prstGeom>
          <a:noFill/>
          <a:ln/>
        </p:spPr>
        <p:txBody>
          <a:bodyPr wrap="square" rtlCol="0" anchor="t"/>
          <a:lstStyle/>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Pure virtual: virtual double area() = 0;  (no body in base class)</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A class with &gt;=1 pure virtual function is ABSTRACT — cannot be instantiated</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Forces every derived class to implement that function</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Virtual base class (virtual public Base) — solves the 'diamond' duplicate-copy problem</a:t>
            </a:r>
            <a:endParaRPr lang="en-US" sz="17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6 — REVIEW</a:t>
            </a:r>
            <a:endParaRPr lang="en-US" sz="1400" dirty="0"/>
          </a:p>
        </p:txBody>
      </p:sp>
      <p:sp>
        <p:nvSpPr>
          <p:cNvPr id="3" name="Text 1"/>
          <p:cNvSpPr/>
          <p:nvPr/>
        </p:nvSpPr>
        <p:spPr>
          <a:xfrm>
            <a:off x="548640" y="731520"/>
            <a:ext cx="11091672" cy="640080"/>
          </a:xfrm>
          <a:prstGeom prst="rect">
            <a:avLst/>
          </a:prstGeom>
          <a:noFill/>
          <a:ln/>
        </p:spPr>
        <p:txBody>
          <a:bodyPr wrap="square" rtlCol="0" anchor="ctr"/>
          <a:lstStyle/>
          <a:p>
            <a:pPr marL="0" indent="0">
              <a:buNone/>
            </a:pPr>
            <a:r>
              <a:rPr lang="en-US" sz="2600" b="1" dirty="0">
                <a:solidFill>
                  <a:srgbClr val="000000"/>
                </a:solidFill>
                <a:latin typeface="Helvetica" pitchFamily="34" charset="0"/>
                <a:ea typeface="Helvetica" pitchFamily="34" charset="-122"/>
                <a:cs typeface="Helvetica" pitchFamily="34" charset="-120"/>
              </a:rPr>
              <a:t>Practice &amp; Exam-style Questions</a:t>
            </a:r>
            <a:endParaRPr lang="en-US" sz="2600" dirty="0"/>
          </a:p>
        </p:txBody>
      </p:sp>
      <p:sp>
        <p:nvSpPr>
          <p:cNvPr id="4" name="Text 2"/>
          <p:cNvSpPr/>
          <p:nvPr/>
        </p:nvSpPr>
        <p:spPr>
          <a:xfrm>
            <a:off x="548640" y="1554480"/>
            <a:ext cx="11091672" cy="4846320"/>
          </a:xfrm>
          <a:prstGeom prst="rect">
            <a:avLst/>
          </a:prstGeom>
          <a:noFill/>
          <a:ln/>
        </p:spPr>
        <p:txBody>
          <a:bodyPr wrap="square" rtlCol="0" anchor="t"/>
          <a:lstStyle/>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What is a virtual function? Why is it needed?</a:t>
            </a:r>
            <a:endParaRPr lang="en-US" sz="1550" dirty="0"/>
          </a:p>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Differentiate compile-time vs run-time polymorphism.</a:t>
            </a:r>
            <a:endParaRPr lang="en-US" sz="1550" dirty="0"/>
          </a:p>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What is an abstract class? Can it be instantiated?</a:t>
            </a:r>
            <a:endParaRPr lang="en-US" sz="1550" dirty="0"/>
          </a:p>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Explain virtual base class with a diamond-inheritance example.</a:t>
            </a:r>
            <a:endParaRPr lang="en-US" sz="15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36">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48640" y="2103120"/>
            <a:ext cx="11091672" cy="548640"/>
          </a:xfrm>
          <a:prstGeom prst="rect">
            <a:avLst/>
          </a:prstGeom>
          <a:noFill/>
          <a:ln/>
        </p:spPr>
        <p:txBody>
          <a:bodyPr wrap="square" rtlCol="0" anchor="ctr"/>
          <a:lstStyle/>
          <a:p>
            <a:pPr marL="0" indent="0">
              <a:buNone/>
            </a:pPr>
            <a:r>
              <a:rPr lang="en-US" sz="1800" b="1" kern="0" spc="200" dirty="0">
                <a:solidFill>
                  <a:srgbClr val="BFBFBF"/>
                </a:solidFill>
                <a:latin typeface="Helvetica" pitchFamily="34" charset="0"/>
                <a:ea typeface="Helvetica" pitchFamily="34" charset="-122"/>
                <a:cs typeface="Helvetica" pitchFamily="34" charset="-120"/>
              </a:rPr>
              <a:t>CHAPTER 7</a:t>
            </a:r>
            <a:endParaRPr lang="en-US" sz="1800" dirty="0"/>
          </a:p>
        </p:txBody>
      </p:sp>
      <p:sp>
        <p:nvSpPr>
          <p:cNvPr id="3" name="Text 1"/>
          <p:cNvSpPr/>
          <p:nvPr/>
        </p:nvSpPr>
        <p:spPr>
          <a:xfrm>
            <a:off x="548640" y="2651760"/>
            <a:ext cx="11091672" cy="1280160"/>
          </a:xfrm>
          <a:prstGeom prst="rect">
            <a:avLst/>
          </a:prstGeom>
          <a:noFill/>
          <a:ln/>
        </p:spPr>
        <p:txBody>
          <a:bodyPr wrap="square" rtlCol="0" anchor="ctr"/>
          <a:lstStyle/>
          <a:p>
            <a:pPr marL="0" indent="0">
              <a:buNone/>
            </a:pPr>
            <a:r>
              <a:rPr lang="en-US" sz="3600" b="1" dirty="0">
                <a:solidFill>
                  <a:srgbClr val="FFFFFF"/>
                </a:solidFill>
                <a:latin typeface="Helvetica" pitchFamily="34" charset="0"/>
                <a:ea typeface="Helvetica" pitchFamily="34" charset="-122"/>
                <a:cs typeface="Helvetica" pitchFamily="34" charset="-120"/>
              </a:rPr>
              <a:t>Inheritance</a:t>
            </a:r>
            <a:endParaRPr lang="en-US" sz="3600" dirty="0"/>
          </a:p>
        </p:txBody>
      </p:sp>
      <p:sp>
        <p:nvSpPr>
          <p:cNvPr id="4" name="Text 2"/>
          <p:cNvSpPr/>
          <p:nvPr/>
        </p:nvSpPr>
        <p:spPr>
          <a:xfrm>
            <a:off x="548640" y="4023360"/>
            <a:ext cx="11091672" cy="2011680"/>
          </a:xfrm>
          <a:prstGeom prst="rect">
            <a:avLst/>
          </a:prstGeom>
          <a:noFill/>
          <a:ln/>
        </p:spPr>
        <p:txBody>
          <a:bodyPr wrap="square" rtlCol="0" anchor="t"/>
          <a:lstStyle/>
          <a:p>
            <a:pPr marL="0" indent="0">
              <a:buNone/>
            </a:pPr>
            <a:r>
              <a:rPr lang="en-US" sz="1500" dirty="0">
                <a:solidFill>
                  <a:srgbClr val="D9D9D9"/>
                </a:solidFill>
                <a:latin typeface="Helvetica" pitchFamily="34" charset="0"/>
                <a:ea typeface="Helvetica" pitchFamily="34" charset="-122"/>
                <a:cs typeface="Helvetica" pitchFamily="34" charset="-120"/>
              </a:rPr>
              <a:t>Types of inheritance · Constructor/destructor order · Public/private/protected · Ambiguity · Containership</a:t>
            </a:r>
            <a:endParaRPr lang="en-US" sz="15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7</a:t>
            </a:r>
            <a:endParaRPr lang="en-US" sz="1400" dirty="0"/>
          </a:p>
        </p:txBody>
      </p:sp>
      <p:sp>
        <p:nvSpPr>
          <p:cNvPr id="3" name="Text 1"/>
          <p:cNvSpPr/>
          <p:nvPr/>
        </p:nvSpPr>
        <p:spPr>
          <a:xfrm>
            <a:off x="548640" y="731520"/>
            <a:ext cx="11091672" cy="731520"/>
          </a:xfrm>
          <a:prstGeom prst="rect">
            <a:avLst/>
          </a:prstGeom>
          <a:noFill/>
          <a:ln/>
        </p:spPr>
        <p:txBody>
          <a:bodyPr wrap="square" rtlCol="0" anchor="ctr"/>
          <a:lstStyle/>
          <a:p>
            <a:pPr marL="0" indent="0">
              <a:buNone/>
            </a:pPr>
            <a:r>
              <a:rPr lang="en-US" sz="2800" b="1" dirty="0">
                <a:solidFill>
                  <a:srgbClr val="000000"/>
                </a:solidFill>
                <a:latin typeface="Helvetica" pitchFamily="34" charset="0"/>
                <a:ea typeface="Helvetica" pitchFamily="34" charset="-122"/>
                <a:cs typeface="Helvetica" pitchFamily="34" charset="-120"/>
              </a:rPr>
              <a:t>Types of Inheritance</a:t>
            </a:r>
            <a:endParaRPr lang="en-US" sz="2800" dirty="0"/>
          </a:p>
        </p:txBody>
      </p:sp>
      <p:sp>
        <p:nvSpPr>
          <p:cNvPr id="4" name="Text 2"/>
          <p:cNvSpPr/>
          <p:nvPr/>
        </p:nvSpPr>
        <p:spPr>
          <a:xfrm>
            <a:off x="548640" y="1645920"/>
            <a:ext cx="11091672" cy="4663440"/>
          </a:xfrm>
          <a:prstGeom prst="rect">
            <a:avLst/>
          </a:prstGeom>
          <a:noFill/>
          <a:ln/>
        </p:spPr>
        <p:txBody>
          <a:bodyPr wrap="square" rtlCol="0" anchor="t"/>
          <a:lstStyle/>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Single — one base, one derived</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Multiple — one derived, two or more base classes</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Multilevel — a chain: A -&gt; B -&gt; C</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Hierarchical — several derived classes share one base</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Hybrid — a combination (often produces the 'diamond' shape)</a:t>
            </a:r>
            <a:endParaRPr lang="en-US" sz="17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7</a:t>
            </a:r>
            <a:endParaRPr lang="en-US" sz="1400" dirty="0"/>
          </a:p>
        </p:txBody>
      </p:sp>
      <p:sp>
        <p:nvSpPr>
          <p:cNvPr id="3" name="Text 1"/>
          <p:cNvSpPr/>
          <p:nvPr/>
        </p:nvSpPr>
        <p:spPr>
          <a:xfrm>
            <a:off x="548640" y="731520"/>
            <a:ext cx="11091672" cy="731520"/>
          </a:xfrm>
          <a:prstGeom prst="rect">
            <a:avLst/>
          </a:prstGeom>
          <a:noFill/>
          <a:ln/>
        </p:spPr>
        <p:txBody>
          <a:bodyPr wrap="square" rtlCol="0" anchor="ctr"/>
          <a:lstStyle/>
          <a:p>
            <a:pPr marL="0" indent="0">
              <a:buNone/>
            </a:pPr>
            <a:r>
              <a:rPr lang="en-US" sz="2800" b="1" dirty="0">
                <a:solidFill>
                  <a:srgbClr val="000000"/>
                </a:solidFill>
                <a:latin typeface="Helvetica" pitchFamily="34" charset="0"/>
                <a:ea typeface="Helvetica" pitchFamily="34" charset="-122"/>
                <a:cs typeface="Helvetica" pitchFamily="34" charset="-120"/>
              </a:rPr>
              <a:t>Construction Order &amp; Access Modes</a:t>
            </a:r>
            <a:endParaRPr lang="en-US" sz="2800" dirty="0"/>
          </a:p>
        </p:txBody>
      </p:sp>
      <p:sp>
        <p:nvSpPr>
          <p:cNvPr id="4" name="Text 2"/>
          <p:cNvSpPr/>
          <p:nvPr/>
        </p:nvSpPr>
        <p:spPr>
          <a:xfrm>
            <a:off x="548640" y="1645920"/>
            <a:ext cx="11091672" cy="4663440"/>
          </a:xfrm>
          <a:prstGeom prst="rect">
            <a:avLst/>
          </a:prstGeom>
          <a:noFill/>
          <a:ln/>
        </p:spPr>
        <p:txBody>
          <a:bodyPr wrap="square" rtlCol="0" anchor="t"/>
          <a:lstStyle/>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Constructors run BASE first, then DERIVED</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Destructors run in REVERSE: DERIVED first, then BASE</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public inheritance — models a true 'is-a' relationship (most common)</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private inheritance — models 'is-implemented-in-terms-of', not 'is-a'</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Base-class private members are NEVER directly reachable from a derived class</a:t>
            </a:r>
            <a:endParaRPr lang="en-US" sz="17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7 — PROGRAM 7.3</a:t>
            </a:r>
            <a:endParaRPr lang="en-US" sz="1400" dirty="0"/>
          </a:p>
        </p:txBody>
      </p:sp>
      <p:sp>
        <p:nvSpPr>
          <p:cNvPr id="3" name="Text 1"/>
          <p:cNvSpPr/>
          <p:nvPr/>
        </p:nvSpPr>
        <p:spPr>
          <a:xfrm>
            <a:off x="548640" y="731520"/>
            <a:ext cx="11091672" cy="54864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Ambiguity in Multiple Inheritance</a:t>
            </a:r>
            <a:endParaRPr lang="en-US" sz="2200" dirty="0"/>
          </a:p>
        </p:txBody>
      </p:sp>
      <p:sp>
        <p:nvSpPr>
          <p:cNvPr id="4" name="Text 2"/>
          <p:cNvSpPr/>
          <p:nvPr/>
        </p:nvSpPr>
        <p:spPr>
          <a:xfrm>
            <a:off x="548640" y="1417320"/>
            <a:ext cx="11091672" cy="4480560"/>
          </a:xfrm>
          <a:prstGeom prst="rect">
            <a:avLst/>
          </a:prstGeom>
          <a:solidFill>
            <a:srgbClr val="F2F2F2"/>
          </a:solidFill>
          <a:ln w="9525">
            <a:solidFill>
              <a:srgbClr val="000000"/>
            </a:solidFill>
          </a:ln>
        </p:spPr>
        <p:txBody>
          <a:bodyPr wrap="square" lIns="152400" tIns="152400" rIns="152400" bIns="152400" rtlCol="0" anchor="t">
            <a:spAutoFit/>
          </a:bodyPr>
          <a:lstStyle/>
          <a:p>
            <a:pPr marL="0" indent="0">
              <a:buNone/>
            </a:pPr>
            <a:r>
              <a:rPr lang="en-US" sz="1250" dirty="0">
                <a:solidFill>
                  <a:srgbClr val="000000"/>
                </a:solidFill>
                <a:latin typeface="Courier New" pitchFamily="34" charset="0"/>
                <a:ea typeface="Courier New" pitchFamily="34" charset="-122"/>
                <a:cs typeface="Courier New" pitchFamily="34" charset="-120"/>
              </a:rPr>
              <a:t>class Printer { public: void status(){cout&lt;&lt;"Printer ready";}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class Scanner { public: void status(){cout&lt;&lt;"Scanner ready";}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class AllInOne : public Printer, public Scanner {};</a:t>
            </a:r>
            <a:endParaRPr lang="en-US" sz="1250" dirty="0"/>
          </a:p>
          <a:p>
            <a:pPr marL="0" indent="0">
              <a:buNone/>
            </a:pP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AllInOne m;</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m.status();          // ERROR: ambiguous!</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m.Printer::status();     // resolved explicitly</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m.Scanner::status();</a:t>
            </a:r>
            <a:endParaRPr lang="en-US" sz="1250" dirty="0"/>
          </a:p>
        </p:txBody>
      </p:sp>
      <p:sp>
        <p:nvSpPr>
          <p:cNvPr id="5" name="Text 3"/>
          <p:cNvSpPr/>
          <p:nvPr/>
        </p:nvSpPr>
        <p:spPr>
          <a:xfrm>
            <a:off x="548640" y="5943600"/>
            <a:ext cx="11091672" cy="640080"/>
          </a:xfrm>
          <a:prstGeom prst="rect">
            <a:avLst/>
          </a:prstGeom>
          <a:noFill/>
          <a:ln/>
        </p:spPr>
        <p:txBody>
          <a:bodyPr wrap="square" rtlCol="0" anchor="t"/>
          <a:lstStyle/>
          <a:p>
            <a:pPr marL="0" indent="0">
              <a:buNone/>
            </a:pPr>
            <a:r>
              <a:rPr lang="en-US" sz="1300" i="1" dirty="0">
                <a:solidFill>
                  <a:srgbClr val="595959"/>
                </a:solidFill>
                <a:latin typeface="Helvetica" pitchFamily="34" charset="0"/>
                <a:ea typeface="Helvetica" pitchFamily="34" charset="-122"/>
                <a:cs typeface="Helvetica" pitchFamily="34" charset="-120"/>
              </a:rPr>
              <a:t>Containership ('has-a'): a class holds an object of another class as a data member — an alternative to inheritance.</a:t>
            </a:r>
            <a:endParaRPr lang="en-US" sz="13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7 — REVIEW</a:t>
            </a:r>
            <a:endParaRPr lang="en-US" sz="1400" dirty="0"/>
          </a:p>
        </p:txBody>
      </p:sp>
      <p:sp>
        <p:nvSpPr>
          <p:cNvPr id="3" name="Text 1"/>
          <p:cNvSpPr/>
          <p:nvPr/>
        </p:nvSpPr>
        <p:spPr>
          <a:xfrm>
            <a:off x="548640" y="731520"/>
            <a:ext cx="11091672" cy="640080"/>
          </a:xfrm>
          <a:prstGeom prst="rect">
            <a:avLst/>
          </a:prstGeom>
          <a:noFill/>
          <a:ln/>
        </p:spPr>
        <p:txBody>
          <a:bodyPr wrap="square" rtlCol="0" anchor="ctr"/>
          <a:lstStyle/>
          <a:p>
            <a:pPr marL="0" indent="0">
              <a:buNone/>
            </a:pPr>
            <a:r>
              <a:rPr lang="en-US" sz="2600" b="1" dirty="0">
                <a:solidFill>
                  <a:srgbClr val="000000"/>
                </a:solidFill>
                <a:latin typeface="Helvetica" pitchFamily="34" charset="0"/>
                <a:ea typeface="Helvetica" pitchFamily="34" charset="-122"/>
                <a:cs typeface="Helvetica" pitchFamily="34" charset="-120"/>
              </a:rPr>
              <a:t>Practice &amp; Exam-style Questions</a:t>
            </a:r>
            <a:endParaRPr lang="en-US" sz="2600" dirty="0"/>
          </a:p>
        </p:txBody>
      </p:sp>
      <p:sp>
        <p:nvSpPr>
          <p:cNvPr id="4" name="Text 2"/>
          <p:cNvSpPr/>
          <p:nvPr/>
        </p:nvSpPr>
        <p:spPr>
          <a:xfrm>
            <a:off x="548640" y="1554480"/>
            <a:ext cx="11091672" cy="4846320"/>
          </a:xfrm>
          <a:prstGeom prst="rect">
            <a:avLst/>
          </a:prstGeom>
          <a:noFill/>
          <a:ln/>
        </p:spPr>
        <p:txBody>
          <a:bodyPr wrap="square" rtlCol="0" anchor="t"/>
          <a:lstStyle/>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Explain the types of inheritance with examples.</a:t>
            </a:r>
            <a:endParaRPr lang="en-US" sz="1550" dirty="0"/>
          </a:p>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Differentiate public, private, and protected inheritance.</a:t>
            </a:r>
            <a:endParaRPr lang="en-US" sz="1550" dirty="0"/>
          </a:p>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What is ambiguity in multiple inheritance? How is it resolved?</a:t>
            </a:r>
            <a:endParaRPr lang="en-US" sz="1550" dirty="0"/>
          </a:p>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Differentiate inheritance and containership with an example.</a:t>
            </a:r>
            <a:endParaRPr lang="en-US" sz="15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46">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48640" y="2103120"/>
            <a:ext cx="11091672" cy="548640"/>
          </a:xfrm>
          <a:prstGeom prst="rect">
            <a:avLst/>
          </a:prstGeom>
          <a:noFill/>
          <a:ln/>
        </p:spPr>
        <p:txBody>
          <a:bodyPr wrap="square" rtlCol="0" anchor="ctr"/>
          <a:lstStyle/>
          <a:p>
            <a:pPr marL="0" indent="0">
              <a:buNone/>
            </a:pPr>
            <a:r>
              <a:rPr lang="en-US" sz="1800" b="1" kern="0" spc="200" dirty="0">
                <a:solidFill>
                  <a:srgbClr val="BFBFBF"/>
                </a:solidFill>
                <a:latin typeface="Helvetica" pitchFamily="34" charset="0"/>
                <a:ea typeface="Helvetica" pitchFamily="34" charset="-122"/>
                <a:cs typeface="Helvetica" pitchFamily="34" charset="-120"/>
              </a:rPr>
              <a:t>CHAPTER 9</a:t>
            </a:r>
            <a:endParaRPr lang="en-US" sz="1800" dirty="0"/>
          </a:p>
        </p:txBody>
      </p:sp>
      <p:sp>
        <p:nvSpPr>
          <p:cNvPr id="3" name="Text 1"/>
          <p:cNvSpPr/>
          <p:nvPr/>
        </p:nvSpPr>
        <p:spPr>
          <a:xfrm>
            <a:off x="548640" y="2651760"/>
            <a:ext cx="11091672" cy="1280160"/>
          </a:xfrm>
          <a:prstGeom prst="rect">
            <a:avLst/>
          </a:prstGeom>
          <a:noFill/>
          <a:ln/>
        </p:spPr>
        <p:txBody>
          <a:bodyPr wrap="square" rtlCol="0" anchor="ctr"/>
          <a:lstStyle/>
          <a:p>
            <a:pPr marL="0" indent="0">
              <a:buNone/>
            </a:pPr>
            <a:r>
              <a:rPr lang="en-US" sz="3600" b="1" dirty="0">
                <a:solidFill>
                  <a:srgbClr val="FFFFFF"/>
                </a:solidFill>
                <a:latin typeface="Helvetica" pitchFamily="34" charset="0"/>
                <a:ea typeface="Helvetica" pitchFamily="34" charset="-122"/>
                <a:cs typeface="Helvetica" pitchFamily="34" charset="-120"/>
              </a:rPr>
              <a:t>Templates and STL</a:t>
            </a:r>
            <a:endParaRPr lang="en-US" sz="3600" dirty="0"/>
          </a:p>
        </p:txBody>
      </p:sp>
      <p:sp>
        <p:nvSpPr>
          <p:cNvPr id="4" name="Text 2"/>
          <p:cNvSpPr/>
          <p:nvPr/>
        </p:nvSpPr>
        <p:spPr>
          <a:xfrm>
            <a:off x="548640" y="4023360"/>
            <a:ext cx="11091672" cy="2011680"/>
          </a:xfrm>
          <a:prstGeom prst="rect">
            <a:avLst/>
          </a:prstGeom>
          <a:noFill/>
          <a:ln/>
        </p:spPr>
        <p:txBody>
          <a:bodyPr wrap="square" rtlCol="0" anchor="t"/>
          <a:lstStyle/>
          <a:p>
            <a:pPr marL="0" indent="0">
              <a:buNone/>
            </a:pPr>
            <a:r>
              <a:rPr lang="en-US" sz="1500" dirty="0">
                <a:solidFill>
                  <a:srgbClr val="D9D9D9"/>
                </a:solidFill>
                <a:latin typeface="Helvetica" pitchFamily="34" charset="0"/>
                <a:ea typeface="Helvetica" pitchFamily="34" charset="-122"/>
                <a:cs typeface="Helvetica" pitchFamily="34" charset="-120"/>
              </a:rPr>
              <a:t>Function templates · Class templates · Containers · Iterators · Algorithms</a:t>
            </a:r>
            <a:endParaRPr lang="en-US" sz="15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9</a:t>
            </a:r>
            <a:endParaRPr lang="en-US" sz="1400" dirty="0"/>
          </a:p>
        </p:txBody>
      </p:sp>
      <p:sp>
        <p:nvSpPr>
          <p:cNvPr id="3" name="Text 1"/>
          <p:cNvSpPr/>
          <p:nvPr/>
        </p:nvSpPr>
        <p:spPr>
          <a:xfrm>
            <a:off x="548640" y="731520"/>
            <a:ext cx="11091672" cy="731520"/>
          </a:xfrm>
          <a:prstGeom prst="rect">
            <a:avLst/>
          </a:prstGeom>
          <a:noFill/>
          <a:ln/>
        </p:spPr>
        <p:txBody>
          <a:bodyPr wrap="square" rtlCol="0" anchor="ctr"/>
          <a:lstStyle/>
          <a:p>
            <a:pPr marL="0" indent="0">
              <a:buNone/>
            </a:pPr>
            <a:r>
              <a:rPr lang="en-US" sz="2800" b="1" dirty="0">
                <a:solidFill>
                  <a:srgbClr val="000000"/>
                </a:solidFill>
                <a:latin typeface="Helvetica" pitchFamily="34" charset="0"/>
                <a:ea typeface="Helvetica" pitchFamily="34" charset="-122"/>
                <a:cs typeface="Helvetica" pitchFamily="34" charset="-120"/>
              </a:rPr>
              <a:t>Function &amp; Class Templates</a:t>
            </a:r>
            <a:endParaRPr lang="en-US" sz="2800" dirty="0"/>
          </a:p>
        </p:txBody>
      </p:sp>
      <p:sp>
        <p:nvSpPr>
          <p:cNvPr id="4" name="Text 2"/>
          <p:cNvSpPr/>
          <p:nvPr/>
        </p:nvSpPr>
        <p:spPr>
          <a:xfrm>
            <a:off x="548640" y="1645920"/>
            <a:ext cx="11091672" cy="4663440"/>
          </a:xfrm>
          <a:prstGeom prst="rect">
            <a:avLst/>
          </a:prstGeom>
          <a:noFill/>
          <a:ln/>
        </p:spPr>
        <p:txBody>
          <a:bodyPr wrap="square" rtlCol="0" anchor="t"/>
          <a:lstStyle/>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template &lt;typename T&gt; — one piece of code, compiler fills in the real type</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Function template: T maximum(T a, T b) works for int, double, char, ...</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Class template: Stack&lt;T&gt; can become Stack&lt;int&gt;, Stack&lt;string&gt;, ...</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Templates give reusability at the TYPE-SYSTEM level</a:t>
            </a:r>
            <a:endParaRPr lang="en-US" sz="1700" dirty="0"/>
          </a:p>
        </p:txBody>
      </p:sp>
      <p:sp>
        <p:nvSpPr>
          <p:cNvPr id="5" name="Text 3"/>
          <p:cNvSpPr/>
          <p:nvPr/>
        </p:nvSpPr>
        <p:spPr>
          <a:xfrm>
            <a:off x="548640" y="5669280"/>
            <a:ext cx="11091672" cy="822960"/>
          </a:xfrm>
          <a:prstGeom prst="rect">
            <a:avLst/>
          </a:prstGeom>
          <a:solidFill>
            <a:srgbClr val="F2F2F2"/>
          </a:solidFill>
          <a:ln/>
        </p:spPr>
        <p:txBody>
          <a:bodyPr wrap="square" lIns="127000" tIns="127000" rIns="127000" bIns="127000" rtlCol="0" anchor="t"/>
          <a:lstStyle/>
          <a:p>
            <a:pPr marL="0" indent="0">
              <a:buNone/>
            </a:pPr>
            <a:r>
              <a:rPr lang="en-US" sz="1350" b="1" i="1" dirty="0">
                <a:solidFill>
                  <a:srgbClr val="595959"/>
                </a:solidFill>
                <a:latin typeface="Helvetica" pitchFamily="34" charset="0"/>
                <a:ea typeface="Helvetica" pitchFamily="34" charset="-122"/>
                <a:cs typeface="Helvetica" pitchFamily="34" charset="-120"/>
              </a:rPr>
              <a:t>Real-life analogy:  </a:t>
            </a:r>
            <a:r>
              <a:rPr lang="en-US" sz="1350" i="1" dirty="0">
                <a:solidFill>
                  <a:srgbClr val="595959"/>
                </a:solidFill>
                <a:latin typeface="Helvetica" pitchFamily="34" charset="0"/>
                <a:ea typeface="Helvetica" pitchFamily="34" charset="-122"/>
                <a:cs typeface="Helvetica" pitchFamily="34" charset="-120"/>
              </a:rPr>
              <a:t>A template is a cookie cutter — one shape, pressed into different doughs (types) to produce different cookies.</a:t>
            </a:r>
            <a:endParaRPr lang="en-US" sz="13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9</a:t>
            </a:r>
            <a:endParaRPr lang="en-US" sz="1400" dirty="0"/>
          </a:p>
        </p:txBody>
      </p:sp>
      <p:sp>
        <p:nvSpPr>
          <p:cNvPr id="3" name="Text 1"/>
          <p:cNvSpPr/>
          <p:nvPr/>
        </p:nvSpPr>
        <p:spPr>
          <a:xfrm>
            <a:off x="548640" y="731520"/>
            <a:ext cx="11091672" cy="731520"/>
          </a:xfrm>
          <a:prstGeom prst="rect">
            <a:avLst/>
          </a:prstGeom>
          <a:noFill/>
          <a:ln/>
        </p:spPr>
        <p:txBody>
          <a:bodyPr wrap="square" rtlCol="0" anchor="ctr"/>
          <a:lstStyle/>
          <a:p>
            <a:pPr marL="0" indent="0">
              <a:buNone/>
            </a:pPr>
            <a:r>
              <a:rPr lang="en-US" sz="2800" b="1" dirty="0">
                <a:solidFill>
                  <a:srgbClr val="000000"/>
                </a:solidFill>
                <a:latin typeface="Helvetica" pitchFamily="34" charset="0"/>
                <a:ea typeface="Helvetica" pitchFamily="34" charset="-122"/>
                <a:cs typeface="Helvetica" pitchFamily="34" charset="-120"/>
              </a:rPr>
              <a:t>STL: Containers, Iterators, Algorithms</a:t>
            </a:r>
            <a:endParaRPr lang="en-US" sz="2800" dirty="0"/>
          </a:p>
        </p:txBody>
      </p:sp>
      <p:sp>
        <p:nvSpPr>
          <p:cNvPr id="4" name="Text 2"/>
          <p:cNvSpPr/>
          <p:nvPr/>
        </p:nvSpPr>
        <p:spPr>
          <a:xfrm>
            <a:off x="548640" y="1645920"/>
            <a:ext cx="11091672" cy="4663440"/>
          </a:xfrm>
          <a:prstGeom prst="rect">
            <a:avLst/>
          </a:prstGeom>
          <a:noFill/>
          <a:ln/>
        </p:spPr>
        <p:txBody>
          <a:bodyPr wrap="square" rtlCol="0" anchor="t"/>
          <a:lstStyle/>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Containers — vector (dynamic array), list (linked list), map (key-value, sorted), set</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Iterators — generalised pointers; begin() / end() traverse any container uniformly</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Algorithms — sort(), find(), count(), for_each() operate on [begin, end) ranges</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Same sort() works on vector&lt;int&gt; AND vector&lt;string&gt; — that's the STL's power</a:t>
            </a:r>
            <a:endParaRPr lang="en-US" sz="17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9 — PROGRAM 9.3</a:t>
            </a:r>
            <a:endParaRPr lang="en-US" sz="1400" dirty="0"/>
          </a:p>
        </p:txBody>
      </p:sp>
      <p:sp>
        <p:nvSpPr>
          <p:cNvPr id="3" name="Text 1"/>
          <p:cNvSpPr/>
          <p:nvPr/>
        </p:nvSpPr>
        <p:spPr>
          <a:xfrm>
            <a:off x="548640" y="731520"/>
            <a:ext cx="11091672" cy="54864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Vector + Iterator + Algorithm Together</a:t>
            </a:r>
            <a:endParaRPr lang="en-US" sz="2200" dirty="0"/>
          </a:p>
        </p:txBody>
      </p:sp>
      <p:sp>
        <p:nvSpPr>
          <p:cNvPr id="4" name="Text 2"/>
          <p:cNvSpPr/>
          <p:nvPr/>
        </p:nvSpPr>
        <p:spPr>
          <a:xfrm>
            <a:off x="548640" y="1417320"/>
            <a:ext cx="11091672" cy="5029200"/>
          </a:xfrm>
          <a:prstGeom prst="rect">
            <a:avLst/>
          </a:prstGeom>
          <a:solidFill>
            <a:srgbClr val="F2F2F2"/>
          </a:solidFill>
          <a:ln w="9525">
            <a:solidFill>
              <a:srgbClr val="000000"/>
            </a:solidFill>
          </a:ln>
        </p:spPr>
        <p:txBody>
          <a:bodyPr wrap="square" lIns="152400" tIns="152400" rIns="152400" bIns="152400" rtlCol="0" anchor="t">
            <a:spAutoFit/>
          </a:bodyPr>
          <a:lstStyle/>
          <a:p>
            <a:pPr marL="0" indent="0">
              <a:buNone/>
            </a:pPr>
            <a:r>
              <a:rPr lang="en-US" sz="1250" dirty="0">
                <a:solidFill>
                  <a:srgbClr val="000000"/>
                </a:solidFill>
                <a:latin typeface="Courier New" pitchFamily="34" charset="0"/>
                <a:ea typeface="Courier New" pitchFamily="34" charset="-122"/>
                <a:cs typeface="Courier New" pitchFamily="34" charset="-120"/>
              </a:rPr>
              <a:t>vector&lt;int&gt; marks = {56, 90, 45, 78, 88};</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sort(marks.begin(), marks.end());</a:t>
            </a:r>
            <a:endParaRPr lang="en-US" sz="1250" dirty="0"/>
          </a:p>
          <a:p>
            <a:pPr marL="0" indent="0">
              <a:buNone/>
            </a:pP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for (auto it = marks.begin(); it != marks.end(); ++it)</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cout &lt;&lt; *it &lt;&lt; "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Output: 45 56 78 88 90</a:t>
            </a:r>
            <a:endParaRPr lang="en-US" sz="12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9 — REVIEW</a:t>
            </a:r>
            <a:endParaRPr lang="en-US" sz="1400" dirty="0"/>
          </a:p>
        </p:txBody>
      </p:sp>
      <p:sp>
        <p:nvSpPr>
          <p:cNvPr id="3" name="Text 1"/>
          <p:cNvSpPr/>
          <p:nvPr/>
        </p:nvSpPr>
        <p:spPr>
          <a:xfrm>
            <a:off x="548640" y="731520"/>
            <a:ext cx="11091672" cy="640080"/>
          </a:xfrm>
          <a:prstGeom prst="rect">
            <a:avLst/>
          </a:prstGeom>
          <a:noFill/>
          <a:ln/>
        </p:spPr>
        <p:txBody>
          <a:bodyPr wrap="square" rtlCol="0" anchor="ctr"/>
          <a:lstStyle/>
          <a:p>
            <a:pPr marL="0" indent="0">
              <a:buNone/>
            </a:pPr>
            <a:r>
              <a:rPr lang="en-US" sz="2600" b="1" dirty="0">
                <a:solidFill>
                  <a:srgbClr val="000000"/>
                </a:solidFill>
                <a:latin typeface="Helvetica" pitchFamily="34" charset="0"/>
                <a:ea typeface="Helvetica" pitchFamily="34" charset="-122"/>
                <a:cs typeface="Helvetica" pitchFamily="34" charset="-120"/>
              </a:rPr>
              <a:t>Practice &amp; Exam-style Questions</a:t>
            </a:r>
            <a:endParaRPr lang="en-US" sz="2600" dirty="0"/>
          </a:p>
        </p:txBody>
      </p:sp>
      <p:sp>
        <p:nvSpPr>
          <p:cNvPr id="4" name="Text 2"/>
          <p:cNvSpPr/>
          <p:nvPr/>
        </p:nvSpPr>
        <p:spPr>
          <a:xfrm>
            <a:off x="548640" y="1554480"/>
            <a:ext cx="11091672" cy="4846320"/>
          </a:xfrm>
          <a:prstGeom prst="rect">
            <a:avLst/>
          </a:prstGeom>
          <a:noFill/>
          <a:ln/>
        </p:spPr>
        <p:txBody>
          <a:bodyPr wrap="square" rtlCol="0" anchor="t"/>
          <a:lstStyle/>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Differentiate function template and class template.</a:t>
            </a:r>
            <a:endParaRPr lang="en-US" sz="1550" dirty="0"/>
          </a:p>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What is STL? Explain its components.</a:t>
            </a:r>
            <a:endParaRPr lang="en-US" sz="1550" dirty="0"/>
          </a:p>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Explain iterators and their role in STL.</a:t>
            </a:r>
            <a:endParaRPr lang="en-US" sz="1550" dirty="0"/>
          </a:p>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Sort a vector of integers using STL sort().</a:t>
            </a:r>
            <a:endParaRPr lang="en-US" sz="15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51">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48640" y="2103120"/>
            <a:ext cx="11091672" cy="548640"/>
          </a:xfrm>
          <a:prstGeom prst="rect">
            <a:avLst/>
          </a:prstGeom>
          <a:noFill/>
          <a:ln/>
        </p:spPr>
        <p:txBody>
          <a:bodyPr wrap="square" rtlCol="0" anchor="ctr"/>
          <a:lstStyle/>
          <a:p>
            <a:pPr marL="0" indent="0">
              <a:buNone/>
            </a:pPr>
            <a:r>
              <a:rPr lang="en-US" sz="1800" b="1" kern="0" spc="200" dirty="0">
                <a:solidFill>
                  <a:srgbClr val="BFBFBF"/>
                </a:solidFill>
                <a:latin typeface="Helvetica" pitchFamily="34" charset="0"/>
                <a:ea typeface="Helvetica" pitchFamily="34" charset="-122"/>
                <a:cs typeface="Helvetica" pitchFamily="34" charset="-120"/>
              </a:rPr>
              <a:t>CHAPTER 10</a:t>
            </a:r>
            <a:endParaRPr lang="en-US" sz="1800" dirty="0"/>
          </a:p>
        </p:txBody>
      </p:sp>
      <p:sp>
        <p:nvSpPr>
          <p:cNvPr id="3" name="Text 1"/>
          <p:cNvSpPr/>
          <p:nvPr/>
        </p:nvSpPr>
        <p:spPr>
          <a:xfrm>
            <a:off x="548640" y="2651760"/>
            <a:ext cx="11091672" cy="1280160"/>
          </a:xfrm>
          <a:prstGeom prst="rect">
            <a:avLst/>
          </a:prstGeom>
          <a:noFill/>
          <a:ln/>
        </p:spPr>
        <p:txBody>
          <a:bodyPr wrap="square" rtlCol="0" anchor="ctr"/>
          <a:lstStyle/>
          <a:p>
            <a:pPr marL="0" indent="0">
              <a:buNone/>
            </a:pPr>
            <a:r>
              <a:rPr lang="en-US" sz="3600" b="1" dirty="0">
                <a:solidFill>
                  <a:srgbClr val="FFFFFF"/>
                </a:solidFill>
                <a:latin typeface="Helvetica" pitchFamily="34" charset="0"/>
                <a:ea typeface="Helvetica" pitchFamily="34" charset="-122"/>
                <a:cs typeface="Helvetica" pitchFamily="34" charset="-120"/>
              </a:rPr>
              <a:t>Namespaces</a:t>
            </a:r>
            <a:endParaRPr lang="en-US" sz="3600" dirty="0"/>
          </a:p>
        </p:txBody>
      </p:sp>
      <p:sp>
        <p:nvSpPr>
          <p:cNvPr id="4" name="Text 2"/>
          <p:cNvSpPr/>
          <p:nvPr/>
        </p:nvSpPr>
        <p:spPr>
          <a:xfrm>
            <a:off x="548640" y="4023360"/>
            <a:ext cx="11091672" cy="2011680"/>
          </a:xfrm>
          <a:prstGeom prst="rect">
            <a:avLst/>
          </a:prstGeom>
          <a:noFill/>
          <a:ln/>
        </p:spPr>
        <p:txBody>
          <a:bodyPr wrap="square" rtlCol="0" anchor="t"/>
          <a:lstStyle/>
          <a:p>
            <a:pPr marL="0" indent="0">
              <a:buNone/>
            </a:pPr>
            <a:r>
              <a:rPr lang="en-US" sz="1500" dirty="0">
                <a:solidFill>
                  <a:srgbClr val="D9D9D9"/>
                </a:solidFill>
                <a:latin typeface="Helvetica" pitchFamily="34" charset="0"/>
                <a:ea typeface="Helvetica" pitchFamily="34" charset="-122"/>
                <a:cs typeface="Helvetica" pitchFamily="34" charset="-120"/>
              </a:rPr>
              <a:t>Scope resolution operator · The using keyword</a:t>
            </a:r>
            <a:endParaRPr lang="en-US" sz="15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10</a:t>
            </a:r>
            <a:endParaRPr lang="en-US" sz="1400" dirty="0"/>
          </a:p>
        </p:txBody>
      </p:sp>
      <p:sp>
        <p:nvSpPr>
          <p:cNvPr id="3" name="Text 1"/>
          <p:cNvSpPr/>
          <p:nvPr/>
        </p:nvSpPr>
        <p:spPr>
          <a:xfrm>
            <a:off x="548640" y="731520"/>
            <a:ext cx="11091672" cy="731520"/>
          </a:xfrm>
          <a:prstGeom prst="rect">
            <a:avLst/>
          </a:prstGeom>
          <a:noFill/>
          <a:ln/>
        </p:spPr>
        <p:txBody>
          <a:bodyPr wrap="square" rtlCol="0" anchor="ctr"/>
          <a:lstStyle/>
          <a:p>
            <a:pPr marL="0" indent="0">
              <a:buNone/>
            </a:pPr>
            <a:r>
              <a:rPr lang="en-US" sz="2800" b="1" dirty="0">
                <a:solidFill>
                  <a:srgbClr val="000000"/>
                </a:solidFill>
                <a:latin typeface="Helvetica" pitchFamily="34" charset="0"/>
                <a:ea typeface="Helvetica" pitchFamily="34" charset="-122"/>
                <a:cs typeface="Helvetica" pitchFamily="34" charset="-120"/>
              </a:rPr>
              <a:t>Why Namespaces? Using Them</a:t>
            </a:r>
            <a:endParaRPr lang="en-US" sz="2800" dirty="0"/>
          </a:p>
        </p:txBody>
      </p:sp>
      <p:sp>
        <p:nvSpPr>
          <p:cNvPr id="4" name="Text 2"/>
          <p:cNvSpPr/>
          <p:nvPr/>
        </p:nvSpPr>
        <p:spPr>
          <a:xfrm>
            <a:off x="548640" y="1645920"/>
            <a:ext cx="11091672" cy="4663440"/>
          </a:xfrm>
          <a:prstGeom prst="rect">
            <a:avLst/>
          </a:prstGeom>
          <a:noFill/>
          <a:ln/>
        </p:spPr>
        <p:txBody>
          <a:bodyPr wrap="square" rtlCol="0" anchor="t"/>
          <a:lstStyle/>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A namespace gives a distinct scope to names, preventing naming collisions</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The entire C++ standard library lives inside namespace std</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Namespace::member — explicit, always safe, more to type</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using namespace X; — imports every name from X (convenient, but risks collisions)</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using X::specificName; — imports only ONE name (safer, targeted)</a:t>
            </a:r>
            <a:endParaRPr lang="en-US" sz="1700" dirty="0"/>
          </a:p>
        </p:txBody>
      </p:sp>
      <p:sp>
        <p:nvSpPr>
          <p:cNvPr id="5" name="Text 3"/>
          <p:cNvSpPr/>
          <p:nvPr/>
        </p:nvSpPr>
        <p:spPr>
          <a:xfrm>
            <a:off x="548640" y="5669280"/>
            <a:ext cx="11091672" cy="822960"/>
          </a:xfrm>
          <a:prstGeom prst="rect">
            <a:avLst/>
          </a:prstGeom>
          <a:solidFill>
            <a:srgbClr val="F2F2F2"/>
          </a:solidFill>
          <a:ln/>
        </p:spPr>
        <p:txBody>
          <a:bodyPr wrap="square" lIns="127000" tIns="127000" rIns="127000" bIns="127000" rtlCol="0" anchor="t"/>
          <a:lstStyle/>
          <a:p>
            <a:pPr marL="0" indent="0">
              <a:buNone/>
            </a:pPr>
            <a:r>
              <a:rPr lang="en-US" sz="1350" b="1" i="1" dirty="0">
                <a:solidFill>
                  <a:srgbClr val="595959"/>
                </a:solidFill>
                <a:latin typeface="Helvetica" pitchFamily="34" charset="0"/>
                <a:ea typeface="Helvetica" pitchFamily="34" charset="-122"/>
                <a:cs typeface="Helvetica" pitchFamily="34" charset="-120"/>
              </a:rPr>
              <a:t>Real-life analogy:  </a:t>
            </a:r>
            <a:r>
              <a:rPr lang="en-US" sz="1350" i="1" dirty="0">
                <a:solidFill>
                  <a:srgbClr val="595959"/>
                </a:solidFill>
                <a:latin typeface="Helvetica" pitchFamily="34" charset="0"/>
                <a:ea typeface="Helvetica" pitchFamily="34" charset="-122"/>
                <a:cs typeface="Helvetica" pitchFamily="34" charset="-120"/>
              </a:rPr>
              <a:t>A namespace is like a surname: many 'Ram's in a village, but 'Ram Shrestha' vs 'Ram Thapa' never gets confused.</a:t>
            </a:r>
            <a:endParaRPr lang="en-US" sz="13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10 — PROGRAM 10.1</a:t>
            </a:r>
            <a:endParaRPr lang="en-US" sz="1400" dirty="0"/>
          </a:p>
        </p:txBody>
      </p:sp>
      <p:sp>
        <p:nvSpPr>
          <p:cNvPr id="3" name="Text 1"/>
          <p:cNvSpPr/>
          <p:nvPr/>
        </p:nvSpPr>
        <p:spPr>
          <a:xfrm>
            <a:off x="548640" y="731520"/>
            <a:ext cx="11091672" cy="54864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Declaring and Using Namespaces</a:t>
            </a:r>
            <a:endParaRPr lang="en-US" sz="2200" dirty="0"/>
          </a:p>
        </p:txBody>
      </p:sp>
      <p:sp>
        <p:nvSpPr>
          <p:cNvPr id="4" name="Text 2"/>
          <p:cNvSpPr/>
          <p:nvPr/>
        </p:nvSpPr>
        <p:spPr>
          <a:xfrm>
            <a:off x="548640" y="1417320"/>
            <a:ext cx="11091672" cy="5029200"/>
          </a:xfrm>
          <a:prstGeom prst="rect">
            <a:avLst/>
          </a:prstGeom>
          <a:solidFill>
            <a:srgbClr val="F2F2F2"/>
          </a:solidFill>
          <a:ln w="9525">
            <a:solidFill>
              <a:srgbClr val="000000"/>
            </a:solidFill>
          </a:ln>
        </p:spPr>
        <p:txBody>
          <a:bodyPr wrap="square" lIns="152400" tIns="152400" rIns="152400" bIns="152400" rtlCol="0" anchor="t">
            <a:spAutoFit/>
          </a:bodyPr>
          <a:lstStyle/>
          <a:p>
            <a:pPr marL="0" indent="0">
              <a:buNone/>
            </a:pPr>
            <a:r>
              <a:rPr lang="en-US" sz="1250" dirty="0">
                <a:solidFill>
                  <a:srgbClr val="000000"/>
                </a:solidFill>
                <a:latin typeface="Courier New" pitchFamily="34" charset="0"/>
                <a:ea typeface="Courier New" pitchFamily="34" charset="-122"/>
                <a:cs typeface="Courier New" pitchFamily="34" charset="-120"/>
              </a:rPr>
              <a:t>namespace College { int studentCount = 250;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namespace Company { int studentCount = 40; }  // no conflict</a:t>
            </a:r>
            <a:endParaRPr lang="en-US" sz="1250" dirty="0"/>
          </a:p>
          <a:p>
            <a:pPr marL="0" indent="0">
              <a:buNone/>
            </a:pP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cout &lt;&lt; College::studentCount;   // 250</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cout &lt;&lt; Company::studentCount;   // 40</a:t>
            </a:r>
            <a:endParaRPr lang="en-US" sz="12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10 — REVIEW</a:t>
            </a:r>
            <a:endParaRPr lang="en-US" sz="1400" dirty="0"/>
          </a:p>
        </p:txBody>
      </p:sp>
      <p:sp>
        <p:nvSpPr>
          <p:cNvPr id="3" name="Text 1"/>
          <p:cNvSpPr/>
          <p:nvPr/>
        </p:nvSpPr>
        <p:spPr>
          <a:xfrm>
            <a:off x="548640" y="731520"/>
            <a:ext cx="11091672" cy="640080"/>
          </a:xfrm>
          <a:prstGeom prst="rect">
            <a:avLst/>
          </a:prstGeom>
          <a:noFill/>
          <a:ln/>
        </p:spPr>
        <p:txBody>
          <a:bodyPr wrap="square" rtlCol="0" anchor="ctr"/>
          <a:lstStyle/>
          <a:p>
            <a:pPr marL="0" indent="0">
              <a:buNone/>
            </a:pPr>
            <a:r>
              <a:rPr lang="en-US" sz="2600" b="1" dirty="0">
                <a:solidFill>
                  <a:srgbClr val="000000"/>
                </a:solidFill>
                <a:latin typeface="Helvetica" pitchFamily="34" charset="0"/>
                <a:ea typeface="Helvetica" pitchFamily="34" charset="-122"/>
                <a:cs typeface="Helvetica" pitchFamily="34" charset="-120"/>
              </a:rPr>
              <a:t>Practice &amp; Exam-style Questions</a:t>
            </a:r>
            <a:endParaRPr lang="en-US" sz="2600" dirty="0"/>
          </a:p>
        </p:txBody>
      </p:sp>
      <p:sp>
        <p:nvSpPr>
          <p:cNvPr id="4" name="Text 2"/>
          <p:cNvSpPr/>
          <p:nvPr/>
        </p:nvSpPr>
        <p:spPr>
          <a:xfrm>
            <a:off x="548640" y="1554480"/>
            <a:ext cx="11091672" cy="4846320"/>
          </a:xfrm>
          <a:prstGeom prst="rect">
            <a:avLst/>
          </a:prstGeom>
          <a:noFill/>
          <a:ln/>
        </p:spPr>
        <p:txBody>
          <a:bodyPr wrap="square" rtlCol="0" anchor="t"/>
          <a:lstStyle/>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What is a namespace? Why is it used in C++?</a:t>
            </a:r>
            <a:endParaRPr lang="en-US" sz="1550" dirty="0"/>
          </a:p>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Differentiate 'using namespace std;' vs 'std::cout'.</a:t>
            </a:r>
            <a:endParaRPr lang="en-US" sz="1550" dirty="0"/>
          </a:p>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Write a program demonstrating user-defined namespaces.</a:t>
            </a:r>
            <a:endParaRPr lang="en-US" sz="15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55">
    <p:bg>
      <p:bgPr>
        <a:solidFill>
          <a:schemeClr val="tx2">
            <a:lumMod val="75000"/>
          </a:schemeClr>
        </a:solidFill>
        <a:effectLst/>
      </p:bgPr>
    </p:bg>
    <p:spTree>
      <p:nvGrpSpPr>
        <p:cNvPr id="1" name=""/>
        <p:cNvGrpSpPr/>
        <p:nvPr/>
      </p:nvGrpSpPr>
      <p:grpSpPr>
        <a:xfrm>
          <a:off x="0" y="0"/>
          <a:ext cx="0" cy="0"/>
          <a:chOff x="0" y="0"/>
          <a:chExt cx="0" cy="0"/>
        </a:xfrm>
      </p:grpSpPr>
      <p:sp>
        <p:nvSpPr>
          <p:cNvPr id="2" name="Text 0"/>
          <p:cNvSpPr/>
          <p:nvPr/>
        </p:nvSpPr>
        <p:spPr>
          <a:xfrm>
            <a:off x="548640" y="2103120"/>
            <a:ext cx="11091672" cy="548640"/>
          </a:xfrm>
          <a:prstGeom prst="rect">
            <a:avLst/>
          </a:prstGeom>
          <a:noFill/>
          <a:ln/>
        </p:spPr>
        <p:txBody>
          <a:bodyPr wrap="square" rtlCol="0" anchor="ctr"/>
          <a:lstStyle/>
          <a:p>
            <a:pPr marL="0" indent="0">
              <a:buNone/>
            </a:pPr>
            <a:r>
              <a:rPr lang="en-US" sz="1800" b="1" kern="0" spc="200" dirty="0">
                <a:solidFill>
                  <a:srgbClr val="BFBFBF"/>
                </a:solidFill>
                <a:latin typeface="Helvetica" pitchFamily="34" charset="0"/>
                <a:ea typeface="Helvetica" pitchFamily="34" charset="-122"/>
                <a:cs typeface="Helvetica" pitchFamily="34" charset="-120"/>
              </a:rPr>
              <a:t>CHAPTER 10</a:t>
            </a:r>
            <a:endParaRPr lang="en-US" sz="1800" dirty="0"/>
          </a:p>
        </p:txBody>
      </p:sp>
      <p:sp>
        <p:nvSpPr>
          <p:cNvPr id="3" name="Text 1"/>
          <p:cNvSpPr/>
          <p:nvPr/>
        </p:nvSpPr>
        <p:spPr>
          <a:xfrm>
            <a:off x="548640" y="2651760"/>
            <a:ext cx="11091672" cy="1280160"/>
          </a:xfrm>
          <a:prstGeom prst="rect">
            <a:avLst/>
          </a:prstGeom>
          <a:noFill/>
          <a:ln/>
        </p:spPr>
        <p:txBody>
          <a:bodyPr wrap="square" rtlCol="0" anchor="ctr"/>
          <a:lstStyle/>
          <a:p>
            <a:pPr marL="0" indent="0">
              <a:buNone/>
            </a:pPr>
            <a:r>
              <a:rPr lang="en-US" sz="3600" b="1" dirty="0">
                <a:solidFill>
                  <a:srgbClr val="FFFFFF"/>
                </a:solidFill>
                <a:latin typeface="Helvetica" pitchFamily="34" charset="0"/>
                <a:ea typeface="Helvetica" pitchFamily="34" charset="-122"/>
                <a:cs typeface="Helvetica" pitchFamily="34" charset="-120"/>
              </a:rPr>
              <a:t>Exception Handling</a:t>
            </a:r>
            <a:endParaRPr lang="en-US" sz="3600" dirty="0"/>
          </a:p>
        </p:txBody>
      </p:sp>
      <p:sp>
        <p:nvSpPr>
          <p:cNvPr id="4" name="Text 2"/>
          <p:cNvSpPr/>
          <p:nvPr/>
        </p:nvSpPr>
        <p:spPr>
          <a:xfrm>
            <a:off x="548640" y="4023360"/>
            <a:ext cx="11091672" cy="2011680"/>
          </a:xfrm>
          <a:prstGeom prst="rect">
            <a:avLst/>
          </a:prstGeom>
          <a:noFill/>
          <a:ln/>
        </p:spPr>
        <p:txBody>
          <a:bodyPr wrap="square" rtlCol="0" anchor="t"/>
          <a:lstStyle/>
          <a:p>
            <a:pPr marL="0" indent="0">
              <a:buNone/>
            </a:pPr>
            <a:r>
              <a:rPr lang="en-US" sz="1500" dirty="0">
                <a:solidFill>
                  <a:srgbClr val="D9D9D9"/>
                </a:solidFill>
                <a:latin typeface="Helvetica" pitchFamily="34" charset="0"/>
                <a:ea typeface="Helvetica" pitchFamily="34" charset="-122"/>
                <a:cs typeface="Helvetica" pitchFamily="34" charset="-120"/>
              </a:rPr>
              <a:t>try / catch / throw · Multiple catch blocks · User-defined exceptions</a:t>
            </a:r>
            <a:endParaRPr lang="en-US" sz="15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11</a:t>
            </a:r>
            <a:endParaRPr lang="en-US" sz="1400" dirty="0"/>
          </a:p>
        </p:txBody>
      </p:sp>
      <p:sp>
        <p:nvSpPr>
          <p:cNvPr id="3" name="Text 1"/>
          <p:cNvSpPr/>
          <p:nvPr/>
        </p:nvSpPr>
        <p:spPr>
          <a:xfrm>
            <a:off x="548640" y="731520"/>
            <a:ext cx="11091672" cy="731520"/>
          </a:xfrm>
          <a:prstGeom prst="rect">
            <a:avLst/>
          </a:prstGeom>
          <a:noFill/>
          <a:ln/>
        </p:spPr>
        <p:txBody>
          <a:bodyPr wrap="square" rtlCol="0" anchor="ctr"/>
          <a:lstStyle/>
          <a:p>
            <a:pPr marL="0" indent="0">
              <a:buNone/>
            </a:pPr>
            <a:r>
              <a:rPr lang="en-US" sz="2800" b="1" dirty="0">
                <a:solidFill>
                  <a:srgbClr val="000000"/>
                </a:solidFill>
                <a:latin typeface="Helvetica" pitchFamily="34" charset="0"/>
                <a:ea typeface="Helvetica" pitchFamily="34" charset="-122"/>
                <a:cs typeface="Helvetica" pitchFamily="34" charset="-120"/>
              </a:rPr>
              <a:t>The Exception Handling Model</a:t>
            </a:r>
            <a:endParaRPr lang="en-US" sz="2800" dirty="0"/>
          </a:p>
        </p:txBody>
      </p:sp>
      <p:sp>
        <p:nvSpPr>
          <p:cNvPr id="4" name="Text 2"/>
          <p:cNvSpPr/>
          <p:nvPr/>
        </p:nvSpPr>
        <p:spPr>
          <a:xfrm>
            <a:off x="548640" y="1645920"/>
            <a:ext cx="11091672" cy="4663440"/>
          </a:xfrm>
          <a:prstGeom prst="rect">
            <a:avLst/>
          </a:prstGeom>
          <a:noFill/>
          <a:ln/>
        </p:spPr>
        <p:txBody>
          <a:bodyPr wrap="square" rtlCol="0" anchor="t"/>
          <a:lstStyle/>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Exception — an unusual/error condition arising at run time</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try — marks a block where an exception might occur</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throw — signals an exceptional condition, hands over an exception object</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catch — a handler that receives a matching thrown object</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Control jumps DIRECTLY from throw to a matching catch — skips remaining try code</a:t>
            </a:r>
            <a:endParaRPr lang="en-US" sz="1700" dirty="0"/>
          </a:p>
        </p:txBody>
      </p:sp>
      <p:sp>
        <p:nvSpPr>
          <p:cNvPr id="5" name="Text 3"/>
          <p:cNvSpPr/>
          <p:nvPr/>
        </p:nvSpPr>
        <p:spPr>
          <a:xfrm>
            <a:off x="548640" y="5669280"/>
            <a:ext cx="11091672" cy="822960"/>
          </a:xfrm>
          <a:prstGeom prst="rect">
            <a:avLst/>
          </a:prstGeom>
          <a:solidFill>
            <a:srgbClr val="F2F2F2"/>
          </a:solidFill>
          <a:ln/>
        </p:spPr>
        <p:txBody>
          <a:bodyPr wrap="square" lIns="127000" tIns="127000" rIns="127000" bIns="127000" rtlCol="0" anchor="t"/>
          <a:lstStyle/>
          <a:p>
            <a:pPr marL="0" indent="0">
              <a:buNone/>
            </a:pPr>
            <a:r>
              <a:rPr lang="en-US" sz="1350" b="1" i="1" dirty="0">
                <a:solidFill>
                  <a:srgbClr val="595959"/>
                </a:solidFill>
                <a:latin typeface="Helvetica" pitchFamily="34" charset="0"/>
                <a:ea typeface="Helvetica" pitchFamily="34" charset="-122"/>
                <a:cs typeface="Helvetica" pitchFamily="34" charset="-120"/>
              </a:rPr>
              <a:t>Real-life analogy:  </a:t>
            </a:r>
            <a:r>
              <a:rPr lang="en-US" sz="1350" i="1" dirty="0">
                <a:solidFill>
                  <a:srgbClr val="595959"/>
                </a:solidFill>
                <a:latin typeface="Helvetica" pitchFamily="34" charset="0"/>
                <a:ea typeface="Helvetica" pitchFamily="34" charset="-122"/>
                <a:cs typeface="Helvetica" pitchFamily="34" charset="-120"/>
              </a:rPr>
              <a:t>A fire alarm: whoever notices the fire (throw) doesn't fight it themselves — the fire brigade (catch), positioned separately, handles it.</a:t>
            </a:r>
            <a:endParaRPr lang="en-US" sz="13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11 — PROGRAM 11.1</a:t>
            </a:r>
            <a:endParaRPr lang="en-US" sz="1400" dirty="0"/>
          </a:p>
        </p:txBody>
      </p:sp>
      <p:sp>
        <p:nvSpPr>
          <p:cNvPr id="3" name="Text 1"/>
          <p:cNvSpPr/>
          <p:nvPr/>
        </p:nvSpPr>
        <p:spPr>
          <a:xfrm>
            <a:off x="548640" y="731520"/>
            <a:ext cx="11091672" cy="54864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Basic try / throw / catch</a:t>
            </a:r>
            <a:endParaRPr lang="en-US" sz="2200" dirty="0"/>
          </a:p>
        </p:txBody>
      </p:sp>
      <p:sp>
        <p:nvSpPr>
          <p:cNvPr id="4" name="Text 2"/>
          <p:cNvSpPr/>
          <p:nvPr/>
        </p:nvSpPr>
        <p:spPr>
          <a:xfrm>
            <a:off x="548640" y="1417320"/>
            <a:ext cx="11091672" cy="5029200"/>
          </a:xfrm>
          <a:prstGeom prst="rect">
            <a:avLst/>
          </a:prstGeom>
          <a:solidFill>
            <a:srgbClr val="F2F2F2"/>
          </a:solidFill>
          <a:ln w="9525">
            <a:solidFill>
              <a:srgbClr val="000000"/>
            </a:solidFill>
          </a:ln>
        </p:spPr>
        <p:txBody>
          <a:bodyPr wrap="square" lIns="152400" tIns="152400" rIns="152400" bIns="152400" rtlCol="0" anchor="t">
            <a:spAutoFit/>
          </a:bodyPr>
          <a:lstStyle/>
          <a:p>
            <a:pPr marL="0" indent="0">
              <a:buNone/>
            </a:pPr>
            <a:r>
              <a:rPr lang="en-US" sz="1250" dirty="0">
                <a:solidFill>
                  <a:srgbClr val="000000"/>
                </a:solidFill>
                <a:latin typeface="Courier New" pitchFamily="34" charset="0"/>
                <a:ea typeface="Courier New" pitchFamily="34" charset="-122"/>
                <a:cs typeface="Courier New" pitchFamily="34" charset="-120"/>
              </a:rPr>
              <a:t>double divide(double a, double b)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if (b == 0)</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throw runtime_error("Division by zero!");</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return a / b;</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a:t>
            </a:r>
            <a:endParaRPr lang="en-US" sz="1250" dirty="0"/>
          </a:p>
          <a:p>
            <a:pPr marL="0" indent="0">
              <a:buNone/>
            </a:pP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try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cout &lt;&lt; divide(10, 0);</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catch (runtime_error &amp;e) {</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cout &lt;&lt; "Caught: " &lt;&lt; e.what();</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a:t>
            </a:r>
            <a:endParaRPr lang="en-US" sz="12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11</a:t>
            </a:r>
            <a:endParaRPr lang="en-US" sz="1400" dirty="0"/>
          </a:p>
        </p:txBody>
      </p:sp>
      <p:sp>
        <p:nvSpPr>
          <p:cNvPr id="3" name="Text 1"/>
          <p:cNvSpPr/>
          <p:nvPr/>
        </p:nvSpPr>
        <p:spPr>
          <a:xfrm>
            <a:off x="548640" y="731520"/>
            <a:ext cx="11091672" cy="731520"/>
          </a:xfrm>
          <a:prstGeom prst="rect">
            <a:avLst/>
          </a:prstGeom>
          <a:noFill/>
          <a:ln/>
        </p:spPr>
        <p:txBody>
          <a:bodyPr wrap="square" rtlCol="0" anchor="ctr"/>
          <a:lstStyle/>
          <a:p>
            <a:pPr marL="0" indent="0">
              <a:buNone/>
            </a:pPr>
            <a:r>
              <a:rPr lang="en-US" sz="2800" b="1" dirty="0">
                <a:solidFill>
                  <a:srgbClr val="000000"/>
                </a:solidFill>
                <a:latin typeface="Helvetica" pitchFamily="34" charset="0"/>
                <a:ea typeface="Helvetica" pitchFamily="34" charset="-122"/>
                <a:cs typeface="Helvetica" pitchFamily="34" charset="-120"/>
              </a:rPr>
              <a:t>Multiple catch Blocks &amp; User-defined Exceptions</a:t>
            </a:r>
            <a:endParaRPr lang="en-US" sz="2800" dirty="0"/>
          </a:p>
        </p:txBody>
      </p:sp>
      <p:sp>
        <p:nvSpPr>
          <p:cNvPr id="4" name="Text 2"/>
          <p:cNvSpPr/>
          <p:nvPr/>
        </p:nvSpPr>
        <p:spPr>
          <a:xfrm>
            <a:off x="548640" y="1645920"/>
            <a:ext cx="11091672" cy="4663440"/>
          </a:xfrm>
          <a:prstGeom prst="rect">
            <a:avLst/>
          </a:prstGeom>
          <a:noFill/>
          <a:ln/>
        </p:spPr>
        <p:txBody>
          <a:bodyPr wrap="square" rtlCol="0" anchor="t"/>
          <a:lstStyle/>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Several catch handlers may follow one try, tried top to bottom</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catch (...) — catch-all safety net, usually placed last</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User-defined exceptions typically derive from std::exception</a:t>
            </a:r>
            <a:endParaRPr lang="en-US" sz="1700" dirty="0"/>
          </a:p>
          <a:p>
            <a:pPr marL="228600" indent="-228600">
              <a:spcAft>
                <a:spcPts val="1200"/>
              </a:spcAft>
              <a:buSzPct val="100000"/>
              <a:buChar char="•"/>
            </a:pPr>
            <a:r>
              <a:rPr lang="en-US" sz="1700" dirty="0">
                <a:solidFill>
                  <a:srgbClr val="000000"/>
                </a:solidFill>
                <a:latin typeface="Helvetica" pitchFamily="34" charset="0"/>
                <a:ea typeface="Helvetica" pitchFamily="34" charset="-122"/>
                <a:cs typeface="Helvetica" pitchFamily="34" charset="-120"/>
              </a:rPr>
              <a:t>Override what() (virtual in std::exception) to describe the error</a:t>
            </a:r>
            <a:endParaRPr lang="en-US" sz="17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11 — REVIEW</a:t>
            </a:r>
            <a:endParaRPr lang="en-US" sz="1400" dirty="0"/>
          </a:p>
        </p:txBody>
      </p:sp>
      <p:sp>
        <p:nvSpPr>
          <p:cNvPr id="3" name="Text 1"/>
          <p:cNvSpPr/>
          <p:nvPr/>
        </p:nvSpPr>
        <p:spPr>
          <a:xfrm>
            <a:off x="548640" y="731520"/>
            <a:ext cx="11091672" cy="640080"/>
          </a:xfrm>
          <a:prstGeom prst="rect">
            <a:avLst/>
          </a:prstGeom>
          <a:noFill/>
          <a:ln/>
        </p:spPr>
        <p:txBody>
          <a:bodyPr wrap="square" rtlCol="0" anchor="ctr"/>
          <a:lstStyle/>
          <a:p>
            <a:pPr marL="0" indent="0">
              <a:buNone/>
            </a:pPr>
            <a:r>
              <a:rPr lang="en-US" sz="2600" b="1" dirty="0">
                <a:solidFill>
                  <a:srgbClr val="000000"/>
                </a:solidFill>
                <a:latin typeface="Helvetica" pitchFamily="34" charset="0"/>
                <a:ea typeface="Helvetica" pitchFamily="34" charset="-122"/>
                <a:cs typeface="Helvetica" pitchFamily="34" charset="-120"/>
              </a:rPr>
              <a:t>Practice &amp; Exam-style Questions</a:t>
            </a:r>
            <a:endParaRPr lang="en-US" sz="2600" dirty="0"/>
          </a:p>
        </p:txBody>
      </p:sp>
      <p:sp>
        <p:nvSpPr>
          <p:cNvPr id="4" name="Text 2"/>
          <p:cNvSpPr/>
          <p:nvPr/>
        </p:nvSpPr>
        <p:spPr>
          <a:xfrm>
            <a:off x="548640" y="1554480"/>
            <a:ext cx="11091672" cy="4846320"/>
          </a:xfrm>
          <a:prstGeom prst="rect">
            <a:avLst/>
          </a:prstGeom>
          <a:noFill/>
          <a:ln/>
        </p:spPr>
        <p:txBody>
          <a:bodyPr wrap="square" rtlCol="0" anchor="t"/>
          <a:lstStyle/>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Explain try, catch, throw with a program.</a:t>
            </a:r>
            <a:endParaRPr lang="en-US" sz="1550" dirty="0"/>
          </a:p>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Write a program to handle division-by-zero.</a:t>
            </a:r>
            <a:endParaRPr lang="en-US" sz="1550" dirty="0"/>
          </a:p>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What is a user-defined exception? Write a program.</a:t>
            </a:r>
            <a:endParaRPr lang="en-US" sz="1550" dirty="0"/>
          </a:p>
          <a:p>
            <a:pPr marL="304800" indent="-304800">
              <a:spcAft>
                <a:spcPts val="1400"/>
              </a:spcAft>
              <a:buSzPct val="100000"/>
              <a:buFont typeface="+mj-lt"/>
              <a:buAutoNum type="arabicPeriod"/>
            </a:pPr>
            <a:r>
              <a:rPr lang="en-US" sz="1550" dirty="0">
                <a:solidFill>
                  <a:srgbClr val="000000"/>
                </a:solidFill>
                <a:latin typeface="Helvetica" pitchFamily="34" charset="0"/>
                <a:ea typeface="Helvetica" pitchFamily="34" charset="-122"/>
                <a:cs typeface="Helvetica" pitchFamily="34" charset="-120"/>
              </a:rPr>
              <a:t>Differentiate exception handling from return-code error handling.</a:t>
            </a:r>
            <a:endParaRPr lang="en-US" sz="15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41">
    <p:bg>
      <p:bgPr>
        <a:solidFill>
          <a:schemeClr val="tx2">
            <a:lumMod val="75000"/>
          </a:schemeClr>
        </a:solidFill>
        <a:effectLst/>
      </p:bgPr>
    </p:bg>
    <p:spTree>
      <p:nvGrpSpPr>
        <p:cNvPr id="1" name=""/>
        <p:cNvGrpSpPr/>
        <p:nvPr/>
      </p:nvGrpSpPr>
      <p:grpSpPr>
        <a:xfrm>
          <a:off x="0" y="0"/>
          <a:ext cx="0" cy="0"/>
          <a:chOff x="0" y="0"/>
          <a:chExt cx="0" cy="0"/>
        </a:xfrm>
      </p:grpSpPr>
      <p:sp>
        <p:nvSpPr>
          <p:cNvPr id="2" name="Text 0"/>
          <p:cNvSpPr/>
          <p:nvPr/>
        </p:nvSpPr>
        <p:spPr>
          <a:xfrm>
            <a:off x="548640" y="2103120"/>
            <a:ext cx="11091672" cy="548640"/>
          </a:xfrm>
          <a:prstGeom prst="rect">
            <a:avLst/>
          </a:prstGeom>
          <a:noFill/>
          <a:ln/>
        </p:spPr>
        <p:txBody>
          <a:bodyPr wrap="square" rtlCol="0" anchor="ctr"/>
          <a:lstStyle/>
          <a:p>
            <a:pPr marL="0" indent="0">
              <a:buNone/>
            </a:pPr>
            <a:r>
              <a:rPr lang="en-US" sz="1800" b="1" kern="0" spc="200" dirty="0">
                <a:solidFill>
                  <a:srgbClr val="BFBFBF"/>
                </a:solidFill>
                <a:latin typeface="Helvetica" pitchFamily="34" charset="0"/>
                <a:ea typeface="Helvetica" pitchFamily="34" charset="-122"/>
                <a:cs typeface="Helvetica" pitchFamily="34" charset="-120"/>
              </a:rPr>
              <a:t>CHAPTER 11</a:t>
            </a:r>
            <a:endParaRPr lang="en-US" sz="1800" dirty="0"/>
          </a:p>
        </p:txBody>
      </p:sp>
      <p:sp>
        <p:nvSpPr>
          <p:cNvPr id="3" name="Text 1"/>
          <p:cNvSpPr/>
          <p:nvPr/>
        </p:nvSpPr>
        <p:spPr>
          <a:xfrm>
            <a:off x="548640" y="2651760"/>
            <a:ext cx="11091672" cy="1280160"/>
          </a:xfrm>
          <a:prstGeom prst="rect">
            <a:avLst/>
          </a:prstGeom>
          <a:noFill/>
          <a:ln/>
        </p:spPr>
        <p:txBody>
          <a:bodyPr wrap="square" rtlCol="0" anchor="ctr"/>
          <a:lstStyle/>
          <a:p>
            <a:pPr marL="0" indent="0">
              <a:buNone/>
            </a:pPr>
            <a:r>
              <a:rPr lang="en-US" sz="3600" b="1" dirty="0">
                <a:solidFill>
                  <a:srgbClr val="FFFFFF"/>
                </a:solidFill>
                <a:latin typeface="Helvetica" pitchFamily="34" charset="0"/>
                <a:ea typeface="Helvetica" pitchFamily="34" charset="-122"/>
                <a:cs typeface="Helvetica" pitchFamily="34" charset="-120"/>
              </a:rPr>
              <a:t>File Handling</a:t>
            </a:r>
            <a:endParaRPr lang="en-US" sz="3600" dirty="0"/>
          </a:p>
        </p:txBody>
      </p:sp>
      <p:sp>
        <p:nvSpPr>
          <p:cNvPr id="4" name="Text 2"/>
          <p:cNvSpPr/>
          <p:nvPr/>
        </p:nvSpPr>
        <p:spPr>
          <a:xfrm>
            <a:off x="548640" y="4023360"/>
            <a:ext cx="11091672" cy="2011680"/>
          </a:xfrm>
          <a:prstGeom prst="rect">
            <a:avLst/>
          </a:prstGeom>
          <a:noFill/>
          <a:ln/>
        </p:spPr>
        <p:txBody>
          <a:bodyPr wrap="square" rtlCol="0" anchor="t"/>
          <a:lstStyle/>
          <a:p>
            <a:pPr marL="0" indent="0">
              <a:buNone/>
            </a:pPr>
            <a:r>
              <a:rPr lang="en-US" sz="1500" dirty="0">
                <a:solidFill>
                  <a:srgbClr val="D9D9D9"/>
                </a:solidFill>
                <a:latin typeface="Helvetica" pitchFamily="34" charset="0"/>
                <a:ea typeface="Helvetica" pitchFamily="34" charset="-122"/>
                <a:cs typeface="Helvetica" pitchFamily="34" charset="-120"/>
              </a:rPr>
              <a:t>ofstream/ifstream/fstream · File modes · seekg/seekp/tellg/tellp · Reading &amp; writing objects</a:t>
            </a:r>
            <a:endParaRPr lang="en-US" sz="15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42">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234DE9C-A925-2567-239A-760E6B19AD12}"/>
              </a:ext>
            </a:extLst>
          </p:cNvPr>
          <p:cNvPicPr>
            <a:picLocks noChangeAspect="1"/>
          </p:cNvPicPr>
          <p:nvPr/>
        </p:nvPicPr>
        <p:blipFill>
          <a:blip r:embed="rId3"/>
          <a:stretch>
            <a:fillRect/>
          </a:stretch>
        </p:blipFill>
        <p:spPr>
          <a:xfrm>
            <a:off x="309418" y="199280"/>
            <a:ext cx="11573164" cy="6459440"/>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6978B1F-90B0-CF02-C542-5787503DE8E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F6589F4-B6C6-8935-3431-46CDB0868374}"/>
              </a:ext>
            </a:extLst>
          </p:cNvPr>
          <p:cNvSpPr/>
          <p:nvPr/>
        </p:nvSpPr>
        <p:spPr>
          <a:xfrm>
            <a:off x="548640" y="241226"/>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11</a:t>
            </a:r>
            <a:endParaRPr lang="en-US" sz="1400" dirty="0"/>
          </a:p>
        </p:txBody>
      </p:sp>
      <p:sp>
        <p:nvSpPr>
          <p:cNvPr id="3" name="Text 1">
            <a:extLst>
              <a:ext uri="{FF2B5EF4-FFF2-40B4-BE49-F238E27FC236}">
                <a16:creationId xmlns:a16="http://schemas.microsoft.com/office/drawing/2014/main" id="{1B83A739-CF67-A167-38D0-09F26ADE50C6}"/>
              </a:ext>
            </a:extLst>
          </p:cNvPr>
          <p:cNvSpPr/>
          <p:nvPr/>
        </p:nvSpPr>
        <p:spPr>
          <a:xfrm>
            <a:off x="548640" y="480406"/>
            <a:ext cx="11091672" cy="73152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File Handling</a:t>
            </a:r>
            <a:endParaRPr lang="en-US" sz="2200" dirty="0"/>
          </a:p>
        </p:txBody>
      </p:sp>
      <p:sp>
        <p:nvSpPr>
          <p:cNvPr id="4" name="Text 2">
            <a:extLst>
              <a:ext uri="{FF2B5EF4-FFF2-40B4-BE49-F238E27FC236}">
                <a16:creationId xmlns:a16="http://schemas.microsoft.com/office/drawing/2014/main" id="{0BED4805-5258-ED7C-2CA5-8D0E9DA83727}"/>
              </a:ext>
            </a:extLst>
          </p:cNvPr>
          <p:cNvSpPr/>
          <p:nvPr/>
        </p:nvSpPr>
        <p:spPr>
          <a:xfrm>
            <a:off x="548640" y="1165860"/>
            <a:ext cx="7671724" cy="4043450"/>
          </a:xfrm>
          <a:prstGeom prst="rect">
            <a:avLst/>
          </a:prstGeom>
          <a:noFill/>
          <a:ln/>
        </p:spPr>
        <p:txBody>
          <a:bodyPr wrap="square" rtlCol="0" anchor="t"/>
          <a:lstStyle/>
          <a:p>
            <a:pPr>
              <a:spcAft>
                <a:spcPts val="1200"/>
              </a:spcAft>
              <a:buSzPct val="100000"/>
            </a:pPr>
            <a:r>
              <a:rPr lang="en-US" i="1" dirty="0">
                <a:ea typeface="Calibri" pitchFamily="34" charset="-122"/>
                <a:cs typeface="Calibri" pitchFamily="34" charset="-120"/>
              </a:rPr>
              <a:t>File handling is the mechanism by which a C++ program creates, opens, reads, writes, and closes files stored on secondary storage (disk), using stream classes from the &lt;</a:t>
            </a:r>
            <a:r>
              <a:rPr lang="en-US" i="1" dirty="0" err="1">
                <a:ea typeface="Calibri" pitchFamily="34" charset="-122"/>
                <a:cs typeface="Calibri" pitchFamily="34" charset="-120"/>
              </a:rPr>
              <a:t>fstream</a:t>
            </a:r>
            <a:r>
              <a:rPr lang="en-US" i="1" dirty="0">
                <a:ea typeface="Calibri" pitchFamily="34" charset="-122"/>
                <a:cs typeface="Calibri" pitchFamily="34" charset="-120"/>
              </a:rPr>
              <a:t>&gt; header so that data can persist beyond the program's lifetime.</a:t>
            </a:r>
            <a:endParaRPr lang="en-US" dirty="0"/>
          </a:p>
          <a:p>
            <a:pPr marL="628650" lvl="1" indent="-171450">
              <a:spcAft>
                <a:spcPts val="900"/>
              </a:spcAft>
              <a:buSzPct val="100000"/>
              <a:buChar char="•"/>
            </a:pPr>
            <a:r>
              <a:rPr lang="en-US" sz="1600" dirty="0">
                <a:solidFill>
                  <a:srgbClr val="16233B"/>
                </a:solidFill>
                <a:ea typeface="Calibri" pitchFamily="34" charset="-122"/>
                <a:cs typeface="Calibri" pitchFamily="34" charset="-120"/>
              </a:rPr>
              <a:t>RAM (variables, arrays, objects) is volatile — its contents disappear the instant the program terminates.</a:t>
            </a:r>
            <a:endParaRPr lang="en-US" sz="1600" dirty="0"/>
          </a:p>
          <a:p>
            <a:pPr marL="628650" lvl="1" indent="-171450">
              <a:spcAft>
                <a:spcPts val="900"/>
              </a:spcAft>
              <a:buSzPct val="100000"/>
              <a:buChar char="•"/>
            </a:pPr>
            <a:r>
              <a:rPr lang="en-US" sz="1600" dirty="0">
                <a:solidFill>
                  <a:srgbClr val="16233B"/>
                </a:solidFill>
                <a:ea typeface="Calibri" pitchFamily="34" charset="-122"/>
                <a:cs typeface="Calibri" pitchFamily="34" charset="-120"/>
              </a:rPr>
              <a:t>A disk file is persistent — it survives program exit, system reboot, and can be shared between programs.</a:t>
            </a:r>
            <a:endParaRPr lang="en-US" sz="1600" dirty="0"/>
          </a:p>
          <a:p>
            <a:pPr marL="628650" lvl="1" indent="-171450">
              <a:spcAft>
                <a:spcPts val="900"/>
              </a:spcAft>
              <a:buSzPct val="100000"/>
              <a:buChar char="•"/>
            </a:pPr>
            <a:r>
              <a:rPr lang="en-US" sz="1600" dirty="0">
                <a:solidFill>
                  <a:srgbClr val="16233B"/>
                </a:solidFill>
                <a:ea typeface="Calibri" pitchFamily="34" charset="-122"/>
                <a:cs typeface="Calibri" pitchFamily="34" charset="-120"/>
              </a:rPr>
              <a:t>C++ treats every source of input and every destination of output — keyboard, screen, or file — uniformly as a stream of bytes.</a:t>
            </a:r>
            <a:endParaRPr lang="en-US" sz="1600" dirty="0"/>
          </a:p>
          <a:p>
            <a:pPr marL="628650" lvl="1" indent="-171450">
              <a:spcAft>
                <a:spcPts val="900"/>
              </a:spcAft>
              <a:buSzPct val="100000"/>
              <a:buChar char="•"/>
            </a:pPr>
            <a:r>
              <a:rPr lang="en-US" sz="1600" dirty="0">
                <a:solidFill>
                  <a:srgbClr val="16233B"/>
                </a:solidFill>
                <a:ea typeface="Calibri" pitchFamily="34" charset="-122"/>
                <a:cs typeface="Calibri" pitchFamily="34" charset="-120"/>
              </a:rPr>
              <a:t>The header &lt;</a:t>
            </a:r>
            <a:r>
              <a:rPr lang="en-US" sz="1600" dirty="0" err="1">
                <a:solidFill>
                  <a:srgbClr val="16233B"/>
                </a:solidFill>
                <a:ea typeface="Calibri" pitchFamily="34" charset="-122"/>
                <a:cs typeface="Calibri" pitchFamily="34" charset="-120"/>
              </a:rPr>
              <a:t>fstream</a:t>
            </a:r>
            <a:r>
              <a:rPr lang="en-US" sz="1600" dirty="0">
                <a:solidFill>
                  <a:srgbClr val="16233B"/>
                </a:solidFill>
                <a:ea typeface="Calibri" pitchFamily="34" charset="-122"/>
                <a:cs typeface="Calibri" pitchFamily="34" charset="-120"/>
              </a:rPr>
              <a:t>&gt; supplies three classes: </a:t>
            </a:r>
            <a:r>
              <a:rPr lang="en-US" sz="1600" dirty="0" err="1">
                <a:solidFill>
                  <a:srgbClr val="16233B"/>
                </a:solidFill>
                <a:ea typeface="Calibri" pitchFamily="34" charset="-122"/>
                <a:cs typeface="Calibri" pitchFamily="34" charset="-120"/>
              </a:rPr>
              <a:t>ifstream</a:t>
            </a:r>
            <a:r>
              <a:rPr lang="en-US" sz="1600" dirty="0">
                <a:solidFill>
                  <a:srgbClr val="16233B"/>
                </a:solidFill>
                <a:ea typeface="Calibri" pitchFamily="34" charset="-122"/>
                <a:cs typeface="Calibri" pitchFamily="34" charset="-120"/>
              </a:rPr>
              <a:t> (input/read), </a:t>
            </a:r>
            <a:r>
              <a:rPr lang="en-US" sz="1600" dirty="0" err="1">
                <a:solidFill>
                  <a:srgbClr val="16233B"/>
                </a:solidFill>
                <a:ea typeface="Calibri" pitchFamily="34" charset="-122"/>
                <a:cs typeface="Calibri" pitchFamily="34" charset="-120"/>
              </a:rPr>
              <a:t>ofstream</a:t>
            </a:r>
            <a:r>
              <a:rPr lang="en-US" sz="1600" dirty="0">
                <a:solidFill>
                  <a:srgbClr val="16233B"/>
                </a:solidFill>
                <a:ea typeface="Calibri" pitchFamily="34" charset="-122"/>
                <a:cs typeface="Calibri" pitchFamily="34" charset="-120"/>
              </a:rPr>
              <a:t> (output/write), and </a:t>
            </a:r>
            <a:r>
              <a:rPr lang="en-US" sz="1600" dirty="0" err="1">
                <a:solidFill>
                  <a:srgbClr val="16233B"/>
                </a:solidFill>
                <a:ea typeface="Calibri" pitchFamily="34" charset="-122"/>
                <a:cs typeface="Calibri" pitchFamily="34" charset="-120"/>
              </a:rPr>
              <a:t>fstream</a:t>
            </a:r>
            <a:r>
              <a:rPr lang="en-US" sz="1600" dirty="0">
                <a:solidFill>
                  <a:srgbClr val="16233B"/>
                </a:solidFill>
                <a:ea typeface="Calibri" pitchFamily="34" charset="-122"/>
                <a:cs typeface="Calibri" pitchFamily="34" charset="-120"/>
              </a:rPr>
              <a:t> (both).</a:t>
            </a:r>
            <a:endParaRPr lang="en-US" sz="1600" dirty="0"/>
          </a:p>
          <a:p>
            <a:pPr>
              <a:spcAft>
                <a:spcPts val="1200"/>
              </a:spcAft>
              <a:buSzPct val="100000"/>
            </a:pPr>
            <a:endParaRPr lang="en-US" sz="1700" dirty="0"/>
          </a:p>
        </p:txBody>
      </p:sp>
      <p:sp>
        <p:nvSpPr>
          <p:cNvPr id="47" name="Shape 5">
            <a:extLst>
              <a:ext uri="{FF2B5EF4-FFF2-40B4-BE49-F238E27FC236}">
                <a16:creationId xmlns:a16="http://schemas.microsoft.com/office/drawing/2014/main" id="{F3FA0ECF-982E-9C0C-6DF4-ED54FEE43546}"/>
              </a:ext>
            </a:extLst>
          </p:cNvPr>
          <p:cNvSpPr/>
          <p:nvPr/>
        </p:nvSpPr>
        <p:spPr>
          <a:xfrm>
            <a:off x="8586931" y="1213888"/>
            <a:ext cx="3327977" cy="3819930"/>
          </a:xfrm>
          <a:prstGeom prst="roundRect">
            <a:avLst>
              <a:gd name="adj" fmla="val 2105"/>
            </a:avLst>
          </a:prstGeom>
          <a:solidFill>
            <a:srgbClr val="FFFFFF"/>
          </a:solidFill>
          <a:ln w="12700">
            <a:solidFill>
              <a:srgbClr val="E3E9F5"/>
            </a:solidFill>
            <a:prstDash val="solid"/>
          </a:ln>
          <a:effectLst>
            <a:outerShdw blurRad="101600" dist="38100" dir="5400000" algn="bl" rotWithShape="0">
              <a:srgbClr val="1B2A4A">
                <a:alpha val="12000"/>
              </a:srgbClr>
            </a:outerShdw>
          </a:effectLst>
        </p:spPr>
        <p:txBody>
          <a:bodyPr/>
          <a:lstStyle/>
          <a:p>
            <a:endParaRPr lang="en-US"/>
          </a:p>
        </p:txBody>
      </p:sp>
      <p:sp>
        <p:nvSpPr>
          <p:cNvPr id="49" name="Text 6">
            <a:extLst>
              <a:ext uri="{FF2B5EF4-FFF2-40B4-BE49-F238E27FC236}">
                <a16:creationId xmlns:a16="http://schemas.microsoft.com/office/drawing/2014/main" id="{9D7033AF-F606-C773-42D7-6729FED41956}"/>
              </a:ext>
            </a:extLst>
          </p:cNvPr>
          <p:cNvSpPr/>
          <p:nvPr/>
        </p:nvSpPr>
        <p:spPr>
          <a:xfrm>
            <a:off x="8586931" y="1351047"/>
            <a:ext cx="3327977" cy="311831"/>
          </a:xfrm>
          <a:prstGeom prst="rect">
            <a:avLst/>
          </a:prstGeom>
          <a:noFill/>
          <a:ln/>
        </p:spPr>
        <p:txBody>
          <a:bodyPr wrap="square" lIns="0" tIns="0" rIns="0" bIns="0" rtlCol="0" anchor="ctr"/>
          <a:lstStyle/>
          <a:p>
            <a:pPr algn="ctr"/>
            <a:r>
              <a:rPr lang="en-US" sz="975" b="1" kern="0" spc="150" dirty="0">
                <a:solidFill>
                  <a:srgbClr val="5B6B85"/>
                </a:solidFill>
                <a:latin typeface="Calibri" pitchFamily="34" charset="0"/>
                <a:ea typeface="Calibri" pitchFamily="34" charset="-122"/>
                <a:cs typeface="Calibri" pitchFamily="34" charset="-120"/>
              </a:rPr>
              <a:t>RAM  vs.  DISK</a:t>
            </a:r>
            <a:endParaRPr lang="en-US" sz="975" dirty="0"/>
          </a:p>
        </p:txBody>
      </p:sp>
      <p:sp>
        <p:nvSpPr>
          <p:cNvPr id="51" name="Shape 7">
            <a:extLst>
              <a:ext uri="{FF2B5EF4-FFF2-40B4-BE49-F238E27FC236}">
                <a16:creationId xmlns:a16="http://schemas.microsoft.com/office/drawing/2014/main" id="{84D6E9FB-1CD8-3F94-EFA4-890A3A4A83B0}"/>
              </a:ext>
            </a:extLst>
          </p:cNvPr>
          <p:cNvSpPr/>
          <p:nvPr/>
        </p:nvSpPr>
        <p:spPr>
          <a:xfrm>
            <a:off x="8929832" y="1728238"/>
            <a:ext cx="2627350" cy="1169366"/>
          </a:xfrm>
          <a:prstGeom prst="roundRect">
            <a:avLst>
              <a:gd name="adj" fmla="val 5333"/>
            </a:avLst>
          </a:prstGeom>
          <a:solidFill>
            <a:srgbClr val="FDEEDB"/>
          </a:solidFill>
          <a:ln w="15875">
            <a:solidFill>
              <a:srgbClr val="F2A93B"/>
            </a:solidFill>
            <a:prstDash val="solid"/>
          </a:ln>
        </p:spPr>
      </p:sp>
      <p:sp>
        <p:nvSpPr>
          <p:cNvPr id="53" name="Text 8">
            <a:extLst>
              <a:ext uri="{FF2B5EF4-FFF2-40B4-BE49-F238E27FC236}">
                <a16:creationId xmlns:a16="http://schemas.microsoft.com/office/drawing/2014/main" id="{276A1D60-B971-1B0F-AE9E-A53AD951B30B}"/>
              </a:ext>
            </a:extLst>
          </p:cNvPr>
          <p:cNvSpPr/>
          <p:nvPr/>
        </p:nvSpPr>
        <p:spPr>
          <a:xfrm>
            <a:off x="9066992" y="1810534"/>
            <a:ext cx="2347100" cy="272852"/>
          </a:xfrm>
          <a:prstGeom prst="rect">
            <a:avLst/>
          </a:prstGeom>
          <a:noFill/>
          <a:ln/>
        </p:spPr>
        <p:txBody>
          <a:bodyPr wrap="square" lIns="0" tIns="0" rIns="0" bIns="0" rtlCol="0" anchor="ctr"/>
          <a:lstStyle/>
          <a:p>
            <a:r>
              <a:rPr lang="en-US" sz="938" b="1" dirty="0">
                <a:solidFill>
                  <a:srgbClr val="8A5A15"/>
                </a:solidFill>
                <a:latin typeface="Calibri" pitchFamily="34" charset="0"/>
                <a:ea typeface="Calibri" pitchFamily="34" charset="-122"/>
                <a:cs typeface="Calibri" pitchFamily="34" charset="-120"/>
              </a:rPr>
              <a:t>RAM (Program Memory)</a:t>
            </a:r>
            <a:endParaRPr lang="en-US" sz="938" dirty="0"/>
          </a:p>
        </p:txBody>
      </p:sp>
      <p:sp>
        <p:nvSpPr>
          <p:cNvPr id="55" name="Text 9">
            <a:extLst>
              <a:ext uri="{FF2B5EF4-FFF2-40B4-BE49-F238E27FC236}">
                <a16:creationId xmlns:a16="http://schemas.microsoft.com/office/drawing/2014/main" id="{69474A33-EC92-FA0A-878C-D18BDA6EC816}"/>
              </a:ext>
            </a:extLst>
          </p:cNvPr>
          <p:cNvSpPr/>
          <p:nvPr/>
        </p:nvSpPr>
        <p:spPr>
          <a:xfrm>
            <a:off x="9066992" y="2050564"/>
            <a:ext cx="2347100" cy="701620"/>
          </a:xfrm>
          <a:prstGeom prst="rect">
            <a:avLst/>
          </a:prstGeom>
          <a:noFill/>
          <a:ln/>
        </p:spPr>
        <p:txBody>
          <a:bodyPr wrap="square" lIns="0" tIns="0" rIns="0" bIns="0" rtlCol="0" anchor="ctr"/>
          <a:lstStyle/>
          <a:p>
            <a:pPr>
              <a:lnSpc>
                <a:spcPct val="130000"/>
              </a:lnSpc>
            </a:pPr>
            <a:r>
              <a:rPr lang="en-US" sz="825" dirty="0">
                <a:solidFill>
                  <a:srgbClr val="6B4A18"/>
                </a:solidFill>
                <a:latin typeface="Calibri" pitchFamily="34" charset="0"/>
                <a:ea typeface="Calibri" pitchFamily="34" charset="-122"/>
                <a:cs typeface="Calibri" pitchFamily="34" charset="-120"/>
              </a:rPr>
              <a:t>int, float, arrays, class objects</a:t>
            </a:r>
            <a:endParaRPr lang="en-US" sz="825" dirty="0"/>
          </a:p>
          <a:p>
            <a:pPr>
              <a:lnSpc>
                <a:spcPct val="130000"/>
              </a:lnSpc>
            </a:pPr>
            <a:r>
              <a:rPr lang="en-US" sz="825" dirty="0">
                <a:solidFill>
                  <a:srgbClr val="6B4A18"/>
                </a:solidFill>
                <a:latin typeface="Calibri" pitchFamily="34" charset="0"/>
                <a:ea typeface="Calibri" pitchFamily="34" charset="-122"/>
                <a:cs typeface="Calibri" pitchFamily="34" charset="-120"/>
              </a:rPr>
              <a:t>⚡ Fast   ✘ Erased when program ends</a:t>
            </a:r>
            <a:endParaRPr lang="en-US" sz="825" dirty="0"/>
          </a:p>
        </p:txBody>
      </p:sp>
      <p:sp>
        <p:nvSpPr>
          <p:cNvPr id="57" name="Shape 10">
            <a:extLst>
              <a:ext uri="{FF2B5EF4-FFF2-40B4-BE49-F238E27FC236}">
                <a16:creationId xmlns:a16="http://schemas.microsoft.com/office/drawing/2014/main" id="{2D201D1E-04AE-A9D5-0551-7BBDD3069357}"/>
              </a:ext>
            </a:extLst>
          </p:cNvPr>
          <p:cNvSpPr/>
          <p:nvPr/>
        </p:nvSpPr>
        <p:spPr>
          <a:xfrm>
            <a:off x="10215707" y="2906398"/>
            <a:ext cx="7006" cy="389679"/>
          </a:xfrm>
          <a:prstGeom prst="line">
            <a:avLst/>
          </a:prstGeom>
          <a:noFill/>
          <a:ln w="28575">
            <a:solidFill>
              <a:srgbClr val="1C7293"/>
            </a:solidFill>
            <a:prstDash val="solid"/>
            <a:tailEnd type="triangle"/>
          </a:ln>
        </p:spPr>
      </p:sp>
      <p:sp>
        <p:nvSpPr>
          <p:cNvPr id="59" name="Text 11">
            <a:extLst>
              <a:ext uri="{FF2B5EF4-FFF2-40B4-BE49-F238E27FC236}">
                <a16:creationId xmlns:a16="http://schemas.microsoft.com/office/drawing/2014/main" id="{B6FEBBA6-BC45-402D-735B-1339A4019E20}"/>
              </a:ext>
            </a:extLst>
          </p:cNvPr>
          <p:cNvSpPr/>
          <p:nvPr/>
        </p:nvSpPr>
        <p:spPr>
          <a:xfrm>
            <a:off x="8929833" y="2868015"/>
            <a:ext cx="2083616" cy="428768"/>
          </a:xfrm>
          <a:prstGeom prst="rect">
            <a:avLst/>
          </a:prstGeom>
          <a:noFill/>
          <a:ln/>
        </p:spPr>
        <p:txBody>
          <a:bodyPr wrap="square" lIns="0" tIns="0" rIns="0" bIns="0" rtlCol="0" anchor="ctr"/>
          <a:lstStyle/>
          <a:p>
            <a:pPr algn="ctr"/>
            <a:r>
              <a:rPr lang="en-US" sz="788" i="1" dirty="0">
                <a:solidFill>
                  <a:srgbClr val="1C7293"/>
                </a:solidFill>
                <a:latin typeface="Courier New" pitchFamily="34" charset="0"/>
                <a:ea typeface="Courier New" pitchFamily="34" charset="-122"/>
                <a:cs typeface="Courier New" pitchFamily="34" charset="-120"/>
              </a:rPr>
              <a:t>fstream / </a:t>
            </a:r>
            <a:r>
              <a:rPr lang="en-US" sz="788" i="1" dirty="0" err="1">
                <a:solidFill>
                  <a:srgbClr val="1C7293"/>
                </a:solidFill>
                <a:latin typeface="Courier New" pitchFamily="34" charset="0"/>
                <a:ea typeface="Courier New" pitchFamily="34" charset="-122"/>
                <a:cs typeface="Courier New" pitchFamily="34" charset="-120"/>
              </a:rPr>
              <a:t>ifstream</a:t>
            </a:r>
            <a:r>
              <a:rPr lang="en-US" sz="788" i="1" dirty="0">
                <a:solidFill>
                  <a:srgbClr val="1C7293"/>
                </a:solidFill>
                <a:latin typeface="Courier New" pitchFamily="34" charset="0"/>
                <a:ea typeface="Courier New" pitchFamily="34" charset="-122"/>
                <a:cs typeface="Courier New" pitchFamily="34" charset="-120"/>
              </a:rPr>
              <a:t>  / ofstream</a:t>
            </a:r>
            <a:endParaRPr lang="en-US" sz="788" dirty="0"/>
          </a:p>
        </p:txBody>
      </p:sp>
      <p:sp>
        <p:nvSpPr>
          <p:cNvPr id="61" name="Shape 12">
            <a:extLst>
              <a:ext uri="{FF2B5EF4-FFF2-40B4-BE49-F238E27FC236}">
                <a16:creationId xmlns:a16="http://schemas.microsoft.com/office/drawing/2014/main" id="{CCA14B0F-520C-0316-E624-712914C4907D}"/>
              </a:ext>
            </a:extLst>
          </p:cNvPr>
          <p:cNvSpPr/>
          <p:nvPr/>
        </p:nvSpPr>
        <p:spPr>
          <a:xfrm>
            <a:off x="8929832" y="3305578"/>
            <a:ext cx="2627350" cy="1169366"/>
          </a:xfrm>
          <a:prstGeom prst="roundRect">
            <a:avLst>
              <a:gd name="adj" fmla="val 5333"/>
            </a:avLst>
          </a:prstGeom>
          <a:solidFill>
            <a:srgbClr val="E4F0F6"/>
          </a:solidFill>
          <a:ln w="15875">
            <a:solidFill>
              <a:srgbClr val="1C7293"/>
            </a:solidFill>
            <a:prstDash val="solid"/>
          </a:ln>
        </p:spPr>
      </p:sp>
      <p:sp>
        <p:nvSpPr>
          <p:cNvPr id="63" name="Text 13">
            <a:extLst>
              <a:ext uri="{FF2B5EF4-FFF2-40B4-BE49-F238E27FC236}">
                <a16:creationId xmlns:a16="http://schemas.microsoft.com/office/drawing/2014/main" id="{6048D632-EB95-CF09-38D7-4A0DBC427765}"/>
              </a:ext>
            </a:extLst>
          </p:cNvPr>
          <p:cNvSpPr/>
          <p:nvPr/>
        </p:nvSpPr>
        <p:spPr>
          <a:xfrm>
            <a:off x="9066992" y="3387874"/>
            <a:ext cx="2347100" cy="272852"/>
          </a:xfrm>
          <a:prstGeom prst="rect">
            <a:avLst/>
          </a:prstGeom>
          <a:noFill/>
          <a:ln/>
        </p:spPr>
        <p:txBody>
          <a:bodyPr wrap="square" lIns="0" tIns="0" rIns="0" bIns="0" rtlCol="0" anchor="ctr"/>
          <a:lstStyle/>
          <a:p>
            <a:r>
              <a:rPr lang="en-US" sz="938" b="1" dirty="0">
                <a:solidFill>
                  <a:srgbClr val="0B4C63"/>
                </a:solidFill>
                <a:latin typeface="Calibri" pitchFamily="34" charset="0"/>
                <a:ea typeface="Calibri" pitchFamily="34" charset="-122"/>
                <a:cs typeface="Calibri" pitchFamily="34" charset="-120"/>
              </a:rPr>
              <a:t>Disk (Secondary Storage)</a:t>
            </a:r>
            <a:endParaRPr lang="en-US" sz="938" dirty="0"/>
          </a:p>
        </p:txBody>
      </p:sp>
      <p:sp>
        <p:nvSpPr>
          <p:cNvPr id="65" name="Text 14">
            <a:extLst>
              <a:ext uri="{FF2B5EF4-FFF2-40B4-BE49-F238E27FC236}">
                <a16:creationId xmlns:a16="http://schemas.microsoft.com/office/drawing/2014/main" id="{5022690C-4F65-1FA2-61D8-9883186F18EC}"/>
              </a:ext>
            </a:extLst>
          </p:cNvPr>
          <p:cNvSpPr/>
          <p:nvPr/>
        </p:nvSpPr>
        <p:spPr>
          <a:xfrm>
            <a:off x="9066992" y="3627904"/>
            <a:ext cx="2347100" cy="701620"/>
          </a:xfrm>
          <a:prstGeom prst="rect">
            <a:avLst/>
          </a:prstGeom>
          <a:noFill/>
          <a:ln/>
        </p:spPr>
        <p:txBody>
          <a:bodyPr wrap="square" lIns="0" tIns="0" rIns="0" bIns="0" rtlCol="0" anchor="ctr"/>
          <a:lstStyle/>
          <a:p>
            <a:pPr>
              <a:lnSpc>
                <a:spcPct val="130000"/>
              </a:lnSpc>
            </a:pPr>
            <a:r>
              <a:rPr lang="en-US" sz="825" dirty="0">
                <a:solidFill>
                  <a:srgbClr val="0B4C63"/>
                </a:solidFill>
                <a:latin typeface="Calibri" pitchFamily="34" charset="0"/>
                <a:ea typeface="Calibri" pitchFamily="34" charset="-122"/>
                <a:cs typeface="Calibri" pitchFamily="34" charset="-120"/>
              </a:rPr>
              <a:t>data.txt, students.dat, ...</a:t>
            </a:r>
            <a:endParaRPr lang="en-US" sz="825" dirty="0"/>
          </a:p>
          <a:p>
            <a:pPr>
              <a:lnSpc>
                <a:spcPct val="130000"/>
              </a:lnSpc>
            </a:pPr>
            <a:r>
              <a:rPr lang="en-US" sz="825" dirty="0">
                <a:solidFill>
                  <a:srgbClr val="0B4C63"/>
                </a:solidFill>
                <a:latin typeface="Calibri" pitchFamily="34" charset="0"/>
                <a:ea typeface="Calibri" pitchFamily="34" charset="-122"/>
                <a:cs typeface="Calibri" pitchFamily="34" charset="-120"/>
              </a:rPr>
              <a:t>💾 Slower   ✓ Persists after program ends</a:t>
            </a:r>
            <a:endParaRPr lang="en-US" sz="825" dirty="0"/>
          </a:p>
        </p:txBody>
      </p:sp>
    </p:spTree>
    <p:extLst>
      <p:ext uri="{BB962C8B-B14F-4D97-AF65-F5344CB8AC3E}">
        <p14:creationId xmlns:p14="http://schemas.microsoft.com/office/powerpoint/2010/main" val="416860175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r>
              <a:rPr lang="en-US" sz="1300" b="1" kern="0" spc="200" dirty="0">
                <a:latin typeface="Calibri" pitchFamily="34" charset="0"/>
                <a:ea typeface="Calibri" pitchFamily="34" charset="-122"/>
                <a:cs typeface="Calibri" pitchFamily="34" charset="-120"/>
              </a:rPr>
              <a:t>THE BIG ANALOGY</a:t>
            </a:r>
            <a:endParaRPr lang="en-US" sz="1300" dirty="0"/>
          </a:p>
        </p:txBody>
      </p:sp>
      <p:sp>
        <p:nvSpPr>
          <p:cNvPr id="3" name="Text 1"/>
          <p:cNvSpPr/>
          <p:nvPr/>
        </p:nvSpPr>
        <p:spPr>
          <a:xfrm>
            <a:off x="548640" y="658368"/>
            <a:ext cx="7315200" cy="685800"/>
          </a:xfrm>
          <a:prstGeom prst="rect">
            <a:avLst/>
          </a:prstGeom>
          <a:noFill/>
          <a:ln/>
        </p:spPr>
        <p:txBody>
          <a:bodyPr wrap="square" lIns="0" tIns="0" rIns="0" bIns="0" rtlCol="0" anchor="ctr"/>
          <a:lstStyle/>
          <a:p>
            <a:r>
              <a:rPr lang="en-US" sz="3000" b="1" dirty="0">
                <a:ea typeface="Cambria" pitchFamily="34" charset="-122"/>
                <a:cs typeface="Cambria" pitchFamily="34" charset="-120"/>
              </a:rPr>
              <a:t>The Library Analogy</a:t>
            </a:r>
            <a:endParaRPr lang="en-US" sz="3000" dirty="0"/>
          </a:p>
        </p:txBody>
      </p:sp>
      <p:sp>
        <p:nvSpPr>
          <p:cNvPr id="4" name="Text 2"/>
          <p:cNvSpPr/>
          <p:nvPr/>
        </p:nvSpPr>
        <p:spPr>
          <a:xfrm>
            <a:off x="548640" y="1234440"/>
            <a:ext cx="10515600" cy="365760"/>
          </a:xfrm>
          <a:prstGeom prst="rect">
            <a:avLst/>
          </a:prstGeom>
          <a:noFill/>
          <a:ln/>
        </p:spPr>
        <p:txBody>
          <a:bodyPr wrap="square" lIns="0" tIns="0" rIns="0" bIns="0" rtlCol="0" anchor="ctr"/>
          <a:lstStyle/>
          <a:p>
            <a:r>
              <a:rPr lang="en-US" sz="1300" i="1" dirty="0">
                <a:solidFill>
                  <a:schemeClr val="bg2">
                    <a:lumMod val="25000"/>
                  </a:schemeClr>
                </a:solidFill>
                <a:latin typeface="Calibri" pitchFamily="34" charset="0"/>
                <a:ea typeface="Calibri" pitchFamily="34" charset="-122"/>
                <a:cs typeface="Calibri" pitchFamily="34" charset="-120"/>
              </a:rPr>
              <a:t>Keep this picture in your head for the entire lecture — every function we meet maps onto it.</a:t>
            </a:r>
            <a:endParaRPr lang="en-US" sz="1300" dirty="0">
              <a:solidFill>
                <a:schemeClr val="bg2">
                  <a:lumMod val="25000"/>
                </a:schemeClr>
              </a:solidFill>
            </a:endParaRPr>
          </a:p>
        </p:txBody>
      </p:sp>
      <p:sp>
        <p:nvSpPr>
          <p:cNvPr id="5" name="Shape 3"/>
          <p:cNvSpPr/>
          <p:nvPr/>
        </p:nvSpPr>
        <p:spPr>
          <a:xfrm>
            <a:off x="548640" y="1783080"/>
            <a:ext cx="2606040" cy="2148840"/>
          </a:xfrm>
          <a:prstGeom prst="roundRect">
            <a:avLst>
              <a:gd name="adj" fmla="val 4255"/>
            </a:avLst>
          </a:prstGeom>
          <a:solidFill>
            <a:srgbClr val="13315C"/>
          </a:solidFill>
          <a:ln w="12700">
            <a:solidFill>
              <a:srgbClr val="24406E"/>
            </a:solidFill>
            <a:prstDash val="solid"/>
          </a:ln>
        </p:spPr>
      </p:sp>
      <p:sp>
        <p:nvSpPr>
          <p:cNvPr id="6" name="Shape 4"/>
          <p:cNvSpPr/>
          <p:nvPr/>
        </p:nvSpPr>
        <p:spPr>
          <a:xfrm>
            <a:off x="1531620" y="2011680"/>
            <a:ext cx="640080" cy="640080"/>
          </a:xfrm>
          <a:prstGeom prst="ellipse">
            <a:avLst/>
          </a:prstGeom>
          <a:solidFill>
            <a:srgbClr val="1C7293"/>
          </a:solidFill>
          <a:ln/>
        </p:spPr>
      </p:sp>
      <p:sp>
        <p:nvSpPr>
          <p:cNvPr id="7" name="Text 5"/>
          <p:cNvSpPr/>
          <p:nvPr/>
        </p:nvSpPr>
        <p:spPr>
          <a:xfrm>
            <a:off x="1531620" y="2011680"/>
            <a:ext cx="640080" cy="640080"/>
          </a:xfrm>
          <a:prstGeom prst="rect">
            <a:avLst/>
          </a:prstGeom>
          <a:noFill/>
          <a:ln/>
        </p:spPr>
        <p:txBody>
          <a:bodyPr wrap="square" lIns="0" tIns="0" rIns="0" bIns="0" rtlCol="0" anchor="ctr"/>
          <a:lstStyle/>
          <a:p>
            <a:pPr algn="ctr"/>
            <a:r>
              <a:rPr lang="en-US" sz="2200" b="1" dirty="0">
                <a:solidFill>
                  <a:srgbClr val="FFFFFF"/>
                </a:solidFill>
                <a:latin typeface="Calibri" pitchFamily="34" charset="0"/>
                <a:ea typeface="Calibri" pitchFamily="34" charset="-122"/>
                <a:cs typeface="Calibri" pitchFamily="34" charset="-120"/>
              </a:rPr>
              <a:t>YOU</a:t>
            </a:r>
            <a:endParaRPr lang="en-US" sz="2200" dirty="0"/>
          </a:p>
        </p:txBody>
      </p:sp>
      <p:sp>
        <p:nvSpPr>
          <p:cNvPr id="8" name="Text 6"/>
          <p:cNvSpPr/>
          <p:nvPr/>
        </p:nvSpPr>
        <p:spPr>
          <a:xfrm>
            <a:off x="685800" y="2788920"/>
            <a:ext cx="2331720" cy="320040"/>
          </a:xfrm>
          <a:prstGeom prst="rect">
            <a:avLst/>
          </a:prstGeom>
          <a:noFill/>
          <a:ln/>
        </p:spPr>
        <p:txBody>
          <a:bodyPr wrap="square" lIns="0" tIns="0" rIns="0" bIns="0" rtlCol="0" anchor="ctr"/>
          <a:lstStyle/>
          <a:p>
            <a:pPr algn="ctr"/>
            <a:r>
              <a:rPr lang="en-US" sz="1351" b="1" dirty="0">
                <a:solidFill>
                  <a:srgbClr val="F2A93B"/>
                </a:solidFill>
                <a:latin typeface="Calibri" pitchFamily="34" charset="0"/>
                <a:ea typeface="Calibri" pitchFamily="34" charset="-122"/>
                <a:cs typeface="Calibri" pitchFamily="34" charset="-120"/>
              </a:rPr>
              <a:t>The Program</a:t>
            </a:r>
            <a:endParaRPr lang="en-US" sz="1351" dirty="0"/>
          </a:p>
        </p:txBody>
      </p:sp>
      <p:sp>
        <p:nvSpPr>
          <p:cNvPr id="9" name="Text 7"/>
          <p:cNvSpPr/>
          <p:nvPr/>
        </p:nvSpPr>
        <p:spPr>
          <a:xfrm>
            <a:off x="713232" y="3108960"/>
            <a:ext cx="2276856" cy="777240"/>
          </a:xfrm>
          <a:prstGeom prst="rect">
            <a:avLst/>
          </a:prstGeom>
          <a:noFill/>
          <a:ln/>
        </p:spPr>
        <p:txBody>
          <a:bodyPr wrap="square" lIns="0" tIns="0" rIns="0" bIns="0" rtlCol="0" anchor="ctr"/>
          <a:lstStyle/>
          <a:p>
            <a:pPr algn="ctr">
              <a:lnSpc>
                <a:spcPct val="115000"/>
              </a:lnSpc>
            </a:pPr>
            <a:r>
              <a:rPr lang="en-US" sz="1000" dirty="0">
                <a:solidFill>
                  <a:srgbClr val="C6D3EC"/>
                </a:solidFill>
                <a:latin typeface="Calibri" pitchFamily="34" charset="0"/>
                <a:ea typeface="Calibri" pitchFamily="34" charset="-122"/>
                <a:cs typeface="Calibri" pitchFamily="34" charset="-120"/>
              </a:rPr>
              <a:t>You want to read or record information, but you never touch the shelves yourself.</a:t>
            </a:r>
            <a:endParaRPr lang="en-US" sz="1000" dirty="0"/>
          </a:p>
        </p:txBody>
      </p:sp>
      <p:sp>
        <p:nvSpPr>
          <p:cNvPr id="10" name="Shape 8"/>
          <p:cNvSpPr/>
          <p:nvPr/>
        </p:nvSpPr>
        <p:spPr>
          <a:xfrm>
            <a:off x="3291840" y="1783080"/>
            <a:ext cx="2606040" cy="2148840"/>
          </a:xfrm>
          <a:prstGeom prst="roundRect">
            <a:avLst>
              <a:gd name="adj" fmla="val 4255"/>
            </a:avLst>
          </a:prstGeom>
          <a:solidFill>
            <a:srgbClr val="13315C"/>
          </a:solidFill>
          <a:ln w="12700">
            <a:solidFill>
              <a:srgbClr val="24406E"/>
            </a:solidFill>
            <a:prstDash val="solid"/>
          </a:ln>
        </p:spPr>
      </p:sp>
      <p:sp>
        <p:nvSpPr>
          <p:cNvPr id="11" name="Shape 9"/>
          <p:cNvSpPr/>
          <p:nvPr/>
        </p:nvSpPr>
        <p:spPr>
          <a:xfrm>
            <a:off x="4274820" y="2011680"/>
            <a:ext cx="640080" cy="640080"/>
          </a:xfrm>
          <a:prstGeom prst="ellipse">
            <a:avLst/>
          </a:prstGeom>
          <a:solidFill>
            <a:srgbClr val="1C7293"/>
          </a:solidFill>
          <a:ln/>
        </p:spPr>
      </p:sp>
      <p:sp>
        <p:nvSpPr>
          <p:cNvPr id="12" name="Text 10"/>
          <p:cNvSpPr/>
          <p:nvPr/>
        </p:nvSpPr>
        <p:spPr>
          <a:xfrm>
            <a:off x="4274820" y="2011680"/>
            <a:ext cx="640080" cy="640080"/>
          </a:xfrm>
          <a:prstGeom prst="rect">
            <a:avLst/>
          </a:prstGeom>
          <a:noFill/>
          <a:ln/>
        </p:spPr>
        <p:txBody>
          <a:bodyPr wrap="square" lIns="0" tIns="0" rIns="0" bIns="0" rtlCol="0" anchor="ctr"/>
          <a:lstStyle/>
          <a:p>
            <a:pPr algn="ct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3" name="Text 11"/>
          <p:cNvSpPr/>
          <p:nvPr/>
        </p:nvSpPr>
        <p:spPr>
          <a:xfrm>
            <a:off x="3429000" y="2788920"/>
            <a:ext cx="2331720" cy="320040"/>
          </a:xfrm>
          <a:prstGeom prst="rect">
            <a:avLst/>
          </a:prstGeom>
          <a:noFill/>
          <a:ln/>
        </p:spPr>
        <p:txBody>
          <a:bodyPr wrap="square" lIns="0" tIns="0" rIns="0" bIns="0" rtlCol="0" anchor="ctr"/>
          <a:lstStyle/>
          <a:p>
            <a:pPr algn="ctr"/>
            <a:r>
              <a:rPr lang="en-US" sz="1351" b="1" dirty="0">
                <a:solidFill>
                  <a:srgbClr val="F2A93B"/>
                </a:solidFill>
                <a:latin typeface="Calibri" pitchFamily="34" charset="0"/>
                <a:ea typeface="Calibri" pitchFamily="34" charset="-122"/>
                <a:cs typeface="Calibri" pitchFamily="34" charset="-120"/>
              </a:rPr>
              <a:t>The Librarian</a:t>
            </a:r>
            <a:endParaRPr lang="en-US" sz="1351" dirty="0"/>
          </a:p>
        </p:txBody>
      </p:sp>
      <p:sp>
        <p:nvSpPr>
          <p:cNvPr id="14" name="Text 12"/>
          <p:cNvSpPr/>
          <p:nvPr/>
        </p:nvSpPr>
        <p:spPr>
          <a:xfrm>
            <a:off x="3456432" y="3108960"/>
            <a:ext cx="2276856" cy="777240"/>
          </a:xfrm>
          <a:prstGeom prst="rect">
            <a:avLst/>
          </a:prstGeom>
          <a:noFill/>
          <a:ln/>
        </p:spPr>
        <p:txBody>
          <a:bodyPr wrap="square" lIns="0" tIns="0" rIns="0" bIns="0" rtlCol="0" anchor="ctr"/>
          <a:lstStyle/>
          <a:p>
            <a:pPr algn="ctr">
              <a:lnSpc>
                <a:spcPct val="115000"/>
              </a:lnSpc>
            </a:pPr>
            <a:r>
              <a:rPr lang="en-US" sz="1000" dirty="0">
                <a:solidFill>
                  <a:srgbClr val="C6D3EC"/>
                </a:solidFill>
                <a:latin typeface="Calibri" pitchFamily="34" charset="0"/>
                <a:ea typeface="Calibri" pitchFamily="34" charset="-122"/>
                <a:cs typeface="Calibri" pitchFamily="34" charset="-120"/>
              </a:rPr>
              <a:t>The stream object (ifstream / ofstream / fstream) — the only one allowed to fetch, place or return books.</a:t>
            </a:r>
            <a:endParaRPr lang="en-US" sz="1000" dirty="0"/>
          </a:p>
        </p:txBody>
      </p:sp>
      <p:sp>
        <p:nvSpPr>
          <p:cNvPr id="15" name="Shape 13"/>
          <p:cNvSpPr/>
          <p:nvPr/>
        </p:nvSpPr>
        <p:spPr>
          <a:xfrm>
            <a:off x="6035040" y="1783080"/>
            <a:ext cx="2606040" cy="2148840"/>
          </a:xfrm>
          <a:prstGeom prst="roundRect">
            <a:avLst>
              <a:gd name="adj" fmla="val 4255"/>
            </a:avLst>
          </a:prstGeom>
          <a:solidFill>
            <a:srgbClr val="13315C"/>
          </a:solidFill>
          <a:ln w="12700">
            <a:solidFill>
              <a:srgbClr val="24406E"/>
            </a:solidFill>
            <a:prstDash val="solid"/>
          </a:ln>
        </p:spPr>
      </p:sp>
      <p:sp>
        <p:nvSpPr>
          <p:cNvPr id="16" name="Shape 14"/>
          <p:cNvSpPr/>
          <p:nvPr/>
        </p:nvSpPr>
        <p:spPr>
          <a:xfrm>
            <a:off x="7018020" y="2011680"/>
            <a:ext cx="640080" cy="640080"/>
          </a:xfrm>
          <a:prstGeom prst="ellipse">
            <a:avLst/>
          </a:prstGeom>
          <a:solidFill>
            <a:srgbClr val="1C7293"/>
          </a:solidFill>
          <a:ln/>
        </p:spPr>
      </p:sp>
      <p:sp>
        <p:nvSpPr>
          <p:cNvPr id="17" name="Text 15"/>
          <p:cNvSpPr/>
          <p:nvPr/>
        </p:nvSpPr>
        <p:spPr>
          <a:xfrm>
            <a:off x="7018020" y="2011680"/>
            <a:ext cx="640080" cy="640080"/>
          </a:xfrm>
          <a:prstGeom prst="rect">
            <a:avLst/>
          </a:prstGeom>
          <a:noFill/>
          <a:ln/>
        </p:spPr>
        <p:txBody>
          <a:bodyPr wrap="square" lIns="0" tIns="0" rIns="0" bIns="0" rtlCol="0" anchor="ctr"/>
          <a:lstStyle/>
          <a:p>
            <a:pPr algn="ct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8" name="Text 16"/>
          <p:cNvSpPr/>
          <p:nvPr/>
        </p:nvSpPr>
        <p:spPr>
          <a:xfrm>
            <a:off x="6172200" y="2788920"/>
            <a:ext cx="2331720" cy="320040"/>
          </a:xfrm>
          <a:prstGeom prst="rect">
            <a:avLst/>
          </a:prstGeom>
          <a:noFill/>
          <a:ln/>
        </p:spPr>
        <p:txBody>
          <a:bodyPr wrap="square" lIns="0" tIns="0" rIns="0" bIns="0" rtlCol="0" anchor="ctr"/>
          <a:lstStyle/>
          <a:p>
            <a:pPr algn="ctr"/>
            <a:r>
              <a:rPr lang="en-US" sz="1351" b="1" dirty="0">
                <a:solidFill>
                  <a:srgbClr val="F2A93B"/>
                </a:solidFill>
                <a:latin typeface="Calibri" pitchFamily="34" charset="0"/>
                <a:ea typeface="Calibri" pitchFamily="34" charset="-122"/>
                <a:cs typeface="Calibri" pitchFamily="34" charset="-120"/>
              </a:rPr>
              <a:t>The Book</a:t>
            </a:r>
            <a:endParaRPr lang="en-US" sz="1351" dirty="0"/>
          </a:p>
        </p:txBody>
      </p:sp>
      <p:sp>
        <p:nvSpPr>
          <p:cNvPr id="19" name="Text 17"/>
          <p:cNvSpPr/>
          <p:nvPr/>
        </p:nvSpPr>
        <p:spPr>
          <a:xfrm>
            <a:off x="6199632" y="3108960"/>
            <a:ext cx="2276856" cy="777240"/>
          </a:xfrm>
          <a:prstGeom prst="rect">
            <a:avLst/>
          </a:prstGeom>
          <a:noFill/>
          <a:ln/>
        </p:spPr>
        <p:txBody>
          <a:bodyPr wrap="square" lIns="0" tIns="0" rIns="0" bIns="0" rtlCol="0" anchor="ctr"/>
          <a:lstStyle/>
          <a:p>
            <a:pPr algn="ctr">
              <a:lnSpc>
                <a:spcPct val="115000"/>
              </a:lnSpc>
            </a:pPr>
            <a:r>
              <a:rPr lang="en-US" sz="1000" dirty="0">
                <a:solidFill>
                  <a:srgbClr val="C6D3EC"/>
                </a:solidFill>
                <a:latin typeface="Calibri" pitchFamily="34" charset="0"/>
                <a:ea typeface="Calibri" pitchFamily="34" charset="-122"/>
                <a:cs typeface="Calibri" pitchFamily="34" charset="-120"/>
              </a:rPr>
              <a:t>The disk file itself — pages of data sitting on a shelf (the disk) until someone requests it.</a:t>
            </a:r>
            <a:endParaRPr lang="en-US" sz="1000" dirty="0"/>
          </a:p>
        </p:txBody>
      </p:sp>
      <p:sp>
        <p:nvSpPr>
          <p:cNvPr id="20" name="Shape 18"/>
          <p:cNvSpPr/>
          <p:nvPr/>
        </p:nvSpPr>
        <p:spPr>
          <a:xfrm>
            <a:off x="8778240" y="1783080"/>
            <a:ext cx="2606040" cy="2148840"/>
          </a:xfrm>
          <a:prstGeom prst="roundRect">
            <a:avLst>
              <a:gd name="adj" fmla="val 4255"/>
            </a:avLst>
          </a:prstGeom>
          <a:solidFill>
            <a:srgbClr val="13315C"/>
          </a:solidFill>
          <a:ln w="12700">
            <a:solidFill>
              <a:srgbClr val="24406E"/>
            </a:solidFill>
            <a:prstDash val="solid"/>
          </a:ln>
        </p:spPr>
      </p:sp>
      <p:sp>
        <p:nvSpPr>
          <p:cNvPr id="21" name="Shape 19"/>
          <p:cNvSpPr/>
          <p:nvPr/>
        </p:nvSpPr>
        <p:spPr>
          <a:xfrm>
            <a:off x="9761220" y="2011680"/>
            <a:ext cx="640080" cy="640080"/>
          </a:xfrm>
          <a:prstGeom prst="ellipse">
            <a:avLst/>
          </a:prstGeom>
          <a:solidFill>
            <a:srgbClr val="1C7293"/>
          </a:solidFill>
          <a:ln/>
        </p:spPr>
      </p:sp>
      <p:sp>
        <p:nvSpPr>
          <p:cNvPr id="22" name="Text 20"/>
          <p:cNvSpPr/>
          <p:nvPr/>
        </p:nvSpPr>
        <p:spPr>
          <a:xfrm>
            <a:off x="9761220" y="2011680"/>
            <a:ext cx="640080" cy="640080"/>
          </a:xfrm>
          <a:prstGeom prst="rect">
            <a:avLst/>
          </a:prstGeom>
          <a:noFill/>
          <a:ln/>
        </p:spPr>
        <p:txBody>
          <a:bodyPr wrap="square" lIns="0" tIns="0" rIns="0" bIns="0" rtlCol="0" anchor="ctr"/>
          <a:lstStyle/>
          <a:p>
            <a:pPr algn="ct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3" name="Text 21"/>
          <p:cNvSpPr/>
          <p:nvPr/>
        </p:nvSpPr>
        <p:spPr>
          <a:xfrm>
            <a:off x="8915400" y="2788920"/>
            <a:ext cx="2331720" cy="320040"/>
          </a:xfrm>
          <a:prstGeom prst="rect">
            <a:avLst/>
          </a:prstGeom>
          <a:noFill/>
          <a:ln/>
        </p:spPr>
        <p:txBody>
          <a:bodyPr wrap="square" lIns="0" tIns="0" rIns="0" bIns="0" rtlCol="0" anchor="ctr"/>
          <a:lstStyle/>
          <a:p>
            <a:pPr algn="ctr"/>
            <a:r>
              <a:rPr lang="en-US" sz="1351" b="1" dirty="0">
                <a:solidFill>
                  <a:srgbClr val="F2A93B"/>
                </a:solidFill>
                <a:latin typeface="Calibri" pitchFamily="34" charset="0"/>
                <a:ea typeface="Calibri" pitchFamily="34" charset="-122"/>
                <a:cs typeface="Calibri" pitchFamily="34" charset="-120"/>
              </a:rPr>
              <a:t>The Bookmark</a:t>
            </a:r>
            <a:endParaRPr lang="en-US" sz="1351" dirty="0"/>
          </a:p>
        </p:txBody>
      </p:sp>
      <p:sp>
        <p:nvSpPr>
          <p:cNvPr id="24" name="Text 22"/>
          <p:cNvSpPr/>
          <p:nvPr/>
        </p:nvSpPr>
        <p:spPr>
          <a:xfrm>
            <a:off x="8942832" y="3108960"/>
            <a:ext cx="2276856" cy="777240"/>
          </a:xfrm>
          <a:prstGeom prst="rect">
            <a:avLst/>
          </a:prstGeom>
          <a:noFill/>
          <a:ln/>
        </p:spPr>
        <p:txBody>
          <a:bodyPr wrap="square" lIns="0" tIns="0" rIns="0" bIns="0" rtlCol="0" anchor="ctr"/>
          <a:lstStyle/>
          <a:p>
            <a:pPr algn="ctr">
              <a:lnSpc>
                <a:spcPct val="115000"/>
              </a:lnSpc>
            </a:pPr>
            <a:r>
              <a:rPr lang="en-US" sz="1000" dirty="0">
                <a:solidFill>
                  <a:srgbClr val="C6D3EC"/>
                </a:solidFill>
                <a:latin typeface="Calibri" pitchFamily="34" charset="0"/>
                <a:ea typeface="Calibri" pitchFamily="34" charset="-122"/>
                <a:cs typeface="Calibri" pitchFamily="34" charset="-120"/>
              </a:rPr>
              <a:t>The file pointer — marks exactly which page/word you'll read or write next.</a:t>
            </a:r>
            <a:endParaRPr lang="en-US" sz="1000" dirty="0"/>
          </a:p>
        </p:txBody>
      </p:sp>
      <p:sp>
        <p:nvSpPr>
          <p:cNvPr id="25" name="Shape 23"/>
          <p:cNvSpPr/>
          <p:nvPr/>
        </p:nvSpPr>
        <p:spPr>
          <a:xfrm>
            <a:off x="548640" y="4114800"/>
            <a:ext cx="10866120" cy="2441448"/>
          </a:xfrm>
          <a:prstGeom prst="roundRect">
            <a:avLst>
              <a:gd name="adj" fmla="val 2996"/>
            </a:avLst>
          </a:prstGeom>
          <a:solidFill>
            <a:srgbClr val="13315C"/>
          </a:solidFill>
          <a:ln w="12700">
            <a:solidFill>
              <a:srgbClr val="24406E"/>
            </a:solidFill>
            <a:prstDash val="solid"/>
          </a:ln>
        </p:spPr>
      </p:sp>
      <p:sp>
        <p:nvSpPr>
          <p:cNvPr id="26" name="Text 24"/>
          <p:cNvSpPr/>
          <p:nvPr/>
        </p:nvSpPr>
        <p:spPr>
          <a:xfrm>
            <a:off x="777240" y="4160520"/>
            <a:ext cx="2651760" cy="384048"/>
          </a:xfrm>
          <a:prstGeom prst="rect">
            <a:avLst/>
          </a:prstGeom>
          <a:noFill/>
          <a:ln/>
        </p:spPr>
        <p:txBody>
          <a:bodyPr wrap="square" lIns="0" tIns="0" rIns="0" bIns="0" rtlCol="0" anchor="ctr"/>
          <a:lstStyle/>
          <a:p>
            <a:r>
              <a:rPr lang="en-US" sz="1151" b="1" dirty="0">
                <a:solidFill>
                  <a:srgbClr val="F2A93B"/>
                </a:solidFill>
                <a:latin typeface="Courier New" pitchFamily="34" charset="0"/>
                <a:ea typeface="Courier New" pitchFamily="34" charset="-122"/>
                <a:cs typeface="Courier New" pitchFamily="34" charset="-120"/>
              </a:rPr>
              <a:t>Opening a file</a:t>
            </a:r>
            <a:endParaRPr lang="en-US" sz="1151" dirty="0"/>
          </a:p>
        </p:txBody>
      </p:sp>
      <p:sp>
        <p:nvSpPr>
          <p:cNvPr id="27" name="Text 25"/>
          <p:cNvSpPr/>
          <p:nvPr/>
        </p:nvSpPr>
        <p:spPr>
          <a:xfrm>
            <a:off x="3520440" y="4160520"/>
            <a:ext cx="7406640" cy="384048"/>
          </a:xfrm>
          <a:prstGeom prst="rect">
            <a:avLst/>
          </a:prstGeom>
          <a:noFill/>
          <a:ln/>
        </p:spPr>
        <p:txBody>
          <a:bodyPr wrap="square" lIns="0" tIns="0" rIns="0" bIns="0" rtlCol="0" anchor="ctr"/>
          <a:lstStyle/>
          <a:p>
            <a:r>
              <a:rPr lang="en-US" sz="1100" dirty="0">
                <a:solidFill>
                  <a:srgbClr val="DCE4F5"/>
                </a:solidFill>
                <a:latin typeface="Calibri" pitchFamily="34" charset="0"/>
                <a:ea typeface="Calibri" pitchFamily="34" charset="-122"/>
                <a:cs typeface="Calibri" pitchFamily="34" charset="-120"/>
              </a:rPr>
              <a:t>The librarian walks to the shelf, retrieves the book, and lays it open on your desk — you may now use it.</a:t>
            </a:r>
            <a:endParaRPr lang="en-US" sz="1100" dirty="0"/>
          </a:p>
        </p:txBody>
      </p:sp>
      <p:sp>
        <p:nvSpPr>
          <p:cNvPr id="28" name="Shape 26"/>
          <p:cNvSpPr/>
          <p:nvPr/>
        </p:nvSpPr>
        <p:spPr>
          <a:xfrm>
            <a:off x="777240" y="4544568"/>
            <a:ext cx="10058400" cy="0"/>
          </a:xfrm>
          <a:prstGeom prst="line">
            <a:avLst/>
          </a:prstGeom>
          <a:noFill/>
          <a:ln w="9525">
            <a:solidFill>
              <a:srgbClr val="24406E"/>
            </a:solidFill>
            <a:prstDash val="solid"/>
          </a:ln>
        </p:spPr>
      </p:sp>
      <p:sp>
        <p:nvSpPr>
          <p:cNvPr id="29" name="Text 27"/>
          <p:cNvSpPr/>
          <p:nvPr/>
        </p:nvSpPr>
        <p:spPr>
          <a:xfrm>
            <a:off x="777240" y="4544568"/>
            <a:ext cx="2651760" cy="384048"/>
          </a:xfrm>
          <a:prstGeom prst="rect">
            <a:avLst/>
          </a:prstGeom>
          <a:noFill/>
          <a:ln/>
        </p:spPr>
        <p:txBody>
          <a:bodyPr wrap="square" lIns="0" tIns="0" rIns="0" bIns="0" rtlCol="0" anchor="ctr"/>
          <a:lstStyle/>
          <a:p>
            <a:r>
              <a:rPr lang="en-US" sz="1151" b="1" dirty="0">
                <a:solidFill>
                  <a:srgbClr val="F2A93B"/>
                </a:solidFill>
                <a:latin typeface="Courier New" pitchFamily="34" charset="0"/>
                <a:ea typeface="Courier New" pitchFamily="34" charset="-122"/>
                <a:cs typeface="Courier New" pitchFamily="34" charset="-120"/>
              </a:rPr>
              <a:t>Closing a file</a:t>
            </a:r>
            <a:endParaRPr lang="en-US" sz="1151" dirty="0"/>
          </a:p>
        </p:txBody>
      </p:sp>
      <p:sp>
        <p:nvSpPr>
          <p:cNvPr id="30" name="Text 28"/>
          <p:cNvSpPr/>
          <p:nvPr/>
        </p:nvSpPr>
        <p:spPr>
          <a:xfrm>
            <a:off x="3520440" y="4544568"/>
            <a:ext cx="7406640" cy="384048"/>
          </a:xfrm>
          <a:prstGeom prst="rect">
            <a:avLst/>
          </a:prstGeom>
          <a:noFill/>
          <a:ln/>
        </p:spPr>
        <p:txBody>
          <a:bodyPr wrap="square" lIns="0" tIns="0" rIns="0" bIns="0" rtlCol="0" anchor="ctr"/>
          <a:lstStyle/>
          <a:p>
            <a:r>
              <a:rPr lang="en-US" sz="1100" dirty="0">
                <a:solidFill>
                  <a:srgbClr val="DCE4F5"/>
                </a:solidFill>
                <a:latin typeface="Calibri" pitchFamily="34" charset="0"/>
                <a:ea typeface="Calibri" pitchFamily="34" charset="-122"/>
                <a:cs typeface="Calibri" pitchFamily="34" charset="-120"/>
              </a:rPr>
              <a:t>The librarian saves any notes you made, then returns the book to the shelf. Skip this and notes can be lost.</a:t>
            </a:r>
            <a:endParaRPr lang="en-US" sz="1100" dirty="0"/>
          </a:p>
        </p:txBody>
      </p:sp>
      <p:sp>
        <p:nvSpPr>
          <p:cNvPr id="31" name="Shape 29"/>
          <p:cNvSpPr/>
          <p:nvPr/>
        </p:nvSpPr>
        <p:spPr>
          <a:xfrm>
            <a:off x="777240" y="4928616"/>
            <a:ext cx="10058400" cy="0"/>
          </a:xfrm>
          <a:prstGeom prst="line">
            <a:avLst/>
          </a:prstGeom>
          <a:noFill/>
          <a:ln w="9525">
            <a:solidFill>
              <a:srgbClr val="24406E"/>
            </a:solidFill>
            <a:prstDash val="solid"/>
          </a:ln>
        </p:spPr>
      </p:sp>
      <p:sp>
        <p:nvSpPr>
          <p:cNvPr id="32" name="Text 30"/>
          <p:cNvSpPr/>
          <p:nvPr/>
        </p:nvSpPr>
        <p:spPr>
          <a:xfrm>
            <a:off x="777240" y="4928616"/>
            <a:ext cx="2651760" cy="384048"/>
          </a:xfrm>
          <a:prstGeom prst="rect">
            <a:avLst/>
          </a:prstGeom>
          <a:noFill/>
          <a:ln/>
        </p:spPr>
        <p:txBody>
          <a:bodyPr wrap="square" lIns="0" tIns="0" rIns="0" bIns="0" rtlCol="0" anchor="ctr"/>
          <a:lstStyle/>
          <a:p>
            <a:r>
              <a:rPr lang="en-US" sz="1151" b="1" dirty="0">
                <a:solidFill>
                  <a:srgbClr val="F2A93B"/>
                </a:solidFill>
                <a:latin typeface="Courier New" pitchFamily="34" charset="0"/>
                <a:ea typeface="Courier New" pitchFamily="34" charset="-122"/>
                <a:cs typeface="Courier New" pitchFamily="34" charset="-120"/>
              </a:rPr>
              <a:t>seekg() / seekp()</a:t>
            </a:r>
            <a:endParaRPr lang="en-US" sz="1151" dirty="0"/>
          </a:p>
        </p:txBody>
      </p:sp>
      <p:sp>
        <p:nvSpPr>
          <p:cNvPr id="33" name="Text 31"/>
          <p:cNvSpPr/>
          <p:nvPr/>
        </p:nvSpPr>
        <p:spPr>
          <a:xfrm>
            <a:off x="3520440" y="4928616"/>
            <a:ext cx="7406640" cy="384048"/>
          </a:xfrm>
          <a:prstGeom prst="rect">
            <a:avLst/>
          </a:prstGeom>
          <a:noFill/>
          <a:ln/>
        </p:spPr>
        <p:txBody>
          <a:bodyPr wrap="square" lIns="0" tIns="0" rIns="0" bIns="0" rtlCol="0" anchor="ctr"/>
          <a:lstStyle/>
          <a:p>
            <a:r>
              <a:rPr lang="en-US" sz="1100" dirty="0">
                <a:solidFill>
                  <a:srgbClr val="DCE4F5"/>
                </a:solidFill>
                <a:latin typeface="Calibri" pitchFamily="34" charset="0"/>
                <a:ea typeface="Calibri" pitchFamily="34" charset="-122"/>
                <a:cs typeface="Calibri" pitchFamily="34" charset="-120"/>
              </a:rPr>
              <a:t>You tell the librarian: “flip directly to page 50” — jump the bookmark anywhere instead of reading in order.</a:t>
            </a:r>
            <a:endParaRPr lang="en-US" sz="1100" dirty="0"/>
          </a:p>
        </p:txBody>
      </p:sp>
      <p:sp>
        <p:nvSpPr>
          <p:cNvPr id="34" name="Shape 32"/>
          <p:cNvSpPr/>
          <p:nvPr/>
        </p:nvSpPr>
        <p:spPr>
          <a:xfrm>
            <a:off x="777240" y="5312664"/>
            <a:ext cx="10058400" cy="0"/>
          </a:xfrm>
          <a:prstGeom prst="line">
            <a:avLst/>
          </a:prstGeom>
          <a:noFill/>
          <a:ln w="9525">
            <a:solidFill>
              <a:srgbClr val="24406E"/>
            </a:solidFill>
            <a:prstDash val="solid"/>
          </a:ln>
        </p:spPr>
      </p:sp>
      <p:sp>
        <p:nvSpPr>
          <p:cNvPr id="35" name="Text 33"/>
          <p:cNvSpPr/>
          <p:nvPr/>
        </p:nvSpPr>
        <p:spPr>
          <a:xfrm>
            <a:off x="777240" y="5312664"/>
            <a:ext cx="2651760" cy="384048"/>
          </a:xfrm>
          <a:prstGeom prst="rect">
            <a:avLst/>
          </a:prstGeom>
          <a:noFill/>
          <a:ln/>
        </p:spPr>
        <p:txBody>
          <a:bodyPr wrap="square" lIns="0" tIns="0" rIns="0" bIns="0" rtlCol="0" anchor="ctr"/>
          <a:lstStyle/>
          <a:p>
            <a:r>
              <a:rPr lang="en-US" sz="1151" b="1" dirty="0">
                <a:solidFill>
                  <a:srgbClr val="F2A93B"/>
                </a:solidFill>
                <a:latin typeface="Courier New" pitchFamily="34" charset="0"/>
                <a:ea typeface="Courier New" pitchFamily="34" charset="-122"/>
                <a:cs typeface="Courier New" pitchFamily="34" charset="-120"/>
              </a:rPr>
              <a:t>tellg() / tellp()</a:t>
            </a:r>
            <a:endParaRPr lang="en-US" sz="1151" dirty="0"/>
          </a:p>
        </p:txBody>
      </p:sp>
      <p:sp>
        <p:nvSpPr>
          <p:cNvPr id="36" name="Text 34"/>
          <p:cNvSpPr/>
          <p:nvPr/>
        </p:nvSpPr>
        <p:spPr>
          <a:xfrm>
            <a:off x="3520440" y="5312664"/>
            <a:ext cx="7406640" cy="384048"/>
          </a:xfrm>
          <a:prstGeom prst="rect">
            <a:avLst/>
          </a:prstGeom>
          <a:noFill/>
          <a:ln/>
        </p:spPr>
        <p:txBody>
          <a:bodyPr wrap="square" lIns="0" tIns="0" rIns="0" bIns="0" rtlCol="0" anchor="ctr"/>
          <a:lstStyle/>
          <a:p>
            <a:r>
              <a:rPr lang="en-US" sz="1100" dirty="0">
                <a:solidFill>
                  <a:srgbClr val="DCE4F5"/>
                </a:solidFill>
                <a:latin typeface="Calibri" pitchFamily="34" charset="0"/>
                <a:ea typeface="Calibri" pitchFamily="34" charset="-122"/>
                <a:cs typeface="Calibri" pitchFamily="34" charset="-120"/>
              </a:rPr>
              <a:t>You ask: “what page is my bookmark on right now?” — the librarian reports the exact position.</a:t>
            </a:r>
            <a:endParaRPr lang="en-US" sz="1100" dirty="0"/>
          </a:p>
        </p:txBody>
      </p:sp>
      <p:sp>
        <p:nvSpPr>
          <p:cNvPr id="37" name="Shape 35"/>
          <p:cNvSpPr/>
          <p:nvPr/>
        </p:nvSpPr>
        <p:spPr>
          <a:xfrm>
            <a:off x="777240" y="5696712"/>
            <a:ext cx="10058400" cy="0"/>
          </a:xfrm>
          <a:prstGeom prst="line">
            <a:avLst/>
          </a:prstGeom>
          <a:noFill/>
          <a:ln w="9525">
            <a:solidFill>
              <a:srgbClr val="24406E"/>
            </a:solidFill>
            <a:prstDash val="solid"/>
          </a:ln>
        </p:spPr>
      </p:sp>
      <p:sp>
        <p:nvSpPr>
          <p:cNvPr id="38" name="Text 36"/>
          <p:cNvSpPr/>
          <p:nvPr/>
        </p:nvSpPr>
        <p:spPr>
          <a:xfrm>
            <a:off x="777240" y="5696712"/>
            <a:ext cx="2651760" cy="384048"/>
          </a:xfrm>
          <a:prstGeom prst="rect">
            <a:avLst/>
          </a:prstGeom>
          <a:noFill/>
          <a:ln/>
        </p:spPr>
        <p:txBody>
          <a:bodyPr wrap="square" lIns="0" tIns="0" rIns="0" bIns="0" rtlCol="0" anchor="ctr"/>
          <a:lstStyle/>
          <a:p>
            <a:r>
              <a:rPr lang="en-US" sz="1151" b="1" dirty="0">
                <a:solidFill>
                  <a:srgbClr val="F2A93B"/>
                </a:solidFill>
                <a:latin typeface="Courier New" pitchFamily="34" charset="0"/>
                <a:ea typeface="Courier New" pitchFamily="34" charset="-122"/>
                <a:cs typeface="Courier New" pitchFamily="34" charset="-120"/>
              </a:rPr>
              <a:t>get() / put()</a:t>
            </a:r>
            <a:endParaRPr lang="en-US" sz="1151" dirty="0"/>
          </a:p>
        </p:txBody>
      </p:sp>
      <p:sp>
        <p:nvSpPr>
          <p:cNvPr id="39" name="Text 37"/>
          <p:cNvSpPr/>
          <p:nvPr/>
        </p:nvSpPr>
        <p:spPr>
          <a:xfrm>
            <a:off x="3520440" y="5696712"/>
            <a:ext cx="7406640" cy="384048"/>
          </a:xfrm>
          <a:prstGeom prst="rect">
            <a:avLst/>
          </a:prstGeom>
          <a:noFill/>
          <a:ln/>
        </p:spPr>
        <p:txBody>
          <a:bodyPr wrap="square" lIns="0" tIns="0" rIns="0" bIns="0" rtlCol="0" anchor="ctr"/>
          <a:lstStyle/>
          <a:p>
            <a:r>
              <a:rPr lang="en-US" sz="1100" dirty="0">
                <a:solidFill>
                  <a:srgbClr val="DCE4F5"/>
                </a:solidFill>
                <a:latin typeface="Calibri" pitchFamily="34" charset="0"/>
                <a:ea typeface="Calibri" pitchFamily="34" charset="-122"/>
                <a:cs typeface="Calibri" pitchFamily="34" charset="-120"/>
              </a:rPr>
              <a:t>Reading or writing one word at a time, in natural order, exactly where the bookmark currently sits.</a:t>
            </a:r>
            <a:endParaRPr lang="en-US" sz="1100" dirty="0"/>
          </a:p>
        </p:txBody>
      </p:sp>
      <p:sp>
        <p:nvSpPr>
          <p:cNvPr id="40" name="Shape 38"/>
          <p:cNvSpPr/>
          <p:nvPr/>
        </p:nvSpPr>
        <p:spPr>
          <a:xfrm>
            <a:off x="777240" y="6080760"/>
            <a:ext cx="10058400" cy="0"/>
          </a:xfrm>
          <a:prstGeom prst="line">
            <a:avLst/>
          </a:prstGeom>
          <a:noFill/>
          <a:ln w="9525">
            <a:solidFill>
              <a:srgbClr val="24406E"/>
            </a:solidFill>
            <a:prstDash val="solid"/>
          </a:ln>
        </p:spPr>
      </p:sp>
      <p:sp>
        <p:nvSpPr>
          <p:cNvPr id="41" name="Text 39"/>
          <p:cNvSpPr/>
          <p:nvPr/>
        </p:nvSpPr>
        <p:spPr>
          <a:xfrm>
            <a:off x="777240" y="6080760"/>
            <a:ext cx="2651760" cy="384048"/>
          </a:xfrm>
          <a:prstGeom prst="rect">
            <a:avLst/>
          </a:prstGeom>
          <a:noFill/>
          <a:ln/>
        </p:spPr>
        <p:txBody>
          <a:bodyPr wrap="square" lIns="0" tIns="0" rIns="0" bIns="0" rtlCol="0" anchor="ctr"/>
          <a:lstStyle/>
          <a:p>
            <a:r>
              <a:rPr lang="en-US" sz="1151" b="1" dirty="0">
                <a:solidFill>
                  <a:srgbClr val="F2A93B"/>
                </a:solidFill>
                <a:latin typeface="Courier New" pitchFamily="34" charset="0"/>
                <a:ea typeface="Courier New" pitchFamily="34" charset="-122"/>
                <a:cs typeface="Courier New" pitchFamily="34" charset="-120"/>
              </a:rPr>
              <a:t>read() / write() of an object</a:t>
            </a:r>
            <a:endParaRPr lang="en-US" sz="1151" dirty="0"/>
          </a:p>
        </p:txBody>
      </p:sp>
      <p:sp>
        <p:nvSpPr>
          <p:cNvPr id="42" name="Text 40"/>
          <p:cNvSpPr/>
          <p:nvPr/>
        </p:nvSpPr>
        <p:spPr>
          <a:xfrm>
            <a:off x="3520440" y="6080760"/>
            <a:ext cx="7406640" cy="384048"/>
          </a:xfrm>
          <a:prstGeom prst="rect">
            <a:avLst/>
          </a:prstGeom>
          <a:noFill/>
          <a:ln/>
        </p:spPr>
        <p:txBody>
          <a:bodyPr wrap="square" lIns="0" tIns="0" rIns="0" bIns="0" rtlCol="0" anchor="ctr"/>
          <a:lstStyle/>
          <a:p>
            <a:r>
              <a:rPr lang="en-US" sz="1100" dirty="0">
                <a:solidFill>
                  <a:srgbClr val="DCE4F5"/>
                </a:solidFill>
                <a:latin typeface="Calibri" pitchFamily="34" charset="0"/>
                <a:ea typeface="Calibri" pitchFamily="34" charset="-122"/>
                <a:cs typeface="Calibri" pitchFamily="34" charset="-120"/>
              </a:rPr>
              <a:t>Photocopying an entire filled-in form in one motion — every field, byte-for-byte — instead of retyping it.</a:t>
            </a:r>
            <a:endParaRPr lang="en-US" sz="11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3295" y="1166727"/>
            <a:ext cx="5547360" cy="292608"/>
          </a:xfrm>
          <a:prstGeom prst="rect">
            <a:avLst/>
          </a:prstGeom>
          <a:noFill/>
          <a:ln/>
        </p:spPr>
        <p:txBody>
          <a:bodyPr wrap="square" lIns="0" tIns="0" rIns="0" bIns="0" rtlCol="0" anchor="ctr"/>
          <a:lstStyle/>
          <a:p>
            <a:r>
              <a:rPr lang="en-US" sz="1300" b="1" kern="0" spc="200" dirty="0">
                <a:solidFill>
                  <a:srgbClr val="F2A93B"/>
                </a:solidFill>
                <a:latin typeface="Calibri" pitchFamily="34" charset="0"/>
                <a:ea typeface="Calibri" pitchFamily="34" charset="-122"/>
                <a:cs typeface="Calibri" pitchFamily="34" charset="-120"/>
              </a:rPr>
              <a:t>FOUNDATIONS</a:t>
            </a:r>
            <a:endParaRPr lang="en-US" sz="1300" dirty="0"/>
          </a:p>
        </p:txBody>
      </p:sp>
      <p:sp>
        <p:nvSpPr>
          <p:cNvPr id="3" name="Text 1"/>
          <p:cNvSpPr/>
          <p:nvPr/>
        </p:nvSpPr>
        <p:spPr>
          <a:xfrm>
            <a:off x="548640" y="1541631"/>
            <a:ext cx="11094720" cy="448155"/>
          </a:xfrm>
          <a:prstGeom prst="rect">
            <a:avLst/>
          </a:prstGeom>
          <a:noFill/>
          <a:ln/>
        </p:spPr>
        <p:txBody>
          <a:bodyPr wrap="square" lIns="0" tIns="0" rIns="0" bIns="0" rtlCol="0" anchor="ctr"/>
          <a:lstStyle/>
          <a:p>
            <a:r>
              <a:rPr lang="en-US" sz="2200" b="1" dirty="0">
                <a:solidFill>
                  <a:srgbClr val="16233B"/>
                </a:solidFill>
                <a:latin typeface="Cambria" pitchFamily="34" charset="0"/>
                <a:ea typeface="Cambria" pitchFamily="34" charset="-122"/>
                <a:cs typeface="Cambria" pitchFamily="34" charset="-120"/>
              </a:rPr>
              <a:t>The fstream Family of Classes</a:t>
            </a:r>
            <a:endParaRPr lang="en-US" sz="2200" dirty="0"/>
          </a:p>
        </p:txBody>
      </p:sp>
      <p:sp>
        <p:nvSpPr>
          <p:cNvPr id="4" name="Shape 2"/>
          <p:cNvSpPr/>
          <p:nvPr/>
        </p:nvSpPr>
        <p:spPr>
          <a:xfrm>
            <a:off x="548640" y="2154379"/>
            <a:ext cx="5394960" cy="502920"/>
          </a:xfrm>
          <a:prstGeom prst="roundRect">
            <a:avLst>
              <a:gd name="adj" fmla="val 10909"/>
            </a:avLst>
          </a:prstGeom>
          <a:solidFill>
            <a:srgbClr val="10192E"/>
          </a:solidFill>
          <a:ln/>
        </p:spPr>
      </p:sp>
      <p:sp>
        <p:nvSpPr>
          <p:cNvPr id="5" name="Text 3"/>
          <p:cNvSpPr/>
          <p:nvPr/>
        </p:nvSpPr>
        <p:spPr>
          <a:xfrm>
            <a:off x="777240" y="2154379"/>
            <a:ext cx="4937760" cy="502920"/>
          </a:xfrm>
          <a:prstGeom prst="rect">
            <a:avLst/>
          </a:prstGeom>
          <a:noFill/>
          <a:ln/>
        </p:spPr>
        <p:txBody>
          <a:bodyPr wrap="square" lIns="0" tIns="0" rIns="0" bIns="0" rtlCol="0" anchor="ctr"/>
          <a:lstStyle/>
          <a:p>
            <a:r>
              <a:rPr lang="en-US" sz="1500" dirty="0">
                <a:solidFill>
                  <a:srgbClr val="8FD3E8"/>
                </a:solidFill>
                <a:latin typeface="Courier New" pitchFamily="34" charset="0"/>
                <a:ea typeface="Courier New" pitchFamily="34" charset="-122"/>
                <a:cs typeface="Courier New" pitchFamily="34" charset="-120"/>
              </a:rPr>
              <a:t>#include &lt;fstream&gt;</a:t>
            </a:r>
            <a:endParaRPr lang="en-US" sz="1500" dirty="0"/>
          </a:p>
        </p:txBody>
      </p:sp>
      <p:sp>
        <p:nvSpPr>
          <p:cNvPr id="6" name="Text 4"/>
          <p:cNvSpPr/>
          <p:nvPr/>
        </p:nvSpPr>
        <p:spPr>
          <a:xfrm>
            <a:off x="548640" y="2885899"/>
            <a:ext cx="5394960" cy="3931920"/>
          </a:xfrm>
          <a:prstGeom prst="rect">
            <a:avLst/>
          </a:prstGeom>
          <a:noFill/>
          <a:ln/>
        </p:spPr>
        <p:txBody>
          <a:bodyPr wrap="square" lIns="0" tIns="0" rIns="0" bIns="0" rtlCol="0" anchor="t"/>
          <a:lstStyle/>
          <a:p>
            <a:pPr marL="228594" indent="-228594">
              <a:spcAft>
                <a:spcPts val="1200"/>
              </a:spcAft>
              <a:buSzPct val="100000"/>
              <a:buChar char="•"/>
            </a:pPr>
            <a:r>
              <a:rPr lang="en-US" sz="1400" dirty="0" err="1">
                <a:solidFill>
                  <a:srgbClr val="16233B"/>
                </a:solidFill>
                <a:ea typeface="Calibri" pitchFamily="34" charset="-122"/>
                <a:cs typeface="Calibri" pitchFamily="34" charset="-120"/>
              </a:rPr>
              <a:t>ifstream</a:t>
            </a:r>
            <a:r>
              <a:rPr lang="en-US" sz="1400" dirty="0">
                <a:solidFill>
                  <a:srgbClr val="16233B"/>
                </a:solidFill>
                <a:ea typeface="Calibri" pitchFamily="34" charset="-122"/>
                <a:cs typeface="Calibri" pitchFamily="34" charset="-120"/>
              </a:rPr>
              <a:t> : “input file stream”. Derived for reading data FROM a file. Default mode: </a:t>
            </a:r>
            <a:r>
              <a:rPr lang="en-US" sz="1400" dirty="0">
                <a:solidFill>
                  <a:srgbClr val="16233B"/>
                </a:solidFill>
                <a:latin typeface="Courier New" panose="02070309020205020404" pitchFamily="49" charset="0"/>
                <a:ea typeface="Calibri" pitchFamily="34" charset="-122"/>
                <a:cs typeface="Courier New" panose="02070309020205020404" pitchFamily="49" charset="0"/>
              </a:rPr>
              <a:t>ios::in</a:t>
            </a:r>
            <a:r>
              <a:rPr lang="en-US" sz="1400" dirty="0">
                <a:solidFill>
                  <a:srgbClr val="16233B"/>
                </a:solidFill>
                <a:ea typeface="Calibri" pitchFamily="34" charset="-122"/>
                <a:cs typeface="Calibri" pitchFamily="34" charset="-120"/>
              </a:rPr>
              <a:t>.</a:t>
            </a:r>
            <a:endParaRPr lang="en-US" sz="1400" dirty="0"/>
          </a:p>
          <a:p>
            <a:pPr marL="228594" indent="-228594">
              <a:spcAft>
                <a:spcPts val="1200"/>
              </a:spcAft>
              <a:buSzPct val="100000"/>
              <a:buChar char="•"/>
            </a:pPr>
            <a:r>
              <a:rPr lang="en-US" sz="1400" dirty="0" err="1">
                <a:solidFill>
                  <a:srgbClr val="16233B"/>
                </a:solidFill>
                <a:ea typeface="Calibri" pitchFamily="34" charset="-122"/>
                <a:cs typeface="Calibri" pitchFamily="34" charset="-120"/>
              </a:rPr>
              <a:t>ofstream</a:t>
            </a:r>
            <a:r>
              <a:rPr lang="en-US" sz="1400" dirty="0">
                <a:solidFill>
                  <a:srgbClr val="16233B"/>
                </a:solidFill>
                <a:ea typeface="Calibri" pitchFamily="34" charset="-122"/>
                <a:cs typeface="Calibri" pitchFamily="34" charset="-120"/>
              </a:rPr>
              <a:t> : “output file stream”. Derived for writing data TO a file. Default mode: </a:t>
            </a:r>
            <a:r>
              <a:rPr lang="en-US" sz="1400" dirty="0">
                <a:solidFill>
                  <a:srgbClr val="16233B"/>
                </a:solidFill>
                <a:latin typeface="Courier New" panose="02070309020205020404" pitchFamily="49" charset="0"/>
                <a:ea typeface="Calibri" pitchFamily="34" charset="-122"/>
                <a:cs typeface="Courier New" panose="02070309020205020404" pitchFamily="49" charset="0"/>
              </a:rPr>
              <a:t>ios::out </a:t>
            </a:r>
            <a:r>
              <a:rPr lang="en-US" sz="1400" dirty="0">
                <a:solidFill>
                  <a:srgbClr val="16233B"/>
                </a:solidFill>
                <a:ea typeface="Calibri" pitchFamily="34" charset="-122"/>
                <a:cs typeface="Calibri" pitchFamily="34" charset="-120"/>
              </a:rPr>
              <a:t>(truncates existing content).</a:t>
            </a:r>
            <a:endParaRPr lang="en-US" sz="1400" dirty="0"/>
          </a:p>
          <a:p>
            <a:pPr marL="228594" indent="-228594">
              <a:spcAft>
                <a:spcPts val="1200"/>
              </a:spcAft>
              <a:buSzPct val="100000"/>
              <a:buChar char="•"/>
            </a:pPr>
            <a:r>
              <a:rPr lang="en-US" sz="1400" dirty="0" err="1">
                <a:solidFill>
                  <a:srgbClr val="16233B"/>
                </a:solidFill>
                <a:ea typeface="Calibri" pitchFamily="34" charset="-122"/>
                <a:cs typeface="Calibri" pitchFamily="34" charset="-120"/>
              </a:rPr>
              <a:t>fstream</a:t>
            </a:r>
            <a:r>
              <a:rPr lang="en-US" sz="1400" dirty="0">
                <a:solidFill>
                  <a:srgbClr val="16233B"/>
                </a:solidFill>
                <a:ea typeface="Calibri" pitchFamily="34" charset="-122"/>
                <a:cs typeface="Calibri" pitchFamily="34" charset="-120"/>
              </a:rPr>
              <a:t> : combines both; can read AND write the same file, useful for random-access/update operations.</a:t>
            </a:r>
            <a:endParaRPr lang="en-US" sz="1400" dirty="0"/>
          </a:p>
          <a:p>
            <a:pPr marL="228594" indent="-228594">
              <a:spcAft>
                <a:spcPts val="1200"/>
              </a:spcAft>
              <a:buSzPct val="100000"/>
              <a:buChar char="•"/>
            </a:pPr>
            <a:r>
              <a:rPr lang="en-US" sz="1400" dirty="0">
                <a:solidFill>
                  <a:srgbClr val="16233B"/>
                </a:solidFill>
                <a:ea typeface="Calibri" pitchFamily="34" charset="-122"/>
                <a:cs typeface="Calibri" pitchFamily="34" charset="-120"/>
              </a:rPr>
              <a:t>All three inherit stream-formatting behaviour from ios, so the familiar &lt;&lt; (insertion) and &gt;&gt; (extraction) operators work exactly as they do with cout and cin.</a:t>
            </a:r>
            <a:endParaRPr lang="en-US" sz="1400" dirty="0"/>
          </a:p>
        </p:txBody>
      </p:sp>
      <p:sp>
        <p:nvSpPr>
          <p:cNvPr id="7" name="Shape 5"/>
          <p:cNvSpPr/>
          <p:nvPr/>
        </p:nvSpPr>
        <p:spPr>
          <a:xfrm>
            <a:off x="6568440" y="2117902"/>
            <a:ext cx="5074920" cy="4480560"/>
          </a:xfrm>
          <a:prstGeom prst="roundRect">
            <a:avLst>
              <a:gd name="adj" fmla="val 2041"/>
            </a:avLst>
          </a:prstGeom>
          <a:solidFill>
            <a:srgbClr val="FFFFFF"/>
          </a:solidFill>
          <a:ln w="12700">
            <a:solidFill>
              <a:srgbClr val="E3E9F5"/>
            </a:solidFill>
            <a:prstDash val="solid"/>
          </a:ln>
          <a:effectLst>
            <a:outerShdw blurRad="101600" dist="38100" dir="5400000" algn="bl" rotWithShape="0">
              <a:srgbClr val="1B2A4A">
                <a:alpha val="12000"/>
              </a:srgbClr>
            </a:outerShdw>
          </a:effectLst>
        </p:spPr>
      </p:sp>
      <p:sp>
        <p:nvSpPr>
          <p:cNvPr id="8" name="Text 6"/>
          <p:cNvSpPr/>
          <p:nvPr/>
        </p:nvSpPr>
        <p:spPr>
          <a:xfrm>
            <a:off x="6583680" y="2428699"/>
            <a:ext cx="5074920" cy="274320"/>
          </a:xfrm>
          <a:prstGeom prst="rect">
            <a:avLst/>
          </a:prstGeom>
          <a:noFill/>
          <a:ln/>
        </p:spPr>
        <p:txBody>
          <a:bodyPr wrap="square" lIns="0" tIns="0" rIns="0" bIns="0" rtlCol="0" anchor="ctr"/>
          <a:lstStyle/>
          <a:p>
            <a:pPr algn="ctr"/>
            <a:r>
              <a:rPr lang="en-US" sz="1151" b="1" kern="0" spc="151" dirty="0">
                <a:solidFill>
                  <a:srgbClr val="5B6B85"/>
                </a:solidFill>
                <a:latin typeface="Calibri" pitchFamily="34" charset="0"/>
                <a:ea typeface="Calibri" pitchFamily="34" charset="-122"/>
                <a:cs typeface="Calibri" pitchFamily="34" charset="-120"/>
              </a:rPr>
              <a:t>SIMPLIFIED CLASS HIERARCHY</a:t>
            </a:r>
            <a:endParaRPr lang="en-US" sz="1151" dirty="0"/>
          </a:p>
        </p:txBody>
      </p:sp>
      <p:sp>
        <p:nvSpPr>
          <p:cNvPr id="9" name="Shape 7"/>
          <p:cNvSpPr/>
          <p:nvPr/>
        </p:nvSpPr>
        <p:spPr>
          <a:xfrm>
            <a:off x="7978140" y="2840179"/>
            <a:ext cx="2286000" cy="548640"/>
          </a:xfrm>
          <a:prstGeom prst="roundRect">
            <a:avLst>
              <a:gd name="adj" fmla="val 13333"/>
            </a:avLst>
          </a:prstGeom>
          <a:solidFill>
            <a:srgbClr val="0B2545"/>
          </a:solidFill>
          <a:ln/>
        </p:spPr>
      </p:sp>
      <p:sp>
        <p:nvSpPr>
          <p:cNvPr id="10" name="Text 8"/>
          <p:cNvSpPr/>
          <p:nvPr/>
        </p:nvSpPr>
        <p:spPr>
          <a:xfrm>
            <a:off x="7978140" y="2840179"/>
            <a:ext cx="2286000" cy="548640"/>
          </a:xfrm>
          <a:prstGeom prst="rect">
            <a:avLst/>
          </a:prstGeom>
          <a:noFill/>
          <a:ln/>
        </p:spPr>
        <p:txBody>
          <a:bodyPr wrap="square" lIns="0" tIns="0" rIns="0" bIns="0" rtlCol="0" anchor="ctr"/>
          <a:lstStyle/>
          <a:p>
            <a:pPr algn="ctr"/>
            <a:r>
              <a:rPr lang="en-US" sz="1051" b="1" dirty="0">
                <a:solidFill>
                  <a:srgbClr val="FFFFFF"/>
                </a:solidFill>
                <a:latin typeface="Courier New" pitchFamily="34" charset="0"/>
                <a:ea typeface="Courier New" pitchFamily="34" charset="-122"/>
                <a:cs typeface="Courier New" pitchFamily="34" charset="-120"/>
              </a:rPr>
              <a:t>ios / istream / ostream</a:t>
            </a:r>
            <a:endParaRPr lang="en-US" sz="1051" dirty="0"/>
          </a:p>
        </p:txBody>
      </p:sp>
      <p:sp>
        <p:nvSpPr>
          <p:cNvPr id="11" name="Shape 9"/>
          <p:cNvSpPr/>
          <p:nvPr/>
        </p:nvSpPr>
        <p:spPr>
          <a:xfrm flipH="1">
            <a:off x="8010525" y="3388819"/>
            <a:ext cx="630555" cy="548640"/>
          </a:xfrm>
          <a:prstGeom prst="line">
            <a:avLst/>
          </a:prstGeom>
          <a:noFill/>
          <a:ln w="28575">
            <a:solidFill>
              <a:srgbClr val="9AA9C4"/>
            </a:solidFill>
            <a:prstDash val="solid"/>
            <a:tailEnd type="triangle"/>
          </a:ln>
        </p:spPr>
      </p:sp>
      <p:sp>
        <p:nvSpPr>
          <p:cNvPr id="12" name="Shape 10"/>
          <p:cNvSpPr/>
          <p:nvPr/>
        </p:nvSpPr>
        <p:spPr>
          <a:xfrm>
            <a:off x="9475201" y="3388819"/>
            <a:ext cx="505779" cy="548640"/>
          </a:xfrm>
          <a:prstGeom prst="line">
            <a:avLst/>
          </a:prstGeom>
          <a:noFill/>
          <a:ln w="28575">
            <a:solidFill>
              <a:srgbClr val="9AA9C4"/>
            </a:solidFill>
            <a:prstDash val="solid"/>
            <a:tailEnd type="triangle"/>
          </a:ln>
        </p:spPr>
      </p:sp>
      <p:sp>
        <p:nvSpPr>
          <p:cNvPr id="13" name="Shape 11"/>
          <p:cNvSpPr/>
          <p:nvPr/>
        </p:nvSpPr>
        <p:spPr>
          <a:xfrm>
            <a:off x="7040880" y="3937459"/>
            <a:ext cx="1874520" cy="548640"/>
          </a:xfrm>
          <a:prstGeom prst="roundRect">
            <a:avLst>
              <a:gd name="adj" fmla="val 13333"/>
            </a:avLst>
          </a:prstGeom>
          <a:solidFill>
            <a:srgbClr val="1C7293"/>
          </a:solidFill>
          <a:ln/>
        </p:spPr>
      </p:sp>
      <p:sp>
        <p:nvSpPr>
          <p:cNvPr id="14" name="Text 12"/>
          <p:cNvSpPr/>
          <p:nvPr/>
        </p:nvSpPr>
        <p:spPr>
          <a:xfrm>
            <a:off x="7040880" y="3937459"/>
            <a:ext cx="1874520" cy="548640"/>
          </a:xfrm>
          <a:prstGeom prst="rect">
            <a:avLst/>
          </a:prstGeom>
          <a:noFill/>
          <a:ln/>
        </p:spPr>
        <p:txBody>
          <a:bodyPr wrap="square" lIns="0" tIns="0" rIns="0" bIns="0" rtlCol="0" anchor="ctr"/>
          <a:lstStyle/>
          <a:p>
            <a:pPr algn="ctr"/>
            <a:r>
              <a:rPr lang="en-US" sz="1200" b="1" dirty="0">
                <a:solidFill>
                  <a:srgbClr val="FFFFFF"/>
                </a:solidFill>
                <a:latin typeface="Courier New" pitchFamily="34" charset="0"/>
                <a:ea typeface="Courier New" pitchFamily="34" charset="-122"/>
                <a:cs typeface="Courier New" pitchFamily="34" charset="-120"/>
              </a:rPr>
              <a:t>ifstream</a:t>
            </a:r>
            <a:endParaRPr lang="en-US" sz="1200" dirty="0"/>
          </a:p>
        </p:txBody>
      </p:sp>
      <p:sp>
        <p:nvSpPr>
          <p:cNvPr id="15" name="Shape 13"/>
          <p:cNvSpPr/>
          <p:nvPr/>
        </p:nvSpPr>
        <p:spPr>
          <a:xfrm>
            <a:off x="9326880" y="3937459"/>
            <a:ext cx="1874520" cy="548640"/>
          </a:xfrm>
          <a:prstGeom prst="roundRect">
            <a:avLst>
              <a:gd name="adj" fmla="val 13333"/>
            </a:avLst>
          </a:prstGeom>
          <a:solidFill>
            <a:srgbClr val="1C7293"/>
          </a:solidFill>
          <a:ln/>
        </p:spPr>
      </p:sp>
      <p:sp>
        <p:nvSpPr>
          <p:cNvPr id="16" name="Text 14"/>
          <p:cNvSpPr/>
          <p:nvPr/>
        </p:nvSpPr>
        <p:spPr>
          <a:xfrm>
            <a:off x="9326880" y="3937459"/>
            <a:ext cx="1874520" cy="548640"/>
          </a:xfrm>
          <a:prstGeom prst="rect">
            <a:avLst/>
          </a:prstGeom>
          <a:noFill/>
          <a:ln/>
        </p:spPr>
        <p:txBody>
          <a:bodyPr wrap="square" lIns="0" tIns="0" rIns="0" bIns="0" rtlCol="0" anchor="ctr"/>
          <a:lstStyle/>
          <a:p>
            <a:pPr algn="ctr"/>
            <a:r>
              <a:rPr lang="en-US" sz="1200" b="1" dirty="0">
                <a:solidFill>
                  <a:srgbClr val="FFFFFF"/>
                </a:solidFill>
                <a:latin typeface="Courier New" pitchFamily="34" charset="0"/>
                <a:ea typeface="Courier New" pitchFamily="34" charset="-122"/>
                <a:cs typeface="Courier New" pitchFamily="34" charset="-120"/>
              </a:rPr>
              <a:t>ofstream</a:t>
            </a:r>
            <a:endParaRPr lang="en-US" sz="1200" dirty="0"/>
          </a:p>
        </p:txBody>
      </p:sp>
      <p:sp>
        <p:nvSpPr>
          <p:cNvPr id="17" name="Shape 15"/>
          <p:cNvSpPr/>
          <p:nvPr/>
        </p:nvSpPr>
        <p:spPr>
          <a:xfrm>
            <a:off x="9103311" y="3384248"/>
            <a:ext cx="24228" cy="1787652"/>
          </a:xfrm>
          <a:prstGeom prst="line">
            <a:avLst/>
          </a:prstGeom>
          <a:noFill/>
          <a:ln w="28575">
            <a:solidFill>
              <a:srgbClr val="9AA9C4"/>
            </a:solidFill>
            <a:prstDash val="solid"/>
            <a:tailEnd type="triangle"/>
          </a:ln>
        </p:spPr>
      </p:sp>
      <p:sp>
        <p:nvSpPr>
          <p:cNvPr id="18" name="Shape 16"/>
          <p:cNvSpPr/>
          <p:nvPr/>
        </p:nvSpPr>
        <p:spPr>
          <a:xfrm>
            <a:off x="8183880" y="5171899"/>
            <a:ext cx="1874520" cy="548640"/>
          </a:xfrm>
          <a:prstGeom prst="roundRect">
            <a:avLst>
              <a:gd name="adj" fmla="val 13333"/>
            </a:avLst>
          </a:prstGeom>
          <a:solidFill>
            <a:srgbClr val="F2A93B"/>
          </a:solidFill>
          <a:ln/>
        </p:spPr>
      </p:sp>
      <p:sp>
        <p:nvSpPr>
          <p:cNvPr id="19" name="Text 17"/>
          <p:cNvSpPr/>
          <p:nvPr/>
        </p:nvSpPr>
        <p:spPr>
          <a:xfrm>
            <a:off x="8183880" y="5171899"/>
            <a:ext cx="1874520" cy="548640"/>
          </a:xfrm>
          <a:prstGeom prst="rect">
            <a:avLst/>
          </a:prstGeom>
          <a:noFill/>
          <a:ln/>
        </p:spPr>
        <p:txBody>
          <a:bodyPr wrap="square" lIns="0" tIns="0" rIns="0" bIns="0" rtlCol="0" anchor="ctr"/>
          <a:lstStyle/>
          <a:p>
            <a:pPr algn="ctr"/>
            <a:r>
              <a:rPr lang="en-US" sz="1200" b="1" dirty="0">
                <a:solidFill>
                  <a:srgbClr val="0B2545"/>
                </a:solidFill>
                <a:latin typeface="Courier New" pitchFamily="34" charset="0"/>
                <a:ea typeface="Courier New" pitchFamily="34" charset="-122"/>
                <a:cs typeface="Courier New" pitchFamily="34" charset="-120"/>
              </a:rPr>
              <a:t>fstream</a:t>
            </a:r>
            <a:endParaRPr lang="en-US" sz="1200" dirty="0"/>
          </a:p>
        </p:txBody>
      </p:sp>
      <p:sp>
        <p:nvSpPr>
          <p:cNvPr id="20" name="Text 18"/>
          <p:cNvSpPr/>
          <p:nvPr/>
        </p:nvSpPr>
        <p:spPr>
          <a:xfrm>
            <a:off x="6720840" y="5857699"/>
            <a:ext cx="4800600" cy="548640"/>
          </a:xfrm>
          <a:prstGeom prst="rect">
            <a:avLst/>
          </a:prstGeom>
          <a:noFill/>
          <a:ln/>
        </p:spPr>
        <p:txBody>
          <a:bodyPr wrap="square" lIns="0" tIns="0" rIns="0" bIns="0" rtlCol="0" anchor="ctr"/>
          <a:lstStyle/>
          <a:p>
            <a:pPr algn="ctr"/>
            <a:r>
              <a:rPr lang="en-US" sz="951" i="1" dirty="0">
                <a:solidFill>
                  <a:srgbClr val="5B6B85"/>
                </a:solidFill>
                <a:latin typeface="Calibri" pitchFamily="34" charset="0"/>
                <a:ea typeface="Calibri" pitchFamily="34" charset="-122"/>
                <a:cs typeface="Calibri" pitchFamily="34" charset="-120"/>
              </a:rPr>
              <a:t>read-only stream          write-only stream          read + write stream</a:t>
            </a:r>
            <a:endParaRPr lang="en-US" sz="951" dirty="0"/>
          </a:p>
        </p:txBody>
      </p:sp>
      <p:sp>
        <p:nvSpPr>
          <p:cNvPr id="22" name="Text 0">
            <a:extLst>
              <a:ext uri="{FF2B5EF4-FFF2-40B4-BE49-F238E27FC236}">
                <a16:creationId xmlns:a16="http://schemas.microsoft.com/office/drawing/2014/main" id="{4BEE4A10-5FEE-ADB8-B306-2F6889EAA15B}"/>
              </a:ext>
            </a:extLst>
          </p:cNvPr>
          <p:cNvSpPr/>
          <p:nvPr/>
        </p:nvSpPr>
        <p:spPr>
          <a:xfrm>
            <a:off x="548640" y="241226"/>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11</a:t>
            </a:r>
            <a:endParaRPr lang="en-US" sz="1400" dirty="0"/>
          </a:p>
        </p:txBody>
      </p:sp>
      <p:sp>
        <p:nvSpPr>
          <p:cNvPr id="24" name="Text 1">
            <a:extLst>
              <a:ext uri="{FF2B5EF4-FFF2-40B4-BE49-F238E27FC236}">
                <a16:creationId xmlns:a16="http://schemas.microsoft.com/office/drawing/2014/main" id="{F4B0E7B4-2994-61A2-7765-FC3B97A3593F}"/>
              </a:ext>
            </a:extLst>
          </p:cNvPr>
          <p:cNvSpPr/>
          <p:nvPr/>
        </p:nvSpPr>
        <p:spPr>
          <a:xfrm>
            <a:off x="548640" y="480406"/>
            <a:ext cx="11091672" cy="73152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File Handling</a:t>
            </a:r>
            <a:endParaRPr lang="en-US" sz="22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4DDE4-4CBF-32A0-4836-7C50F455E096}"/>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B320DF06-6770-836C-7282-65F9CD0B5968}"/>
              </a:ext>
            </a:extLst>
          </p:cNvPr>
          <p:cNvSpPr/>
          <p:nvPr/>
        </p:nvSpPr>
        <p:spPr>
          <a:xfrm>
            <a:off x="548640" y="1261597"/>
            <a:ext cx="5307215" cy="448155"/>
          </a:xfrm>
          <a:prstGeom prst="rect">
            <a:avLst/>
          </a:prstGeom>
          <a:noFill/>
          <a:ln/>
        </p:spPr>
        <p:txBody>
          <a:bodyPr wrap="square" lIns="0" tIns="0" rIns="0" bIns="0" rtlCol="0" anchor="ctr"/>
          <a:lstStyle/>
          <a:p>
            <a:r>
              <a:rPr lang="en-US" sz="2000" b="1" dirty="0">
                <a:solidFill>
                  <a:srgbClr val="16233B"/>
                </a:solidFill>
                <a:latin typeface="Cambria" pitchFamily="34" charset="0"/>
                <a:ea typeface="Cambria" pitchFamily="34" charset="-122"/>
                <a:cs typeface="Cambria" pitchFamily="34" charset="-120"/>
              </a:rPr>
              <a:t>Opening and Closing a File — The Big Picture</a:t>
            </a:r>
            <a:endParaRPr lang="en-US" sz="2000" dirty="0"/>
          </a:p>
        </p:txBody>
      </p:sp>
      <p:sp>
        <p:nvSpPr>
          <p:cNvPr id="6" name="Text 4">
            <a:extLst>
              <a:ext uri="{FF2B5EF4-FFF2-40B4-BE49-F238E27FC236}">
                <a16:creationId xmlns:a16="http://schemas.microsoft.com/office/drawing/2014/main" id="{DB81083C-3C2D-582B-7498-92BAE32227E1}"/>
              </a:ext>
            </a:extLst>
          </p:cNvPr>
          <p:cNvSpPr/>
          <p:nvPr/>
        </p:nvSpPr>
        <p:spPr>
          <a:xfrm>
            <a:off x="660185" y="1857088"/>
            <a:ext cx="5874494" cy="3311701"/>
          </a:xfrm>
          <a:prstGeom prst="rect">
            <a:avLst/>
          </a:prstGeom>
          <a:noFill/>
          <a:ln/>
        </p:spPr>
        <p:txBody>
          <a:bodyPr wrap="square" lIns="0" tIns="0" rIns="0" bIns="0" rtlCol="0" anchor="t"/>
          <a:lstStyle/>
          <a:p>
            <a:pPr marL="171450" indent="-171450">
              <a:spcAft>
                <a:spcPts val="1050"/>
              </a:spcAft>
              <a:buSzPct val="100000"/>
              <a:buChar char="•"/>
            </a:pPr>
            <a:r>
              <a:rPr lang="en-US" sz="1400" dirty="0">
                <a:solidFill>
                  <a:srgbClr val="16233B"/>
                </a:solidFill>
                <a:latin typeface="Calibri" pitchFamily="34" charset="0"/>
                <a:ea typeface="Calibri" pitchFamily="34" charset="-122"/>
                <a:cs typeface="Calibri" pitchFamily="34" charset="-120"/>
              </a:rPr>
              <a:t>“Opening” a file means associating a stream object (</a:t>
            </a:r>
            <a:r>
              <a:rPr lang="en-US" sz="1400" dirty="0" err="1">
                <a:solidFill>
                  <a:srgbClr val="16233B"/>
                </a:solidFill>
                <a:latin typeface="Calibri" pitchFamily="34" charset="0"/>
                <a:ea typeface="Calibri" pitchFamily="34" charset="-122"/>
                <a:cs typeface="Calibri" pitchFamily="34" charset="-120"/>
              </a:rPr>
              <a:t>ifstream</a:t>
            </a:r>
            <a:r>
              <a:rPr lang="en-US" sz="1400" dirty="0">
                <a:solidFill>
                  <a:srgbClr val="16233B"/>
                </a:solidFill>
                <a:latin typeface="Calibri" pitchFamily="34" charset="0"/>
                <a:ea typeface="Calibri" pitchFamily="34" charset="-122"/>
                <a:cs typeface="Calibri" pitchFamily="34" charset="-120"/>
              </a:rPr>
              <a:t>/</a:t>
            </a:r>
            <a:r>
              <a:rPr lang="en-US" sz="1400" dirty="0" err="1">
                <a:solidFill>
                  <a:srgbClr val="16233B"/>
                </a:solidFill>
                <a:latin typeface="Calibri" pitchFamily="34" charset="0"/>
                <a:ea typeface="Calibri" pitchFamily="34" charset="-122"/>
                <a:cs typeface="Calibri" pitchFamily="34" charset="-120"/>
              </a:rPr>
              <a:t>ofstream</a:t>
            </a:r>
            <a:r>
              <a:rPr lang="en-US" sz="1400" dirty="0">
                <a:solidFill>
                  <a:srgbClr val="16233B"/>
                </a:solidFill>
                <a:latin typeface="Calibri" pitchFamily="34" charset="0"/>
                <a:ea typeface="Calibri" pitchFamily="34" charset="-122"/>
                <a:cs typeface="Calibri" pitchFamily="34" charset="-120"/>
              </a:rPr>
              <a:t>/</a:t>
            </a:r>
            <a:r>
              <a:rPr lang="en-US" sz="1400" dirty="0" err="1">
                <a:solidFill>
                  <a:srgbClr val="16233B"/>
                </a:solidFill>
                <a:latin typeface="Calibri" pitchFamily="34" charset="0"/>
                <a:ea typeface="Calibri" pitchFamily="34" charset="-122"/>
                <a:cs typeface="Calibri" pitchFamily="34" charset="-120"/>
              </a:rPr>
              <a:t>fstream</a:t>
            </a:r>
            <a:r>
              <a:rPr lang="en-US" sz="1400" dirty="0">
                <a:solidFill>
                  <a:srgbClr val="16233B"/>
                </a:solidFill>
                <a:latin typeface="Calibri" pitchFamily="34" charset="0"/>
                <a:ea typeface="Calibri" pitchFamily="34" charset="-122"/>
                <a:cs typeface="Calibri" pitchFamily="34" charset="-120"/>
              </a:rPr>
              <a:t>) with a physical file on disk, so that operations on the object act on that file.</a:t>
            </a:r>
            <a:endParaRPr lang="en-US" sz="1400" dirty="0"/>
          </a:p>
          <a:p>
            <a:pPr marL="171450" indent="-171450">
              <a:spcAft>
                <a:spcPts val="1050"/>
              </a:spcAft>
              <a:buSzPct val="100000"/>
              <a:buChar char="•"/>
            </a:pPr>
            <a:r>
              <a:rPr lang="en-US" sz="1400" dirty="0">
                <a:solidFill>
                  <a:srgbClr val="16233B"/>
                </a:solidFill>
                <a:latin typeface="Calibri" pitchFamily="34" charset="0"/>
                <a:ea typeface="Calibri" pitchFamily="34" charset="-122"/>
                <a:cs typeface="Calibri" pitchFamily="34" charset="-120"/>
              </a:rPr>
              <a:t>C++ gives two ways to open a file: via the constructor (at the moment the object is created) or via the open() member function (after the object already exists).</a:t>
            </a:r>
            <a:endParaRPr lang="en-US" sz="1400" dirty="0"/>
          </a:p>
          <a:p>
            <a:pPr marL="171450" indent="-171450">
              <a:spcAft>
                <a:spcPts val="1050"/>
              </a:spcAft>
              <a:buSzPct val="100000"/>
              <a:buChar char="•"/>
            </a:pPr>
            <a:r>
              <a:rPr lang="en-US" sz="1400" dirty="0">
                <a:solidFill>
                  <a:srgbClr val="16233B"/>
                </a:solidFill>
                <a:latin typeface="Calibri" pitchFamily="34" charset="0"/>
                <a:ea typeface="Calibri" pitchFamily="34" charset="-122"/>
                <a:cs typeface="Calibri" pitchFamily="34" charset="-120"/>
              </a:rPr>
              <a:t>A file MUST be closed with close() when you're done. Closing flushes any buffered data to disk and releases the operating-system file handle.</a:t>
            </a:r>
            <a:endParaRPr lang="en-US" sz="1400" dirty="0"/>
          </a:p>
          <a:p>
            <a:pPr marL="171450" indent="-171450">
              <a:spcAft>
                <a:spcPts val="1050"/>
              </a:spcAft>
              <a:buSzPct val="100000"/>
              <a:buChar char="•"/>
            </a:pPr>
            <a:r>
              <a:rPr lang="en-US" sz="1400" dirty="0">
                <a:solidFill>
                  <a:srgbClr val="16233B"/>
                </a:solidFill>
                <a:latin typeface="Calibri" pitchFamily="34" charset="0"/>
                <a:ea typeface="Calibri" pitchFamily="34" charset="-122"/>
                <a:cs typeface="Calibri" pitchFamily="34" charset="-120"/>
              </a:rPr>
              <a:t>Forgetting to close a file can lose buffered (not-yet-written) data, or leave the file locked/inaccessible to other programs.</a:t>
            </a:r>
            <a:endParaRPr lang="en-US" sz="1400" dirty="0"/>
          </a:p>
          <a:p>
            <a:pPr marL="171450" indent="-171450">
              <a:spcAft>
                <a:spcPts val="1050"/>
              </a:spcAft>
              <a:buSzPct val="100000"/>
              <a:buChar char="•"/>
            </a:pPr>
            <a:r>
              <a:rPr lang="en-US" sz="1400" dirty="0">
                <a:solidFill>
                  <a:srgbClr val="16233B"/>
                </a:solidFill>
                <a:latin typeface="Calibri" pitchFamily="34" charset="0"/>
                <a:ea typeface="Calibri" pitchFamily="34" charset="-122"/>
                <a:cs typeface="Calibri" pitchFamily="34" charset="-120"/>
              </a:rPr>
              <a:t>Always verify the file actually opened — test the stream object in a </a:t>
            </a:r>
            <a:r>
              <a:rPr lang="en-US" sz="1400" dirty="0" err="1">
                <a:solidFill>
                  <a:srgbClr val="16233B"/>
                </a:solidFill>
                <a:latin typeface="Calibri" pitchFamily="34" charset="0"/>
                <a:ea typeface="Calibri" pitchFamily="34" charset="-122"/>
                <a:cs typeface="Calibri" pitchFamily="34" charset="-120"/>
              </a:rPr>
              <a:t>boolean</a:t>
            </a:r>
            <a:r>
              <a:rPr lang="en-US" sz="1400" dirty="0">
                <a:solidFill>
                  <a:srgbClr val="16233B"/>
                </a:solidFill>
                <a:latin typeface="Calibri" pitchFamily="34" charset="0"/>
                <a:ea typeface="Calibri" pitchFamily="34" charset="-122"/>
                <a:cs typeface="Calibri" pitchFamily="34" charset="-120"/>
              </a:rPr>
              <a:t> context: if (!file) { /* failed */ }.</a:t>
            </a:r>
            <a:endParaRPr lang="en-US" sz="1400" dirty="0"/>
          </a:p>
        </p:txBody>
      </p:sp>
      <p:sp>
        <p:nvSpPr>
          <p:cNvPr id="22" name="Text 0">
            <a:extLst>
              <a:ext uri="{FF2B5EF4-FFF2-40B4-BE49-F238E27FC236}">
                <a16:creationId xmlns:a16="http://schemas.microsoft.com/office/drawing/2014/main" id="{0E27D305-C953-E07F-9D60-433E66031E4E}"/>
              </a:ext>
            </a:extLst>
          </p:cNvPr>
          <p:cNvSpPr/>
          <p:nvPr/>
        </p:nvSpPr>
        <p:spPr>
          <a:xfrm>
            <a:off x="548640" y="241226"/>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11</a:t>
            </a:r>
            <a:endParaRPr lang="en-US" sz="1400" dirty="0"/>
          </a:p>
        </p:txBody>
      </p:sp>
      <p:sp>
        <p:nvSpPr>
          <p:cNvPr id="24" name="Text 1">
            <a:extLst>
              <a:ext uri="{FF2B5EF4-FFF2-40B4-BE49-F238E27FC236}">
                <a16:creationId xmlns:a16="http://schemas.microsoft.com/office/drawing/2014/main" id="{EBCD9347-BAB9-A33A-B664-6011D47989E0}"/>
              </a:ext>
            </a:extLst>
          </p:cNvPr>
          <p:cNvSpPr/>
          <p:nvPr/>
        </p:nvSpPr>
        <p:spPr>
          <a:xfrm>
            <a:off x="548640" y="480406"/>
            <a:ext cx="11091672" cy="73152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File Handling</a:t>
            </a:r>
            <a:endParaRPr lang="en-US" sz="2200" dirty="0"/>
          </a:p>
        </p:txBody>
      </p:sp>
      <p:sp>
        <p:nvSpPr>
          <p:cNvPr id="23" name="Shape 3">
            <a:extLst>
              <a:ext uri="{FF2B5EF4-FFF2-40B4-BE49-F238E27FC236}">
                <a16:creationId xmlns:a16="http://schemas.microsoft.com/office/drawing/2014/main" id="{92C1FFCC-9432-76E0-D173-540F9D7E5BDC}"/>
              </a:ext>
            </a:extLst>
          </p:cNvPr>
          <p:cNvSpPr/>
          <p:nvPr/>
        </p:nvSpPr>
        <p:spPr>
          <a:xfrm>
            <a:off x="7543453" y="1759424"/>
            <a:ext cx="4207625" cy="4041014"/>
          </a:xfrm>
          <a:prstGeom prst="roundRect">
            <a:avLst>
              <a:gd name="adj" fmla="val 2128"/>
            </a:avLst>
          </a:prstGeom>
          <a:solidFill>
            <a:srgbClr val="0B2545"/>
          </a:solidFill>
          <a:ln/>
        </p:spPr>
        <p:txBody>
          <a:bodyPr/>
          <a:lstStyle/>
          <a:p>
            <a:endParaRPr lang="en-US" dirty="0"/>
          </a:p>
        </p:txBody>
      </p:sp>
      <p:sp>
        <p:nvSpPr>
          <p:cNvPr id="26" name="Text 4">
            <a:extLst>
              <a:ext uri="{FF2B5EF4-FFF2-40B4-BE49-F238E27FC236}">
                <a16:creationId xmlns:a16="http://schemas.microsoft.com/office/drawing/2014/main" id="{078FF4CF-8E23-B2C2-D6D4-7BE506BAC763}"/>
              </a:ext>
            </a:extLst>
          </p:cNvPr>
          <p:cNvSpPr/>
          <p:nvPr/>
        </p:nvSpPr>
        <p:spPr>
          <a:xfrm>
            <a:off x="7543453" y="1820033"/>
            <a:ext cx="4133736" cy="309377"/>
          </a:xfrm>
          <a:prstGeom prst="rect">
            <a:avLst/>
          </a:prstGeom>
          <a:noFill/>
          <a:ln/>
        </p:spPr>
        <p:txBody>
          <a:bodyPr wrap="square" lIns="0" tIns="0" rIns="0" bIns="0" rtlCol="0" anchor="ctr"/>
          <a:lstStyle/>
          <a:p>
            <a:pPr algn="ctr"/>
            <a:r>
              <a:rPr lang="en-US" sz="1600" b="1" kern="0" spc="150" dirty="0">
                <a:solidFill>
                  <a:srgbClr val="F2A93B"/>
                </a:solidFill>
                <a:latin typeface="Calibri" pitchFamily="34" charset="0"/>
                <a:ea typeface="Calibri" pitchFamily="34" charset="-122"/>
                <a:cs typeface="Calibri" pitchFamily="34" charset="-120"/>
              </a:rPr>
              <a:t>FILE LIFECYCLE</a:t>
            </a:r>
            <a:endParaRPr lang="en-US" sz="1600" dirty="0"/>
          </a:p>
        </p:txBody>
      </p:sp>
      <p:sp>
        <p:nvSpPr>
          <p:cNvPr id="28" name="Shape 5">
            <a:extLst>
              <a:ext uri="{FF2B5EF4-FFF2-40B4-BE49-F238E27FC236}">
                <a16:creationId xmlns:a16="http://schemas.microsoft.com/office/drawing/2014/main" id="{91CB9C6C-2D6C-33DF-2D78-A48A3176C59F}"/>
              </a:ext>
            </a:extLst>
          </p:cNvPr>
          <p:cNvSpPr/>
          <p:nvPr/>
        </p:nvSpPr>
        <p:spPr>
          <a:xfrm>
            <a:off x="7746540" y="2314921"/>
            <a:ext cx="389332" cy="412503"/>
          </a:xfrm>
          <a:prstGeom prst="ellipse">
            <a:avLst/>
          </a:prstGeom>
          <a:solidFill>
            <a:srgbClr val="1C7293"/>
          </a:solidFill>
          <a:ln/>
        </p:spPr>
      </p:sp>
      <p:sp>
        <p:nvSpPr>
          <p:cNvPr id="30" name="Text 6">
            <a:extLst>
              <a:ext uri="{FF2B5EF4-FFF2-40B4-BE49-F238E27FC236}">
                <a16:creationId xmlns:a16="http://schemas.microsoft.com/office/drawing/2014/main" id="{942E6F0C-95DE-4563-B67C-FD1D3ACEE3F9}"/>
              </a:ext>
            </a:extLst>
          </p:cNvPr>
          <p:cNvSpPr/>
          <p:nvPr/>
        </p:nvSpPr>
        <p:spPr>
          <a:xfrm>
            <a:off x="7783484" y="2314921"/>
            <a:ext cx="389332" cy="412503"/>
          </a:xfrm>
          <a:prstGeom prst="rect">
            <a:avLst/>
          </a:prstGeom>
          <a:noFill/>
          <a:ln/>
        </p:spPr>
        <p:txBody>
          <a:bodyPr wrap="square" lIns="0" tIns="0" rIns="0" bIns="0" rtlCol="0" anchor="ctr"/>
          <a:lstStyle/>
          <a:p>
            <a:pPr algn="ct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4" name="Shape 8">
            <a:extLst>
              <a:ext uri="{FF2B5EF4-FFF2-40B4-BE49-F238E27FC236}">
                <a16:creationId xmlns:a16="http://schemas.microsoft.com/office/drawing/2014/main" id="{851B7CF3-A28A-C26B-4846-C2AD3624B1E9}"/>
              </a:ext>
            </a:extLst>
          </p:cNvPr>
          <p:cNvSpPr/>
          <p:nvPr/>
        </p:nvSpPr>
        <p:spPr>
          <a:xfrm>
            <a:off x="7952027" y="2727366"/>
            <a:ext cx="0" cy="288752"/>
          </a:xfrm>
          <a:prstGeom prst="line">
            <a:avLst/>
          </a:prstGeom>
          <a:noFill/>
          <a:ln w="19050">
            <a:solidFill>
              <a:srgbClr val="3A5A8C"/>
            </a:solidFill>
            <a:prstDash val="dash"/>
          </a:ln>
        </p:spPr>
      </p:sp>
      <p:sp>
        <p:nvSpPr>
          <p:cNvPr id="36" name="Shape 9">
            <a:extLst>
              <a:ext uri="{FF2B5EF4-FFF2-40B4-BE49-F238E27FC236}">
                <a16:creationId xmlns:a16="http://schemas.microsoft.com/office/drawing/2014/main" id="{77B87827-2318-B2EE-07CB-1E4E0C815A28}"/>
              </a:ext>
            </a:extLst>
          </p:cNvPr>
          <p:cNvSpPr/>
          <p:nvPr/>
        </p:nvSpPr>
        <p:spPr>
          <a:xfrm>
            <a:off x="7750215" y="2956060"/>
            <a:ext cx="389332" cy="412503"/>
          </a:xfrm>
          <a:prstGeom prst="ellipse">
            <a:avLst/>
          </a:prstGeom>
          <a:solidFill>
            <a:srgbClr val="1C7293"/>
          </a:solidFill>
          <a:ln/>
        </p:spPr>
      </p:sp>
      <p:sp>
        <p:nvSpPr>
          <p:cNvPr id="38" name="Text 10">
            <a:extLst>
              <a:ext uri="{FF2B5EF4-FFF2-40B4-BE49-F238E27FC236}">
                <a16:creationId xmlns:a16="http://schemas.microsoft.com/office/drawing/2014/main" id="{83EDC720-6DD6-8825-B068-9244E859356A}"/>
              </a:ext>
            </a:extLst>
          </p:cNvPr>
          <p:cNvSpPr/>
          <p:nvPr/>
        </p:nvSpPr>
        <p:spPr>
          <a:xfrm>
            <a:off x="7767323" y="2946879"/>
            <a:ext cx="389332" cy="412503"/>
          </a:xfrm>
          <a:prstGeom prst="rect">
            <a:avLst/>
          </a:prstGeom>
          <a:noFill/>
          <a:ln/>
        </p:spPr>
        <p:txBody>
          <a:bodyPr wrap="square" lIns="0" tIns="0" rIns="0" bIns="0" rtlCol="0" anchor="ctr"/>
          <a:lstStyle/>
          <a:p>
            <a:pPr algn="ct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0" name="Text 11">
            <a:extLst>
              <a:ext uri="{FF2B5EF4-FFF2-40B4-BE49-F238E27FC236}">
                <a16:creationId xmlns:a16="http://schemas.microsoft.com/office/drawing/2014/main" id="{D2FF81A3-092E-8DEA-44BA-0D7381F72EAC}"/>
              </a:ext>
            </a:extLst>
          </p:cNvPr>
          <p:cNvSpPr/>
          <p:nvPr/>
        </p:nvSpPr>
        <p:spPr>
          <a:xfrm>
            <a:off x="8295753" y="2917686"/>
            <a:ext cx="3455325" cy="515628"/>
          </a:xfrm>
          <a:prstGeom prst="rect">
            <a:avLst/>
          </a:prstGeom>
          <a:noFill/>
          <a:ln/>
        </p:spPr>
        <p:txBody>
          <a:bodyPr wrap="square" lIns="0" tIns="0" rIns="0" bIns="0" rtlCol="0" anchor="ctr"/>
          <a:lstStyle/>
          <a:p>
            <a:r>
              <a:rPr lang="en-US" sz="1400" dirty="0">
                <a:solidFill>
                  <a:srgbClr val="FFFFFF"/>
                </a:solidFill>
                <a:latin typeface="Calibri" pitchFamily="34" charset="0"/>
                <a:ea typeface="Calibri" pitchFamily="34" charset="-122"/>
                <a:cs typeface="Calibri" pitchFamily="34" charset="-120"/>
              </a:rPr>
              <a:t>Open (constructor or open())</a:t>
            </a:r>
            <a:endParaRPr lang="en-US" sz="1400" dirty="0"/>
          </a:p>
        </p:txBody>
      </p:sp>
      <p:sp>
        <p:nvSpPr>
          <p:cNvPr id="42" name="Shape 12">
            <a:extLst>
              <a:ext uri="{FF2B5EF4-FFF2-40B4-BE49-F238E27FC236}">
                <a16:creationId xmlns:a16="http://schemas.microsoft.com/office/drawing/2014/main" id="{11A04574-190D-7F97-7B69-073701CE881E}"/>
              </a:ext>
            </a:extLst>
          </p:cNvPr>
          <p:cNvSpPr/>
          <p:nvPr/>
        </p:nvSpPr>
        <p:spPr>
          <a:xfrm>
            <a:off x="7961989" y="3368563"/>
            <a:ext cx="0" cy="288752"/>
          </a:xfrm>
          <a:prstGeom prst="line">
            <a:avLst/>
          </a:prstGeom>
          <a:noFill/>
          <a:ln w="19050">
            <a:solidFill>
              <a:srgbClr val="3A5A8C"/>
            </a:solidFill>
            <a:prstDash val="dash"/>
          </a:ln>
        </p:spPr>
      </p:sp>
      <p:sp>
        <p:nvSpPr>
          <p:cNvPr id="44" name="Shape 13">
            <a:extLst>
              <a:ext uri="{FF2B5EF4-FFF2-40B4-BE49-F238E27FC236}">
                <a16:creationId xmlns:a16="http://schemas.microsoft.com/office/drawing/2014/main" id="{79CA47C4-221D-2EC2-1786-CF061060FDFA}"/>
              </a:ext>
            </a:extLst>
          </p:cNvPr>
          <p:cNvSpPr/>
          <p:nvPr/>
        </p:nvSpPr>
        <p:spPr>
          <a:xfrm>
            <a:off x="7767323" y="3593471"/>
            <a:ext cx="389332" cy="412503"/>
          </a:xfrm>
          <a:prstGeom prst="ellipse">
            <a:avLst/>
          </a:prstGeom>
          <a:solidFill>
            <a:srgbClr val="1C7293"/>
          </a:solidFill>
          <a:ln/>
        </p:spPr>
        <p:txBody>
          <a:bodyPr/>
          <a:lstStyle/>
          <a:p>
            <a:r>
              <a:rPr lang="en-US" sz="1200" dirty="0">
                <a:solidFill>
                  <a:schemeClr val="bg1"/>
                </a:solidFill>
              </a:rPr>
              <a:t>3</a:t>
            </a:r>
          </a:p>
        </p:txBody>
      </p:sp>
      <p:sp>
        <p:nvSpPr>
          <p:cNvPr id="48" name="Text 15">
            <a:extLst>
              <a:ext uri="{FF2B5EF4-FFF2-40B4-BE49-F238E27FC236}">
                <a16:creationId xmlns:a16="http://schemas.microsoft.com/office/drawing/2014/main" id="{E030DE20-D7C0-C0D4-9726-0AB495379FE3}"/>
              </a:ext>
            </a:extLst>
          </p:cNvPr>
          <p:cNvSpPr/>
          <p:nvPr/>
        </p:nvSpPr>
        <p:spPr>
          <a:xfrm>
            <a:off x="8312386" y="3539906"/>
            <a:ext cx="3455325" cy="515628"/>
          </a:xfrm>
          <a:prstGeom prst="rect">
            <a:avLst/>
          </a:prstGeom>
          <a:noFill/>
          <a:ln/>
        </p:spPr>
        <p:txBody>
          <a:bodyPr wrap="square" lIns="0" tIns="0" rIns="0" bIns="0" rtlCol="0" anchor="ctr"/>
          <a:lstStyle/>
          <a:p>
            <a:r>
              <a:rPr lang="en-US" sz="1200" dirty="0">
                <a:solidFill>
                  <a:srgbClr val="FFFFFF"/>
                </a:solidFill>
                <a:latin typeface="Calibri" pitchFamily="34" charset="0"/>
                <a:ea typeface="Calibri" pitchFamily="34" charset="-122"/>
                <a:cs typeface="Calibri" pitchFamily="34" charset="-120"/>
              </a:rPr>
              <a:t>Check it </a:t>
            </a:r>
            <a:r>
              <a:rPr lang="en-US" sz="1400" dirty="0">
                <a:solidFill>
                  <a:srgbClr val="FFFFFF"/>
                </a:solidFill>
                <a:latin typeface="Calibri" pitchFamily="34" charset="0"/>
                <a:ea typeface="Calibri" pitchFamily="34" charset="-122"/>
                <a:cs typeface="Calibri" pitchFamily="34" charset="-120"/>
              </a:rPr>
              <a:t>opened</a:t>
            </a:r>
            <a:r>
              <a:rPr lang="en-US" sz="1200" dirty="0">
                <a:solidFill>
                  <a:srgbClr val="FFFFFF"/>
                </a:solidFill>
                <a:latin typeface="Calibri" pitchFamily="34" charset="0"/>
                <a:ea typeface="Calibri" pitchFamily="34" charset="-122"/>
                <a:cs typeface="Calibri" pitchFamily="34" charset="-120"/>
              </a:rPr>
              <a:t> successfully</a:t>
            </a:r>
            <a:endParaRPr lang="en-US" sz="1200" dirty="0"/>
          </a:p>
        </p:txBody>
      </p:sp>
      <p:sp>
        <p:nvSpPr>
          <p:cNvPr id="50" name="Shape 16">
            <a:extLst>
              <a:ext uri="{FF2B5EF4-FFF2-40B4-BE49-F238E27FC236}">
                <a16:creationId xmlns:a16="http://schemas.microsoft.com/office/drawing/2014/main" id="{9C84AE9E-B815-DAF5-395F-FED8F1ED104F}"/>
              </a:ext>
            </a:extLst>
          </p:cNvPr>
          <p:cNvSpPr/>
          <p:nvPr/>
        </p:nvSpPr>
        <p:spPr>
          <a:xfrm>
            <a:off x="7959678" y="3978266"/>
            <a:ext cx="0" cy="288752"/>
          </a:xfrm>
          <a:prstGeom prst="line">
            <a:avLst/>
          </a:prstGeom>
          <a:noFill/>
          <a:ln w="19050">
            <a:solidFill>
              <a:srgbClr val="3A5A8C"/>
            </a:solidFill>
            <a:prstDash val="dash"/>
          </a:ln>
        </p:spPr>
      </p:sp>
      <p:sp>
        <p:nvSpPr>
          <p:cNvPr id="52" name="Shape 17">
            <a:extLst>
              <a:ext uri="{FF2B5EF4-FFF2-40B4-BE49-F238E27FC236}">
                <a16:creationId xmlns:a16="http://schemas.microsoft.com/office/drawing/2014/main" id="{6AFC0AC2-7021-CE43-DAC2-00C2FBB3911A}"/>
              </a:ext>
            </a:extLst>
          </p:cNvPr>
          <p:cNvSpPr/>
          <p:nvPr/>
        </p:nvSpPr>
        <p:spPr>
          <a:xfrm>
            <a:off x="7767323" y="4212355"/>
            <a:ext cx="389332" cy="412503"/>
          </a:xfrm>
          <a:prstGeom prst="ellipse">
            <a:avLst/>
          </a:prstGeom>
          <a:solidFill>
            <a:srgbClr val="1C7293"/>
          </a:solidFill>
          <a:ln/>
        </p:spPr>
      </p:sp>
      <p:sp>
        <p:nvSpPr>
          <p:cNvPr id="54" name="Text 18">
            <a:extLst>
              <a:ext uri="{FF2B5EF4-FFF2-40B4-BE49-F238E27FC236}">
                <a16:creationId xmlns:a16="http://schemas.microsoft.com/office/drawing/2014/main" id="{E161967F-E3F7-BE83-909F-FC5FE8BDCA5A}"/>
              </a:ext>
            </a:extLst>
          </p:cNvPr>
          <p:cNvSpPr/>
          <p:nvPr/>
        </p:nvSpPr>
        <p:spPr>
          <a:xfrm>
            <a:off x="7767323" y="4212355"/>
            <a:ext cx="389332" cy="412503"/>
          </a:xfrm>
          <a:prstGeom prst="rect">
            <a:avLst/>
          </a:prstGeom>
          <a:noFill/>
          <a:ln/>
        </p:spPr>
        <p:txBody>
          <a:bodyPr wrap="square" lIns="0" tIns="0" rIns="0" bIns="0" rtlCol="0" anchor="ctr"/>
          <a:lstStyle/>
          <a:p>
            <a:pPr algn="ct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6" name="Text 19">
            <a:extLst>
              <a:ext uri="{FF2B5EF4-FFF2-40B4-BE49-F238E27FC236}">
                <a16:creationId xmlns:a16="http://schemas.microsoft.com/office/drawing/2014/main" id="{B6A78EBF-E2D0-4B74-B84D-8DE949FFAEA8}"/>
              </a:ext>
            </a:extLst>
          </p:cNvPr>
          <p:cNvSpPr/>
          <p:nvPr/>
        </p:nvSpPr>
        <p:spPr>
          <a:xfrm>
            <a:off x="8349010" y="4162126"/>
            <a:ext cx="3455325" cy="515628"/>
          </a:xfrm>
          <a:prstGeom prst="rect">
            <a:avLst/>
          </a:prstGeom>
          <a:noFill/>
          <a:ln/>
        </p:spPr>
        <p:txBody>
          <a:bodyPr wrap="square" lIns="0" tIns="0" rIns="0" bIns="0" rtlCol="0" anchor="ctr"/>
          <a:lstStyle/>
          <a:p>
            <a:r>
              <a:rPr lang="en-US" sz="1200" dirty="0">
                <a:solidFill>
                  <a:srgbClr val="FFFFFF"/>
                </a:solidFill>
                <a:latin typeface="Calibri" pitchFamily="34" charset="0"/>
                <a:ea typeface="Calibri" pitchFamily="34" charset="-122"/>
                <a:cs typeface="Calibri" pitchFamily="34" charset="-120"/>
              </a:rPr>
              <a:t>Read and/or write data</a:t>
            </a:r>
            <a:endParaRPr lang="en-US" sz="1200" dirty="0"/>
          </a:p>
        </p:txBody>
      </p:sp>
      <p:sp>
        <p:nvSpPr>
          <p:cNvPr id="58" name="Shape 20">
            <a:extLst>
              <a:ext uri="{FF2B5EF4-FFF2-40B4-BE49-F238E27FC236}">
                <a16:creationId xmlns:a16="http://schemas.microsoft.com/office/drawing/2014/main" id="{3A98E465-8C22-2227-76DC-F55F7C7EAB8B}"/>
              </a:ext>
            </a:extLst>
          </p:cNvPr>
          <p:cNvSpPr/>
          <p:nvPr/>
        </p:nvSpPr>
        <p:spPr>
          <a:xfrm>
            <a:off x="7959899" y="4629903"/>
            <a:ext cx="0" cy="288752"/>
          </a:xfrm>
          <a:prstGeom prst="line">
            <a:avLst/>
          </a:prstGeom>
          <a:noFill/>
          <a:ln w="19050">
            <a:solidFill>
              <a:srgbClr val="3A5A8C"/>
            </a:solidFill>
            <a:prstDash val="dash"/>
          </a:ln>
        </p:spPr>
      </p:sp>
      <p:sp>
        <p:nvSpPr>
          <p:cNvPr id="60" name="Shape 21">
            <a:extLst>
              <a:ext uri="{FF2B5EF4-FFF2-40B4-BE49-F238E27FC236}">
                <a16:creationId xmlns:a16="http://schemas.microsoft.com/office/drawing/2014/main" id="{0272DD11-8E5A-3019-8EAC-75086BCB7234}"/>
              </a:ext>
            </a:extLst>
          </p:cNvPr>
          <p:cNvSpPr/>
          <p:nvPr/>
        </p:nvSpPr>
        <p:spPr>
          <a:xfrm>
            <a:off x="7758087" y="4849358"/>
            <a:ext cx="389332" cy="412503"/>
          </a:xfrm>
          <a:prstGeom prst="ellipse">
            <a:avLst/>
          </a:prstGeom>
          <a:solidFill>
            <a:srgbClr val="1C7293"/>
          </a:solidFill>
          <a:ln/>
        </p:spPr>
      </p:sp>
      <p:sp>
        <p:nvSpPr>
          <p:cNvPr id="62" name="Text 22">
            <a:extLst>
              <a:ext uri="{FF2B5EF4-FFF2-40B4-BE49-F238E27FC236}">
                <a16:creationId xmlns:a16="http://schemas.microsoft.com/office/drawing/2014/main" id="{5B5016BE-EF7F-34D3-C0C7-6A5E469BC22D}"/>
              </a:ext>
            </a:extLst>
          </p:cNvPr>
          <p:cNvSpPr/>
          <p:nvPr/>
        </p:nvSpPr>
        <p:spPr>
          <a:xfrm>
            <a:off x="7758087" y="4849358"/>
            <a:ext cx="389332" cy="412503"/>
          </a:xfrm>
          <a:prstGeom prst="rect">
            <a:avLst/>
          </a:prstGeom>
          <a:noFill/>
          <a:ln/>
        </p:spPr>
        <p:txBody>
          <a:bodyPr wrap="square" lIns="0" tIns="0" rIns="0" bIns="0" rtlCol="0" anchor="ctr"/>
          <a:lstStyle/>
          <a:p>
            <a:pPr algn="ct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64" name="Text 23">
            <a:extLst>
              <a:ext uri="{FF2B5EF4-FFF2-40B4-BE49-F238E27FC236}">
                <a16:creationId xmlns:a16="http://schemas.microsoft.com/office/drawing/2014/main" id="{318060FA-DD2A-6BDB-88AB-866D8E35CE1B}"/>
              </a:ext>
            </a:extLst>
          </p:cNvPr>
          <p:cNvSpPr/>
          <p:nvPr/>
        </p:nvSpPr>
        <p:spPr>
          <a:xfrm>
            <a:off x="8376346" y="4766428"/>
            <a:ext cx="3455325" cy="515628"/>
          </a:xfrm>
          <a:prstGeom prst="rect">
            <a:avLst/>
          </a:prstGeom>
          <a:noFill/>
          <a:ln/>
        </p:spPr>
        <p:txBody>
          <a:bodyPr wrap="square" lIns="0" tIns="0" rIns="0" bIns="0" rtlCol="0" anchor="ctr"/>
          <a:lstStyle/>
          <a:p>
            <a:r>
              <a:rPr lang="en-US" sz="1200" dirty="0">
                <a:solidFill>
                  <a:srgbClr val="FFFFFF"/>
                </a:solidFill>
                <a:latin typeface="Calibri" pitchFamily="34" charset="0"/>
                <a:ea typeface="Calibri" pitchFamily="34" charset="-122"/>
                <a:cs typeface="Calibri" pitchFamily="34" charset="-120"/>
              </a:rPr>
              <a:t>Close the file (close())</a:t>
            </a:r>
            <a:endParaRPr lang="en-US" sz="1200" dirty="0"/>
          </a:p>
        </p:txBody>
      </p:sp>
      <p:sp>
        <p:nvSpPr>
          <p:cNvPr id="65" name="TextBox 64">
            <a:extLst>
              <a:ext uri="{FF2B5EF4-FFF2-40B4-BE49-F238E27FC236}">
                <a16:creationId xmlns:a16="http://schemas.microsoft.com/office/drawing/2014/main" id="{F185E6FA-787B-DBDE-FCEC-447251BFE31E}"/>
              </a:ext>
            </a:extLst>
          </p:cNvPr>
          <p:cNvSpPr txBox="1"/>
          <p:nvPr/>
        </p:nvSpPr>
        <p:spPr>
          <a:xfrm>
            <a:off x="8135872" y="2354318"/>
            <a:ext cx="2014013" cy="338554"/>
          </a:xfrm>
          <a:prstGeom prst="rect">
            <a:avLst/>
          </a:prstGeom>
          <a:noFill/>
        </p:spPr>
        <p:txBody>
          <a:bodyPr wrap="none" rtlCol="0">
            <a:spAutoFit/>
          </a:bodyPr>
          <a:lstStyle/>
          <a:p>
            <a:r>
              <a:rPr lang="en-US" sz="1600" dirty="0">
                <a:solidFill>
                  <a:srgbClr val="FFFFFF"/>
                </a:solidFill>
                <a:latin typeface="Calibri" pitchFamily="34" charset="0"/>
                <a:ea typeface="Calibri" pitchFamily="34" charset="-122"/>
                <a:cs typeface="Calibri" pitchFamily="34" charset="-120"/>
              </a:rPr>
              <a:t>Declare </a:t>
            </a:r>
            <a:r>
              <a:rPr lang="en-US" sz="1400" dirty="0">
                <a:solidFill>
                  <a:srgbClr val="FFFFFF"/>
                </a:solidFill>
                <a:latin typeface="Calibri" pitchFamily="34" charset="0"/>
                <a:ea typeface="Calibri" pitchFamily="34" charset="-122"/>
                <a:cs typeface="Calibri" pitchFamily="34" charset="-120"/>
              </a:rPr>
              <a:t>stream</a:t>
            </a:r>
            <a:r>
              <a:rPr lang="en-US" sz="1600" dirty="0">
                <a:solidFill>
                  <a:srgbClr val="FFFFFF"/>
                </a:solidFill>
                <a:latin typeface="Calibri" pitchFamily="34" charset="0"/>
                <a:ea typeface="Calibri" pitchFamily="34" charset="-122"/>
                <a:cs typeface="Calibri" pitchFamily="34" charset="-120"/>
              </a:rPr>
              <a:t> object</a:t>
            </a:r>
            <a:endParaRPr lang="en-US" sz="1600" dirty="0"/>
          </a:p>
        </p:txBody>
      </p:sp>
    </p:spTree>
    <p:extLst>
      <p:ext uri="{BB962C8B-B14F-4D97-AF65-F5344CB8AC3E}">
        <p14:creationId xmlns:p14="http://schemas.microsoft.com/office/powerpoint/2010/main" val="292247283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918A9C4-D0D0-93BD-BEF2-3DE2BAD14F3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B8F94C4-4F59-5722-C97B-16754C0462C4}"/>
              </a:ext>
            </a:extLst>
          </p:cNvPr>
          <p:cNvSpPr/>
          <p:nvPr/>
        </p:nvSpPr>
        <p:spPr>
          <a:xfrm>
            <a:off x="548640" y="18288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11</a:t>
            </a:r>
            <a:endParaRPr lang="en-US" sz="1400" dirty="0"/>
          </a:p>
        </p:txBody>
      </p:sp>
      <p:sp>
        <p:nvSpPr>
          <p:cNvPr id="3" name="Text 1">
            <a:extLst>
              <a:ext uri="{FF2B5EF4-FFF2-40B4-BE49-F238E27FC236}">
                <a16:creationId xmlns:a16="http://schemas.microsoft.com/office/drawing/2014/main" id="{F597ED27-B2B8-FB7F-BC5F-897342194906}"/>
              </a:ext>
            </a:extLst>
          </p:cNvPr>
          <p:cNvSpPr/>
          <p:nvPr/>
        </p:nvSpPr>
        <p:spPr>
          <a:xfrm>
            <a:off x="548640" y="522778"/>
            <a:ext cx="11091672" cy="73152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Streams and File Modes</a:t>
            </a:r>
            <a:endParaRPr lang="en-US" sz="2200" dirty="0"/>
          </a:p>
        </p:txBody>
      </p:sp>
      <p:sp>
        <p:nvSpPr>
          <p:cNvPr id="4" name="Text 2">
            <a:extLst>
              <a:ext uri="{FF2B5EF4-FFF2-40B4-BE49-F238E27FC236}">
                <a16:creationId xmlns:a16="http://schemas.microsoft.com/office/drawing/2014/main" id="{7E430D24-4116-A909-5485-0CF020F54041}"/>
              </a:ext>
            </a:extLst>
          </p:cNvPr>
          <p:cNvSpPr/>
          <p:nvPr/>
        </p:nvSpPr>
        <p:spPr>
          <a:xfrm>
            <a:off x="548640" y="1254298"/>
            <a:ext cx="11091672" cy="5055062"/>
          </a:xfrm>
          <a:prstGeom prst="rect">
            <a:avLst/>
          </a:prstGeom>
          <a:noFill/>
          <a:ln/>
        </p:spPr>
        <p:txBody>
          <a:bodyPr wrap="square" rtlCol="0" anchor="t"/>
          <a:lstStyle/>
          <a:p>
            <a:pPr marL="228600" indent="-228600">
              <a:buSzPct val="100000"/>
              <a:buChar char="•"/>
            </a:pPr>
            <a:r>
              <a:rPr lang="en-US" sz="1600" dirty="0">
                <a:solidFill>
                  <a:srgbClr val="000000"/>
                </a:solidFill>
                <a:ea typeface="Helvetica" pitchFamily="34" charset="-122"/>
                <a:cs typeface="Helvetica" pitchFamily="34" charset="-120"/>
              </a:rPr>
              <a:t>ofstream — write to a file | ifstream — read from a file | fstream — both</a:t>
            </a:r>
            <a:endParaRPr lang="en-US" sz="1600" dirty="0"/>
          </a:p>
          <a:p>
            <a:pPr marL="228600" indent="-228600">
              <a:buSzPct val="100000"/>
              <a:buChar char="•"/>
            </a:pPr>
            <a:r>
              <a:rPr lang="en-US" sz="1600" dirty="0">
                <a:solidFill>
                  <a:srgbClr val="000000"/>
                </a:solidFill>
                <a:ea typeface="Helvetica" pitchFamily="34" charset="-122"/>
                <a:cs typeface="Helvetica" pitchFamily="34" charset="-120"/>
              </a:rPr>
              <a:t>Open via constructor: ofstream fout("data.txt");</a:t>
            </a:r>
            <a:endParaRPr lang="en-US" sz="1600" dirty="0"/>
          </a:p>
          <a:p>
            <a:pPr marL="228600" indent="-228600">
              <a:buSzPct val="100000"/>
              <a:buChar char="•"/>
            </a:pPr>
            <a:r>
              <a:rPr lang="en-US" sz="1600" dirty="0">
                <a:solidFill>
                  <a:srgbClr val="000000"/>
                </a:solidFill>
                <a:ea typeface="Helvetica" pitchFamily="34" charset="-122"/>
                <a:cs typeface="Helvetica" pitchFamily="34" charset="-120"/>
              </a:rPr>
              <a:t>Open via .open(name, mode): ios::in, ios::out, ios::app, ios::ate, ios::trunc, ios::binary</a:t>
            </a:r>
            <a:endParaRPr lang="en-US" sz="1600" dirty="0"/>
          </a:p>
          <a:p>
            <a:pPr marL="228600" indent="-228600">
              <a:buSzPct val="100000"/>
              <a:buChar char="•"/>
            </a:pPr>
            <a:r>
              <a:rPr lang="en-US" sz="1600" dirty="0">
                <a:solidFill>
                  <a:srgbClr val="000000"/>
                </a:solidFill>
                <a:ea typeface="Helvetica" pitchFamily="34" charset="-122"/>
                <a:cs typeface="Helvetica" pitchFamily="34" charset="-120"/>
              </a:rPr>
              <a:t>Always .close() a file when finished, to flush buffered data</a:t>
            </a:r>
            <a:endParaRPr lang="en-US" sz="1600" dirty="0"/>
          </a:p>
        </p:txBody>
      </p:sp>
      <p:sp>
        <p:nvSpPr>
          <p:cNvPr id="5" name="Text 3">
            <a:extLst>
              <a:ext uri="{FF2B5EF4-FFF2-40B4-BE49-F238E27FC236}">
                <a16:creationId xmlns:a16="http://schemas.microsoft.com/office/drawing/2014/main" id="{2185DEF9-F9D1-2F85-4273-59AEC3A71A3D}"/>
              </a:ext>
            </a:extLst>
          </p:cNvPr>
          <p:cNvSpPr/>
          <p:nvPr/>
        </p:nvSpPr>
        <p:spPr>
          <a:xfrm>
            <a:off x="354676" y="6343534"/>
            <a:ext cx="11091672" cy="437342"/>
          </a:xfrm>
          <a:prstGeom prst="rect">
            <a:avLst/>
          </a:prstGeom>
          <a:solidFill>
            <a:srgbClr val="F2F2F2"/>
          </a:solidFill>
          <a:ln/>
        </p:spPr>
        <p:txBody>
          <a:bodyPr wrap="square" lIns="127000" tIns="127000" rIns="127000" bIns="127000" rtlCol="0" anchor="t"/>
          <a:lstStyle/>
          <a:p>
            <a:pPr marL="0" indent="0">
              <a:buNone/>
            </a:pPr>
            <a:r>
              <a:rPr lang="en-US" sz="1350" b="1" i="1" dirty="0">
                <a:solidFill>
                  <a:srgbClr val="595959"/>
                </a:solidFill>
                <a:latin typeface="Helvetica" pitchFamily="34" charset="0"/>
                <a:ea typeface="Helvetica" pitchFamily="34" charset="-122"/>
                <a:cs typeface="Helvetica" pitchFamily="34" charset="-120"/>
              </a:rPr>
              <a:t>Real-life analogy:  </a:t>
            </a:r>
            <a:r>
              <a:rPr lang="en-US" sz="1350" i="1" dirty="0">
                <a:solidFill>
                  <a:srgbClr val="595959"/>
                </a:solidFill>
                <a:latin typeface="Helvetica" pitchFamily="34" charset="0"/>
                <a:ea typeface="Helvetica" pitchFamily="34" charset="-122"/>
                <a:cs typeface="Helvetica" pitchFamily="34" charset="-120"/>
              </a:rPr>
              <a:t>cin/cout are a live conversation. File streams are like posting a letter (write) or opening one already sent (read).</a:t>
            </a:r>
            <a:endParaRPr lang="en-US" sz="1350" dirty="0"/>
          </a:p>
        </p:txBody>
      </p:sp>
      <p:pic>
        <p:nvPicPr>
          <p:cNvPr id="7" name="Picture 6">
            <a:extLst>
              <a:ext uri="{FF2B5EF4-FFF2-40B4-BE49-F238E27FC236}">
                <a16:creationId xmlns:a16="http://schemas.microsoft.com/office/drawing/2014/main" id="{879D9EEF-DB04-89C4-729E-2B9AFD693AA3}"/>
              </a:ext>
            </a:extLst>
          </p:cNvPr>
          <p:cNvPicPr>
            <a:picLocks noChangeAspect="1"/>
          </p:cNvPicPr>
          <p:nvPr/>
        </p:nvPicPr>
        <p:blipFill>
          <a:blip r:embed="rId3"/>
          <a:stretch>
            <a:fillRect/>
          </a:stretch>
        </p:blipFill>
        <p:spPr>
          <a:xfrm>
            <a:off x="548640" y="2318546"/>
            <a:ext cx="8521469" cy="4016676"/>
          </a:xfrm>
          <a:prstGeom prst="rect">
            <a:avLst/>
          </a:prstGeom>
        </p:spPr>
      </p:pic>
    </p:spTree>
    <p:extLst>
      <p:ext uri="{BB962C8B-B14F-4D97-AF65-F5344CB8AC3E}">
        <p14:creationId xmlns:p14="http://schemas.microsoft.com/office/powerpoint/2010/main" val="220096493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18F29-9153-0505-192B-7CFF52883E74}"/>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10F6819D-2AA0-941B-20A8-602515A9FD2E}"/>
              </a:ext>
            </a:extLst>
          </p:cNvPr>
          <p:cNvSpPr/>
          <p:nvPr/>
        </p:nvSpPr>
        <p:spPr>
          <a:xfrm>
            <a:off x="548640" y="1392360"/>
            <a:ext cx="11091672" cy="5410224"/>
          </a:xfrm>
          <a:prstGeom prst="rect">
            <a:avLst/>
          </a:prstGeom>
          <a:noFill/>
          <a:ln/>
        </p:spPr>
        <p:txBody>
          <a:bodyPr wrap="square" rtlCol="0" anchor="t"/>
          <a:lstStyle/>
          <a:p>
            <a:pPr>
              <a:spcAft>
                <a:spcPts val="1200"/>
              </a:spcAft>
              <a:buSzPct val="100000"/>
            </a:pPr>
            <a:endParaRPr lang="en-US" sz="1400" dirty="0"/>
          </a:p>
        </p:txBody>
      </p:sp>
      <p:sp>
        <p:nvSpPr>
          <p:cNvPr id="2" name="TextBox 1">
            <a:extLst>
              <a:ext uri="{FF2B5EF4-FFF2-40B4-BE49-F238E27FC236}">
                <a16:creationId xmlns:a16="http://schemas.microsoft.com/office/drawing/2014/main" id="{24E2FD61-AA74-5DD5-07EF-C001962D7324}"/>
              </a:ext>
            </a:extLst>
          </p:cNvPr>
          <p:cNvSpPr txBox="1"/>
          <p:nvPr/>
        </p:nvSpPr>
        <p:spPr>
          <a:xfrm>
            <a:off x="548640" y="1265756"/>
            <a:ext cx="3618876" cy="338554"/>
          </a:xfrm>
          <a:prstGeom prst="rect">
            <a:avLst/>
          </a:prstGeom>
          <a:noFill/>
        </p:spPr>
        <p:txBody>
          <a:bodyPr wrap="none" rtlCol="0">
            <a:spAutoFit/>
          </a:bodyPr>
          <a:lstStyle/>
          <a:p>
            <a:r>
              <a:rPr lang="en-US" sz="1600" b="1" dirty="0">
                <a:solidFill>
                  <a:srgbClr val="16233B"/>
                </a:solidFill>
                <a:latin typeface="Cambria" pitchFamily="34" charset="0"/>
                <a:ea typeface="Cambria" pitchFamily="34" charset="-122"/>
                <a:cs typeface="Cambria" pitchFamily="34" charset="-120"/>
              </a:rPr>
              <a:t>Opening a File Using the Constructor</a:t>
            </a:r>
            <a:endParaRPr lang="en-US" sz="1600" dirty="0"/>
          </a:p>
        </p:txBody>
      </p:sp>
      <p:sp>
        <p:nvSpPr>
          <p:cNvPr id="5" name="TextBox 4">
            <a:extLst>
              <a:ext uri="{FF2B5EF4-FFF2-40B4-BE49-F238E27FC236}">
                <a16:creationId xmlns:a16="http://schemas.microsoft.com/office/drawing/2014/main" id="{29D83276-8161-55BF-EBE5-92BFC5B08434}"/>
              </a:ext>
            </a:extLst>
          </p:cNvPr>
          <p:cNvSpPr txBox="1"/>
          <p:nvPr/>
        </p:nvSpPr>
        <p:spPr>
          <a:xfrm>
            <a:off x="548640" y="1860692"/>
            <a:ext cx="5279506" cy="2759730"/>
          </a:xfrm>
          <a:prstGeom prst="rect">
            <a:avLst/>
          </a:prstGeom>
          <a:noFill/>
        </p:spPr>
        <p:txBody>
          <a:bodyPr wrap="square">
            <a:spAutoFit/>
          </a:bodyPr>
          <a:lstStyle/>
          <a:p>
            <a:pPr marL="171450" indent="-171450">
              <a:spcAft>
                <a:spcPts val="825"/>
              </a:spcAft>
              <a:buSzPct val="100000"/>
              <a:buChar char="•"/>
            </a:pPr>
            <a:r>
              <a:rPr lang="en-US" sz="1400" dirty="0">
                <a:solidFill>
                  <a:srgbClr val="16233B"/>
                </a:solidFill>
                <a:ea typeface="Calibri" pitchFamily="34" charset="-122"/>
                <a:cs typeface="Calibri" pitchFamily="34" charset="-120"/>
              </a:rPr>
              <a:t>Pass the filename (and optionally, the mode) directly to the stream object's constructor at the moment it is declared.</a:t>
            </a:r>
            <a:endParaRPr lang="en-US" sz="1400" dirty="0"/>
          </a:p>
          <a:p>
            <a:pPr marL="171450" indent="-171450">
              <a:spcAft>
                <a:spcPts val="825"/>
              </a:spcAft>
              <a:buSzPct val="100000"/>
              <a:buChar char="•"/>
            </a:pPr>
            <a:r>
              <a:rPr lang="en-US" sz="1400" b="1" dirty="0">
                <a:solidFill>
                  <a:srgbClr val="16233B"/>
                </a:solidFill>
                <a:ea typeface="Calibri" pitchFamily="34" charset="-122"/>
                <a:cs typeface="Calibri" pitchFamily="34" charset="-120"/>
              </a:rPr>
              <a:t>Syntax:</a:t>
            </a:r>
            <a:endParaRPr lang="en-US" sz="1400" dirty="0"/>
          </a:p>
          <a:p>
            <a:pPr marL="647700" lvl="1" indent="-323850">
              <a:spcAft>
                <a:spcPts val="825"/>
              </a:spcAft>
              <a:buSzPct val="100000"/>
              <a:buChar char="–"/>
            </a:pPr>
            <a:r>
              <a:rPr lang="en-US" sz="1400" dirty="0" err="1">
                <a:solidFill>
                  <a:srgbClr val="1C7293"/>
                </a:solidFill>
                <a:latin typeface="Courier New" panose="02070309020205020404" pitchFamily="49" charset="0"/>
                <a:ea typeface="Calibri" pitchFamily="34" charset="-122"/>
                <a:cs typeface="Courier New" panose="02070309020205020404" pitchFamily="49" charset="0"/>
              </a:rPr>
              <a:t>ClassName</a:t>
            </a:r>
            <a:r>
              <a:rPr lang="en-US" sz="1400" dirty="0">
                <a:solidFill>
                  <a:srgbClr val="1C7293"/>
                </a:solidFill>
                <a:latin typeface="Courier New" panose="02070309020205020404" pitchFamily="49" charset="0"/>
                <a:ea typeface="Calibri" pitchFamily="34" charset="-122"/>
                <a:cs typeface="Courier New" panose="02070309020205020404" pitchFamily="49" charset="0"/>
              </a:rPr>
              <a:t> </a:t>
            </a:r>
            <a:r>
              <a:rPr lang="en-US" sz="1400" dirty="0" err="1">
                <a:solidFill>
                  <a:srgbClr val="1C7293"/>
                </a:solidFill>
                <a:latin typeface="Courier New" panose="02070309020205020404" pitchFamily="49" charset="0"/>
                <a:ea typeface="Calibri" pitchFamily="34" charset="-122"/>
                <a:cs typeface="Courier New" panose="02070309020205020404" pitchFamily="49" charset="0"/>
              </a:rPr>
              <a:t>streamObj</a:t>
            </a:r>
            <a:r>
              <a:rPr lang="en-US" sz="1400" dirty="0">
                <a:solidFill>
                  <a:srgbClr val="1C7293"/>
                </a:solidFill>
                <a:latin typeface="Courier New" panose="02070309020205020404" pitchFamily="49" charset="0"/>
                <a:ea typeface="Calibri" pitchFamily="34" charset="-122"/>
                <a:cs typeface="Courier New" panose="02070309020205020404" pitchFamily="49" charset="0"/>
              </a:rPr>
              <a:t>("filename", mode);</a:t>
            </a:r>
            <a:endParaRPr lang="en-US" sz="1400" dirty="0">
              <a:latin typeface="Courier New" panose="02070309020205020404" pitchFamily="49" charset="0"/>
              <a:cs typeface="Courier New" panose="02070309020205020404" pitchFamily="49" charset="0"/>
            </a:endParaRPr>
          </a:p>
          <a:p>
            <a:pPr marL="171450" indent="-171450">
              <a:spcAft>
                <a:spcPts val="825"/>
              </a:spcAft>
              <a:buSzPct val="100000"/>
              <a:buChar char="•"/>
            </a:pPr>
            <a:r>
              <a:rPr lang="en-US" sz="1400" dirty="0">
                <a:solidFill>
                  <a:srgbClr val="16233B"/>
                </a:solidFill>
                <a:ea typeface="Calibri" pitchFamily="34" charset="-122"/>
                <a:cs typeface="Calibri" pitchFamily="34" charset="-120"/>
              </a:rPr>
              <a:t>Most concise option — ideal when you know the exact file you need right away and won't need to reuse the object for another file.</a:t>
            </a:r>
            <a:endParaRPr lang="en-US" sz="1400" dirty="0"/>
          </a:p>
          <a:p>
            <a:pPr marL="171450" indent="-171450">
              <a:spcAft>
                <a:spcPts val="825"/>
              </a:spcAft>
              <a:buSzPct val="100000"/>
              <a:buChar char="•"/>
            </a:pPr>
            <a:r>
              <a:rPr lang="en-US" sz="1400" dirty="0">
                <a:solidFill>
                  <a:srgbClr val="16233B"/>
                </a:solidFill>
                <a:ea typeface="Calibri" pitchFamily="34" charset="-122"/>
                <a:cs typeface="Calibri" pitchFamily="34" charset="-120"/>
              </a:rPr>
              <a:t>If the mode is omitted, </a:t>
            </a:r>
            <a:r>
              <a:rPr lang="en-US" sz="1400" dirty="0" err="1">
                <a:solidFill>
                  <a:srgbClr val="16233B"/>
                </a:solidFill>
                <a:ea typeface="Calibri" pitchFamily="34" charset="-122"/>
                <a:cs typeface="Calibri" pitchFamily="34" charset="-120"/>
              </a:rPr>
              <a:t>ifstream</a:t>
            </a:r>
            <a:r>
              <a:rPr lang="en-US" sz="1400" dirty="0">
                <a:solidFill>
                  <a:srgbClr val="16233B"/>
                </a:solidFill>
                <a:ea typeface="Calibri" pitchFamily="34" charset="-122"/>
                <a:cs typeface="Calibri" pitchFamily="34" charset="-120"/>
              </a:rPr>
              <a:t> defaults to </a:t>
            </a:r>
            <a:r>
              <a:rPr lang="en-US" sz="1400" dirty="0" err="1">
                <a:solidFill>
                  <a:srgbClr val="16233B"/>
                </a:solidFill>
                <a:ea typeface="Calibri" pitchFamily="34" charset="-122"/>
                <a:cs typeface="Calibri" pitchFamily="34" charset="-120"/>
              </a:rPr>
              <a:t>ios</a:t>
            </a:r>
            <a:r>
              <a:rPr lang="en-US" sz="1400" dirty="0">
                <a:solidFill>
                  <a:srgbClr val="16233B"/>
                </a:solidFill>
                <a:ea typeface="Calibri" pitchFamily="34" charset="-122"/>
                <a:cs typeface="Calibri" pitchFamily="34" charset="-120"/>
              </a:rPr>
              <a:t>::in and </a:t>
            </a:r>
            <a:r>
              <a:rPr lang="en-US" sz="1400" dirty="0" err="1">
                <a:solidFill>
                  <a:srgbClr val="16233B"/>
                </a:solidFill>
                <a:ea typeface="Calibri" pitchFamily="34" charset="-122"/>
                <a:cs typeface="Calibri" pitchFamily="34" charset="-120"/>
              </a:rPr>
              <a:t>ofstream</a:t>
            </a:r>
            <a:r>
              <a:rPr lang="en-US" sz="1400" dirty="0">
                <a:solidFill>
                  <a:srgbClr val="16233B"/>
                </a:solidFill>
                <a:ea typeface="Calibri" pitchFamily="34" charset="-122"/>
                <a:cs typeface="Calibri" pitchFamily="34" charset="-120"/>
              </a:rPr>
              <a:t> defaults to </a:t>
            </a:r>
            <a:r>
              <a:rPr lang="en-US" sz="1400" dirty="0" err="1">
                <a:solidFill>
                  <a:srgbClr val="16233B"/>
                </a:solidFill>
                <a:ea typeface="Calibri" pitchFamily="34" charset="-122"/>
                <a:cs typeface="Calibri" pitchFamily="34" charset="-120"/>
              </a:rPr>
              <a:t>ios</a:t>
            </a:r>
            <a:r>
              <a:rPr lang="en-US" sz="1400" dirty="0">
                <a:solidFill>
                  <a:srgbClr val="16233B"/>
                </a:solidFill>
                <a:ea typeface="Calibri" pitchFamily="34" charset="-122"/>
                <a:cs typeface="Calibri" pitchFamily="34" charset="-120"/>
              </a:rPr>
              <a:t>::out.</a:t>
            </a:r>
            <a:endParaRPr lang="en-US" sz="1400" dirty="0"/>
          </a:p>
          <a:p>
            <a:pPr marL="171450" indent="-171450">
              <a:spcAft>
                <a:spcPts val="825"/>
              </a:spcAft>
              <a:buSzPct val="100000"/>
              <a:buChar char="•"/>
            </a:pPr>
            <a:r>
              <a:rPr lang="en-US" sz="1400" dirty="0">
                <a:solidFill>
                  <a:srgbClr val="16233B"/>
                </a:solidFill>
                <a:ea typeface="Calibri" pitchFamily="34" charset="-122"/>
                <a:cs typeface="Calibri" pitchFamily="34" charset="-120"/>
              </a:rPr>
              <a:t>Limitation: you cannot re-open a different file with the same object this way — for that, use open() instead (next slide).</a:t>
            </a:r>
            <a:endParaRPr lang="en-US" sz="1400" dirty="0"/>
          </a:p>
        </p:txBody>
      </p:sp>
      <p:sp>
        <p:nvSpPr>
          <p:cNvPr id="7" name="Text 2">
            <a:extLst>
              <a:ext uri="{FF2B5EF4-FFF2-40B4-BE49-F238E27FC236}">
                <a16:creationId xmlns:a16="http://schemas.microsoft.com/office/drawing/2014/main" id="{F6522D47-F6D1-0028-6275-81EEFC5C268C}"/>
              </a:ext>
            </a:extLst>
          </p:cNvPr>
          <p:cNvSpPr/>
          <p:nvPr/>
        </p:nvSpPr>
        <p:spPr>
          <a:xfrm>
            <a:off x="5828146" y="1380902"/>
            <a:ext cx="6188363" cy="4491742"/>
          </a:xfrm>
          <a:prstGeom prst="rect">
            <a:avLst/>
          </a:prstGeom>
          <a:solidFill>
            <a:srgbClr val="F2F2F2"/>
          </a:solidFill>
          <a:ln w="9525">
            <a:solidFill>
              <a:srgbClr val="000000"/>
            </a:solidFill>
          </a:ln>
        </p:spPr>
        <p:txBody>
          <a:bodyPr wrap="square" lIns="152400" tIns="152400" rIns="152400" bIns="152400" rtlCol="0" anchor="t">
            <a:spAutoFit/>
          </a:bodyPr>
          <a:lstStyle/>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#include &lt;iostream&gt;</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#include &lt;</a:t>
            </a:r>
            <a:r>
              <a:rPr lang="en-US" sz="1200" dirty="0" err="1">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fstream</a:t>
            </a: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&gt;</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using namespace std;</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int main() {</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 Constructor opens the file directly -</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 no separate open() call is needed</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b="1"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a:t>
            </a:r>
            <a:r>
              <a:rPr lang="en-US" sz="1200" b="1" dirty="0" err="1">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ofstream</a:t>
            </a:r>
            <a:r>
              <a:rPr lang="en-US" sz="1200" b="1"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a:t>
            </a:r>
            <a:r>
              <a:rPr lang="en-US" sz="1200" b="1" dirty="0" err="1">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outFile</a:t>
            </a:r>
            <a:r>
              <a:rPr lang="en-US" sz="1200" b="1"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("data.txt");   // mode: </a:t>
            </a:r>
            <a:r>
              <a:rPr lang="en-US" sz="1200" b="1" dirty="0" err="1">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ios</a:t>
            </a:r>
            <a:r>
              <a:rPr lang="en-US" sz="1200" b="1"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::out</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b="1"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a:t>
            </a:r>
            <a:r>
              <a:rPr lang="en-US" sz="1200" b="1" dirty="0" err="1">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ifstream</a:t>
            </a:r>
            <a:r>
              <a:rPr lang="en-US" sz="1200" b="1"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a:t>
            </a:r>
            <a:r>
              <a:rPr lang="en-US" sz="1200" b="1" dirty="0" err="1">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inFile</a:t>
            </a:r>
            <a:r>
              <a:rPr lang="en-US" sz="1200" b="1"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("data.txt");    // mode: </a:t>
            </a:r>
            <a:r>
              <a:rPr lang="en-US" sz="1200" b="1" dirty="0" err="1">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ios</a:t>
            </a:r>
            <a:r>
              <a:rPr lang="en-US" sz="1200" b="1"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::in</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a:t>
            </a:r>
            <a:r>
              <a:rPr lang="en-US" sz="1200" dirty="0" err="1">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outFile</a:t>
            </a: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&lt;&lt; "Created using constructor!";</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a:t>
            </a:r>
            <a:r>
              <a:rPr lang="en-US" sz="1200" dirty="0" err="1">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outFile.close</a:t>
            </a: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 Always verify the constructor actually</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 succeeded in opening the file</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if (!</a:t>
            </a:r>
            <a:r>
              <a:rPr lang="en-US" sz="1200" dirty="0" err="1">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inFile</a:t>
            </a: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a:t>
            </a:r>
            <a:r>
              <a:rPr lang="en-US" sz="1200" dirty="0" err="1">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cout</a:t>
            </a: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&lt;&lt; "File could not be opened!";</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a:t>
            </a:r>
            <a:r>
              <a:rPr lang="en-US" sz="1200" dirty="0" err="1">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inFile.close</a:t>
            </a: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return 0;</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p:txBody>
      </p:sp>
      <p:sp>
        <p:nvSpPr>
          <p:cNvPr id="6" name="Text 0">
            <a:extLst>
              <a:ext uri="{FF2B5EF4-FFF2-40B4-BE49-F238E27FC236}">
                <a16:creationId xmlns:a16="http://schemas.microsoft.com/office/drawing/2014/main" id="{C334DA00-386F-9F03-4AE7-7FA364D1A164}"/>
              </a:ext>
            </a:extLst>
          </p:cNvPr>
          <p:cNvSpPr/>
          <p:nvPr/>
        </p:nvSpPr>
        <p:spPr>
          <a:xfrm>
            <a:off x="548640" y="18288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11</a:t>
            </a:r>
            <a:endParaRPr lang="en-US" sz="1400" dirty="0"/>
          </a:p>
        </p:txBody>
      </p:sp>
      <p:sp>
        <p:nvSpPr>
          <p:cNvPr id="10" name="Text 1">
            <a:extLst>
              <a:ext uri="{FF2B5EF4-FFF2-40B4-BE49-F238E27FC236}">
                <a16:creationId xmlns:a16="http://schemas.microsoft.com/office/drawing/2014/main" id="{FAAFD53C-3345-10D3-7EF5-ADCFA6A7DB93}"/>
              </a:ext>
            </a:extLst>
          </p:cNvPr>
          <p:cNvSpPr/>
          <p:nvPr/>
        </p:nvSpPr>
        <p:spPr>
          <a:xfrm>
            <a:off x="548640" y="522778"/>
            <a:ext cx="11091672" cy="73152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Streams and File Modes</a:t>
            </a:r>
            <a:endParaRPr lang="en-US" sz="2200" dirty="0"/>
          </a:p>
        </p:txBody>
      </p:sp>
    </p:spTree>
    <p:extLst>
      <p:ext uri="{BB962C8B-B14F-4D97-AF65-F5344CB8AC3E}">
        <p14:creationId xmlns:p14="http://schemas.microsoft.com/office/powerpoint/2010/main" val="90796055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2E63B-8FD1-AA4B-D804-A2FDC79EF7FE}"/>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E97F3A0E-827D-41F9-C1FA-2BD09D40C902}"/>
              </a:ext>
            </a:extLst>
          </p:cNvPr>
          <p:cNvSpPr/>
          <p:nvPr/>
        </p:nvSpPr>
        <p:spPr>
          <a:xfrm>
            <a:off x="548640" y="1392360"/>
            <a:ext cx="11091672" cy="5410224"/>
          </a:xfrm>
          <a:prstGeom prst="rect">
            <a:avLst/>
          </a:prstGeom>
          <a:noFill/>
          <a:ln/>
        </p:spPr>
        <p:txBody>
          <a:bodyPr wrap="square" rtlCol="0" anchor="t"/>
          <a:lstStyle/>
          <a:p>
            <a:pPr>
              <a:spcAft>
                <a:spcPts val="1200"/>
              </a:spcAft>
              <a:buSzPct val="100000"/>
            </a:pPr>
            <a:endParaRPr lang="en-US" sz="1400" dirty="0"/>
          </a:p>
        </p:txBody>
      </p:sp>
      <p:sp>
        <p:nvSpPr>
          <p:cNvPr id="2" name="TextBox 1">
            <a:extLst>
              <a:ext uri="{FF2B5EF4-FFF2-40B4-BE49-F238E27FC236}">
                <a16:creationId xmlns:a16="http://schemas.microsoft.com/office/drawing/2014/main" id="{E4BC5A67-447D-38CA-634F-BE4685AC24C8}"/>
              </a:ext>
            </a:extLst>
          </p:cNvPr>
          <p:cNvSpPr txBox="1"/>
          <p:nvPr/>
        </p:nvSpPr>
        <p:spPr>
          <a:xfrm>
            <a:off x="548640" y="1265756"/>
            <a:ext cx="2783134" cy="338554"/>
          </a:xfrm>
          <a:prstGeom prst="rect">
            <a:avLst/>
          </a:prstGeom>
          <a:noFill/>
        </p:spPr>
        <p:txBody>
          <a:bodyPr wrap="none" rtlCol="0">
            <a:spAutoFit/>
          </a:bodyPr>
          <a:lstStyle/>
          <a:p>
            <a:r>
              <a:rPr lang="en-US" sz="1600" b="1" dirty="0">
                <a:solidFill>
                  <a:srgbClr val="16233B"/>
                </a:solidFill>
                <a:latin typeface="Cambria" pitchFamily="34" charset="0"/>
                <a:ea typeface="Cambria" pitchFamily="34" charset="-122"/>
                <a:cs typeface="Cambria" pitchFamily="34" charset="-120"/>
              </a:rPr>
              <a:t>Opening a File Using open()</a:t>
            </a:r>
            <a:endParaRPr lang="en-US" sz="1600" dirty="0"/>
          </a:p>
        </p:txBody>
      </p:sp>
      <p:sp>
        <p:nvSpPr>
          <p:cNvPr id="5" name="TextBox 4">
            <a:extLst>
              <a:ext uri="{FF2B5EF4-FFF2-40B4-BE49-F238E27FC236}">
                <a16:creationId xmlns:a16="http://schemas.microsoft.com/office/drawing/2014/main" id="{E45C0CAD-4DC9-6F88-9B38-26E53DB0B48A}"/>
              </a:ext>
            </a:extLst>
          </p:cNvPr>
          <p:cNvSpPr txBox="1"/>
          <p:nvPr/>
        </p:nvSpPr>
        <p:spPr>
          <a:xfrm>
            <a:off x="548640" y="1860692"/>
            <a:ext cx="5217406" cy="2451953"/>
          </a:xfrm>
          <a:prstGeom prst="rect">
            <a:avLst/>
          </a:prstGeom>
          <a:noFill/>
        </p:spPr>
        <p:txBody>
          <a:bodyPr wrap="square">
            <a:spAutoFit/>
          </a:bodyPr>
          <a:lstStyle/>
          <a:p>
            <a:pPr marL="171450" indent="-171450">
              <a:spcAft>
                <a:spcPts val="825"/>
              </a:spcAft>
              <a:buSzPct val="100000"/>
              <a:buChar char="•"/>
            </a:pPr>
            <a:r>
              <a:rPr lang="en-US" sz="1200" dirty="0">
                <a:solidFill>
                  <a:srgbClr val="16233B"/>
                </a:solidFill>
                <a:ea typeface="Calibri" pitchFamily="34" charset="-122"/>
                <a:cs typeface="Calibri" pitchFamily="34" charset="-120"/>
              </a:rPr>
              <a:t>First declare the stream object with no file (default constructor), then bind it to a file later using open().</a:t>
            </a:r>
            <a:endParaRPr lang="en-US" sz="1200" dirty="0"/>
          </a:p>
          <a:p>
            <a:pPr marL="171450" indent="-171450">
              <a:spcAft>
                <a:spcPts val="825"/>
              </a:spcAft>
              <a:buSzPct val="100000"/>
              <a:buChar char="•"/>
            </a:pPr>
            <a:r>
              <a:rPr lang="en-US" sz="1200" b="1" dirty="0">
                <a:solidFill>
                  <a:srgbClr val="16233B"/>
                </a:solidFill>
                <a:ea typeface="Calibri" pitchFamily="34" charset="-122"/>
                <a:cs typeface="Calibri" pitchFamily="34" charset="-120"/>
              </a:rPr>
              <a:t>Syntax:</a:t>
            </a:r>
            <a:endParaRPr lang="en-US" sz="1200" dirty="0"/>
          </a:p>
          <a:p>
            <a:pPr marL="647700" lvl="1" indent="-323850">
              <a:spcAft>
                <a:spcPts val="825"/>
              </a:spcAft>
              <a:buSzPct val="100000"/>
              <a:buChar char="–"/>
            </a:pPr>
            <a:r>
              <a:rPr lang="en-US" sz="1200" dirty="0" err="1">
                <a:solidFill>
                  <a:srgbClr val="1C7293"/>
                </a:solidFill>
                <a:latin typeface="Courier New" panose="02070309020205020404" pitchFamily="49" charset="0"/>
                <a:ea typeface="Calibri" pitchFamily="34" charset="-122"/>
                <a:cs typeface="Courier New" panose="02070309020205020404" pitchFamily="49" charset="0"/>
              </a:rPr>
              <a:t>streamObj.open</a:t>
            </a:r>
            <a:r>
              <a:rPr lang="en-US" sz="1200" dirty="0">
                <a:solidFill>
                  <a:srgbClr val="1C7293"/>
                </a:solidFill>
                <a:latin typeface="Courier New" panose="02070309020205020404" pitchFamily="49" charset="0"/>
                <a:ea typeface="Calibri" pitchFamily="34" charset="-122"/>
                <a:cs typeface="Courier New" panose="02070309020205020404" pitchFamily="49" charset="0"/>
              </a:rPr>
              <a:t>("filename", mode);</a:t>
            </a:r>
            <a:endParaRPr lang="en-US" sz="1200" dirty="0">
              <a:latin typeface="Courier New" panose="02070309020205020404" pitchFamily="49" charset="0"/>
              <a:cs typeface="Courier New" panose="02070309020205020404" pitchFamily="49" charset="0"/>
            </a:endParaRPr>
          </a:p>
          <a:p>
            <a:pPr marL="171450" indent="-171450">
              <a:spcAft>
                <a:spcPts val="825"/>
              </a:spcAft>
              <a:buSzPct val="100000"/>
              <a:buChar char="•"/>
            </a:pPr>
            <a:r>
              <a:rPr lang="en-US" sz="1200" dirty="0">
                <a:solidFill>
                  <a:srgbClr val="16233B"/>
                </a:solidFill>
                <a:ea typeface="Calibri" pitchFamily="34" charset="-122"/>
                <a:cs typeface="Calibri" pitchFamily="34" charset="-120"/>
              </a:rPr>
              <a:t>Lets you decide the filename at runtime (e.g., from user input) rather than hard-coding it at declaration.</a:t>
            </a:r>
            <a:endParaRPr lang="en-US" sz="1200" dirty="0"/>
          </a:p>
          <a:p>
            <a:pPr marL="171450" indent="-171450">
              <a:spcAft>
                <a:spcPts val="825"/>
              </a:spcAft>
              <a:buSzPct val="100000"/>
              <a:buChar char="•"/>
            </a:pPr>
            <a:r>
              <a:rPr lang="en-US" sz="1200" dirty="0">
                <a:solidFill>
                  <a:srgbClr val="16233B"/>
                </a:solidFill>
                <a:ea typeface="Calibri" pitchFamily="34" charset="-122"/>
                <a:cs typeface="Calibri" pitchFamily="34" charset="-120"/>
              </a:rPr>
              <a:t>The SAME object can be reused: close() one file, then open() another — useful inside loops that process many files.</a:t>
            </a:r>
            <a:endParaRPr lang="en-US" sz="1200" dirty="0"/>
          </a:p>
          <a:p>
            <a:pPr marL="171450" indent="-171450">
              <a:spcAft>
                <a:spcPts val="825"/>
              </a:spcAft>
              <a:buSzPct val="100000"/>
              <a:buChar char="•"/>
            </a:pPr>
            <a:r>
              <a:rPr lang="en-US" sz="1200" dirty="0">
                <a:solidFill>
                  <a:srgbClr val="16233B"/>
                </a:solidFill>
                <a:ea typeface="Calibri" pitchFamily="34" charset="-122"/>
                <a:cs typeface="Calibri" pitchFamily="34" charset="-120"/>
              </a:rPr>
              <a:t>The second argument (mode) can combine multiple flags with the bitwise-OR operator |, e.g. </a:t>
            </a:r>
            <a:r>
              <a:rPr lang="en-US" sz="1200" dirty="0" err="1">
                <a:solidFill>
                  <a:srgbClr val="16233B"/>
                </a:solidFill>
                <a:ea typeface="Calibri" pitchFamily="34" charset="-122"/>
                <a:cs typeface="Calibri" pitchFamily="34" charset="-120"/>
              </a:rPr>
              <a:t>ios</a:t>
            </a:r>
            <a:r>
              <a:rPr lang="en-US" sz="1200" dirty="0">
                <a:solidFill>
                  <a:srgbClr val="16233B"/>
                </a:solidFill>
                <a:ea typeface="Calibri" pitchFamily="34" charset="-122"/>
                <a:cs typeface="Calibri" pitchFamily="34" charset="-120"/>
              </a:rPr>
              <a:t>::in | </a:t>
            </a:r>
            <a:r>
              <a:rPr lang="en-US" sz="1200" dirty="0" err="1">
                <a:solidFill>
                  <a:srgbClr val="16233B"/>
                </a:solidFill>
                <a:ea typeface="Calibri" pitchFamily="34" charset="-122"/>
                <a:cs typeface="Calibri" pitchFamily="34" charset="-120"/>
              </a:rPr>
              <a:t>ios</a:t>
            </a:r>
            <a:r>
              <a:rPr lang="en-US" sz="1200" dirty="0">
                <a:solidFill>
                  <a:srgbClr val="16233B"/>
                </a:solidFill>
                <a:ea typeface="Calibri" pitchFamily="34" charset="-122"/>
                <a:cs typeface="Calibri" pitchFamily="34" charset="-120"/>
              </a:rPr>
              <a:t>::out | </a:t>
            </a:r>
            <a:r>
              <a:rPr lang="en-US" sz="1200" dirty="0" err="1">
                <a:solidFill>
                  <a:srgbClr val="16233B"/>
                </a:solidFill>
                <a:ea typeface="Calibri" pitchFamily="34" charset="-122"/>
                <a:cs typeface="Calibri" pitchFamily="34" charset="-120"/>
              </a:rPr>
              <a:t>ios</a:t>
            </a:r>
            <a:r>
              <a:rPr lang="en-US" sz="1200" dirty="0">
                <a:solidFill>
                  <a:srgbClr val="16233B"/>
                </a:solidFill>
                <a:ea typeface="Calibri" pitchFamily="34" charset="-122"/>
                <a:cs typeface="Calibri" pitchFamily="34" charset="-120"/>
              </a:rPr>
              <a:t>::app.</a:t>
            </a:r>
            <a:endParaRPr lang="en-US" sz="1200" dirty="0"/>
          </a:p>
        </p:txBody>
      </p:sp>
      <p:sp>
        <p:nvSpPr>
          <p:cNvPr id="7" name="Text 2">
            <a:extLst>
              <a:ext uri="{FF2B5EF4-FFF2-40B4-BE49-F238E27FC236}">
                <a16:creationId xmlns:a16="http://schemas.microsoft.com/office/drawing/2014/main" id="{CF6C0030-C46A-0BB0-AE8C-0D7BD66D9E84}"/>
              </a:ext>
            </a:extLst>
          </p:cNvPr>
          <p:cNvSpPr/>
          <p:nvPr/>
        </p:nvSpPr>
        <p:spPr>
          <a:xfrm>
            <a:off x="5766046" y="1041270"/>
            <a:ext cx="6188363" cy="4681923"/>
          </a:xfrm>
          <a:prstGeom prst="rect">
            <a:avLst/>
          </a:prstGeom>
          <a:solidFill>
            <a:srgbClr val="F2F2F2"/>
          </a:solidFill>
          <a:ln w="9525">
            <a:solidFill>
              <a:srgbClr val="000000"/>
            </a:solidFill>
          </a:ln>
        </p:spPr>
        <p:txBody>
          <a:bodyPr wrap="square" lIns="152400" tIns="152400" rIns="152400" bIns="152400" rtlCol="0" anchor="t">
            <a:spAutoFit/>
          </a:bodyPr>
          <a:lstStyle/>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#include &lt;iostream&gt;</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#include &lt;</a:t>
            </a:r>
            <a:r>
              <a:rPr lang="en-US" sz="1200" dirty="0" err="1">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fstream</a:t>
            </a: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&gt;</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using namespace std;</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int main() {</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fstream</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 file;       // no file yet</a:t>
            </a:r>
          </a:p>
          <a:p>
            <a:pPr>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p>
          <a:p>
            <a:pPr>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 Bind it to report.txt, allow reading,</a:t>
            </a:r>
          </a:p>
          <a:p>
            <a:pPr>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 writing, and always append new writes</a:t>
            </a:r>
          </a:p>
          <a:p>
            <a:pPr>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file.open</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("report.txt",</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ios</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::in |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ios</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::out |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ios</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::app);</a:t>
            </a:r>
          </a:p>
          <a:p>
            <a:pPr>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p>
          <a:p>
            <a:pPr>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if (!file) { return 1; }   // safety check</a:t>
            </a:r>
          </a:p>
          <a:p>
            <a:pPr>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p>
          <a:p>
            <a:pPr>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file &lt;&lt; "New entry logged." &lt;&lt;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endl</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a:t>
            </a:r>
          </a:p>
          <a:p>
            <a:pPr>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file.close</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a:t>
            </a:r>
          </a:p>
          <a:p>
            <a:pPr>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p>
          <a:p>
            <a:pPr>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 Reuse the SAME object for another file</a:t>
            </a:r>
          </a:p>
          <a:p>
            <a:pPr>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file.open</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("log.txt",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ios</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::out |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ios</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trunc</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a:t>
            </a:r>
          </a:p>
          <a:p>
            <a:pPr>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file &lt;&lt; "Fresh log started.";</a:t>
            </a:r>
          </a:p>
          <a:p>
            <a:pPr>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file.close</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a:t>
            </a:r>
          </a:p>
          <a:p>
            <a:pPr>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return 0;</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p:txBody>
      </p:sp>
      <p:sp>
        <p:nvSpPr>
          <p:cNvPr id="6" name="Text 0">
            <a:extLst>
              <a:ext uri="{FF2B5EF4-FFF2-40B4-BE49-F238E27FC236}">
                <a16:creationId xmlns:a16="http://schemas.microsoft.com/office/drawing/2014/main" id="{1BB3F71B-AC1E-8AC8-36DA-277C17518382}"/>
              </a:ext>
            </a:extLst>
          </p:cNvPr>
          <p:cNvSpPr/>
          <p:nvPr/>
        </p:nvSpPr>
        <p:spPr>
          <a:xfrm>
            <a:off x="548640" y="18288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11</a:t>
            </a:r>
            <a:endParaRPr lang="en-US" sz="1400" dirty="0"/>
          </a:p>
        </p:txBody>
      </p:sp>
      <p:sp>
        <p:nvSpPr>
          <p:cNvPr id="10" name="Text 1">
            <a:extLst>
              <a:ext uri="{FF2B5EF4-FFF2-40B4-BE49-F238E27FC236}">
                <a16:creationId xmlns:a16="http://schemas.microsoft.com/office/drawing/2014/main" id="{67220CD9-EA13-AB44-F0D3-9DD50AADB82B}"/>
              </a:ext>
            </a:extLst>
          </p:cNvPr>
          <p:cNvSpPr/>
          <p:nvPr/>
        </p:nvSpPr>
        <p:spPr>
          <a:xfrm>
            <a:off x="548640" y="522778"/>
            <a:ext cx="11091672" cy="73152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Streams and File Modes</a:t>
            </a:r>
            <a:endParaRPr lang="en-US" sz="2200" dirty="0"/>
          </a:p>
        </p:txBody>
      </p:sp>
    </p:spTree>
    <p:extLst>
      <p:ext uri="{BB962C8B-B14F-4D97-AF65-F5344CB8AC3E}">
        <p14:creationId xmlns:p14="http://schemas.microsoft.com/office/powerpoint/2010/main" val="122266218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31837"/>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11</a:t>
            </a:r>
            <a:endParaRPr lang="en-US" sz="1400" dirty="0"/>
          </a:p>
        </p:txBody>
      </p:sp>
      <p:sp>
        <p:nvSpPr>
          <p:cNvPr id="3" name="Text 1"/>
          <p:cNvSpPr/>
          <p:nvPr/>
        </p:nvSpPr>
        <p:spPr>
          <a:xfrm>
            <a:off x="548640" y="731520"/>
            <a:ext cx="11091672" cy="731520"/>
          </a:xfrm>
          <a:prstGeom prst="rect">
            <a:avLst/>
          </a:prstGeom>
          <a:noFill/>
          <a:ln/>
        </p:spPr>
        <p:txBody>
          <a:bodyPr wrap="square" rtlCol="0" anchor="ctr"/>
          <a:lstStyle/>
          <a:p>
            <a:pPr marL="0" indent="0">
              <a:buNone/>
            </a:pPr>
            <a:endParaRPr lang="en-US" sz="2200" dirty="0"/>
          </a:p>
        </p:txBody>
      </p:sp>
      <p:sp>
        <p:nvSpPr>
          <p:cNvPr id="4" name="Text 2"/>
          <p:cNvSpPr/>
          <p:nvPr/>
        </p:nvSpPr>
        <p:spPr>
          <a:xfrm>
            <a:off x="1065876" y="1204421"/>
            <a:ext cx="8986982" cy="1649615"/>
          </a:xfrm>
          <a:prstGeom prst="rect">
            <a:avLst/>
          </a:prstGeom>
          <a:noFill/>
          <a:ln/>
        </p:spPr>
        <p:txBody>
          <a:bodyPr wrap="square" rtlCol="0" anchor="t"/>
          <a:lstStyle/>
          <a:p>
            <a:pPr marL="228600" indent="-228600">
              <a:buSzPct val="100000"/>
              <a:buFontTx/>
              <a:buChar char="•"/>
            </a:pPr>
            <a:r>
              <a:rPr lang="en-US" sz="1400" b="1" dirty="0" err="1">
                <a:solidFill>
                  <a:schemeClr val="tx1">
                    <a:lumMod val="85000"/>
                    <a:lumOff val="15000"/>
                  </a:schemeClr>
                </a:solidFill>
                <a:latin typeface="Courier New" pitchFamily="34" charset="0"/>
                <a:ea typeface="Courier New" pitchFamily="34" charset="-122"/>
                <a:cs typeface="Courier New" pitchFamily="34" charset="-120"/>
              </a:rPr>
              <a:t>ios</a:t>
            </a:r>
            <a:r>
              <a:rPr lang="en-US" sz="1400" b="1" dirty="0">
                <a:solidFill>
                  <a:schemeClr val="tx1">
                    <a:lumMod val="85000"/>
                    <a:lumOff val="15000"/>
                  </a:schemeClr>
                </a:solidFill>
                <a:latin typeface="Courier New" pitchFamily="34" charset="0"/>
                <a:ea typeface="Courier New" pitchFamily="34" charset="-122"/>
                <a:cs typeface="Courier New" pitchFamily="34" charset="-120"/>
              </a:rPr>
              <a:t>::in</a:t>
            </a:r>
            <a:r>
              <a:rPr lang="en-US" sz="1400" b="1" dirty="0">
                <a:solidFill>
                  <a:schemeClr val="tx1">
                    <a:lumMod val="85000"/>
                    <a:lumOff val="15000"/>
                  </a:schemeClr>
                </a:solidFill>
                <a:latin typeface="Courier New" pitchFamily="34" charset="0"/>
              </a:rPr>
              <a:t> </a:t>
            </a:r>
            <a:r>
              <a:rPr lang="en-US" sz="1400" dirty="0">
                <a:solidFill>
                  <a:schemeClr val="tx1">
                    <a:lumMod val="85000"/>
                    <a:lumOff val="15000"/>
                  </a:schemeClr>
                </a:solidFill>
                <a:ea typeface="Helvetica" pitchFamily="34" charset="-122"/>
                <a:cs typeface="Helvetica" pitchFamily="34" charset="-120"/>
              </a:rPr>
              <a:t>  </a:t>
            </a:r>
            <a:r>
              <a:rPr lang="en-US" sz="1400" dirty="0">
                <a:solidFill>
                  <a:schemeClr val="tx1">
                    <a:lumMod val="85000"/>
                    <a:lumOff val="15000"/>
                  </a:schemeClr>
                </a:solidFill>
                <a:ea typeface="Helvetica" pitchFamily="34" charset="-122"/>
                <a:cs typeface="Helvetica" pitchFamily="34" charset="-120"/>
                <a:sym typeface="Wingdings" panose="05000000000000000000" pitchFamily="2" charset="2"/>
              </a:rPr>
              <a:t> </a:t>
            </a:r>
            <a:r>
              <a:rPr lang="en-US" sz="1400" dirty="0">
                <a:solidFill>
                  <a:schemeClr val="tx1">
                    <a:lumMod val="85000"/>
                    <a:lumOff val="15000"/>
                  </a:schemeClr>
                </a:solidFill>
                <a:ea typeface="Helvetica" pitchFamily="34" charset="-122"/>
                <a:cs typeface="Helvetica" pitchFamily="34" charset="-120"/>
              </a:rPr>
              <a:t>	</a:t>
            </a:r>
            <a:r>
              <a:rPr lang="en-US" sz="1400" dirty="0">
                <a:solidFill>
                  <a:srgbClr val="16233B"/>
                </a:solidFill>
                <a:latin typeface="Calibri" pitchFamily="34" charset="0"/>
                <a:ea typeface="Calibri" pitchFamily="34" charset="-122"/>
                <a:cs typeface="Calibri" pitchFamily="34" charset="-120"/>
              </a:rPr>
              <a:t>Open for reading (input). Fails if the file does not exist (for </a:t>
            </a:r>
            <a:r>
              <a:rPr lang="en-US" sz="1400" dirty="0" err="1">
                <a:solidFill>
                  <a:srgbClr val="16233B"/>
                </a:solidFill>
                <a:latin typeface="Calibri" pitchFamily="34" charset="0"/>
                <a:ea typeface="Calibri" pitchFamily="34" charset="-122"/>
                <a:cs typeface="Calibri" pitchFamily="34" charset="-120"/>
              </a:rPr>
              <a:t>ifstream</a:t>
            </a:r>
            <a:r>
              <a:rPr lang="en-US" sz="1400" dirty="0">
                <a:solidFill>
                  <a:srgbClr val="16233B"/>
                </a:solidFill>
                <a:latin typeface="Calibri" pitchFamily="34" charset="0"/>
                <a:ea typeface="Calibri" pitchFamily="34" charset="-122"/>
                <a:cs typeface="Calibri" pitchFamily="34" charset="-120"/>
              </a:rPr>
              <a:t>).</a:t>
            </a:r>
            <a:endParaRPr lang="en-US" sz="1400" dirty="0">
              <a:solidFill>
                <a:schemeClr val="tx1">
                  <a:lumMod val="85000"/>
                  <a:lumOff val="15000"/>
                </a:schemeClr>
              </a:solidFill>
            </a:endParaRPr>
          </a:p>
          <a:p>
            <a:pPr marL="228600" indent="-228600">
              <a:buSzPct val="100000"/>
              <a:buFontTx/>
              <a:buChar char="•"/>
            </a:pPr>
            <a:r>
              <a:rPr lang="en-US" sz="1400" b="1" dirty="0" err="1">
                <a:solidFill>
                  <a:schemeClr val="tx1">
                    <a:lumMod val="85000"/>
                    <a:lumOff val="15000"/>
                  </a:schemeClr>
                </a:solidFill>
                <a:latin typeface="Courier New" pitchFamily="34" charset="0"/>
                <a:ea typeface="Courier New" pitchFamily="34" charset="-122"/>
                <a:cs typeface="Courier New" pitchFamily="34" charset="-120"/>
              </a:rPr>
              <a:t>ios</a:t>
            </a:r>
            <a:r>
              <a:rPr lang="en-US" sz="1400" b="1" dirty="0">
                <a:solidFill>
                  <a:schemeClr val="tx1">
                    <a:lumMod val="85000"/>
                    <a:lumOff val="15000"/>
                  </a:schemeClr>
                </a:solidFill>
                <a:latin typeface="Courier New" pitchFamily="34" charset="0"/>
                <a:ea typeface="Courier New" pitchFamily="34" charset="-122"/>
                <a:cs typeface="Courier New" pitchFamily="34" charset="-120"/>
              </a:rPr>
              <a:t>::out</a:t>
            </a:r>
            <a:r>
              <a:rPr lang="en-US" sz="1400" b="1" dirty="0">
                <a:solidFill>
                  <a:schemeClr val="tx1">
                    <a:lumMod val="85000"/>
                    <a:lumOff val="15000"/>
                  </a:schemeClr>
                </a:solidFill>
                <a:latin typeface="Courier New" pitchFamily="34" charset="0"/>
              </a:rPr>
              <a:t> </a:t>
            </a:r>
            <a:r>
              <a:rPr lang="en-US" sz="1400" dirty="0">
                <a:solidFill>
                  <a:schemeClr val="tx1">
                    <a:lumMod val="85000"/>
                    <a:lumOff val="15000"/>
                  </a:schemeClr>
                </a:solidFill>
                <a:ea typeface="Helvetica" pitchFamily="34" charset="-122"/>
                <a:cs typeface="Helvetica" pitchFamily="34" charset="-120"/>
                <a:sym typeface="Wingdings" panose="05000000000000000000" pitchFamily="2" charset="2"/>
              </a:rPr>
              <a:t> </a:t>
            </a:r>
            <a:r>
              <a:rPr lang="en-US" sz="1400" dirty="0">
                <a:solidFill>
                  <a:schemeClr val="tx1">
                    <a:lumMod val="85000"/>
                    <a:lumOff val="15000"/>
                  </a:schemeClr>
                </a:solidFill>
                <a:ea typeface="Helvetica" pitchFamily="34" charset="-122"/>
                <a:cs typeface="Helvetica" pitchFamily="34" charset="-120"/>
              </a:rPr>
              <a:t>	</a:t>
            </a:r>
            <a:r>
              <a:rPr lang="en-US" sz="1400" dirty="0">
                <a:solidFill>
                  <a:srgbClr val="16233B"/>
                </a:solidFill>
                <a:latin typeface="Calibri" pitchFamily="34" charset="0"/>
                <a:ea typeface="Calibri" pitchFamily="34" charset="-122"/>
                <a:cs typeface="Calibri" pitchFamily="34" charset="-120"/>
              </a:rPr>
              <a:t>Open for writing (output). Creates the file if absent; truncates (empties) it if present.</a:t>
            </a:r>
            <a:endParaRPr lang="en-US" sz="1400" dirty="0">
              <a:solidFill>
                <a:schemeClr val="tx1">
                  <a:lumMod val="85000"/>
                  <a:lumOff val="15000"/>
                </a:schemeClr>
              </a:solidFill>
            </a:endParaRPr>
          </a:p>
          <a:p>
            <a:pPr marL="228600" indent="-228600">
              <a:buSzPct val="100000"/>
              <a:buFontTx/>
              <a:buChar char="•"/>
            </a:pPr>
            <a:r>
              <a:rPr lang="en-US" sz="1400" b="1" dirty="0" err="1">
                <a:solidFill>
                  <a:schemeClr val="tx1">
                    <a:lumMod val="85000"/>
                    <a:lumOff val="15000"/>
                  </a:schemeClr>
                </a:solidFill>
                <a:latin typeface="Courier New" pitchFamily="34" charset="0"/>
                <a:ea typeface="Courier New" pitchFamily="34" charset="-122"/>
                <a:cs typeface="Courier New" pitchFamily="34" charset="-120"/>
              </a:rPr>
              <a:t>ios</a:t>
            </a:r>
            <a:r>
              <a:rPr lang="en-US" sz="1400" b="1" dirty="0">
                <a:solidFill>
                  <a:schemeClr val="tx1">
                    <a:lumMod val="85000"/>
                    <a:lumOff val="15000"/>
                  </a:schemeClr>
                </a:solidFill>
                <a:latin typeface="Courier New" pitchFamily="34" charset="0"/>
                <a:ea typeface="Courier New" pitchFamily="34" charset="-122"/>
                <a:cs typeface="Courier New" pitchFamily="34" charset="-120"/>
              </a:rPr>
              <a:t>::app</a:t>
            </a:r>
            <a:r>
              <a:rPr lang="en-US" sz="1400" b="1" dirty="0">
                <a:solidFill>
                  <a:schemeClr val="tx1">
                    <a:lumMod val="85000"/>
                    <a:lumOff val="15000"/>
                  </a:schemeClr>
                </a:solidFill>
                <a:latin typeface="Courier New" pitchFamily="34" charset="0"/>
              </a:rPr>
              <a:t> </a:t>
            </a:r>
            <a:r>
              <a:rPr lang="en-US" sz="1400" dirty="0">
                <a:solidFill>
                  <a:schemeClr val="tx1">
                    <a:lumMod val="85000"/>
                    <a:lumOff val="15000"/>
                  </a:schemeClr>
                </a:solidFill>
                <a:ea typeface="Helvetica" pitchFamily="34" charset="-122"/>
                <a:cs typeface="Helvetica" pitchFamily="34" charset="-120"/>
                <a:sym typeface="Wingdings" panose="05000000000000000000" pitchFamily="2" charset="2"/>
              </a:rPr>
              <a:t> </a:t>
            </a:r>
            <a:r>
              <a:rPr lang="en-US" sz="1400" b="1" dirty="0">
                <a:solidFill>
                  <a:schemeClr val="tx1">
                    <a:lumMod val="85000"/>
                    <a:lumOff val="15000"/>
                  </a:schemeClr>
                </a:solidFill>
                <a:latin typeface="Courier New" pitchFamily="34" charset="0"/>
              </a:rPr>
              <a:t>	</a:t>
            </a:r>
            <a:r>
              <a:rPr lang="en-US" sz="1400" dirty="0">
                <a:solidFill>
                  <a:srgbClr val="16233B"/>
                </a:solidFill>
                <a:latin typeface="Calibri" pitchFamily="34" charset="0"/>
                <a:ea typeface="Calibri" pitchFamily="34" charset="-122"/>
                <a:cs typeface="Calibri" pitchFamily="34" charset="-120"/>
              </a:rPr>
              <a:t>Append. Every write goes to the end of the file, no matter where the pointer is </a:t>
            </a:r>
          </a:p>
          <a:p>
            <a:pPr marL="228600" indent="-228600">
              <a:buSzPct val="100000"/>
              <a:buFontTx/>
              <a:buChar char="•"/>
            </a:pPr>
            <a:r>
              <a:rPr lang="en-US" sz="1400" b="1" dirty="0" err="1">
                <a:solidFill>
                  <a:schemeClr val="tx1">
                    <a:lumMod val="85000"/>
                    <a:lumOff val="15000"/>
                  </a:schemeClr>
                </a:solidFill>
                <a:latin typeface="Courier New" pitchFamily="34" charset="0"/>
                <a:ea typeface="Courier New" pitchFamily="34" charset="-122"/>
                <a:cs typeface="Courier New" pitchFamily="34" charset="-120"/>
              </a:rPr>
              <a:t>ios</a:t>
            </a:r>
            <a:r>
              <a:rPr lang="en-US" sz="1400" b="1" dirty="0">
                <a:solidFill>
                  <a:schemeClr val="tx1">
                    <a:lumMod val="85000"/>
                    <a:lumOff val="15000"/>
                  </a:schemeClr>
                </a:solidFill>
                <a:latin typeface="Courier New" pitchFamily="34" charset="0"/>
                <a:ea typeface="Courier New" pitchFamily="34" charset="-122"/>
                <a:cs typeface="Courier New" pitchFamily="34" charset="-120"/>
              </a:rPr>
              <a:t>::ate </a:t>
            </a:r>
            <a:r>
              <a:rPr lang="en-US" sz="1400" dirty="0">
                <a:solidFill>
                  <a:schemeClr val="tx1">
                    <a:lumMod val="85000"/>
                    <a:lumOff val="15000"/>
                  </a:schemeClr>
                </a:solidFill>
                <a:ea typeface="Helvetica" pitchFamily="34" charset="-122"/>
                <a:cs typeface="Helvetica" pitchFamily="34" charset="-120"/>
                <a:sym typeface="Wingdings" panose="05000000000000000000" pitchFamily="2" charset="2"/>
              </a:rPr>
              <a:t>	</a:t>
            </a:r>
            <a:r>
              <a:rPr lang="en-US" sz="1400" dirty="0">
                <a:solidFill>
                  <a:srgbClr val="16233B"/>
                </a:solidFill>
                <a:latin typeface="Calibri" pitchFamily="34" charset="0"/>
                <a:ea typeface="Calibri" pitchFamily="34" charset="-122"/>
                <a:cs typeface="Calibri" pitchFamily="34" charset="-120"/>
              </a:rPr>
              <a:t>“At End”. Pointer starts at end-of-file on open, but writes may still occur anywhere.</a:t>
            </a:r>
            <a:endParaRPr lang="en-US" sz="1400" dirty="0">
              <a:solidFill>
                <a:schemeClr val="tx1">
                  <a:lumMod val="85000"/>
                  <a:lumOff val="15000"/>
                </a:schemeClr>
              </a:solidFill>
            </a:endParaRPr>
          </a:p>
          <a:p>
            <a:pPr marL="228600" indent="-228600">
              <a:buSzPct val="100000"/>
              <a:buFontTx/>
              <a:buChar char="•"/>
            </a:pPr>
            <a:r>
              <a:rPr lang="en-US" sz="1400" b="1" dirty="0" err="1">
                <a:solidFill>
                  <a:schemeClr val="tx1">
                    <a:lumMod val="85000"/>
                    <a:lumOff val="15000"/>
                  </a:schemeClr>
                </a:solidFill>
                <a:latin typeface="Courier New" pitchFamily="34" charset="0"/>
                <a:ea typeface="Courier New" pitchFamily="34" charset="-122"/>
                <a:cs typeface="Courier New" pitchFamily="34" charset="-120"/>
              </a:rPr>
              <a:t>ios</a:t>
            </a:r>
            <a:r>
              <a:rPr lang="en-US" sz="1400" b="1" dirty="0">
                <a:solidFill>
                  <a:schemeClr val="tx1">
                    <a:lumMod val="85000"/>
                    <a:lumOff val="15000"/>
                  </a:schemeClr>
                </a:solidFill>
                <a:latin typeface="Courier New" pitchFamily="34" charset="0"/>
                <a:ea typeface="Courier New" pitchFamily="34" charset="-122"/>
                <a:cs typeface="Courier New" pitchFamily="34" charset="-120"/>
              </a:rPr>
              <a:t>::</a:t>
            </a:r>
            <a:r>
              <a:rPr lang="en-US" sz="1400" b="1" dirty="0" err="1">
                <a:solidFill>
                  <a:schemeClr val="tx1">
                    <a:lumMod val="85000"/>
                    <a:lumOff val="15000"/>
                  </a:schemeClr>
                </a:solidFill>
                <a:latin typeface="Courier New" pitchFamily="34" charset="0"/>
                <a:ea typeface="Courier New" pitchFamily="34" charset="-122"/>
                <a:cs typeface="Courier New" pitchFamily="34" charset="-120"/>
              </a:rPr>
              <a:t>trunc</a:t>
            </a:r>
            <a:r>
              <a:rPr lang="en-US" sz="1400" b="1" dirty="0">
                <a:solidFill>
                  <a:schemeClr val="tx1">
                    <a:lumMod val="85000"/>
                    <a:lumOff val="15000"/>
                  </a:schemeClr>
                </a:solidFill>
                <a:latin typeface="Courier New" pitchFamily="34" charset="0"/>
                <a:ea typeface="Courier New" pitchFamily="34" charset="-122"/>
                <a:cs typeface="Courier New" pitchFamily="34" charset="-120"/>
              </a:rPr>
              <a:t>  </a:t>
            </a:r>
            <a:r>
              <a:rPr lang="en-US" sz="1400" dirty="0">
                <a:solidFill>
                  <a:schemeClr val="tx1">
                    <a:lumMod val="85000"/>
                    <a:lumOff val="15000"/>
                  </a:schemeClr>
                </a:solidFill>
                <a:ea typeface="Helvetica" pitchFamily="34" charset="-122"/>
                <a:cs typeface="Helvetica" pitchFamily="34" charset="-120"/>
                <a:sym typeface="Wingdings" panose="05000000000000000000" pitchFamily="2" charset="2"/>
              </a:rPr>
              <a:t>	</a:t>
            </a:r>
            <a:r>
              <a:rPr lang="en-US" sz="1400" dirty="0">
                <a:solidFill>
                  <a:srgbClr val="16233B"/>
                </a:solidFill>
                <a:latin typeface="Calibri" pitchFamily="34" charset="0"/>
                <a:ea typeface="Calibri" pitchFamily="34" charset="-122"/>
                <a:cs typeface="Calibri" pitchFamily="34" charset="-120"/>
              </a:rPr>
              <a:t>Truncate. If the file exists, discard all its previous contents immediately.</a:t>
            </a:r>
            <a:endParaRPr lang="en-US" sz="1400" dirty="0">
              <a:solidFill>
                <a:schemeClr val="tx1">
                  <a:lumMod val="85000"/>
                  <a:lumOff val="15000"/>
                </a:schemeClr>
              </a:solidFill>
            </a:endParaRPr>
          </a:p>
          <a:p>
            <a:pPr marL="228600" indent="-228600">
              <a:buSzPct val="100000"/>
              <a:buFontTx/>
              <a:buChar char="•"/>
            </a:pPr>
            <a:r>
              <a:rPr lang="en-US" sz="1400" b="1" dirty="0" err="1">
                <a:solidFill>
                  <a:schemeClr val="tx1">
                    <a:lumMod val="85000"/>
                    <a:lumOff val="15000"/>
                  </a:schemeClr>
                </a:solidFill>
                <a:latin typeface="Courier New" pitchFamily="34" charset="0"/>
                <a:ea typeface="Courier New" pitchFamily="34" charset="-122"/>
                <a:cs typeface="Courier New" pitchFamily="34" charset="-120"/>
              </a:rPr>
              <a:t>ios</a:t>
            </a:r>
            <a:r>
              <a:rPr lang="en-US" sz="1400" b="1" dirty="0">
                <a:solidFill>
                  <a:schemeClr val="tx1">
                    <a:lumMod val="85000"/>
                    <a:lumOff val="15000"/>
                  </a:schemeClr>
                </a:solidFill>
                <a:latin typeface="Courier New" pitchFamily="34" charset="0"/>
                <a:ea typeface="Courier New" pitchFamily="34" charset="-122"/>
                <a:cs typeface="Courier New" pitchFamily="34" charset="-120"/>
              </a:rPr>
              <a:t>::binary </a:t>
            </a:r>
            <a:r>
              <a:rPr lang="en-US" sz="1400" dirty="0">
                <a:solidFill>
                  <a:schemeClr val="tx1">
                    <a:lumMod val="85000"/>
                    <a:lumOff val="15000"/>
                  </a:schemeClr>
                </a:solidFill>
                <a:ea typeface="Helvetica" pitchFamily="34" charset="-122"/>
                <a:cs typeface="Helvetica" pitchFamily="34" charset="-120"/>
                <a:sym typeface="Wingdings" panose="05000000000000000000" pitchFamily="2" charset="2"/>
              </a:rPr>
              <a:t>	</a:t>
            </a:r>
            <a:r>
              <a:rPr lang="en-US" sz="1400" dirty="0">
                <a:solidFill>
                  <a:srgbClr val="16233B"/>
                </a:solidFill>
                <a:latin typeface="Calibri" pitchFamily="34" charset="0"/>
                <a:ea typeface="Calibri" pitchFamily="34" charset="-122"/>
                <a:cs typeface="Calibri" pitchFamily="34" charset="-120"/>
              </a:rPr>
              <a:t>Open in binary mode — bytes are transferred exactly as stored, no text translation.</a:t>
            </a:r>
            <a:endParaRPr lang="en-US" sz="1400" dirty="0"/>
          </a:p>
          <a:p>
            <a:pPr marL="228600" indent="-228600">
              <a:buSzPct val="100000"/>
              <a:buFontTx/>
              <a:buChar char="•"/>
            </a:pPr>
            <a:endParaRPr lang="en-US" sz="1400" dirty="0">
              <a:solidFill>
                <a:schemeClr val="tx1">
                  <a:lumMod val="85000"/>
                  <a:lumOff val="15000"/>
                </a:schemeClr>
              </a:solidFill>
            </a:endParaRPr>
          </a:p>
        </p:txBody>
      </p:sp>
      <p:sp>
        <p:nvSpPr>
          <p:cNvPr id="7" name="Text 1">
            <a:extLst>
              <a:ext uri="{FF2B5EF4-FFF2-40B4-BE49-F238E27FC236}">
                <a16:creationId xmlns:a16="http://schemas.microsoft.com/office/drawing/2014/main" id="{6B5228EE-94F5-8E6F-4964-22D8D1E587AD}"/>
              </a:ext>
            </a:extLst>
          </p:cNvPr>
          <p:cNvSpPr/>
          <p:nvPr/>
        </p:nvSpPr>
        <p:spPr>
          <a:xfrm>
            <a:off x="548640" y="522778"/>
            <a:ext cx="11091672" cy="731520"/>
          </a:xfrm>
          <a:prstGeom prst="rect">
            <a:avLst/>
          </a:prstGeom>
          <a:noFill/>
          <a:ln/>
        </p:spPr>
        <p:txBody>
          <a:bodyPr wrap="square" rtlCol="0" anchor="ctr"/>
          <a:lstStyle/>
          <a:p>
            <a:r>
              <a:rPr lang="en-US" sz="2200" b="1" dirty="0">
                <a:solidFill>
                  <a:srgbClr val="000000"/>
                </a:solidFill>
                <a:latin typeface="Helvetica" pitchFamily="34" charset="0"/>
                <a:ea typeface="Helvetica" pitchFamily="34" charset="-122"/>
                <a:cs typeface="Helvetica" pitchFamily="34" charset="-120"/>
              </a:rPr>
              <a:t>File Opening Modes(</a:t>
            </a:r>
            <a:r>
              <a:rPr lang="en-US" sz="2200" b="1" dirty="0" err="1">
                <a:solidFill>
                  <a:srgbClr val="000000"/>
                </a:solidFill>
                <a:latin typeface="Helvetica" pitchFamily="34" charset="0"/>
                <a:ea typeface="Helvetica" pitchFamily="34" charset="-122"/>
                <a:cs typeface="Helvetica" pitchFamily="34" charset="-120"/>
              </a:rPr>
              <a:t>ios</a:t>
            </a:r>
            <a:r>
              <a:rPr lang="en-US" sz="2200" b="1" dirty="0">
                <a:solidFill>
                  <a:srgbClr val="000000"/>
                </a:solidFill>
                <a:latin typeface="Helvetica" pitchFamily="34" charset="0"/>
                <a:ea typeface="Helvetica" pitchFamily="34" charset="-122"/>
                <a:cs typeface="Helvetica" pitchFamily="34" charset="-120"/>
              </a:rPr>
              <a:t>::)</a:t>
            </a:r>
            <a:endParaRPr lang="en-US" sz="2200" dirty="0"/>
          </a:p>
        </p:txBody>
      </p:sp>
      <p:pic>
        <p:nvPicPr>
          <p:cNvPr id="9" name="Picture 8">
            <a:extLst>
              <a:ext uri="{FF2B5EF4-FFF2-40B4-BE49-F238E27FC236}">
                <a16:creationId xmlns:a16="http://schemas.microsoft.com/office/drawing/2014/main" id="{9040A3A7-AF76-6818-09C9-B6AC4CA325BE}"/>
              </a:ext>
            </a:extLst>
          </p:cNvPr>
          <p:cNvPicPr>
            <a:picLocks noChangeAspect="1"/>
          </p:cNvPicPr>
          <p:nvPr/>
        </p:nvPicPr>
        <p:blipFill>
          <a:blip r:embed="rId3"/>
          <a:stretch>
            <a:fillRect/>
          </a:stretch>
        </p:blipFill>
        <p:spPr>
          <a:xfrm>
            <a:off x="1065876" y="2791228"/>
            <a:ext cx="8986982" cy="3930073"/>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22E51-EC31-725B-2564-57B1A03B0F7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0FB0766-F623-6004-425D-FB03861D5E96}"/>
              </a:ext>
            </a:extLst>
          </p:cNvPr>
          <p:cNvSpPr/>
          <p:nvPr/>
        </p:nvSpPr>
        <p:spPr>
          <a:xfrm>
            <a:off x="548640" y="231837"/>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11</a:t>
            </a:r>
            <a:endParaRPr lang="en-US" sz="1400" dirty="0"/>
          </a:p>
        </p:txBody>
      </p:sp>
      <p:sp>
        <p:nvSpPr>
          <p:cNvPr id="3" name="Text 1">
            <a:extLst>
              <a:ext uri="{FF2B5EF4-FFF2-40B4-BE49-F238E27FC236}">
                <a16:creationId xmlns:a16="http://schemas.microsoft.com/office/drawing/2014/main" id="{F9CBCE73-0F26-53F2-4E9E-A76978F923C3}"/>
              </a:ext>
            </a:extLst>
          </p:cNvPr>
          <p:cNvSpPr/>
          <p:nvPr/>
        </p:nvSpPr>
        <p:spPr>
          <a:xfrm>
            <a:off x="548640" y="731520"/>
            <a:ext cx="11091672" cy="731520"/>
          </a:xfrm>
          <a:prstGeom prst="rect">
            <a:avLst/>
          </a:prstGeom>
          <a:noFill/>
          <a:ln/>
        </p:spPr>
        <p:txBody>
          <a:bodyPr wrap="square" rtlCol="0" anchor="ctr"/>
          <a:lstStyle/>
          <a:p>
            <a:pPr marL="0" indent="0">
              <a:buNone/>
            </a:pPr>
            <a:endParaRPr lang="en-US" sz="2200" dirty="0"/>
          </a:p>
        </p:txBody>
      </p:sp>
      <p:sp>
        <p:nvSpPr>
          <p:cNvPr id="4" name="Text 2">
            <a:extLst>
              <a:ext uri="{FF2B5EF4-FFF2-40B4-BE49-F238E27FC236}">
                <a16:creationId xmlns:a16="http://schemas.microsoft.com/office/drawing/2014/main" id="{234619A3-1E2F-FD6D-BED9-40954995646E}"/>
              </a:ext>
            </a:extLst>
          </p:cNvPr>
          <p:cNvSpPr/>
          <p:nvPr/>
        </p:nvSpPr>
        <p:spPr>
          <a:xfrm>
            <a:off x="1065876" y="1204421"/>
            <a:ext cx="8986982" cy="2746794"/>
          </a:xfrm>
          <a:prstGeom prst="rect">
            <a:avLst/>
          </a:prstGeom>
          <a:noFill/>
          <a:ln/>
        </p:spPr>
        <p:txBody>
          <a:bodyPr wrap="square" rtlCol="0" anchor="t"/>
          <a:lstStyle/>
          <a:p>
            <a:pPr marL="285750" indent="-285750">
              <a:buFont typeface="Arial" panose="020B0604020202020204" pitchFamily="34" charset="0"/>
              <a:buChar char="•"/>
            </a:pPr>
            <a:r>
              <a:rPr lang="en-US" sz="1400" b="1" dirty="0"/>
              <a:t>Formatted I/O</a:t>
            </a:r>
            <a:r>
              <a:rPr lang="en-US" sz="1400" dirty="0"/>
              <a:t> means data is read or written according to its </a:t>
            </a:r>
            <a:r>
              <a:rPr lang="en-US" sz="1400" b="1" dirty="0"/>
              <a:t>data type and representation</a:t>
            </a:r>
            <a:r>
              <a:rPr lang="en-US" sz="1400" dirty="0"/>
              <a:t>.</a:t>
            </a:r>
          </a:p>
          <a:p>
            <a:pPr marL="285750" indent="-285750">
              <a:buFont typeface="Arial" panose="020B0604020202020204" pitchFamily="34" charset="0"/>
              <a:buChar char="•"/>
            </a:pPr>
            <a:r>
              <a:rPr lang="en-US" sz="1400" dirty="0"/>
              <a:t>C++ converts data between its internal representation and a human-readable textual representation.</a:t>
            </a:r>
          </a:p>
          <a:p>
            <a:pPr marL="285750" indent="-285750">
              <a:buFont typeface="Arial" panose="020B0604020202020204" pitchFamily="34" charset="0"/>
              <a:buChar char="•"/>
            </a:pPr>
            <a:r>
              <a:rPr lang="en-US" sz="1400" dirty="0"/>
              <a:t>The most familiar formatted I/O operators are:</a:t>
            </a:r>
          </a:p>
          <a:p>
            <a:pPr marL="742950" lvl="1" indent="-285750">
              <a:buFont typeface="Wingdings" panose="05000000000000000000" pitchFamily="2" charset="2"/>
              <a:buChar char="ü"/>
            </a:pPr>
            <a:r>
              <a:rPr lang="en-US" sz="1400" dirty="0">
                <a:latin typeface="Courier New" panose="02070309020205020404" pitchFamily="49" charset="0"/>
                <a:cs typeface="Courier New" panose="02070309020205020404" pitchFamily="49" charset="0"/>
              </a:rPr>
              <a:t>&lt;&lt;</a:t>
            </a:r>
            <a:r>
              <a:rPr lang="en-US" sz="1400" dirty="0"/>
              <a:t>   // insertion operator</a:t>
            </a:r>
          </a:p>
          <a:p>
            <a:pPr marL="742950" lvl="1" indent="-285750">
              <a:buFont typeface="Wingdings" panose="05000000000000000000" pitchFamily="2" charset="2"/>
              <a:buChar char="ü"/>
            </a:pPr>
            <a:r>
              <a:rPr lang="en-US" sz="1400" dirty="0">
                <a:latin typeface="Courier New" panose="02070309020205020404" pitchFamily="49" charset="0"/>
                <a:cs typeface="Courier New" panose="02070309020205020404" pitchFamily="49" charset="0"/>
              </a:rPr>
              <a:t>&gt;&gt;</a:t>
            </a:r>
            <a:r>
              <a:rPr lang="en-US" sz="1400" dirty="0"/>
              <a:t>  // extraction operator</a:t>
            </a:r>
          </a:p>
          <a:p>
            <a:pPr marL="742950" lvl="1" indent="-285750">
              <a:buFont typeface="Wingdings" panose="05000000000000000000" pitchFamily="2" charset="2"/>
              <a:buChar char="ü"/>
            </a:pPr>
            <a:endParaRPr lang="en-US" sz="1400" dirty="0"/>
          </a:p>
          <a:p>
            <a:r>
              <a:rPr lang="en-US" sz="1400" dirty="0"/>
              <a:t>These above operators are used with:</a:t>
            </a:r>
          </a:p>
          <a:p>
            <a:pPr marL="742950" lvl="1" indent="-285750">
              <a:buFont typeface="Wingdings" panose="05000000000000000000" pitchFamily="2" charset="2"/>
              <a:buChar char="ü"/>
            </a:pPr>
            <a:r>
              <a:rPr lang="en-US" sz="1400" dirty="0" err="1"/>
              <a:t>cout</a:t>
            </a:r>
            <a:r>
              <a:rPr lang="en-US" sz="1400" dirty="0"/>
              <a:t> </a:t>
            </a:r>
          </a:p>
          <a:p>
            <a:pPr marL="742950" lvl="1" indent="-285750">
              <a:buFont typeface="Wingdings" panose="05000000000000000000" pitchFamily="2" charset="2"/>
              <a:buChar char="ü"/>
            </a:pPr>
            <a:r>
              <a:rPr lang="en-US" sz="1400" dirty="0" err="1"/>
              <a:t>cin</a:t>
            </a:r>
            <a:r>
              <a:rPr lang="en-US" sz="1400" dirty="0"/>
              <a:t> </a:t>
            </a:r>
          </a:p>
          <a:p>
            <a:pPr marL="742950" lvl="1" indent="-285750">
              <a:buFont typeface="Wingdings" panose="05000000000000000000" pitchFamily="2" charset="2"/>
              <a:buChar char="ü"/>
            </a:pPr>
            <a:r>
              <a:rPr lang="en-US" sz="1400" dirty="0" err="1"/>
              <a:t>ofstream</a:t>
            </a:r>
            <a:r>
              <a:rPr lang="en-US" sz="1400" dirty="0"/>
              <a:t> </a:t>
            </a:r>
          </a:p>
          <a:p>
            <a:pPr marL="742950" lvl="1" indent="-285750">
              <a:buFont typeface="Wingdings" panose="05000000000000000000" pitchFamily="2" charset="2"/>
              <a:buChar char="ü"/>
            </a:pPr>
            <a:r>
              <a:rPr lang="en-US" sz="1400" dirty="0" err="1"/>
              <a:t>ifstream</a:t>
            </a:r>
            <a:r>
              <a:rPr lang="en-US" sz="1400" dirty="0"/>
              <a:t> </a:t>
            </a:r>
          </a:p>
          <a:p>
            <a:pPr marL="742950" lvl="1" indent="-285750">
              <a:buFont typeface="Wingdings" panose="05000000000000000000" pitchFamily="2" charset="2"/>
              <a:buChar char="ü"/>
            </a:pPr>
            <a:r>
              <a:rPr lang="en-US" sz="1400" dirty="0" err="1"/>
              <a:t>fstream</a:t>
            </a:r>
            <a:endParaRPr lang="en-US" sz="1400" dirty="0"/>
          </a:p>
          <a:p>
            <a:pPr marL="742950" lvl="1" indent="-285750">
              <a:buFont typeface="Wingdings" panose="05000000000000000000" pitchFamily="2" charset="2"/>
              <a:buChar char="ü"/>
            </a:pPr>
            <a:endParaRPr lang="en-US" sz="1400" dirty="0"/>
          </a:p>
          <a:p>
            <a:pPr>
              <a:buSzPct val="100000"/>
            </a:pPr>
            <a:endParaRPr lang="en-US" sz="1400" dirty="0">
              <a:solidFill>
                <a:schemeClr val="tx1">
                  <a:lumMod val="85000"/>
                  <a:lumOff val="15000"/>
                </a:schemeClr>
              </a:solidFill>
            </a:endParaRPr>
          </a:p>
        </p:txBody>
      </p:sp>
      <p:sp>
        <p:nvSpPr>
          <p:cNvPr id="7" name="Text 1">
            <a:extLst>
              <a:ext uri="{FF2B5EF4-FFF2-40B4-BE49-F238E27FC236}">
                <a16:creationId xmlns:a16="http://schemas.microsoft.com/office/drawing/2014/main" id="{972E794D-F2F3-D138-7DD3-006D2DE08FCF}"/>
              </a:ext>
            </a:extLst>
          </p:cNvPr>
          <p:cNvSpPr/>
          <p:nvPr/>
        </p:nvSpPr>
        <p:spPr>
          <a:xfrm>
            <a:off x="548640" y="522778"/>
            <a:ext cx="11091672" cy="731520"/>
          </a:xfrm>
          <a:prstGeom prst="rect">
            <a:avLst/>
          </a:prstGeom>
          <a:noFill/>
          <a:ln/>
        </p:spPr>
        <p:txBody>
          <a:bodyPr wrap="square" rtlCol="0" anchor="ctr"/>
          <a:lstStyle/>
          <a:p>
            <a:r>
              <a:rPr lang="en-US" sz="2200" b="1" dirty="0">
                <a:solidFill>
                  <a:srgbClr val="000000"/>
                </a:solidFill>
                <a:latin typeface="Helvetica" pitchFamily="34" charset="0"/>
                <a:ea typeface="Helvetica" pitchFamily="34" charset="-122"/>
                <a:cs typeface="Helvetica" pitchFamily="34" charset="-120"/>
              </a:rPr>
              <a:t>Formatted I/O</a:t>
            </a:r>
            <a:endParaRPr lang="en-US" sz="2200" dirty="0"/>
          </a:p>
        </p:txBody>
      </p:sp>
      <p:sp>
        <p:nvSpPr>
          <p:cNvPr id="6" name="Text 2">
            <a:extLst>
              <a:ext uri="{FF2B5EF4-FFF2-40B4-BE49-F238E27FC236}">
                <a16:creationId xmlns:a16="http://schemas.microsoft.com/office/drawing/2014/main" id="{42D6840B-6C05-815A-7CA7-06A8A477AA4C}"/>
              </a:ext>
            </a:extLst>
          </p:cNvPr>
          <p:cNvSpPr/>
          <p:nvPr/>
        </p:nvSpPr>
        <p:spPr>
          <a:xfrm>
            <a:off x="1157681" y="3851582"/>
            <a:ext cx="10620462" cy="2799741"/>
          </a:xfrm>
          <a:prstGeom prst="rect">
            <a:avLst/>
          </a:prstGeom>
          <a:solidFill>
            <a:srgbClr val="F2F2F2"/>
          </a:solidFill>
          <a:ln w="9525">
            <a:solidFill>
              <a:srgbClr val="000000"/>
            </a:solidFill>
          </a:ln>
        </p:spPr>
        <p:txBody>
          <a:bodyPr wrap="square" lIns="152400" tIns="152400" rIns="152400" bIns="152400" rtlCol="0" anchor="t">
            <a:spAutoFit/>
          </a:bodyPr>
          <a:lstStyle/>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int main() {</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ts val="1500"/>
              </a:lnSpc>
            </a:pPr>
            <a:r>
              <a:rPr lang="en-US" sz="1200" dirty="0"/>
              <a:t>	</a:t>
            </a:r>
            <a:r>
              <a:rPr lang="en-US" sz="1200" dirty="0" err="1">
                <a:latin typeface="Courier New" panose="02070309020205020404" pitchFamily="49" charset="0"/>
                <a:cs typeface="Courier New" panose="02070309020205020404" pitchFamily="49" charset="0"/>
              </a:rPr>
              <a:t>i</a:t>
            </a:r>
            <a:r>
              <a:rPr lang="en-US" sz="1200" dirty="0" err="1">
                <a:solidFill>
                  <a:srgbClr val="643CAE"/>
                </a:solidFill>
                <a:latin typeface="Courier New" panose="02070309020205020404" pitchFamily="49" charset="0"/>
                <a:cs typeface="Courier New" panose="02070309020205020404" pitchFamily="49" charset="0"/>
              </a:rPr>
              <a:t>ofstream</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643CAE"/>
                </a:solidFill>
                <a:latin typeface="Courier New" panose="02070309020205020404" pitchFamily="49" charset="0"/>
                <a:cs typeface="Courier New" panose="02070309020205020404" pitchFamily="49" charset="0"/>
              </a:rPr>
              <a:t>file</a:t>
            </a:r>
            <a:r>
              <a:rPr lang="en-US" sz="1200" dirty="0">
                <a:solidFill>
                  <a:srgbClr val="0D0D0D"/>
                </a:solidFill>
                <a:latin typeface="Courier New" panose="02070309020205020404" pitchFamily="49" charset="0"/>
                <a:cs typeface="Courier New" panose="02070309020205020404" pitchFamily="49" charset="0"/>
              </a:rPr>
              <a:t>(</a:t>
            </a:r>
            <a:r>
              <a:rPr lang="en-US" sz="1200" dirty="0">
                <a:solidFill>
                  <a:srgbClr val="3A843F"/>
                </a:solidFill>
                <a:latin typeface="Courier New" panose="02070309020205020404" pitchFamily="49" charset="0"/>
                <a:cs typeface="Courier New" panose="02070309020205020404" pitchFamily="49" charset="0"/>
              </a:rPr>
              <a:t>"student1.txt"</a:t>
            </a:r>
            <a:r>
              <a:rPr lang="en-US" sz="1200" dirty="0">
                <a:solidFill>
                  <a:srgbClr val="0D0D0D"/>
                </a:solidFill>
                <a:latin typeface="Courier New" panose="02070309020205020404" pitchFamily="49" charset="0"/>
                <a:cs typeface="Courier New" panose="02070309020205020404" pitchFamily="49" charset="0"/>
              </a:rPr>
              <a:t>);</a:t>
            </a:r>
          </a:p>
          <a:p>
            <a:pPr>
              <a:lnSpc>
                <a:spcPts val="1500"/>
              </a:lnSpc>
            </a:pPr>
            <a:endParaRPr lang="en-US" sz="1200" dirty="0">
              <a:solidFill>
                <a:srgbClr val="0D0D0D"/>
              </a:solidFill>
              <a:latin typeface="Courier New" panose="02070309020205020404" pitchFamily="49" charset="0"/>
              <a:cs typeface="Courier New" panose="02070309020205020404" pitchFamily="49" charset="0"/>
            </a:endParaRPr>
          </a:p>
          <a:p>
            <a:pPr lvl="2">
              <a:lnSpc>
                <a:spcPts val="1500"/>
              </a:lnSpc>
            </a:pP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643CAE"/>
                </a:solidFill>
                <a:latin typeface="Courier New" panose="02070309020205020404" pitchFamily="49" charset="0"/>
                <a:cs typeface="Courier New" panose="02070309020205020404" pitchFamily="49" charset="0"/>
              </a:rPr>
              <a:t>int</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643CAE"/>
                </a:solidFill>
                <a:latin typeface="Courier New" panose="02070309020205020404" pitchFamily="49" charset="0"/>
                <a:cs typeface="Courier New" panose="02070309020205020404" pitchFamily="49" charset="0"/>
              </a:rPr>
              <a:t>age</a:t>
            </a:r>
            <a:r>
              <a:rPr lang="en-US" sz="1200" dirty="0">
                <a:solidFill>
                  <a:srgbClr val="0D0D0D"/>
                </a:solidFill>
                <a:latin typeface="Courier New" panose="02070309020205020404" pitchFamily="49" charset="0"/>
                <a:cs typeface="Courier New" panose="02070309020205020404" pitchFamily="49" charset="0"/>
              </a:rPr>
              <a:t> = </a:t>
            </a:r>
            <a:r>
              <a:rPr lang="en-US" sz="1200" dirty="0">
                <a:solidFill>
                  <a:srgbClr val="AC4F23"/>
                </a:solidFill>
                <a:latin typeface="Courier New" panose="02070309020205020404" pitchFamily="49" charset="0"/>
                <a:cs typeface="Courier New" panose="02070309020205020404" pitchFamily="49" charset="0"/>
              </a:rPr>
              <a:t>20</a:t>
            </a:r>
            <a:r>
              <a:rPr lang="en-US" sz="1200" dirty="0">
                <a:solidFill>
                  <a:srgbClr val="0D0D0D"/>
                </a:solidFill>
                <a:latin typeface="Courier New" panose="02070309020205020404" pitchFamily="49" charset="0"/>
                <a:cs typeface="Courier New" panose="02070309020205020404" pitchFamily="49" charset="0"/>
              </a:rPr>
              <a:t>;</a:t>
            </a:r>
          </a:p>
          <a:p>
            <a:pPr lvl="2">
              <a:lnSpc>
                <a:spcPts val="1500"/>
              </a:lnSpc>
            </a:pP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643CAE"/>
                </a:solidFill>
                <a:latin typeface="Courier New" panose="02070309020205020404" pitchFamily="49" charset="0"/>
                <a:cs typeface="Courier New" panose="02070309020205020404" pitchFamily="49" charset="0"/>
              </a:rPr>
              <a:t>double</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643CAE"/>
                </a:solidFill>
                <a:latin typeface="Courier New" panose="02070309020205020404" pitchFamily="49" charset="0"/>
                <a:cs typeface="Courier New" panose="02070309020205020404" pitchFamily="49" charset="0"/>
              </a:rPr>
              <a:t>marks</a:t>
            </a:r>
            <a:r>
              <a:rPr lang="en-US" sz="1200" dirty="0">
                <a:solidFill>
                  <a:srgbClr val="0D0D0D"/>
                </a:solidFill>
                <a:latin typeface="Courier New" panose="02070309020205020404" pitchFamily="49" charset="0"/>
                <a:cs typeface="Courier New" panose="02070309020205020404" pitchFamily="49" charset="0"/>
              </a:rPr>
              <a:t> = </a:t>
            </a:r>
            <a:r>
              <a:rPr lang="en-US" sz="1200" dirty="0">
                <a:solidFill>
                  <a:srgbClr val="AC4F23"/>
                </a:solidFill>
                <a:latin typeface="Courier New" panose="02070309020205020404" pitchFamily="49" charset="0"/>
                <a:cs typeface="Courier New" panose="02070309020205020404" pitchFamily="49" charset="0"/>
              </a:rPr>
              <a:t>85.5</a:t>
            </a:r>
            <a:r>
              <a:rPr lang="en-US" sz="1200" dirty="0">
                <a:solidFill>
                  <a:srgbClr val="0D0D0D"/>
                </a:solidFill>
                <a:latin typeface="Courier New" panose="02070309020205020404" pitchFamily="49" charset="0"/>
                <a:cs typeface="Courier New" panose="02070309020205020404" pitchFamily="49" charset="0"/>
              </a:rPr>
              <a:t>;</a:t>
            </a:r>
          </a:p>
          <a:p>
            <a:pPr lvl="2">
              <a:lnSpc>
                <a:spcPts val="1500"/>
              </a:lnSpc>
            </a:pP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643CAE"/>
                </a:solidFill>
                <a:latin typeface="Courier New" panose="02070309020205020404" pitchFamily="49" charset="0"/>
                <a:cs typeface="Courier New" panose="02070309020205020404" pitchFamily="49" charset="0"/>
              </a:rPr>
              <a:t>string</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643CAE"/>
                </a:solidFill>
                <a:latin typeface="Courier New" panose="02070309020205020404" pitchFamily="49" charset="0"/>
                <a:cs typeface="Courier New" panose="02070309020205020404" pitchFamily="49" charset="0"/>
              </a:rPr>
              <a:t>name</a:t>
            </a:r>
            <a:r>
              <a:rPr lang="en-US" sz="1200" dirty="0">
                <a:solidFill>
                  <a:srgbClr val="0D0D0D"/>
                </a:solidFill>
                <a:latin typeface="Courier New" panose="02070309020205020404" pitchFamily="49" charset="0"/>
                <a:cs typeface="Courier New" panose="02070309020205020404" pitchFamily="49" charset="0"/>
              </a:rPr>
              <a:t> = </a:t>
            </a:r>
            <a:r>
              <a:rPr lang="en-US" sz="1200" dirty="0">
                <a:solidFill>
                  <a:srgbClr val="3A843F"/>
                </a:solidFill>
                <a:latin typeface="Courier New" panose="02070309020205020404" pitchFamily="49" charset="0"/>
                <a:cs typeface="Courier New" panose="02070309020205020404" pitchFamily="49" charset="0"/>
              </a:rPr>
              <a:t>"Ram"</a:t>
            </a:r>
            <a:r>
              <a:rPr lang="en-US" sz="1200" dirty="0">
                <a:solidFill>
                  <a:srgbClr val="0D0D0D"/>
                </a:solidFill>
                <a:latin typeface="Courier New" panose="02070309020205020404" pitchFamily="49" charset="0"/>
                <a:cs typeface="Courier New" panose="02070309020205020404" pitchFamily="49" charset="0"/>
              </a:rPr>
              <a:t>;</a:t>
            </a:r>
          </a:p>
          <a:p>
            <a:pPr lvl="2">
              <a:lnSpc>
                <a:spcPts val="1500"/>
              </a:lnSpc>
            </a:pPr>
            <a:endParaRPr lang="en-US" sz="1200" dirty="0">
              <a:solidFill>
                <a:srgbClr val="0D0D0D"/>
              </a:solidFill>
              <a:latin typeface="Courier New" panose="02070309020205020404" pitchFamily="49" charset="0"/>
              <a:cs typeface="Courier New" panose="02070309020205020404" pitchFamily="49" charset="0"/>
            </a:endParaRPr>
          </a:p>
          <a:p>
            <a:pPr lvl="2">
              <a:lnSpc>
                <a:spcPts val="1500"/>
              </a:lnSpc>
            </a:pP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643CAE"/>
                </a:solidFill>
                <a:latin typeface="Courier New" panose="02070309020205020404" pitchFamily="49" charset="0"/>
                <a:cs typeface="Courier New" panose="02070309020205020404" pitchFamily="49" charset="0"/>
              </a:rPr>
              <a:t>file</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AB4F7A"/>
                </a:solidFill>
                <a:latin typeface="Courier New" panose="02070309020205020404" pitchFamily="49" charset="0"/>
                <a:cs typeface="Courier New" panose="02070309020205020404" pitchFamily="49" charset="0"/>
              </a:rPr>
              <a:t>&lt;&lt;</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643CAE"/>
                </a:solidFill>
                <a:latin typeface="Courier New" panose="02070309020205020404" pitchFamily="49" charset="0"/>
                <a:cs typeface="Courier New" panose="02070309020205020404" pitchFamily="49" charset="0"/>
              </a:rPr>
              <a:t>name</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AB4F7A"/>
                </a:solidFill>
                <a:latin typeface="Courier New" panose="02070309020205020404" pitchFamily="49" charset="0"/>
                <a:cs typeface="Courier New" panose="02070309020205020404" pitchFamily="49" charset="0"/>
              </a:rPr>
              <a:t>&lt;&lt;</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3A843F"/>
                </a:solidFill>
                <a:latin typeface="Courier New" panose="02070309020205020404" pitchFamily="49" charset="0"/>
                <a:cs typeface="Courier New" panose="02070309020205020404" pitchFamily="49" charset="0"/>
              </a:rPr>
              <a:t>" "</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AB4F7A"/>
                </a:solidFill>
                <a:latin typeface="Courier New" panose="02070309020205020404" pitchFamily="49" charset="0"/>
                <a:cs typeface="Courier New" panose="02070309020205020404" pitchFamily="49" charset="0"/>
              </a:rPr>
              <a:t>&lt;&lt;</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643CAE"/>
                </a:solidFill>
                <a:latin typeface="Courier New" panose="02070309020205020404" pitchFamily="49" charset="0"/>
                <a:cs typeface="Courier New" panose="02070309020205020404" pitchFamily="49" charset="0"/>
              </a:rPr>
              <a:t>age</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AB4F7A"/>
                </a:solidFill>
                <a:latin typeface="Courier New" panose="02070309020205020404" pitchFamily="49" charset="0"/>
                <a:cs typeface="Courier New" panose="02070309020205020404" pitchFamily="49" charset="0"/>
              </a:rPr>
              <a:t>&lt;&lt;</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3A843F"/>
                </a:solidFill>
                <a:latin typeface="Courier New" panose="02070309020205020404" pitchFamily="49" charset="0"/>
                <a:cs typeface="Courier New" panose="02070309020205020404" pitchFamily="49" charset="0"/>
              </a:rPr>
              <a:t>" "</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AB4F7A"/>
                </a:solidFill>
                <a:latin typeface="Courier New" panose="02070309020205020404" pitchFamily="49" charset="0"/>
                <a:cs typeface="Courier New" panose="02070309020205020404" pitchFamily="49" charset="0"/>
              </a:rPr>
              <a:t>&lt;&lt;</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643CAE"/>
                </a:solidFill>
                <a:latin typeface="Courier New" panose="02070309020205020404" pitchFamily="49" charset="0"/>
                <a:cs typeface="Courier New" panose="02070309020205020404" pitchFamily="49" charset="0"/>
              </a:rPr>
              <a:t>marks</a:t>
            </a:r>
            <a:r>
              <a:rPr lang="en-US" sz="1200" dirty="0">
                <a:solidFill>
                  <a:srgbClr val="0D0D0D"/>
                </a:solidFill>
                <a:latin typeface="Courier New" panose="02070309020205020404" pitchFamily="49" charset="0"/>
                <a:cs typeface="Courier New" panose="02070309020205020404" pitchFamily="49" charset="0"/>
              </a:rPr>
              <a:t>;</a:t>
            </a:r>
          </a:p>
          <a:p>
            <a:pPr lvl="2">
              <a:lnSpc>
                <a:spcPts val="1500"/>
              </a:lnSpc>
            </a:pPr>
            <a:endParaRPr lang="en-US" sz="1200" dirty="0">
              <a:solidFill>
                <a:srgbClr val="0D0D0D"/>
              </a:solidFill>
              <a:latin typeface="Courier New" panose="02070309020205020404" pitchFamily="49" charset="0"/>
              <a:cs typeface="Courier New" panose="02070309020205020404" pitchFamily="49" charset="0"/>
            </a:endParaRPr>
          </a:p>
          <a:p>
            <a:pPr lvl="2">
              <a:lnSpc>
                <a:spcPts val="1500"/>
              </a:lnSpc>
            </a:pPr>
            <a:r>
              <a:rPr lang="en-US" sz="1200" dirty="0">
                <a:solidFill>
                  <a:srgbClr val="0D0D0D"/>
                </a:solidFill>
                <a:latin typeface="Courier New" panose="02070309020205020404" pitchFamily="49" charset="0"/>
                <a:cs typeface="Courier New" panose="02070309020205020404" pitchFamily="49" charset="0"/>
              </a:rPr>
              <a:t>    </a:t>
            </a:r>
            <a:r>
              <a:rPr lang="en-US" sz="1200" dirty="0" err="1">
                <a:solidFill>
                  <a:srgbClr val="643CAE"/>
                </a:solidFill>
                <a:latin typeface="Courier New" panose="02070309020205020404" pitchFamily="49" charset="0"/>
                <a:cs typeface="Courier New" panose="02070309020205020404" pitchFamily="49" charset="0"/>
              </a:rPr>
              <a:t>file</a:t>
            </a:r>
            <a:r>
              <a:rPr lang="en-US" sz="1200" dirty="0" err="1">
                <a:solidFill>
                  <a:srgbClr val="0D0D0D"/>
                </a:solidFill>
                <a:latin typeface="Courier New" panose="02070309020205020404" pitchFamily="49" charset="0"/>
                <a:cs typeface="Courier New" panose="02070309020205020404" pitchFamily="49" charset="0"/>
              </a:rPr>
              <a:t>.close</a:t>
            </a:r>
            <a:r>
              <a:rPr lang="en-US" sz="1200" dirty="0">
                <a:solidFill>
                  <a:srgbClr val="0D0D0D"/>
                </a:solidFill>
                <a:latin typeface="Courier New" panose="02070309020205020404" pitchFamily="49" charset="0"/>
                <a:cs typeface="Courier New" panose="02070309020205020404" pitchFamily="49" charset="0"/>
              </a:rPr>
              <a:t>();</a:t>
            </a:r>
          </a:p>
          <a:p>
            <a:pPr>
              <a:lnSpc>
                <a:spcPct val="103000"/>
              </a:lnSpc>
            </a:pP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return 0;</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70025950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008F8-3620-2A15-4313-2E47178E2969}"/>
            </a:ext>
          </a:extLst>
        </p:cNvPr>
        <p:cNvGrpSpPr/>
        <p:nvPr/>
      </p:nvGrpSpPr>
      <p:grpSpPr>
        <a:xfrm>
          <a:off x="0" y="0"/>
          <a:ext cx="0" cy="0"/>
          <a:chOff x="0" y="0"/>
          <a:chExt cx="0" cy="0"/>
        </a:xfrm>
      </p:grpSpPr>
      <p:sp>
        <p:nvSpPr>
          <p:cNvPr id="6" name="Text 2">
            <a:extLst>
              <a:ext uri="{FF2B5EF4-FFF2-40B4-BE49-F238E27FC236}">
                <a16:creationId xmlns:a16="http://schemas.microsoft.com/office/drawing/2014/main" id="{BFC68D23-7E55-D5AA-B689-1D13384517E5}"/>
              </a:ext>
            </a:extLst>
          </p:cNvPr>
          <p:cNvSpPr/>
          <p:nvPr/>
        </p:nvSpPr>
        <p:spPr>
          <a:xfrm>
            <a:off x="0" y="914400"/>
            <a:ext cx="6191536" cy="5943600"/>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100" dirty="0">
                <a:latin typeface="Courier New" panose="02070309020205020404" pitchFamily="49" charset="0"/>
                <a:cs typeface="Courier New" panose="02070309020205020404" pitchFamily="49" charset="0"/>
              </a:rPr>
              <a:t>class Student{</a:t>
            </a:r>
          </a:p>
          <a:p>
            <a:r>
              <a:rPr lang="en-US" sz="1100" dirty="0">
                <a:latin typeface="Courier New" panose="02070309020205020404" pitchFamily="49" charset="0"/>
                <a:cs typeface="Courier New" panose="02070309020205020404" pitchFamily="49" charset="0"/>
              </a:rPr>
              <a:t>private:</a:t>
            </a:r>
          </a:p>
          <a:p>
            <a:r>
              <a:rPr lang="en-US" sz="1100" dirty="0">
                <a:latin typeface="Courier New" panose="02070309020205020404" pitchFamily="49" charset="0"/>
                <a:cs typeface="Courier New" panose="02070309020205020404" pitchFamily="49" charset="0"/>
              </a:rPr>
              <a:t>    string name;</a:t>
            </a:r>
          </a:p>
          <a:p>
            <a:r>
              <a:rPr lang="en-US" sz="1100" dirty="0">
                <a:latin typeface="Courier New" panose="02070309020205020404" pitchFamily="49" charset="0"/>
                <a:cs typeface="Courier New" panose="02070309020205020404" pitchFamily="49" charset="0"/>
              </a:rPr>
              <a:t>    int age;</a:t>
            </a:r>
          </a:p>
          <a:p>
            <a:r>
              <a:rPr lang="en-US" sz="1100" dirty="0">
                <a:latin typeface="Courier New" panose="02070309020205020404" pitchFamily="49" charset="0"/>
                <a:cs typeface="Courier New" panose="02070309020205020404" pitchFamily="49" charset="0"/>
              </a:rPr>
              <a:t>    float marks;</a:t>
            </a:r>
          </a:p>
          <a:p>
            <a:pPr>
              <a:spcAft>
                <a:spcPts val="600"/>
              </a:spcAft>
            </a:pPr>
            <a:r>
              <a:rPr lang="en-US" sz="1100" dirty="0">
                <a:latin typeface="Courier New" panose="02070309020205020404" pitchFamily="49" charset="0"/>
                <a:cs typeface="Courier New" panose="02070309020205020404" pitchFamily="49" charset="0"/>
              </a:rPr>
              <a:t>public:</a:t>
            </a:r>
          </a:p>
          <a:p>
            <a:r>
              <a:rPr lang="en-US" sz="1100" dirty="0">
                <a:latin typeface="Courier New" panose="02070309020205020404" pitchFamily="49" charset="0"/>
                <a:cs typeface="Courier New" panose="02070309020205020404" pitchFamily="49" charset="0"/>
              </a:rPr>
              <a:t>    // Function to assign student data</a:t>
            </a:r>
          </a:p>
          <a:p>
            <a:r>
              <a:rPr lang="en-US" sz="1100" dirty="0">
                <a:latin typeface="Courier New" panose="02070309020205020404" pitchFamily="49" charset="0"/>
                <a:cs typeface="Courier New" panose="02070309020205020404" pitchFamily="49" charset="0"/>
              </a:rPr>
              <a:t>    void </a:t>
            </a:r>
            <a:r>
              <a:rPr lang="en-US" sz="1100" dirty="0" err="1">
                <a:latin typeface="Courier New" panose="02070309020205020404" pitchFamily="49" charset="0"/>
                <a:cs typeface="Courier New" panose="02070309020205020404" pitchFamily="49" charset="0"/>
              </a:rPr>
              <a:t>setData</a:t>
            </a:r>
            <a:r>
              <a:rPr lang="en-US" sz="1100" dirty="0">
                <a:latin typeface="Courier New" panose="02070309020205020404" pitchFamily="49" charset="0"/>
                <a:cs typeface="Courier New" panose="02070309020205020404" pitchFamily="49" charset="0"/>
              </a:rPr>
              <a:t>(string n, int a, float m){</a:t>
            </a:r>
          </a:p>
          <a:p>
            <a:r>
              <a:rPr lang="en-US" sz="1100" dirty="0">
                <a:latin typeface="Courier New" panose="02070309020205020404" pitchFamily="49" charset="0"/>
                <a:cs typeface="Courier New" panose="02070309020205020404" pitchFamily="49" charset="0"/>
              </a:rPr>
              <a:t>        name = n;</a:t>
            </a:r>
          </a:p>
          <a:p>
            <a:r>
              <a:rPr lang="en-US" sz="1100" dirty="0">
                <a:latin typeface="Courier New" panose="02070309020205020404" pitchFamily="49" charset="0"/>
                <a:cs typeface="Courier New" panose="02070309020205020404" pitchFamily="49" charset="0"/>
              </a:rPr>
              <a:t>        age = a;</a:t>
            </a:r>
          </a:p>
          <a:p>
            <a:r>
              <a:rPr lang="en-US" sz="1100" dirty="0">
                <a:latin typeface="Courier New" panose="02070309020205020404" pitchFamily="49" charset="0"/>
                <a:cs typeface="Courier New" panose="02070309020205020404" pitchFamily="49" charset="0"/>
              </a:rPr>
              <a:t>        marks = m;</a:t>
            </a:r>
          </a:p>
          <a:p>
            <a:r>
              <a:rPr lang="en-US" sz="1100" dirty="0">
                <a:latin typeface="Courier New" panose="02070309020205020404" pitchFamily="49" charset="0"/>
                <a:cs typeface="Courier New" panose="02070309020205020404" pitchFamily="49" charset="0"/>
              </a:rPr>
              <a:t>    }</a:t>
            </a:r>
          </a:p>
          <a:p>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 Function to display student data</a:t>
            </a:r>
          </a:p>
          <a:p>
            <a:r>
              <a:rPr lang="en-US" sz="1100" dirty="0">
                <a:latin typeface="Courier New" panose="02070309020205020404" pitchFamily="49" charset="0"/>
                <a:cs typeface="Courier New" panose="02070309020205020404" pitchFamily="49" charset="0"/>
              </a:rPr>
              <a:t>    void display(){</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cout</a:t>
            </a:r>
            <a:r>
              <a:rPr lang="en-US" sz="1100" dirty="0">
                <a:latin typeface="Courier New" panose="02070309020205020404" pitchFamily="49" charset="0"/>
                <a:cs typeface="Courier New" panose="02070309020205020404" pitchFamily="49" charset="0"/>
              </a:rPr>
              <a:t> &lt;&lt; "Name  : " &lt;&lt; name &lt;&lt; </a:t>
            </a:r>
            <a:r>
              <a:rPr lang="en-US" sz="1100" dirty="0" err="1">
                <a:latin typeface="Courier New" panose="02070309020205020404" pitchFamily="49" charset="0"/>
                <a:cs typeface="Courier New" panose="02070309020205020404" pitchFamily="49" charset="0"/>
              </a:rPr>
              <a:t>endl</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cout</a:t>
            </a:r>
            <a:r>
              <a:rPr lang="en-US" sz="1100" dirty="0">
                <a:latin typeface="Courier New" panose="02070309020205020404" pitchFamily="49" charset="0"/>
                <a:cs typeface="Courier New" panose="02070309020205020404" pitchFamily="49" charset="0"/>
              </a:rPr>
              <a:t> &lt;&lt; "Age   : " &lt;&lt; age &lt;&lt; </a:t>
            </a:r>
            <a:r>
              <a:rPr lang="en-US" sz="1100" dirty="0" err="1">
                <a:latin typeface="Courier New" panose="02070309020205020404" pitchFamily="49" charset="0"/>
                <a:cs typeface="Courier New" panose="02070309020205020404" pitchFamily="49" charset="0"/>
              </a:rPr>
              <a:t>endl</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cout</a:t>
            </a:r>
            <a:r>
              <a:rPr lang="en-US" sz="1100" dirty="0">
                <a:latin typeface="Courier New" panose="02070309020205020404" pitchFamily="49" charset="0"/>
                <a:cs typeface="Courier New" panose="02070309020205020404" pitchFamily="49" charset="0"/>
              </a:rPr>
              <a:t> &lt;&lt; "Marks : " &lt;&lt; marks &lt;&lt; </a:t>
            </a:r>
            <a:r>
              <a:rPr lang="en-US" sz="1100" dirty="0" err="1">
                <a:latin typeface="Courier New" panose="02070309020205020404" pitchFamily="49" charset="0"/>
                <a:cs typeface="Courier New" panose="02070309020205020404" pitchFamily="49" charset="0"/>
              </a:rPr>
              <a:t>endl</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p>
          <a:p>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 Formatted File Output</a:t>
            </a:r>
          </a:p>
          <a:p>
            <a:r>
              <a:rPr lang="en-US" sz="1100" dirty="0">
                <a:latin typeface="Courier New" panose="02070309020205020404" pitchFamily="49" charset="0"/>
                <a:cs typeface="Courier New" panose="02070309020205020404" pitchFamily="49" charset="0"/>
              </a:rPr>
              <a:t>    void </a:t>
            </a:r>
            <a:r>
              <a:rPr lang="en-US" sz="1100" dirty="0" err="1">
                <a:latin typeface="Courier New" panose="02070309020205020404" pitchFamily="49" charset="0"/>
                <a:cs typeface="Courier New" panose="02070309020205020404" pitchFamily="49" charset="0"/>
              </a:rPr>
              <a:t>writeFormatted</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ofstream</a:t>
            </a:r>
            <a:r>
              <a:rPr lang="en-US" sz="1100" dirty="0">
                <a:latin typeface="Courier New" panose="02070309020205020404" pitchFamily="49" charset="0"/>
                <a:cs typeface="Courier New" panose="02070309020205020404" pitchFamily="49" charset="0"/>
              </a:rPr>
              <a:t> file("student2.txt");</a:t>
            </a:r>
          </a:p>
          <a:p>
            <a:r>
              <a:rPr lang="en-US" sz="1100" dirty="0">
                <a:latin typeface="Courier New" panose="02070309020205020404" pitchFamily="49" charset="0"/>
                <a:cs typeface="Courier New" panose="02070309020205020404" pitchFamily="49" charset="0"/>
              </a:rPr>
              <a:t>	file &lt;&lt; name &lt;&lt; " " &lt;&lt; age &lt;&lt; " " &lt;&lt; marks &lt;&lt; </a:t>
            </a:r>
            <a:r>
              <a:rPr lang="en-US" sz="1100" dirty="0" err="1">
                <a:latin typeface="Courier New" panose="02070309020205020404" pitchFamily="49" charset="0"/>
                <a:cs typeface="Courier New" panose="02070309020205020404" pitchFamily="49" charset="0"/>
              </a:rPr>
              <a:t>endl</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file.close</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p>
          <a:p>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 Formatted File Input</a:t>
            </a:r>
          </a:p>
          <a:p>
            <a:r>
              <a:rPr lang="en-US" sz="1100" dirty="0">
                <a:latin typeface="Courier New" panose="02070309020205020404" pitchFamily="49" charset="0"/>
                <a:cs typeface="Courier New" panose="02070309020205020404" pitchFamily="49" charset="0"/>
              </a:rPr>
              <a:t>    void </a:t>
            </a:r>
            <a:r>
              <a:rPr lang="en-US" sz="1100" dirty="0" err="1">
                <a:latin typeface="Courier New" panose="02070309020205020404" pitchFamily="49" charset="0"/>
                <a:cs typeface="Courier New" panose="02070309020205020404" pitchFamily="49" charset="0"/>
              </a:rPr>
              <a:t>readFormatted</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ifstream</a:t>
            </a:r>
            <a:r>
              <a:rPr lang="en-US" sz="1100" dirty="0">
                <a:latin typeface="Courier New" panose="02070309020205020404" pitchFamily="49" charset="0"/>
                <a:cs typeface="Courier New" panose="02070309020205020404" pitchFamily="49" charset="0"/>
              </a:rPr>
              <a:t> file("student2.txt");</a:t>
            </a: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        file &gt;&gt; name &gt;&gt; age&gt;&gt; marks;</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file.close</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a:t>
            </a:r>
          </a:p>
          <a:p>
            <a:endParaRPr lang="en-US" sz="1100" dirty="0">
              <a:latin typeface="Courier New" panose="02070309020205020404" pitchFamily="49" charset="0"/>
              <a:cs typeface="Courier New" panose="02070309020205020404" pitchFamily="49" charset="0"/>
            </a:endParaRPr>
          </a:p>
          <a:p>
            <a:pPr>
              <a:lnSpc>
                <a:spcPct val="103000"/>
              </a:lnSpc>
            </a:pPr>
            <a:endParaRPr lang="en-US" sz="1100" dirty="0">
              <a:solidFill>
                <a:schemeClr val="tx1">
                  <a:lumMod val="65000"/>
                  <a:lumOff val="35000"/>
                </a:schemeClr>
              </a:solidFill>
              <a:latin typeface="Courier New" panose="02070309020205020404" pitchFamily="49" charset="0"/>
              <a:cs typeface="Courier New" panose="02070309020205020404" pitchFamily="49" charset="0"/>
            </a:endParaRPr>
          </a:p>
        </p:txBody>
      </p:sp>
      <p:sp>
        <p:nvSpPr>
          <p:cNvPr id="12" name="Text 2">
            <a:extLst>
              <a:ext uri="{FF2B5EF4-FFF2-40B4-BE49-F238E27FC236}">
                <a16:creationId xmlns:a16="http://schemas.microsoft.com/office/drawing/2014/main" id="{810973AB-4EC7-1956-281D-BACD2BFEB512}"/>
              </a:ext>
            </a:extLst>
          </p:cNvPr>
          <p:cNvSpPr/>
          <p:nvPr/>
        </p:nvSpPr>
        <p:spPr>
          <a:xfrm>
            <a:off x="6191536" y="914429"/>
            <a:ext cx="5982270" cy="5943600"/>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100" dirty="0">
                <a:latin typeface="Courier New" panose="02070309020205020404" pitchFamily="49" charset="0"/>
                <a:cs typeface="Courier New" panose="02070309020205020404" pitchFamily="49" charset="0"/>
              </a:rPr>
              <a:t>int main(){</a:t>
            </a:r>
          </a:p>
          <a:p>
            <a:r>
              <a:rPr lang="en-US" sz="1100" dirty="0">
                <a:latin typeface="Courier New" panose="02070309020205020404" pitchFamily="49" charset="0"/>
                <a:cs typeface="Courier New" panose="02070309020205020404" pitchFamily="49" charset="0"/>
              </a:rPr>
              <a:t>    Student s;</a:t>
            </a:r>
          </a:p>
          <a:p>
            <a:br>
              <a:rPr lang="en-US" sz="1100" dirty="0">
                <a:latin typeface="Courier New" panose="02070309020205020404" pitchFamily="49" charset="0"/>
                <a:cs typeface="Courier New" panose="02070309020205020404" pitchFamily="49" charset="0"/>
              </a:rPr>
            </a:br>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 Store data in object</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s.setData</a:t>
            </a:r>
            <a:r>
              <a:rPr lang="en-US" sz="1100" dirty="0">
                <a:latin typeface="Courier New" panose="02070309020205020404" pitchFamily="49" charset="0"/>
                <a:cs typeface="Courier New" panose="02070309020205020404" pitchFamily="49" charset="0"/>
              </a:rPr>
              <a:t>("Ram", 20, 85.5);</a:t>
            </a:r>
          </a:p>
          <a:p>
            <a:br>
              <a:rPr lang="en-US" sz="1100" dirty="0">
                <a:latin typeface="Courier New" panose="02070309020205020404" pitchFamily="49" charset="0"/>
                <a:cs typeface="Courier New" panose="02070309020205020404" pitchFamily="49" charset="0"/>
              </a:rPr>
            </a:br>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 -----------------------------</a:t>
            </a:r>
          </a:p>
          <a:p>
            <a:r>
              <a:rPr lang="en-US" sz="1100" dirty="0">
                <a:latin typeface="Courier New" panose="02070309020205020404" pitchFamily="49" charset="0"/>
                <a:cs typeface="Courier New" panose="02070309020205020404" pitchFamily="49" charset="0"/>
              </a:rPr>
              <a:t>    // FORMATTED OUTPUT</a:t>
            </a:r>
          </a:p>
          <a:p>
            <a:r>
              <a:rPr lang="en-US" sz="1100" dirty="0">
                <a:latin typeface="Courier New" panose="02070309020205020404" pitchFamily="49" charset="0"/>
                <a:cs typeface="Courier New" panose="02070309020205020404" pitchFamily="49" charset="0"/>
              </a:rPr>
              <a:t>    // -----------------------------</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s.writeFormatted</a:t>
            </a:r>
            <a:r>
              <a:rPr lang="en-US" sz="1100" dirty="0">
                <a:latin typeface="Courier New" panose="02070309020205020404" pitchFamily="49" charset="0"/>
                <a:cs typeface="Courier New" panose="02070309020205020404" pitchFamily="49" charset="0"/>
              </a:rPr>
              <a:t>();</a:t>
            </a:r>
          </a:p>
          <a:p>
            <a:br>
              <a:rPr lang="en-US" sz="1100" dirty="0">
                <a:latin typeface="Courier New" panose="02070309020205020404" pitchFamily="49" charset="0"/>
                <a:cs typeface="Courier New" panose="02070309020205020404" pitchFamily="49" charset="0"/>
              </a:rPr>
            </a:br>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 Clear/change object data</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s.setData</a:t>
            </a:r>
            <a:r>
              <a:rPr lang="en-US" sz="1100" dirty="0">
                <a:latin typeface="Courier New" panose="02070309020205020404" pitchFamily="49" charset="0"/>
                <a:cs typeface="Courier New" panose="02070309020205020404" pitchFamily="49" charset="0"/>
              </a:rPr>
              <a:t>("", 0, 0);</a:t>
            </a:r>
          </a:p>
          <a:p>
            <a:br>
              <a:rPr lang="en-US" sz="1100" dirty="0">
                <a:latin typeface="Courier New" panose="02070309020205020404" pitchFamily="49" charset="0"/>
                <a:cs typeface="Courier New" panose="02070309020205020404" pitchFamily="49" charset="0"/>
              </a:rPr>
            </a:br>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 -----------------------------</a:t>
            </a:r>
          </a:p>
          <a:p>
            <a:r>
              <a:rPr lang="en-US" sz="1100" dirty="0">
                <a:latin typeface="Courier New" panose="02070309020205020404" pitchFamily="49" charset="0"/>
                <a:cs typeface="Courier New" panose="02070309020205020404" pitchFamily="49" charset="0"/>
              </a:rPr>
              <a:t>    // FORMATTED INPUT</a:t>
            </a:r>
          </a:p>
          <a:p>
            <a:r>
              <a:rPr lang="en-US" sz="1100" dirty="0">
                <a:latin typeface="Courier New" panose="02070309020205020404" pitchFamily="49" charset="0"/>
                <a:cs typeface="Courier New" panose="02070309020205020404" pitchFamily="49" charset="0"/>
              </a:rPr>
              <a:t>    // -----------------------------</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s.readFormatted</a:t>
            </a:r>
            <a:r>
              <a:rPr lang="en-US" sz="1100" dirty="0">
                <a:latin typeface="Courier New" panose="02070309020205020404" pitchFamily="49" charset="0"/>
                <a:cs typeface="Courier New" panose="02070309020205020404" pitchFamily="49" charset="0"/>
              </a:rPr>
              <a:t>();</a:t>
            </a:r>
          </a:p>
          <a:p>
            <a:br>
              <a:rPr lang="en-US" sz="1100" dirty="0">
                <a:latin typeface="Courier New" panose="02070309020205020404" pitchFamily="49" charset="0"/>
                <a:cs typeface="Courier New" panose="02070309020205020404" pitchFamily="49" charset="0"/>
              </a:rPr>
            </a:br>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cout</a:t>
            </a:r>
            <a:r>
              <a:rPr lang="en-US" sz="1100" dirty="0">
                <a:latin typeface="Courier New" panose="02070309020205020404" pitchFamily="49" charset="0"/>
                <a:cs typeface="Courier New" panose="02070309020205020404" pitchFamily="49" charset="0"/>
              </a:rPr>
              <a:t> &lt;&lt; "Formatted Input:" &lt;&lt; </a:t>
            </a:r>
            <a:r>
              <a:rPr lang="en-US" sz="1100" dirty="0" err="1">
                <a:latin typeface="Courier New" panose="02070309020205020404" pitchFamily="49" charset="0"/>
                <a:cs typeface="Courier New" panose="02070309020205020404" pitchFamily="49" charset="0"/>
              </a:rPr>
              <a:t>endl</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s.display</a:t>
            </a:r>
            <a:r>
              <a:rPr lang="en-US" sz="1100" dirty="0">
                <a:latin typeface="Courier New" panose="02070309020205020404" pitchFamily="49" charset="0"/>
                <a:cs typeface="Courier New" panose="02070309020205020404" pitchFamily="49" charset="0"/>
              </a:rPr>
              <a:t>();</a:t>
            </a:r>
          </a:p>
          <a:p>
            <a:br>
              <a:rPr lang="en-US" sz="1100" dirty="0">
                <a:latin typeface="Courier New" panose="02070309020205020404" pitchFamily="49" charset="0"/>
                <a:cs typeface="Courier New" panose="02070309020205020404" pitchFamily="49" charset="0"/>
              </a:rPr>
            </a:br>
            <a:br>
              <a:rPr lang="en-US" sz="1100" dirty="0">
                <a:latin typeface="Courier New" panose="02070309020205020404" pitchFamily="49" charset="0"/>
                <a:cs typeface="Courier New" panose="02070309020205020404" pitchFamily="49" charset="0"/>
              </a:rPr>
            </a:br>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return 0;</a:t>
            </a:r>
          </a:p>
          <a:p>
            <a:r>
              <a:rPr lang="en-US" sz="1100" dirty="0">
                <a:latin typeface="Courier New" panose="02070309020205020404" pitchFamily="49" charset="0"/>
                <a:cs typeface="Courier New" panose="02070309020205020404" pitchFamily="49" charset="0"/>
              </a:rPr>
              <a:t>}</a:t>
            </a:r>
          </a:p>
          <a:p>
            <a:pPr>
              <a:lnSpc>
                <a:spcPct val="103000"/>
              </a:lnSpc>
            </a:pPr>
            <a:endParaRPr lang="en-US" sz="11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endParaRPr lang="en-US" sz="11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endParaRPr lang="en-US" sz="11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endParaRPr lang="en-US" sz="11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endParaRPr lang="en-US" sz="1100" dirty="0">
              <a:solidFill>
                <a:schemeClr val="tx1">
                  <a:lumMod val="65000"/>
                  <a:lumOff val="35000"/>
                </a:schemeClr>
              </a:solidFill>
              <a:latin typeface="Courier New" panose="02070309020205020404" pitchFamily="49" charset="0"/>
              <a:cs typeface="Courier New" panose="02070309020205020404" pitchFamily="49" charset="0"/>
            </a:endParaRPr>
          </a:p>
        </p:txBody>
      </p:sp>
      <p:sp>
        <p:nvSpPr>
          <p:cNvPr id="15" name="Text 1">
            <a:extLst>
              <a:ext uri="{FF2B5EF4-FFF2-40B4-BE49-F238E27FC236}">
                <a16:creationId xmlns:a16="http://schemas.microsoft.com/office/drawing/2014/main" id="{2399CF9D-B4A3-A30C-4A0B-BDC4BFD6AE41}"/>
              </a:ext>
            </a:extLst>
          </p:cNvPr>
          <p:cNvSpPr/>
          <p:nvPr/>
        </p:nvSpPr>
        <p:spPr>
          <a:xfrm>
            <a:off x="18194" y="192434"/>
            <a:ext cx="11091672" cy="731520"/>
          </a:xfrm>
          <a:prstGeom prst="rect">
            <a:avLst/>
          </a:prstGeom>
          <a:noFill/>
          <a:ln/>
        </p:spPr>
        <p:txBody>
          <a:bodyPr wrap="square" rtlCol="0" anchor="ctr"/>
          <a:lstStyle/>
          <a:p>
            <a:r>
              <a:rPr lang="en-US" sz="2200" b="1" dirty="0">
                <a:solidFill>
                  <a:srgbClr val="000000"/>
                </a:solidFill>
                <a:latin typeface="Helvetica" pitchFamily="34" charset="0"/>
                <a:ea typeface="Helvetica" pitchFamily="34" charset="-122"/>
                <a:cs typeface="Helvetica" pitchFamily="34" charset="-120"/>
              </a:rPr>
              <a:t>Formatted I/O</a:t>
            </a:r>
            <a:endParaRPr lang="en-US" sz="2200" dirty="0"/>
          </a:p>
        </p:txBody>
      </p:sp>
    </p:spTree>
    <p:extLst>
      <p:ext uri="{BB962C8B-B14F-4D97-AF65-F5344CB8AC3E}">
        <p14:creationId xmlns:p14="http://schemas.microsoft.com/office/powerpoint/2010/main" val="175093749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91CA3-A084-58AA-C9EA-5B1E3E6518C9}"/>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5B590B0A-E736-A35A-2057-58EBFAEEF163}"/>
              </a:ext>
            </a:extLst>
          </p:cNvPr>
          <p:cNvSpPr/>
          <p:nvPr/>
        </p:nvSpPr>
        <p:spPr>
          <a:xfrm>
            <a:off x="3692" y="-11430"/>
            <a:ext cx="6092308" cy="6858000"/>
          </a:xfrm>
          <a:prstGeom prst="rect">
            <a:avLst/>
          </a:prstGeom>
          <a:solidFill>
            <a:srgbClr val="F2F2F2"/>
          </a:solidFill>
          <a:ln w="9525">
            <a:solidFill>
              <a:srgbClr val="000000"/>
            </a:solidFill>
          </a:ln>
        </p:spPr>
        <p:txBody>
          <a:bodyPr wrap="square" lIns="152400" tIns="152400" rIns="152400" bIns="152400" rtlCol="0" anchor="t">
            <a:spAutoFit/>
          </a:bodyPr>
          <a:lstStyle/>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#include &lt;iostream&gt;</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#include &lt;</a:t>
            </a:r>
            <a:r>
              <a:rPr lang="en-US" sz="1000" dirty="0" err="1">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fstream</a:t>
            </a: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&gt;</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#include &lt;string&gt;</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using namespace std;</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int main() {</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 Step 1: open file in write mode</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a:t>
            </a:r>
            <a:r>
              <a:rPr lang="en-US" sz="1000" dirty="0" err="1">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ofstream</a:t>
            </a: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a:t>
            </a:r>
            <a:r>
              <a:rPr lang="en-US" sz="1000" dirty="0" err="1">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outFile</a:t>
            </a: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b="1"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a:t>
            </a:r>
            <a:r>
              <a:rPr lang="en-US" sz="1000" b="1" dirty="0" err="1">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outFile.open</a:t>
            </a:r>
            <a:r>
              <a:rPr lang="en-US" sz="1000" b="1"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("student.txt", </a:t>
            </a:r>
            <a:r>
              <a:rPr lang="en-US" sz="1000" b="1" dirty="0" err="1">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ios</a:t>
            </a:r>
            <a:r>
              <a:rPr lang="en-US" sz="1000" b="1"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::out);</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if (!</a:t>
            </a:r>
            <a:r>
              <a:rPr lang="en-US" sz="1000" dirty="0" err="1">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outFile</a:t>
            </a: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a:t>
            </a:r>
            <a:r>
              <a:rPr lang="en-US" sz="1000" dirty="0" err="1">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cout</a:t>
            </a: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&lt;&lt; "Error opening file!";</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return 1;</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 Step 2: write data (text I/O)</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a:t>
            </a:r>
            <a:r>
              <a:rPr lang="en-US" sz="1000" dirty="0" err="1">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outFile</a:t>
            </a: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&lt;&lt; "Roll No: 101" &lt;&lt; </a:t>
            </a:r>
            <a:r>
              <a:rPr lang="en-US" sz="1000" dirty="0" err="1">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endl</a:t>
            </a: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a:t>
            </a:r>
            <a:r>
              <a:rPr lang="en-US" sz="1000" dirty="0" err="1">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outFile</a:t>
            </a: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&lt;&lt; "Name: Aarav Sharma" &lt;&lt; </a:t>
            </a:r>
            <a:r>
              <a:rPr lang="en-US" sz="1000" dirty="0" err="1">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endl</a:t>
            </a: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a:t>
            </a:r>
            <a:r>
              <a:rPr lang="en-US" sz="1000" dirty="0" err="1">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outFile</a:t>
            </a: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&lt;&lt; "Marks: 87.5" &lt;&lt; </a:t>
            </a:r>
            <a:r>
              <a:rPr lang="en-US" sz="1000" dirty="0" err="1">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endl</a:t>
            </a: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a:t>
            </a:r>
            <a:r>
              <a:rPr lang="en-US" sz="1000" dirty="0" err="1">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outFile.close</a:t>
            </a: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 Step 3</a:t>
            </a:r>
          </a:p>
          <a:p>
            <a:pPr lvl="1">
              <a:lnSpc>
                <a:spcPct val="103000"/>
              </a:lnSpc>
            </a:pPr>
            <a:endPar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endParaRPr>
          </a:p>
          <a:p>
            <a:pPr lvl="1">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Step 4: reopen the SAME file,</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 this time for reading</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a:t>
            </a:r>
            <a:r>
              <a:rPr lang="en-US" sz="1000" dirty="0" err="1">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ifstream</a:t>
            </a: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a:t>
            </a:r>
            <a:r>
              <a:rPr lang="en-US" sz="1000" dirty="0" err="1">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inFile</a:t>
            </a: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b="1"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a:t>
            </a:r>
            <a:r>
              <a:rPr lang="en-US" sz="1000" b="1" dirty="0" err="1">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inFile.open</a:t>
            </a:r>
            <a:r>
              <a:rPr lang="en-US" sz="1000" b="1"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("student.txt", </a:t>
            </a:r>
            <a:r>
              <a:rPr lang="en-US" sz="1000" b="1" dirty="0" err="1">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ios</a:t>
            </a:r>
            <a:r>
              <a:rPr lang="en-US" sz="1000" b="1"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::in);</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if (!</a:t>
            </a:r>
            <a:r>
              <a:rPr lang="en-US" sz="1000" dirty="0" err="1">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inFile</a:t>
            </a: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a:t>
            </a:r>
            <a:r>
              <a:rPr lang="en-US" sz="1000" dirty="0" err="1">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cout</a:t>
            </a: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&lt;&lt; "Error reading file!";</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return 1;</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 Step 5: read and display,</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 line by line</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string line;</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a:t>
            </a:r>
            <a:r>
              <a:rPr lang="en-US" sz="1000" dirty="0" err="1">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cout</a:t>
            </a: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&lt;&lt; "----- File Contents -----" &lt;&lt; </a:t>
            </a:r>
            <a:r>
              <a:rPr lang="en-US" sz="1000" dirty="0" err="1">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endl</a:t>
            </a: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b="1"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while (</a:t>
            </a:r>
            <a:r>
              <a:rPr lang="en-US" sz="1000" b="1" dirty="0" err="1">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getline</a:t>
            </a:r>
            <a:r>
              <a:rPr lang="en-US" sz="1000" b="1"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a:t>
            </a:r>
            <a:r>
              <a:rPr lang="en-US" sz="1000" b="1" dirty="0" err="1">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inFile</a:t>
            </a:r>
            <a:r>
              <a:rPr lang="en-US" sz="1000" b="1"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line)) {</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a:t>
            </a:r>
            <a:r>
              <a:rPr lang="en-US" sz="1000" dirty="0" err="1">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cout</a:t>
            </a: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&lt;&lt; line &lt;&lt; </a:t>
            </a:r>
            <a:r>
              <a:rPr lang="en-US" sz="1000" dirty="0" err="1">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endl</a:t>
            </a: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a:t>
            </a:r>
            <a:r>
              <a:rPr lang="en-US" sz="1000" dirty="0" err="1">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inFile.close</a:t>
            </a: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 Step 6</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    return 0;</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r>
              <a:rPr lang="en-US" sz="1000" dirty="0">
                <a:solidFill>
                  <a:schemeClr val="tx1">
                    <a:lumMod val="85000"/>
                    <a:lumOff val="15000"/>
                  </a:schemeClr>
                </a:solidFill>
                <a:latin typeface="Courier New" panose="02070309020205020404" pitchFamily="49" charset="0"/>
                <a:ea typeface="Courier New" pitchFamily="34" charset="-122"/>
                <a:cs typeface="Courier New" panose="02070309020205020404" pitchFamily="49" charset="0"/>
              </a:rPr>
              <a:t>}</a:t>
            </a: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a:p>
            <a:pPr>
              <a:lnSpc>
                <a:spcPct val="103000"/>
              </a:lnSpc>
            </a:pPr>
            <a:endParaRPr lang="en-US" sz="1000" dirty="0">
              <a:solidFill>
                <a:schemeClr val="tx1">
                  <a:lumMod val="85000"/>
                  <a:lumOff val="15000"/>
                </a:schemeClr>
              </a:solidFill>
              <a:latin typeface="Courier New" panose="02070309020205020404" pitchFamily="49" charset="0"/>
              <a:cs typeface="Courier New" panose="02070309020205020404" pitchFamily="49" charset="0"/>
            </a:endParaRPr>
          </a:p>
        </p:txBody>
      </p:sp>
      <p:sp>
        <p:nvSpPr>
          <p:cNvPr id="8" name="TextBox 7">
            <a:extLst>
              <a:ext uri="{FF2B5EF4-FFF2-40B4-BE49-F238E27FC236}">
                <a16:creationId xmlns:a16="http://schemas.microsoft.com/office/drawing/2014/main" id="{722C69D8-FCB9-B501-813B-BDB39668EDCD}"/>
              </a:ext>
            </a:extLst>
          </p:cNvPr>
          <p:cNvSpPr txBox="1"/>
          <p:nvPr/>
        </p:nvSpPr>
        <p:spPr>
          <a:xfrm>
            <a:off x="6714837" y="360218"/>
            <a:ext cx="5061527" cy="3231654"/>
          </a:xfrm>
          <a:prstGeom prst="rect">
            <a:avLst/>
          </a:prstGeom>
          <a:noFill/>
        </p:spPr>
        <p:txBody>
          <a:bodyPr wrap="square" rtlCol="0">
            <a:spAutoFit/>
          </a:bodyPr>
          <a:lstStyle/>
          <a:p>
            <a:r>
              <a:rPr lang="en-US" sz="1200" dirty="0"/>
              <a:t>Step 1 : </a:t>
            </a:r>
            <a:r>
              <a:rPr lang="en-US" sz="1200" dirty="0" err="1">
                <a:solidFill>
                  <a:srgbClr val="5B6B85"/>
                </a:solidFill>
                <a:latin typeface="Courier New" panose="02070309020205020404" pitchFamily="49" charset="0"/>
                <a:cs typeface="Courier New" panose="02070309020205020404" pitchFamily="49" charset="0"/>
              </a:rPr>
              <a:t>outFile.open</a:t>
            </a:r>
            <a:r>
              <a:rPr lang="en-US" sz="1200" dirty="0">
                <a:solidFill>
                  <a:srgbClr val="5B6B85"/>
                </a:solidFill>
                <a:latin typeface="Courier New" panose="02070309020205020404" pitchFamily="49" charset="0"/>
                <a:cs typeface="Courier New" panose="02070309020205020404" pitchFamily="49" charset="0"/>
              </a:rPr>
              <a:t>("student.txt", </a:t>
            </a:r>
            <a:r>
              <a:rPr lang="en-US" sz="1200" dirty="0" err="1">
                <a:solidFill>
                  <a:srgbClr val="5B6B85"/>
                </a:solidFill>
                <a:latin typeface="Courier New" panose="02070309020205020404" pitchFamily="49" charset="0"/>
                <a:cs typeface="Courier New" panose="02070309020205020404" pitchFamily="49" charset="0"/>
              </a:rPr>
              <a:t>ios</a:t>
            </a:r>
            <a:r>
              <a:rPr lang="en-US" sz="1200" dirty="0">
                <a:solidFill>
                  <a:srgbClr val="5B6B85"/>
                </a:solidFill>
                <a:latin typeface="Courier New" panose="02070309020205020404" pitchFamily="49" charset="0"/>
                <a:cs typeface="Courier New" panose="02070309020205020404" pitchFamily="49" charset="0"/>
              </a:rPr>
              <a:t>::out) </a:t>
            </a:r>
            <a:r>
              <a:rPr lang="en-US" sz="1200" dirty="0">
                <a:solidFill>
                  <a:srgbClr val="5B6B85"/>
                </a:solidFill>
                <a:ea typeface="Calibri" pitchFamily="34" charset="-122"/>
                <a:cs typeface="Calibri" pitchFamily="34" charset="-120"/>
              </a:rPr>
              <a:t>creates the file if it doesn't exist. Because mode is </a:t>
            </a:r>
            <a:r>
              <a:rPr lang="en-US" sz="1200" dirty="0" err="1">
                <a:solidFill>
                  <a:srgbClr val="5B6B85"/>
                </a:solidFill>
                <a:latin typeface="Courier New" panose="02070309020205020404" pitchFamily="49" charset="0"/>
                <a:cs typeface="Courier New" panose="02070309020205020404" pitchFamily="49" charset="0"/>
              </a:rPr>
              <a:t>ios</a:t>
            </a:r>
            <a:r>
              <a:rPr lang="en-US" sz="1200" dirty="0">
                <a:solidFill>
                  <a:srgbClr val="5B6B85"/>
                </a:solidFill>
                <a:latin typeface="Courier New" panose="02070309020205020404" pitchFamily="49" charset="0"/>
                <a:cs typeface="Courier New" panose="02070309020205020404" pitchFamily="49" charset="0"/>
              </a:rPr>
              <a:t>::out</a:t>
            </a:r>
            <a:r>
              <a:rPr lang="en-US" sz="1200" dirty="0">
                <a:solidFill>
                  <a:srgbClr val="5B6B85"/>
                </a:solidFill>
                <a:ea typeface="Calibri" pitchFamily="34" charset="-122"/>
                <a:cs typeface="Calibri" pitchFamily="34" charset="-120"/>
              </a:rPr>
              <a:t>, any old content is discarded first.</a:t>
            </a:r>
          </a:p>
          <a:p>
            <a:endParaRPr lang="en-US" sz="1200" dirty="0"/>
          </a:p>
          <a:p>
            <a:r>
              <a:rPr lang="en-US" sz="1200" dirty="0"/>
              <a:t>Step 2: </a:t>
            </a:r>
            <a:r>
              <a:rPr lang="en-US" sz="1200" dirty="0" err="1">
                <a:solidFill>
                  <a:srgbClr val="5B6B85"/>
                </a:solidFill>
                <a:latin typeface="Courier New" panose="02070309020205020404" pitchFamily="49" charset="0"/>
                <a:ea typeface="Calibri" pitchFamily="34" charset="-122"/>
                <a:cs typeface="Courier New" panose="02070309020205020404" pitchFamily="49" charset="0"/>
              </a:rPr>
              <a:t>outFile</a:t>
            </a:r>
            <a:r>
              <a:rPr lang="en-US" sz="1200" dirty="0">
                <a:solidFill>
                  <a:srgbClr val="5B6B85"/>
                </a:solidFill>
                <a:latin typeface="Courier New" panose="02070309020205020404" pitchFamily="49" charset="0"/>
                <a:ea typeface="Calibri" pitchFamily="34" charset="-122"/>
                <a:cs typeface="Courier New" panose="02070309020205020404" pitchFamily="49" charset="0"/>
              </a:rPr>
              <a:t> &lt;&lt; "Roll No: 101" &lt;&lt; </a:t>
            </a:r>
            <a:r>
              <a:rPr lang="en-US" sz="1200" dirty="0" err="1">
                <a:solidFill>
                  <a:srgbClr val="5B6B85"/>
                </a:solidFill>
                <a:latin typeface="Courier New" panose="02070309020205020404" pitchFamily="49" charset="0"/>
                <a:ea typeface="Calibri" pitchFamily="34" charset="-122"/>
                <a:cs typeface="Courier New" panose="02070309020205020404" pitchFamily="49" charset="0"/>
              </a:rPr>
              <a:t>endl</a:t>
            </a:r>
            <a:r>
              <a:rPr lang="en-US" sz="1200" dirty="0">
                <a:solidFill>
                  <a:srgbClr val="5B6B85"/>
                </a:solidFill>
                <a:latin typeface="Courier New" panose="02070309020205020404" pitchFamily="49" charset="0"/>
                <a:ea typeface="Calibri" pitchFamily="34" charset="-122"/>
                <a:cs typeface="Courier New" panose="02070309020205020404" pitchFamily="49" charset="0"/>
              </a:rPr>
              <a:t>; </a:t>
            </a:r>
            <a:r>
              <a:rPr lang="en-US" sz="1200" dirty="0">
                <a:solidFill>
                  <a:srgbClr val="5B6B85"/>
                </a:solidFill>
                <a:ea typeface="Calibri" pitchFamily="34" charset="-122"/>
                <a:cs typeface="Calibri" pitchFamily="34" charset="-120"/>
              </a:rPr>
              <a:t>sends characters through the stream's insertion operator — identical syntax to </a:t>
            </a:r>
            <a:r>
              <a:rPr lang="en-US" sz="1200" dirty="0" err="1">
                <a:solidFill>
                  <a:srgbClr val="5B6B85"/>
                </a:solidFill>
                <a:ea typeface="Calibri" pitchFamily="34" charset="-122"/>
                <a:cs typeface="Calibri" pitchFamily="34" charset="-120"/>
              </a:rPr>
              <a:t>cout</a:t>
            </a:r>
            <a:r>
              <a:rPr lang="en-US" sz="1200" dirty="0">
                <a:solidFill>
                  <a:srgbClr val="5B6B85"/>
                </a:solidFill>
                <a:ea typeface="Calibri" pitchFamily="34" charset="-122"/>
                <a:cs typeface="Calibri" pitchFamily="34" charset="-120"/>
              </a:rPr>
              <a:t>, different destination.</a:t>
            </a:r>
          </a:p>
          <a:p>
            <a:endParaRPr lang="en-US" sz="1200" dirty="0"/>
          </a:p>
          <a:p>
            <a:r>
              <a:rPr lang="en-US" sz="1200" dirty="0"/>
              <a:t>Step 3:</a:t>
            </a:r>
            <a:r>
              <a:rPr lang="en-US" sz="1200" dirty="0">
                <a:solidFill>
                  <a:srgbClr val="5B6B85"/>
                </a:solidFill>
                <a:ea typeface="Calibri" pitchFamily="34" charset="-122"/>
                <a:cs typeface="Calibri" pitchFamily="34" charset="-120"/>
              </a:rPr>
              <a:t>Flushes the buffer to disk and releases the handle. Skipping this risks losing the last unflushed bytes and can block reopening.</a:t>
            </a:r>
          </a:p>
          <a:p>
            <a:endParaRPr lang="en-US" sz="1200" dirty="0"/>
          </a:p>
          <a:p>
            <a:r>
              <a:rPr lang="en-US" sz="1200" dirty="0"/>
              <a:t>Step 4: </a:t>
            </a:r>
            <a:r>
              <a:rPr lang="en-US" sz="1200" dirty="0">
                <a:solidFill>
                  <a:srgbClr val="5B6B85"/>
                </a:solidFill>
                <a:ea typeface="Calibri" pitchFamily="34" charset="-122"/>
                <a:cs typeface="Calibri" pitchFamily="34" charset="-120"/>
              </a:rPr>
              <a:t>A NEW </a:t>
            </a:r>
            <a:r>
              <a:rPr lang="en-US" sz="1200" dirty="0" err="1">
                <a:solidFill>
                  <a:srgbClr val="5B6B85"/>
                </a:solidFill>
                <a:latin typeface="Courier New" panose="02070309020205020404" pitchFamily="49" charset="0"/>
                <a:cs typeface="Courier New" panose="02070309020205020404" pitchFamily="49" charset="0"/>
              </a:rPr>
              <a:t>ifstream</a:t>
            </a:r>
            <a:r>
              <a:rPr lang="en-US" sz="1200" dirty="0">
                <a:solidFill>
                  <a:srgbClr val="5B6B85"/>
                </a:solidFill>
                <a:ea typeface="Calibri" pitchFamily="34" charset="-122"/>
                <a:cs typeface="Calibri" pitchFamily="34" charset="-120"/>
              </a:rPr>
              <a:t> object opens the same filename with </a:t>
            </a:r>
            <a:r>
              <a:rPr lang="en-US" sz="1200" dirty="0" err="1">
                <a:solidFill>
                  <a:srgbClr val="5B6B85"/>
                </a:solidFill>
                <a:latin typeface="Courier New" panose="02070309020205020404" pitchFamily="49" charset="0"/>
                <a:cs typeface="Courier New" panose="02070309020205020404" pitchFamily="49" charset="0"/>
              </a:rPr>
              <a:t>ios</a:t>
            </a:r>
            <a:r>
              <a:rPr lang="en-US" sz="1200" dirty="0">
                <a:solidFill>
                  <a:srgbClr val="5B6B85"/>
                </a:solidFill>
                <a:latin typeface="Courier New" panose="02070309020205020404" pitchFamily="49" charset="0"/>
                <a:cs typeface="Courier New" panose="02070309020205020404" pitchFamily="49" charset="0"/>
              </a:rPr>
              <a:t>::in</a:t>
            </a:r>
            <a:r>
              <a:rPr lang="en-US" sz="1200" dirty="0">
                <a:solidFill>
                  <a:srgbClr val="5B6B85"/>
                </a:solidFill>
                <a:ea typeface="Calibri" pitchFamily="34" charset="-122"/>
                <a:cs typeface="Calibri" pitchFamily="34" charset="-120"/>
              </a:rPr>
              <a:t>. Two different objects — one only ever writes, one only ever reads.</a:t>
            </a:r>
          </a:p>
          <a:p>
            <a:endParaRPr lang="en-US" sz="1200" dirty="0"/>
          </a:p>
          <a:p>
            <a:r>
              <a:rPr lang="en-US" sz="1200" dirty="0"/>
              <a:t>Step 5: </a:t>
            </a:r>
            <a:r>
              <a:rPr lang="en-US" sz="1200" dirty="0">
                <a:solidFill>
                  <a:srgbClr val="5B6B85"/>
                </a:solidFill>
                <a:ea typeface="Calibri" pitchFamily="34" charset="-122"/>
                <a:cs typeface="Calibri" pitchFamily="34" charset="-120"/>
              </a:rPr>
              <a:t>Reads up to the next '</a:t>
            </a:r>
            <a:r>
              <a:rPr lang="en-US" sz="1200" dirty="0">
                <a:solidFill>
                  <a:srgbClr val="5B6B85"/>
                </a:solidFill>
                <a:latin typeface="Courier New" panose="02070309020205020404" pitchFamily="49" charset="0"/>
                <a:cs typeface="Courier New" panose="02070309020205020404" pitchFamily="49" charset="0"/>
              </a:rPr>
              <a:t>\n</a:t>
            </a:r>
            <a:r>
              <a:rPr lang="en-US" sz="1200" dirty="0">
                <a:solidFill>
                  <a:srgbClr val="5B6B85"/>
                </a:solidFill>
                <a:ea typeface="Calibri" pitchFamily="34" charset="-122"/>
                <a:cs typeface="Calibri" pitchFamily="34" charset="-120"/>
              </a:rPr>
              <a:t>' each call, returns the stream so the while condition becomes false automatically at end-of-file</a:t>
            </a:r>
            <a:endParaRPr lang="en-US" sz="1200" dirty="0"/>
          </a:p>
          <a:p>
            <a:endParaRPr lang="en-US" sz="1200" dirty="0"/>
          </a:p>
        </p:txBody>
      </p:sp>
    </p:spTree>
    <p:extLst>
      <p:ext uri="{BB962C8B-B14F-4D97-AF65-F5344CB8AC3E}">
        <p14:creationId xmlns:p14="http://schemas.microsoft.com/office/powerpoint/2010/main" val="121205210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B588E5B-74C5-8C30-33B7-60DEDFD0CEA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6226B19-DFE7-FFC9-8C0E-44417D475BFD}"/>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11</a:t>
            </a:r>
            <a:endParaRPr lang="en-US" sz="1400" dirty="0"/>
          </a:p>
        </p:txBody>
      </p:sp>
      <p:sp>
        <p:nvSpPr>
          <p:cNvPr id="3" name="Text 1">
            <a:extLst>
              <a:ext uri="{FF2B5EF4-FFF2-40B4-BE49-F238E27FC236}">
                <a16:creationId xmlns:a16="http://schemas.microsoft.com/office/drawing/2014/main" id="{07634B06-723D-0DBC-920B-D2D53D4D3EBF}"/>
              </a:ext>
            </a:extLst>
          </p:cNvPr>
          <p:cNvSpPr/>
          <p:nvPr/>
        </p:nvSpPr>
        <p:spPr>
          <a:xfrm>
            <a:off x="548640" y="731520"/>
            <a:ext cx="11091672" cy="731520"/>
          </a:xfrm>
          <a:prstGeom prst="rect">
            <a:avLst/>
          </a:prstGeom>
          <a:noFill/>
          <a:ln/>
        </p:spPr>
        <p:txBody>
          <a:bodyPr wrap="square" rtlCol="0" anchor="ctr"/>
          <a:lstStyle/>
          <a:p>
            <a:pPr marL="0" indent="0">
              <a:buNone/>
            </a:pPr>
            <a:r>
              <a:rPr lang="en-US" sz="2200" b="1" dirty="0">
                <a:solidFill>
                  <a:srgbClr val="000000"/>
                </a:solidFill>
                <a:latin typeface="Helvetica" pitchFamily="34" charset="0"/>
                <a:ea typeface="Helvetica" pitchFamily="34" charset="-122"/>
                <a:cs typeface="Helvetica" pitchFamily="34" charset="-120"/>
              </a:rPr>
              <a:t>Positioning &amp; Object I/O</a:t>
            </a:r>
            <a:endParaRPr lang="en-US" sz="2200" dirty="0"/>
          </a:p>
        </p:txBody>
      </p:sp>
      <p:sp>
        <p:nvSpPr>
          <p:cNvPr id="4" name="Text 2">
            <a:extLst>
              <a:ext uri="{FF2B5EF4-FFF2-40B4-BE49-F238E27FC236}">
                <a16:creationId xmlns:a16="http://schemas.microsoft.com/office/drawing/2014/main" id="{A1588643-1016-7D49-1A0B-9F7C50333B5B}"/>
              </a:ext>
            </a:extLst>
          </p:cNvPr>
          <p:cNvSpPr/>
          <p:nvPr/>
        </p:nvSpPr>
        <p:spPr>
          <a:xfrm>
            <a:off x="548640" y="1463040"/>
            <a:ext cx="11091672" cy="1649615"/>
          </a:xfrm>
          <a:prstGeom prst="rect">
            <a:avLst/>
          </a:prstGeom>
          <a:noFill/>
          <a:ln/>
        </p:spPr>
        <p:txBody>
          <a:bodyPr wrap="square" rtlCol="0" anchor="t"/>
          <a:lstStyle/>
          <a:p>
            <a:pPr marL="228600" indent="-228600">
              <a:buSzPct val="100000"/>
              <a:buChar char="•"/>
            </a:pPr>
            <a:r>
              <a:rPr lang="en-US" sz="1400" dirty="0">
                <a:solidFill>
                  <a:srgbClr val="000000"/>
                </a:solidFill>
                <a:latin typeface="Courier New" panose="02070309020205020404" pitchFamily="49" charset="0"/>
                <a:ea typeface="Helvetica" pitchFamily="34" charset="-122"/>
                <a:cs typeface="Courier New" panose="02070309020205020404" pitchFamily="49" charset="0"/>
              </a:rPr>
              <a:t>tellg()/tellp() </a:t>
            </a:r>
            <a:r>
              <a:rPr lang="en-US" sz="1400" dirty="0">
                <a:solidFill>
                  <a:srgbClr val="000000"/>
                </a:solidFill>
                <a:ea typeface="Helvetica" pitchFamily="34" charset="-122"/>
                <a:cs typeface="Helvetica" pitchFamily="34" charset="-120"/>
              </a:rPr>
              <a:t>: report current read/write position</a:t>
            </a:r>
            <a:endParaRPr lang="en-US" sz="1400" dirty="0"/>
          </a:p>
          <a:p>
            <a:pPr marL="228600" indent="-228600">
              <a:buSzPct val="100000"/>
              <a:buChar char="•"/>
            </a:pPr>
            <a:r>
              <a:rPr lang="en-US" sz="1400" dirty="0">
                <a:solidFill>
                  <a:srgbClr val="000000"/>
                </a:solidFill>
                <a:latin typeface="Courier New" panose="02070309020205020404" pitchFamily="49" charset="0"/>
                <a:cs typeface="Courier New" panose="02070309020205020404" pitchFamily="49" charset="0"/>
              </a:rPr>
              <a:t>seekg()/seekp()(</a:t>
            </a:r>
            <a:r>
              <a:rPr lang="en-US" sz="1400" dirty="0">
                <a:solidFill>
                  <a:srgbClr val="000000"/>
                </a:solidFill>
                <a:ea typeface="Helvetica" pitchFamily="34" charset="-122"/>
                <a:cs typeface="Helvetica" pitchFamily="34" charset="-120"/>
              </a:rPr>
              <a:t>offset, direction) : move the position; ios::beg / ios::cur / ios::end</a:t>
            </a:r>
            <a:endParaRPr lang="en-US" sz="1400" dirty="0"/>
          </a:p>
          <a:p>
            <a:pPr marL="228600" indent="-228600">
              <a:buSzPct val="100000"/>
              <a:buChar char="•"/>
            </a:pPr>
            <a:r>
              <a:rPr lang="en-US" sz="1400" dirty="0">
                <a:solidFill>
                  <a:srgbClr val="000000"/>
                </a:solidFill>
                <a:latin typeface="Courier New" panose="02070309020205020404" pitchFamily="49" charset="0"/>
                <a:cs typeface="Courier New" panose="02070309020205020404" pitchFamily="49" charset="0"/>
              </a:rPr>
              <a:t>put()/get() </a:t>
            </a:r>
            <a:r>
              <a:rPr lang="en-US" sz="1400" dirty="0">
                <a:solidFill>
                  <a:srgbClr val="000000"/>
                </a:solidFill>
                <a:ea typeface="Helvetica" pitchFamily="34" charset="-122"/>
                <a:cs typeface="Helvetica" pitchFamily="34" charset="-120"/>
              </a:rPr>
              <a:t>: single character I/O</a:t>
            </a:r>
            <a:endParaRPr lang="en-US" sz="1400" dirty="0"/>
          </a:p>
          <a:p>
            <a:pPr marL="228600" indent="-228600">
              <a:buSzPct val="100000"/>
              <a:buChar char="•"/>
            </a:pPr>
            <a:r>
              <a:rPr lang="en-US" sz="1400" dirty="0">
                <a:solidFill>
                  <a:srgbClr val="000000"/>
                </a:solidFill>
                <a:latin typeface="Courier New" panose="02070309020205020404" pitchFamily="49" charset="0"/>
                <a:cs typeface="Courier New" panose="02070309020205020404" pitchFamily="49" charset="0"/>
              </a:rPr>
              <a:t>write()/read() </a:t>
            </a:r>
            <a:r>
              <a:rPr lang="en-US" sz="1400" dirty="0">
                <a:solidFill>
                  <a:srgbClr val="000000"/>
                </a:solidFill>
                <a:ea typeface="Helvetica" pitchFamily="34" charset="-122"/>
                <a:cs typeface="Helvetica" pitchFamily="34" charset="-120"/>
              </a:rPr>
              <a:t>: raw bytes; used to store WHOLE OBJECTS in binary mode</a:t>
            </a:r>
            <a:endParaRPr lang="en-US" sz="1400" dirty="0"/>
          </a:p>
          <a:p>
            <a:pPr marL="228600" indent="-228600">
              <a:buSzPct val="100000"/>
              <a:buChar char="•"/>
            </a:pPr>
            <a:r>
              <a:rPr lang="en-US" sz="1400" dirty="0">
                <a:solidFill>
                  <a:srgbClr val="000000"/>
                </a:solidFill>
                <a:ea typeface="Helvetica" pitchFamily="34" charset="-122"/>
                <a:cs typeface="Helvetica" pitchFamily="34" charset="-120"/>
              </a:rPr>
              <a:t>Only classes with no raw pointers can be safely written/read as whole objects</a:t>
            </a:r>
            <a:endParaRPr lang="en-US" sz="1400" dirty="0"/>
          </a:p>
        </p:txBody>
      </p:sp>
    </p:spTree>
    <p:extLst>
      <p:ext uri="{BB962C8B-B14F-4D97-AF65-F5344CB8AC3E}">
        <p14:creationId xmlns:p14="http://schemas.microsoft.com/office/powerpoint/2010/main" val="48403335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07324" y="858058"/>
            <a:ext cx="5444836" cy="292608"/>
          </a:xfrm>
          <a:prstGeom prst="rect">
            <a:avLst/>
          </a:prstGeom>
          <a:noFill/>
          <a:ln/>
        </p:spPr>
        <p:txBody>
          <a:bodyPr wrap="square" lIns="0" tIns="0" rIns="0" bIns="0" rtlCol="0" anchor="ctr"/>
          <a:lstStyle/>
          <a:p>
            <a:r>
              <a:rPr lang="en-US" sz="2200" b="1" dirty="0">
                <a:solidFill>
                  <a:srgbClr val="000000"/>
                </a:solidFill>
                <a:latin typeface="Helvetica" pitchFamily="34" charset="0"/>
                <a:ea typeface="Helvetica" pitchFamily="34" charset="-122"/>
                <a:cs typeface="Helvetica" pitchFamily="34" charset="-120"/>
              </a:rPr>
              <a:t>File Pointer</a:t>
            </a:r>
            <a:endParaRPr lang="en-US" sz="2200" dirty="0"/>
          </a:p>
        </p:txBody>
      </p:sp>
      <p:sp>
        <p:nvSpPr>
          <p:cNvPr id="9" name="Text 7"/>
          <p:cNvSpPr/>
          <p:nvPr/>
        </p:nvSpPr>
        <p:spPr>
          <a:xfrm>
            <a:off x="7022592" y="1938528"/>
            <a:ext cx="4379976" cy="4114800"/>
          </a:xfrm>
          <a:prstGeom prst="rect">
            <a:avLst/>
          </a:prstGeom>
          <a:noFill/>
          <a:ln/>
        </p:spPr>
        <p:txBody>
          <a:bodyPr wrap="square" lIns="0" tIns="0" rIns="0" bIns="0" rtlCol="0" anchor="t"/>
          <a:lstStyle/>
          <a:p>
            <a:pPr>
              <a:lnSpc>
                <a:spcPct val="103000"/>
              </a:lnSpc>
            </a:pPr>
            <a:endParaRPr lang="en-US" sz="1180" dirty="0"/>
          </a:p>
        </p:txBody>
      </p:sp>
      <p:sp>
        <p:nvSpPr>
          <p:cNvPr id="14" name="Text 0">
            <a:extLst>
              <a:ext uri="{FF2B5EF4-FFF2-40B4-BE49-F238E27FC236}">
                <a16:creationId xmlns:a16="http://schemas.microsoft.com/office/drawing/2014/main" id="{B04D59B3-1114-6117-C2F3-7C6793996D5C}"/>
              </a:ext>
            </a:extLst>
          </p:cNvPr>
          <p:cNvSpPr/>
          <p:nvPr/>
        </p:nvSpPr>
        <p:spPr>
          <a:xfrm>
            <a:off x="407324" y="354399"/>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11</a:t>
            </a:r>
            <a:endParaRPr lang="en-US" sz="1400" dirty="0"/>
          </a:p>
        </p:txBody>
      </p:sp>
      <p:sp>
        <p:nvSpPr>
          <p:cNvPr id="6" name="TextBox 5">
            <a:extLst>
              <a:ext uri="{FF2B5EF4-FFF2-40B4-BE49-F238E27FC236}">
                <a16:creationId xmlns:a16="http://schemas.microsoft.com/office/drawing/2014/main" id="{08D321AB-F103-EFF2-5215-CAC157B08E0F}"/>
              </a:ext>
            </a:extLst>
          </p:cNvPr>
          <p:cNvSpPr txBox="1"/>
          <p:nvPr/>
        </p:nvSpPr>
        <p:spPr>
          <a:xfrm>
            <a:off x="407324" y="1321562"/>
            <a:ext cx="10860751" cy="4893647"/>
          </a:xfrm>
          <a:prstGeom prst="rect">
            <a:avLst/>
          </a:prstGeom>
          <a:noFill/>
        </p:spPr>
        <p:txBody>
          <a:bodyPr wrap="square">
            <a:spAutoFit/>
          </a:bodyPr>
          <a:lstStyle/>
          <a:p>
            <a:pPr>
              <a:buNone/>
            </a:pPr>
            <a:r>
              <a:rPr lang="en-US" sz="1400" dirty="0"/>
              <a:t>Think of a file as a sequence of characters/bytes:</a:t>
            </a:r>
          </a:p>
          <a:p>
            <a:pPr rtl="0">
              <a:buNone/>
            </a:pPr>
            <a:endParaRPr lang="en-US" sz="1400" dirty="0">
              <a:latin typeface="Courier New" panose="02070309020205020404" pitchFamily="49" charset="0"/>
            </a:endParaRPr>
          </a:p>
          <a:p>
            <a:pPr rtl="0">
              <a:buNone/>
            </a:pPr>
            <a:r>
              <a:rPr lang="en-US" sz="1400" dirty="0">
                <a:latin typeface="Courier New" panose="02070309020205020404" pitchFamily="49" charset="0"/>
              </a:rPr>
              <a:t>student.txt</a:t>
            </a:r>
          </a:p>
          <a:p>
            <a:pPr rtl="0">
              <a:buNone/>
            </a:pPr>
            <a:endParaRPr lang="en-US" sz="1400" dirty="0">
              <a:latin typeface="Courier New" panose="02070309020205020404" pitchFamily="49" charset="0"/>
            </a:endParaRPr>
          </a:p>
          <a:p>
            <a:pPr rtl="0">
              <a:buNone/>
            </a:pPr>
            <a:r>
              <a:rPr lang="en-US" sz="1400" dirty="0">
                <a:latin typeface="Courier New" panose="02070309020205020404" pitchFamily="49" charset="0"/>
              </a:rPr>
              <a:t>R  a  m     K  u  m  a  r</a:t>
            </a:r>
          </a:p>
          <a:p>
            <a:pPr rtl="0">
              <a:buNone/>
            </a:pPr>
            <a:r>
              <a:rPr lang="en-US" sz="1400" dirty="0">
                <a:latin typeface="Courier New" panose="02070309020205020404" pitchFamily="49" charset="0"/>
              </a:rPr>
              <a:t>↑</a:t>
            </a:r>
          </a:p>
          <a:p>
            <a:pPr rtl="0">
              <a:buNone/>
            </a:pPr>
            <a:r>
              <a:rPr lang="en-US" sz="1400" dirty="0">
                <a:latin typeface="Courier New" panose="02070309020205020404" pitchFamily="49" charset="0"/>
              </a:rPr>
              <a:t>File Pointer</a:t>
            </a:r>
          </a:p>
          <a:p>
            <a:pPr rtl="0">
              <a:buNone/>
            </a:pPr>
            <a:endParaRPr lang="en-US" sz="1400" dirty="0">
              <a:latin typeface="Courier New" panose="02070309020205020404" pitchFamily="49" charset="0"/>
            </a:endParaRPr>
          </a:p>
          <a:p>
            <a:r>
              <a:rPr lang="en-US" sz="1400" dirty="0"/>
              <a:t>The </a:t>
            </a:r>
            <a:r>
              <a:rPr lang="en-US" sz="1400" b="1" dirty="0"/>
              <a:t>file pointer</a:t>
            </a:r>
            <a:r>
              <a:rPr lang="en-US" sz="1400" dirty="0"/>
              <a:t> indicates the current position from which the next read or write operation will take place.</a:t>
            </a:r>
          </a:p>
          <a:p>
            <a:endParaRPr lang="en-US" sz="1400" dirty="0">
              <a:latin typeface="Courier New" panose="02070309020205020404" pitchFamily="49" charset="0"/>
            </a:endParaRPr>
          </a:p>
          <a:p>
            <a:r>
              <a:rPr lang="en-US" sz="1400" dirty="0"/>
              <a:t>For example:</a:t>
            </a:r>
          </a:p>
          <a:p>
            <a:endParaRPr lang="en-US" sz="1400" dirty="0"/>
          </a:p>
          <a:p>
            <a:r>
              <a:rPr lang="en-US" sz="1400" dirty="0">
                <a:latin typeface="Courier New" panose="02070309020205020404" pitchFamily="49" charset="0"/>
              </a:rPr>
              <a:t>R a m K u m a r</a:t>
            </a:r>
          </a:p>
          <a:p>
            <a:r>
              <a:rPr lang="en-US" sz="1400" dirty="0">
                <a:latin typeface="Courier New" panose="02070309020205020404" pitchFamily="49" charset="0"/>
              </a:rPr>
              <a:t>↑</a:t>
            </a:r>
          </a:p>
          <a:p>
            <a:r>
              <a:rPr lang="en-US" sz="1400" dirty="0">
                <a:latin typeface="Courier New" panose="02070309020205020404" pitchFamily="49" charset="0"/>
              </a:rPr>
              <a:t>0</a:t>
            </a:r>
          </a:p>
          <a:p>
            <a:r>
              <a:rPr lang="en-US" sz="1400" dirty="0"/>
              <a:t>If the pointer moves forward:</a:t>
            </a:r>
          </a:p>
          <a:p>
            <a:endParaRPr lang="en-US" sz="1400" dirty="0"/>
          </a:p>
          <a:p>
            <a:r>
              <a:rPr lang="en-US" sz="1400" dirty="0">
                <a:latin typeface="Courier New" panose="02070309020205020404" pitchFamily="49" charset="0"/>
              </a:rPr>
              <a:t>R a m K u m a r</a:t>
            </a:r>
          </a:p>
          <a:p>
            <a:r>
              <a:rPr lang="en-US" sz="1400" dirty="0">
                <a:latin typeface="Courier New" panose="02070309020205020404" pitchFamily="49" charset="0"/>
              </a:rPr>
              <a:t>      ↑</a:t>
            </a:r>
          </a:p>
          <a:p>
            <a:r>
              <a:rPr lang="en-US" sz="1400" dirty="0">
                <a:latin typeface="Courier New" panose="02070309020205020404" pitchFamily="49" charset="0"/>
              </a:rPr>
              <a:t>      3</a:t>
            </a:r>
          </a:p>
          <a:p>
            <a:r>
              <a:rPr lang="en-US" sz="1400" dirty="0"/>
              <a:t>the next operation starts from position </a:t>
            </a:r>
            <a:r>
              <a:rPr lang="en-US" dirty="0"/>
              <a:t>3</a:t>
            </a:r>
            <a:r>
              <a:rPr lang="en-US" sz="1400" dirty="0"/>
              <a:t>.</a:t>
            </a:r>
          </a:p>
          <a:p>
            <a:endParaRPr lang="en-US" sz="1400" dirty="0">
              <a:latin typeface="Courier New" panose="02070309020205020404" pitchFamily="49" charset="0"/>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75DC1-F554-7E1A-99C0-F15B0695BE6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D2EAA7F-079A-8152-FA20-347761C9E2B9}"/>
              </a:ext>
            </a:extLst>
          </p:cNvPr>
          <p:cNvSpPr/>
          <p:nvPr/>
        </p:nvSpPr>
        <p:spPr>
          <a:xfrm>
            <a:off x="407324" y="858058"/>
            <a:ext cx="5444836" cy="292608"/>
          </a:xfrm>
          <a:prstGeom prst="rect">
            <a:avLst/>
          </a:prstGeom>
          <a:noFill/>
          <a:ln/>
        </p:spPr>
        <p:txBody>
          <a:bodyPr wrap="square" lIns="0" tIns="0" rIns="0" bIns="0" rtlCol="0" anchor="ctr"/>
          <a:lstStyle/>
          <a:p>
            <a:r>
              <a:rPr lang="en-US" sz="2200" b="1" dirty="0">
                <a:solidFill>
                  <a:srgbClr val="000000"/>
                </a:solidFill>
                <a:latin typeface="Helvetica" pitchFamily="34" charset="0"/>
                <a:ea typeface="Helvetica" pitchFamily="34" charset="-122"/>
                <a:cs typeface="Helvetica" pitchFamily="34" charset="-120"/>
              </a:rPr>
              <a:t>File Pointer</a:t>
            </a:r>
            <a:endParaRPr lang="en-US" sz="2200" dirty="0"/>
          </a:p>
        </p:txBody>
      </p:sp>
      <p:sp>
        <p:nvSpPr>
          <p:cNvPr id="4" name="Text 2">
            <a:extLst>
              <a:ext uri="{FF2B5EF4-FFF2-40B4-BE49-F238E27FC236}">
                <a16:creationId xmlns:a16="http://schemas.microsoft.com/office/drawing/2014/main" id="{7E550EFC-974E-B031-3CCF-65BB7B363152}"/>
              </a:ext>
            </a:extLst>
          </p:cNvPr>
          <p:cNvSpPr/>
          <p:nvPr/>
        </p:nvSpPr>
        <p:spPr>
          <a:xfrm>
            <a:off x="695360" y="1456873"/>
            <a:ext cx="10391740" cy="1280922"/>
          </a:xfrm>
          <a:prstGeom prst="rect">
            <a:avLst/>
          </a:prstGeom>
          <a:noFill/>
          <a:ln/>
        </p:spPr>
        <p:txBody>
          <a:bodyPr wrap="square" lIns="0" tIns="0" rIns="0" bIns="0" rtlCol="0" anchor="t"/>
          <a:lstStyle/>
          <a:p>
            <a:pPr marL="285750" indent="-285750">
              <a:buSzPct val="100000"/>
              <a:buFont typeface="Arial" panose="020B0604020202020204" pitchFamily="34" charset="0"/>
              <a:buChar char="•"/>
            </a:pPr>
            <a:r>
              <a:rPr lang="en-US" sz="1600" dirty="0"/>
              <a:t>Every stream keeps two internal position markers</a:t>
            </a:r>
          </a:p>
          <a:p>
            <a:pPr marL="742950" lvl="1" indent="-285750">
              <a:buSzPct val="100000"/>
              <a:buFont typeface="Courier New" panose="02070309020205020404" pitchFamily="49" charset="0"/>
              <a:buChar char="o"/>
            </a:pPr>
            <a:r>
              <a:rPr lang="en-US" sz="1600" dirty="0"/>
              <a:t>'get' pointer (for reading) </a:t>
            </a:r>
          </a:p>
          <a:p>
            <a:pPr marL="742950" lvl="1" indent="-285750">
              <a:buSzPct val="100000"/>
              <a:buFont typeface="Courier New" panose="02070309020205020404" pitchFamily="49" charset="0"/>
              <a:buChar char="o"/>
            </a:pPr>
            <a:r>
              <a:rPr lang="en-US" sz="1600" dirty="0"/>
              <a:t>'put' pointer (for writing)</a:t>
            </a:r>
          </a:p>
          <a:p>
            <a:pPr lvl="1">
              <a:buSzPct val="100000"/>
            </a:pPr>
            <a:endParaRPr lang="en-US" sz="1600" dirty="0"/>
          </a:p>
          <a:p>
            <a:pPr marL="285750" indent="-285750">
              <a:spcAft>
                <a:spcPts val="1000"/>
              </a:spcAft>
              <a:buSzPct val="100000"/>
              <a:buFont typeface="Arial" panose="020B0604020202020204" pitchFamily="34" charset="0"/>
              <a:buChar char="•"/>
            </a:pPr>
            <a:r>
              <a:rPr lang="en-US" sz="1600" dirty="0"/>
              <a:t>For C++ file handling, there are four functions:</a:t>
            </a:r>
          </a:p>
          <a:p>
            <a:pPr marL="285750" indent="-285750">
              <a:spcAft>
                <a:spcPts val="1000"/>
              </a:spcAft>
              <a:buSzPct val="100000"/>
              <a:buFont typeface="Arial" panose="020B0604020202020204" pitchFamily="34" charset="0"/>
              <a:buChar char="•"/>
            </a:pPr>
            <a:endParaRPr lang="en-US" sz="1600" dirty="0"/>
          </a:p>
        </p:txBody>
      </p:sp>
      <p:sp>
        <p:nvSpPr>
          <p:cNvPr id="9" name="Text 7">
            <a:extLst>
              <a:ext uri="{FF2B5EF4-FFF2-40B4-BE49-F238E27FC236}">
                <a16:creationId xmlns:a16="http://schemas.microsoft.com/office/drawing/2014/main" id="{E7760241-DF28-D3D7-A287-D07759E87A6B}"/>
              </a:ext>
            </a:extLst>
          </p:cNvPr>
          <p:cNvSpPr/>
          <p:nvPr/>
        </p:nvSpPr>
        <p:spPr>
          <a:xfrm>
            <a:off x="7022592" y="1938528"/>
            <a:ext cx="4379976" cy="4114800"/>
          </a:xfrm>
          <a:prstGeom prst="rect">
            <a:avLst/>
          </a:prstGeom>
          <a:noFill/>
          <a:ln/>
        </p:spPr>
        <p:txBody>
          <a:bodyPr wrap="square" lIns="0" tIns="0" rIns="0" bIns="0" rtlCol="0" anchor="t"/>
          <a:lstStyle/>
          <a:p>
            <a:pPr>
              <a:lnSpc>
                <a:spcPct val="103000"/>
              </a:lnSpc>
            </a:pPr>
            <a:endParaRPr lang="en-US" sz="1180" dirty="0"/>
          </a:p>
        </p:txBody>
      </p:sp>
      <p:sp>
        <p:nvSpPr>
          <p:cNvPr id="14" name="Text 0">
            <a:extLst>
              <a:ext uri="{FF2B5EF4-FFF2-40B4-BE49-F238E27FC236}">
                <a16:creationId xmlns:a16="http://schemas.microsoft.com/office/drawing/2014/main" id="{5F51841E-F2D6-FB8E-0B0B-DCEFE76BC2F9}"/>
              </a:ext>
            </a:extLst>
          </p:cNvPr>
          <p:cNvSpPr/>
          <p:nvPr/>
        </p:nvSpPr>
        <p:spPr>
          <a:xfrm>
            <a:off x="407324" y="354399"/>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11</a:t>
            </a:r>
            <a:endParaRPr lang="en-US" sz="1400" dirty="0"/>
          </a:p>
        </p:txBody>
      </p:sp>
      <p:graphicFrame>
        <p:nvGraphicFramePr>
          <p:cNvPr id="3" name="Table 2">
            <a:extLst>
              <a:ext uri="{FF2B5EF4-FFF2-40B4-BE49-F238E27FC236}">
                <a16:creationId xmlns:a16="http://schemas.microsoft.com/office/drawing/2014/main" id="{6BA94B59-93A8-02C6-6946-707237AFC64A}"/>
              </a:ext>
            </a:extLst>
          </p:cNvPr>
          <p:cNvGraphicFramePr>
            <a:graphicFrameLocks noGrp="1"/>
          </p:cNvGraphicFramePr>
          <p:nvPr>
            <p:extLst>
              <p:ext uri="{D42A27DB-BD31-4B8C-83A1-F6EECF244321}">
                <p14:modId xmlns:p14="http://schemas.microsoft.com/office/powerpoint/2010/main" val="1869338602"/>
              </p:ext>
            </p:extLst>
          </p:nvPr>
        </p:nvGraphicFramePr>
        <p:xfrm>
          <a:off x="695360" y="2841740"/>
          <a:ext cx="10515600" cy="1524000"/>
        </p:xfrm>
        <a:graphic>
          <a:graphicData uri="http://schemas.openxmlformats.org/drawingml/2006/table">
            <a:tbl>
              <a:tblPr>
                <a:tableStyleId>{EB344D84-9AFB-497E-A393-DC336BA19D2E}</a:tableStyleId>
              </a:tblPr>
              <a:tblGrid>
                <a:gridCol w="5257800">
                  <a:extLst>
                    <a:ext uri="{9D8B030D-6E8A-4147-A177-3AD203B41FA5}">
                      <a16:colId xmlns:a16="http://schemas.microsoft.com/office/drawing/2014/main" val="959576906"/>
                    </a:ext>
                  </a:extLst>
                </a:gridCol>
                <a:gridCol w="5257800">
                  <a:extLst>
                    <a:ext uri="{9D8B030D-6E8A-4147-A177-3AD203B41FA5}">
                      <a16:colId xmlns:a16="http://schemas.microsoft.com/office/drawing/2014/main" val="1484318053"/>
                    </a:ext>
                  </a:extLst>
                </a:gridCol>
              </a:tblGrid>
              <a:tr h="0">
                <a:tc>
                  <a:txBody>
                    <a:bodyPr/>
                    <a:lstStyle/>
                    <a:p>
                      <a:pPr>
                        <a:buNone/>
                      </a:pPr>
                      <a:r>
                        <a:rPr lang="en-US" sz="1400" b="1" dirty="0"/>
                        <a:t>Function</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buNone/>
                      </a:pPr>
                      <a:r>
                        <a:rPr lang="en-US" sz="1400" b="1" dirty="0"/>
                        <a:t>Purpose</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4416051"/>
                  </a:ext>
                </a:extLst>
              </a:tr>
              <a:tr h="0">
                <a:tc>
                  <a:txBody>
                    <a:bodyPr/>
                    <a:lstStyle/>
                    <a:p>
                      <a:pPr>
                        <a:buNone/>
                      </a:pPr>
                      <a:r>
                        <a:rPr lang="en-US" sz="1400"/>
                        <a:t>seekg()</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Move the </a:t>
                      </a:r>
                      <a:r>
                        <a:rPr lang="en-US" sz="1400" b="1" dirty="0"/>
                        <a:t>get/read pointer</a:t>
                      </a:r>
                      <a:endParaRPr lang="en-US" sz="1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2080767"/>
                  </a:ext>
                </a:extLst>
              </a:tr>
              <a:tr h="0">
                <a:tc>
                  <a:txBody>
                    <a:bodyPr/>
                    <a:lstStyle/>
                    <a:p>
                      <a:pPr>
                        <a:buNone/>
                      </a:pPr>
                      <a:r>
                        <a:rPr lang="en-US" sz="1400" dirty="0" err="1"/>
                        <a:t>seekp</a:t>
                      </a:r>
                      <a:r>
                        <a:rPr lang="en-US" sz="1400" dirty="0"/>
                        <a:t>()</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t>Move the </a:t>
                      </a:r>
                      <a:r>
                        <a:rPr lang="en-US" sz="1400" b="1"/>
                        <a:t>put/write pointer</a:t>
                      </a:r>
                      <a:endParaRPr lang="en-US" sz="140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2749323"/>
                  </a:ext>
                </a:extLst>
              </a:tr>
              <a:tr h="0">
                <a:tc>
                  <a:txBody>
                    <a:bodyPr/>
                    <a:lstStyle/>
                    <a:p>
                      <a:pPr>
                        <a:buNone/>
                      </a:pPr>
                      <a:r>
                        <a:rPr lang="en-US" sz="1400"/>
                        <a:t>tellg()</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t>Find the current </a:t>
                      </a:r>
                      <a:r>
                        <a:rPr lang="en-US" sz="1400" b="1"/>
                        <a:t>get/read position</a:t>
                      </a:r>
                      <a:endParaRPr lang="en-US" sz="140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1160521"/>
                  </a:ext>
                </a:extLst>
              </a:tr>
              <a:tr h="0">
                <a:tc>
                  <a:txBody>
                    <a:bodyPr/>
                    <a:lstStyle/>
                    <a:p>
                      <a:pPr>
                        <a:buNone/>
                      </a:pPr>
                      <a:r>
                        <a:rPr lang="en-US" sz="1400"/>
                        <a:t>tellp()</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buNone/>
                      </a:pPr>
                      <a:r>
                        <a:rPr lang="en-US" sz="1400" dirty="0"/>
                        <a:t>Find the current </a:t>
                      </a:r>
                      <a:r>
                        <a:rPr lang="en-US" sz="1400" b="1" dirty="0"/>
                        <a:t>put/write position</a:t>
                      </a:r>
                      <a:endParaRPr lang="en-US" sz="14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70468608"/>
                  </a:ext>
                </a:extLst>
              </a:tr>
            </a:tbl>
          </a:graphicData>
        </a:graphic>
      </p:graphicFrame>
      <p:sp>
        <p:nvSpPr>
          <p:cNvPr id="7" name="TextBox 6">
            <a:extLst>
              <a:ext uri="{FF2B5EF4-FFF2-40B4-BE49-F238E27FC236}">
                <a16:creationId xmlns:a16="http://schemas.microsoft.com/office/drawing/2014/main" id="{79F9E080-4EAD-7581-8980-0BE79974B71E}"/>
              </a:ext>
            </a:extLst>
          </p:cNvPr>
          <p:cNvSpPr txBox="1"/>
          <p:nvPr/>
        </p:nvSpPr>
        <p:spPr>
          <a:xfrm>
            <a:off x="695360" y="4611231"/>
            <a:ext cx="10631216" cy="2246769"/>
          </a:xfrm>
          <a:prstGeom prst="rect">
            <a:avLst/>
          </a:prstGeom>
          <a:noFill/>
        </p:spPr>
        <p:txBody>
          <a:bodyPr wrap="square">
            <a:spAutoFit/>
          </a:bodyPr>
          <a:lstStyle/>
          <a:p>
            <a:pPr>
              <a:buNone/>
            </a:pPr>
            <a:r>
              <a:rPr lang="en-US" sz="1400" dirty="0"/>
              <a:t>The easiest way to remember:</a:t>
            </a:r>
          </a:p>
          <a:p>
            <a:pPr rtl="0">
              <a:buNone/>
            </a:pPr>
            <a:r>
              <a:rPr lang="en-US" sz="1400" dirty="0">
                <a:latin typeface="Courier New" panose="02070309020205020404" pitchFamily="49" charset="0"/>
              </a:rPr>
              <a:t>g → get → reading</a:t>
            </a:r>
          </a:p>
          <a:p>
            <a:pPr rtl="0">
              <a:buNone/>
            </a:pPr>
            <a:r>
              <a:rPr lang="en-US" sz="1400" dirty="0">
                <a:latin typeface="Courier New" panose="02070309020205020404" pitchFamily="49" charset="0"/>
              </a:rPr>
              <a:t>p → put → writing</a:t>
            </a:r>
          </a:p>
          <a:p>
            <a:pPr>
              <a:buNone/>
            </a:pPr>
            <a:endParaRPr lang="en-US" sz="1400" dirty="0"/>
          </a:p>
          <a:p>
            <a:pPr>
              <a:buNone/>
            </a:pPr>
            <a:r>
              <a:rPr lang="en-US" sz="1400" dirty="0"/>
              <a:t>Therefore:</a:t>
            </a:r>
          </a:p>
          <a:p>
            <a:pPr rtl="0">
              <a:buNone/>
            </a:pPr>
            <a:r>
              <a:rPr lang="en-US" sz="1400" dirty="0" err="1">
                <a:latin typeface="Courier New" panose="02070309020205020404" pitchFamily="49" charset="0"/>
              </a:rPr>
              <a:t>seekg</a:t>
            </a:r>
            <a:r>
              <a:rPr lang="en-US" sz="1400" dirty="0">
                <a:latin typeface="Courier New" panose="02070309020205020404" pitchFamily="49" charset="0"/>
              </a:rPr>
              <a:t>() → move read pointer</a:t>
            </a:r>
          </a:p>
          <a:p>
            <a:pPr rtl="0">
              <a:buNone/>
            </a:pPr>
            <a:r>
              <a:rPr lang="en-US" sz="1400" dirty="0" err="1">
                <a:latin typeface="Courier New" panose="02070309020205020404" pitchFamily="49" charset="0"/>
              </a:rPr>
              <a:t>seekp</a:t>
            </a:r>
            <a:r>
              <a:rPr lang="en-US" sz="1400" dirty="0">
                <a:latin typeface="Courier New" panose="02070309020205020404" pitchFamily="49" charset="0"/>
              </a:rPr>
              <a:t>() → move write pointer</a:t>
            </a:r>
          </a:p>
          <a:p>
            <a:pPr rtl="0">
              <a:buNone/>
            </a:pPr>
            <a:endParaRPr lang="en-US" sz="1400" dirty="0">
              <a:latin typeface="Courier New" panose="02070309020205020404" pitchFamily="49" charset="0"/>
            </a:endParaRPr>
          </a:p>
          <a:p>
            <a:pPr rtl="0">
              <a:buNone/>
            </a:pPr>
            <a:r>
              <a:rPr lang="en-US" sz="1400" dirty="0" err="1">
                <a:latin typeface="Courier New" panose="02070309020205020404" pitchFamily="49" charset="0"/>
              </a:rPr>
              <a:t>tellg</a:t>
            </a:r>
            <a:r>
              <a:rPr lang="en-US" sz="1400" dirty="0">
                <a:latin typeface="Courier New" panose="02070309020205020404" pitchFamily="49" charset="0"/>
              </a:rPr>
              <a:t>() → tell read position</a:t>
            </a:r>
          </a:p>
          <a:p>
            <a:pPr rtl="0">
              <a:buNone/>
            </a:pPr>
            <a:r>
              <a:rPr lang="en-US" sz="1400" dirty="0" err="1">
                <a:latin typeface="Courier New" panose="02070309020205020404" pitchFamily="49" charset="0"/>
              </a:rPr>
              <a:t>tellp</a:t>
            </a:r>
            <a:r>
              <a:rPr lang="en-US" sz="1400" dirty="0">
                <a:latin typeface="Courier New" panose="02070309020205020404" pitchFamily="49" charset="0"/>
              </a:rPr>
              <a:t>() → tell write position</a:t>
            </a:r>
          </a:p>
        </p:txBody>
      </p:sp>
    </p:spTree>
    <p:extLst>
      <p:ext uri="{BB962C8B-B14F-4D97-AF65-F5344CB8AC3E}">
        <p14:creationId xmlns:p14="http://schemas.microsoft.com/office/powerpoint/2010/main" val="184839058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F593F-9A3D-34A8-5B01-DA978647A7D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DCB856C-25F5-C92C-4029-708D84DB136C}"/>
              </a:ext>
            </a:extLst>
          </p:cNvPr>
          <p:cNvSpPr/>
          <p:nvPr/>
        </p:nvSpPr>
        <p:spPr>
          <a:xfrm>
            <a:off x="407324" y="858058"/>
            <a:ext cx="5444836" cy="292608"/>
          </a:xfrm>
          <a:prstGeom prst="rect">
            <a:avLst/>
          </a:prstGeom>
          <a:noFill/>
          <a:ln/>
        </p:spPr>
        <p:txBody>
          <a:bodyPr wrap="square" lIns="0" tIns="0" rIns="0" bIns="0" rtlCol="0" anchor="ctr"/>
          <a:lstStyle/>
          <a:p>
            <a:r>
              <a:rPr lang="en-US" sz="2200" b="1" dirty="0">
                <a:solidFill>
                  <a:srgbClr val="000000"/>
                </a:solidFill>
                <a:latin typeface="Helvetica" pitchFamily="34" charset="0"/>
                <a:ea typeface="Helvetica" pitchFamily="34" charset="-122"/>
                <a:cs typeface="Helvetica" pitchFamily="34" charset="-120"/>
              </a:rPr>
              <a:t>Positioning the File Pointer</a:t>
            </a:r>
            <a:endParaRPr lang="en-US" sz="2200" dirty="0"/>
          </a:p>
        </p:txBody>
      </p:sp>
      <p:sp>
        <p:nvSpPr>
          <p:cNvPr id="3" name="Text 1">
            <a:extLst>
              <a:ext uri="{FF2B5EF4-FFF2-40B4-BE49-F238E27FC236}">
                <a16:creationId xmlns:a16="http://schemas.microsoft.com/office/drawing/2014/main" id="{54F6C3A2-9967-CA83-9E76-F4DDEE72F6BB}"/>
              </a:ext>
            </a:extLst>
          </p:cNvPr>
          <p:cNvSpPr/>
          <p:nvPr/>
        </p:nvSpPr>
        <p:spPr>
          <a:xfrm>
            <a:off x="378230" y="1222282"/>
            <a:ext cx="5303520" cy="498325"/>
          </a:xfrm>
          <a:prstGeom prst="rect">
            <a:avLst/>
          </a:prstGeom>
          <a:noFill/>
          <a:ln/>
        </p:spPr>
        <p:txBody>
          <a:bodyPr wrap="square" lIns="0" tIns="0" rIns="0" bIns="0" rtlCol="0" anchor="ctr"/>
          <a:lstStyle/>
          <a:p>
            <a:r>
              <a:rPr lang="en-US" b="1" dirty="0" err="1">
                <a:solidFill>
                  <a:srgbClr val="16233B"/>
                </a:solidFill>
                <a:latin typeface="Cambria" pitchFamily="34" charset="0"/>
                <a:ea typeface="Cambria" pitchFamily="34" charset="-122"/>
              </a:rPr>
              <a:t>tellg</a:t>
            </a:r>
            <a:r>
              <a:rPr lang="en-US" b="1" dirty="0">
                <a:solidFill>
                  <a:srgbClr val="16233B"/>
                </a:solidFill>
                <a:latin typeface="Cambria" pitchFamily="34" charset="0"/>
                <a:ea typeface="Cambria" pitchFamily="34" charset="-122"/>
              </a:rPr>
              <a:t>() - Find Read Position</a:t>
            </a:r>
          </a:p>
        </p:txBody>
      </p:sp>
      <p:sp>
        <p:nvSpPr>
          <p:cNvPr id="4" name="Text 2">
            <a:extLst>
              <a:ext uri="{FF2B5EF4-FFF2-40B4-BE49-F238E27FC236}">
                <a16:creationId xmlns:a16="http://schemas.microsoft.com/office/drawing/2014/main" id="{8321E0A2-172D-232E-15ED-F9209C536ABA}"/>
              </a:ext>
            </a:extLst>
          </p:cNvPr>
          <p:cNvSpPr/>
          <p:nvPr/>
        </p:nvSpPr>
        <p:spPr>
          <a:xfrm>
            <a:off x="407324" y="1938528"/>
            <a:ext cx="10746450" cy="416051"/>
          </a:xfrm>
          <a:prstGeom prst="rect">
            <a:avLst/>
          </a:prstGeom>
          <a:noFill/>
          <a:ln/>
        </p:spPr>
        <p:txBody>
          <a:bodyPr wrap="square" lIns="0" tIns="0" rIns="0" bIns="0" rtlCol="0" anchor="t"/>
          <a:lstStyle/>
          <a:p>
            <a:pPr marL="228594" indent="-228594">
              <a:spcAft>
                <a:spcPts val="1000"/>
              </a:spcAft>
              <a:buSzPct val="100000"/>
              <a:buChar char="•"/>
            </a:pPr>
            <a:r>
              <a:rPr lang="en-US" sz="1400" b="1" dirty="0">
                <a:solidFill>
                  <a:srgbClr val="16233B"/>
                </a:solidFill>
                <a:latin typeface="Courier New" panose="02070309020205020404" pitchFamily="49" charset="0"/>
                <a:ea typeface="Calibri" pitchFamily="34" charset="-122"/>
                <a:cs typeface="Courier New" panose="02070309020205020404" pitchFamily="49" charset="0"/>
              </a:rPr>
              <a:t>tellg() </a:t>
            </a:r>
            <a:r>
              <a:rPr lang="en-US" sz="1400" dirty="0"/>
              <a:t>tells us the current position of the </a:t>
            </a:r>
            <a:r>
              <a:rPr lang="en-US" sz="1400" b="1" dirty="0"/>
              <a:t>get pointer</a:t>
            </a:r>
            <a:r>
              <a:rPr lang="en-US" sz="1400" dirty="0"/>
              <a:t>.</a:t>
            </a:r>
            <a:endParaRPr lang="en-US" sz="1400" dirty="0">
              <a:solidFill>
                <a:srgbClr val="16233B"/>
              </a:solidFill>
              <a:ea typeface="Calibri" pitchFamily="34" charset="-122"/>
              <a:cs typeface="Calibri" pitchFamily="34" charset="-120"/>
            </a:endParaRPr>
          </a:p>
        </p:txBody>
      </p:sp>
      <p:sp>
        <p:nvSpPr>
          <p:cNvPr id="11" name="Text 2">
            <a:extLst>
              <a:ext uri="{FF2B5EF4-FFF2-40B4-BE49-F238E27FC236}">
                <a16:creationId xmlns:a16="http://schemas.microsoft.com/office/drawing/2014/main" id="{890B23C5-9FE0-0308-9B31-BCF0E63D9AA4}"/>
              </a:ext>
            </a:extLst>
          </p:cNvPr>
          <p:cNvSpPr/>
          <p:nvPr/>
        </p:nvSpPr>
        <p:spPr>
          <a:xfrm>
            <a:off x="407325" y="2354580"/>
            <a:ext cx="10746450" cy="1258678"/>
          </a:xfrm>
          <a:prstGeom prst="rect">
            <a:avLst/>
          </a:prstGeom>
          <a:solidFill>
            <a:srgbClr val="F2F2F2"/>
          </a:solidFill>
          <a:ln w="9525">
            <a:solidFill>
              <a:srgbClr val="000000"/>
            </a:solidFill>
          </a:ln>
        </p:spPr>
        <p:txBody>
          <a:bodyPr wrap="square" lIns="152400" tIns="152400" rIns="152400" bIns="152400" rtlCol="0" anchor="t">
            <a:spAutoFit/>
          </a:bodyPr>
          <a:lstStyle/>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int main() {</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lvl="1">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ifstream</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 file("student.txt"); </a:t>
            </a:r>
          </a:p>
          <a:p>
            <a:pPr lvl="1">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cout</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 &lt;&lt; "Current position: " &lt;&lt;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file.tellg</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p>
          <a:p>
            <a:pPr lvl="1">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file.close</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a:t>
            </a:r>
          </a:p>
          <a:p>
            <a:pPr lvl="2">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p:txBody>
      </p:sp>
      <p:sp>
        <p:nvSpPr>
          <p:cNvPr id="14" name="Text 0">
            <a:extLst>
              <a:ext uri="{FF2B5EF4-FFF2-40B4-BE49-F238E27FC236}">
                <a16:creationId xmlns:a16="http://schemas.microsoft.com/office/drawing/2014/main" id="{23574F2F-E2BB-4D21-04FC-188B54BB4595}"/>
              </a:ext>
            </a:extLst>
          </p:cNvPr>
          <p:cNvSpPr/>
          <p:nvPr/>
        </p:nvSpPr>
        <p:spPr>
          <a:xfrm>
            <a:off x="407324" y="354399"/>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11</a:t>
            </a:r>
            <a:endParaRPr lang="en-US" sz="1400" dirty="0"/>
          </a:p>
        </p:txBody>
      </p:sp>
      <p:sp>
        <p:nvSpPr>
          <p:cNvPr id="6" name="Text 1">
            <a:extLst>
              <a:ext uri="{FF2B5EF4-FFF2-40B4-BE49-F238E27FC236}">
                <a16:creationId xmlns:a16="http://schemas.microsoft.com/office/drawing/2014/main" id="{49D0CB57-0D8F-8DFB-00EE-04CFB2706F78}"/>
              </a:ext>
            </a:extLst>
          </p:cNvPr>
          <p:cNvSpPr/>
          <p:nvPr/>
        </p:nvSpPr>
        <p:spPr>
          <a:xfrm>
            <a:off x="407324" y="4064165"/>
            <a:ext cx="5303520" cy="498325"/>
          </a:xfrm>
          <a:prstGeom prst="rect">
            <a:avLst/>
          </a:prstGeom>
          <a:noFill/>
          <a:ln/>
        </p:spPr>
        <p:txBody>
          <a:bodyPr wrap="square" lIns="0" tIns="0" rIns="0" bIns="0" rtlCol="0" anchor="ctr"/>
          <a:lstStyle/>
          <a:p>
            <a:r>
              <a:rPr lang="en-US" b="1" dirty="0" err="1">
                <a:solidFill>
                  <a:srgbClr val="16233B"/>
                </a:solidFill>
                <a:latin typeface="Cambria" pitchFamily="34" charset="0"/>
                <a:ea typeface="Cambria" pitchFamily="34" charset="-122"/>
              </a:rPr>
              <a:t>tellp</a:t>
            </a:r>
            <a:r>
              <a:rPr lang="en-US" b="1" dirty="0">
                <a:solidFill>
                  <a:srgbClr val="16233B"/>
                </a:solidFill>
                <a:latin typeface="Cambria" pitchFamily="34" charset="0"/>
                <a:ea typeface="Cambria" pitchFamily="34" charset="-122"/>
              </a:rPr>
              <a:t>() - Find Write Position</a:t>
            </a:r>
          </a:p>
        </p:txBody>
      </p:sp>
      <p:sp>
        <p:nvSpPr>
          <p:cNvPr id="8" name="Text 2">
            <a:extLst>
              <a:ext uri="{FF2B5EF4-FFF2-40B4-BE49-F238E27FC236}">
                <a16:creationId xmlns:a16="http://schemas.microsoft.com/office/drawing/2014/main" id="{F453115A-6ABC-67E8-1638-619B651E6C72}"/>
              </a:ext>
            </a:extLst>
          </p:cNvPr>
          <p:cNvSpPr/>
          <p:nvPr/>
        </p:nvSpPr>
        <p:spPr>
          <a:xfrm>
            <a:off x="478935" y="4780412"/>
            <a:ext cx="10746450" cy="434440"/>
          </a:xfrm>
          <a:prstGeom prst="rect">
            <a:avLst/>
          </a:prstGeom>
          <a:noFill/>
          <a:ln/>
        </p:spPr>
        <p:txBody>
          <a:bodyPr wrap="square" lIns="0" tIns="0" rIns="0" bIns="0" rtlCol="0" anchor="t"/>
          <a:lstStyle/>
          <a:p>
            <a:pPr marL="228594" indent="-228594">
              <a:spcAft>
                <a:spcPts val="1000"/>
              </a:spcAft>
              <a:buSzPct val="100000"/>
              <a:buChar char="•"/>
            </a:pPr>
            <a:r>
              <a:rPr lang="en-US" sz="1400" b="1" dirty="0" err="1">
                <a:solidFill>
                  <a:srgbClr val="16233B"/>
                </a:solidFill>
                <a:latin typeface="Courier New" panose="02070309020205020404" pitchFamily="49" charset="0"/>
                <a:cs typeface="Courier New" panose="02070309020205020404" pitchFamily="49" charset="0"/>
              </a:rPr>
              <a:t>tellp</a:t>
            </a:r>
            <a:r>
              <a:rPr lang="en-US" sz="1400" b="1" dirty="0">
                <a:solidFill>
                  <a:srgbClr val="16233B"/>
                </a:solidFill>
                <a:latin typeface="Courier New" panose="02070309020205020404" pitchFamily="49" charset="0"/>
                <a:cs typeface="Courier New" panose="02070309020205020404" pitchFamily="49" charset="0"/>
              </a:rPr>
              <a:t>() </a:t>
            </a:r>
            <a:r>
              <a:rPr lang="en-US" sz="1400" dirty="0"/>
              <a:t>tells us the current position of the </a:t>
            </a:r>
            <a:r>
              <a:rPr lang="en-US" sz="1400" b="1" dirty="0"/>
              <a:t>put pointer</a:t>
            </a:r>
            <a:endParaRPr lang="en-US" sz="1400" dirty="0">
              <a:solidFill>
                <a:srgbClr val="16233B"/>
              </a:solidFill>
              <a:ea typeface="Calibri" pitchFamily="34" charset="-122"/>
              <a:cs typeface="Calibri" pitchFamily="34" charset="-120"/>
            </a:endParaRPr>
          </a:p>
        </p:txBody>
      </p:sp>
      <p:sp>
        <p:nvSpPr>
          <p:cNvPr id="12" name="Text 2">
            <a:extLst>
              <a:ext uri="{FF2B5EF4-FFF2-40B4-BE49-F238E27FC236}">
                <a16:creationId xmlns:a16="http://schemas.microsoft.com/office/drawing/2014/main" id="{FE23A52B-13CA-4668-80DB-C02BB2C947A2}"/>
              </a:ext>
            </a:extLst>
          </p:cNvPr>
          <p:cNvSpPr/>
          <p:nvPr/>
        </p:nvSpPr>
        <p:spPr>
          <a:xfrm>
            <a:off x="478935" y="5214852"/>
            <a:ext cx="10746450" cy="1258678"/>
          </a:xfrm>
          <a:prstGeom prst="rect">
            <a:avLst/>
          </a:prstGeom>
          <a:solidFill>
            <a:srgbClr val="F2F2F2"/>
          </a:solidFill>
          <a:ln w="9525">
            <a:solidFill>
              <a:srgbClr val="000000"/>
            </a:solidFill>
          </a:ln>
        </p:spPr>
        <p:txBody>
          <a:bodyPr wrap="square" lIns="152400" tIns="152400" rIns="152400" bIns="152400" rtlCol="0" anchor="t">
            <a:spAutoFit/>
          </a:bodyPr>
          <a:lstStyle/>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int main() {</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lvl="1">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ofstream</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 file("data.txt"); </a:t>
            </a:r>
          </a:p>
          <a:p>
            <a:pPr lvl="1">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cout</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 &lt;&lt; "Position: " &lt;&lt;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file.tellp</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p>
          <a:p>
            <a:pPr lvl="1">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file.close</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a:t>
            </a:r>
          </a:p>
          <a:p>
            <a:pPr lvl="2">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69038137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1C745-4523-9EB5-521E-C58C87DA4D7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A363EE9-E722-0135-096F-25413A70BE38}"/>
              </a:ext>
            </a:extLst>
          </p:cNvPr>
          <p:cNvSpPr/>
          <p:nvPr/>
        </p:nvSpPr>
        <p:spPr>
          <a:xfrm>
            <a:off x="407324" y="858058"/>
            <a:ext cx="5444836" cy="292608"/>
          </a:xfrm>
          <a:prstGeom prst="rect">
            <a:avLst/>
          </a:prstGeom>
          <a:noFill/>
          <a:ln/>
        </p:spPr>
        <p:txBody>
          <a:bodyPr wrap="square" lIns="0" tIns="0" rIns="0" bIns="0" rtlCol="0" anchor="ctr"/>
          <a:lstStyle/>
          <a:p>
            <a:r>
              <a:rPr lang="en-US" sz="2200" b="1" dirty="0">
                <a:solidFill>
                  <a:srgbClr val="000000"/>
                </a:solidFill>
                <a:latin typeface="Helvetica" pitchFamily="34" charset="0"/>
                <a:ea typeface="Helvetica" pitchFamily="34" charset="-122"/>
                <a:cs typeface="Helvetica" pitchFamily="34" charset="-120"/>
              </a:rPr>
              <a:t>Positioning the File Pointer</a:t>
            </a:r>
            <a:endParaRPr lang="en-US" sz="2200" dirty="0"/>
          </a:p>
        </p:txBody>
      </p:sp>
      <p:sp>
        <p:nvSpPr>
          <p:cNvPr id="3" name="Text 1">
            <a:extLst>
              <a:ext uri="{FF2B5EF4-FFF2-40B4-BE49-F238E27FC236}">
                <a16:creationId xmlns:a16="http://schemas.microsoft.com/office/drawing/2014/main" id="{4B00CFF1-915B-C9E9-48C4-4C7305157D00}"/>
              </a:ext>
            </a:extLst>
          </p:cNvPr>
          <p:cNvSpPr/>
          <p:nvPr/>
        </p:nvSpPr>
        <p:spPr>
          <a:xfrm>
            <a:off x="407324" y="1082825"/>
            <a:ext cx="5303520" cy="777240"/>
          </a:xfrm>
          <a:prstGeom prst="rect">
            <a:avLst/>
          </a:prstGeom>
          <a:noFill/>
          <a:ln/>
        </p:spPr>
        <p:txBody>
          <a:bodyPr wrap="square" lIns="0" tIns="0" rIns="0" bIns="0" rtlCol="0" anchor="ctr"/>
          <a:lstStyle/>
          <a:p>
            <a:r>
              <a:rPr lang="en-US" b="1" dirty="0">
                <a:solidFill>
                  <a:srgbClr val="16233B"/>
                </a:solidFill>
                <a:latin typeface="Cambria" pitchFamily="34" charset="0"/>
                <a:ea typeface="Cambria" pitchFamily="34" charset="-122"/>
              </a:rPr>
              <a:t>tellg() </a:t>
            </a:r>
            <a:r>
              <a:rPr lang="en-US" b="1" dirty="0">
                <a:solidFill>
                  <a:srgbClr val="16233B"/>
                </a:solidFill>
                <a:latin typeface="Cambria" pitchFamily="34" charset="0"/>
                <a:ea typeface="Cambria" pitchFamily="34" charset="-122"/>
                <a:cs typeface="Cambria" pitchFamily="34" charset="-120"/>
              </a:rPr>
              <a:t>and</a:t>
            </a:r>
            <a:r>
              <a:rPr lang="en-US" sz="3200" b="1" dirty="0">
                <a:solidFill>
                  <a:srgbClr val="16233B"/>
                </a:solidFill>
                <a:latin typeface="Cambria" pitchFamily="34" charset="0"/>
                <a:ea typeface="Cambria" pitchFamily="34" charset="-122"/>
                <a:cs typeface="Cambria" pitchFamily="34" charset="-120"/>
              </a:rPr>
              <a:t> </a:t>
            </a:r>
            <a:r>
              <a:rPr lang="en-US" b="1" dirty="0">
                <a:solidFill>
                  <a:srgbClr val="16233B"/>
                </a:solidFill>
                <a:latin typeface="Cambria" pitchFamily="34" charset="0"/>
                <a:ea typeface="Cambria" pitchFamily="34" charset="-122"/>
              </a:rPr>
              <a:t>tellp()</a:t>
            </a:r>
          </a:p>
        </p:txBody>
      </p:sp>
      <p:sp>
        <p:nvSpPr>
          <p:cNvPr id="4" name="Text 2">
            <a:extLst>
              <a:ext uri="{FF2B5EF4-FFF2-40B4-BE49-F238E27FC236}">
                <a16:creationId xmlns:a16="http://schemas.microsoft.com/office/drawing/2014/main" id="{3D0436CA-982F-CE38-D04D-018B2577F5EC}"/>
              </a:ext>
            </a:extLst>
          </p:cNvPr>
          <p:cNvSpPr/>
          <p:nvPr/>
        </p:nvSpPr>
        <p:spPr>
          <a:xfrm>
            <a:off x="407324" y="1938528"/>
            <a:ext cx="5104015" cy="3248337"/>
          </a:xfrm>
          <a:prstGeom prst="rect">
            <a:avLst/>
          </a:prstGeom>
          <a:noFill/>
          <a:ln/>
        </p:spPr>
        <p:txBody>
          <a:bodyPr wrap="square" lIns="0" tIns="0" rIns="0" bIns="0" rtlCol="0" anchor="t"/>
          <a:lstStyle/>
          <a:p>
            <a:pPr marL="228594" indent="-228594">
              <a:spcAft>
                <a:spcPts val="1000"/>
              </a:spcAft>
              <a:buSzPct val="100000"/>
              <a:buChar char="•"/>
            </a:pPr>
            <a:r>
              <a:rPr lang="en-US" sz="1400" dirty="0">
                <a:solidFill>
                  <a:srgbClr val="16233B"/>
                </a:solidFill>
                <a:ea typeface="Calibri" pitchFamily="34" charset="-122"/>
                <a:cs typeface="Calibri" pitchFamily="34" charset="-120"/>
              </a:rPr>
              <a:t>tellg() returns the CURRENT position of the GET (read) pointer, as an integer byte offset from the start of the file.</a:t>
            </a:r>
            <a:endParaRPr lang="en-US" sz="1400" dirty="0"/>
          </a:p>
          <a:p>
            <a:pPr marL="228594" indent="-228594">
              <a:spcAft>
                <a:spcPts val="1000"/>
              </a:spcAft>
              <a:buSzPct val="100000"/>
              <a:buChar char="•"/>
            </a:pPr>
            <a:r>
              <a:rPr lang="en-US" sz="1400" dirty="0">
                <a:solidFill>
                  <a:srgbClr val="16233B"/>
                </a:solidFill>
                <a:ea typeface="Calibri" pitchFamily="34" charset="-122"/>
                <a:cs typeface="Calibri" pitchFamily="34" charset="-120"/>
              </a:rPr>
              <a:t>tellp() returns the CURRENT position of the PUT (write) pointer, in the same way.</a:t>
            </a:r>
            <a:endParaRPr lang="en-US" sz="1400" dirty="0"/>
          </a:p>
          <a:p>
            <a:pPr marL="228594" indent="-228594">
              <a:spcAft>
                <a:spcPts val="1000"/>
              </a:spcAft>
              <a:buSzPct val="100000"/>
              <a:buChar char="•"/>
            </a:pPr>
            <a:r>
              <a:rPr lang="en-US" sz="1400" dirty="0">
                <a:solidFill>
                  <a:srgbClr val="16233B"/>
                </a:solidFill>
                <a:ea typeface="Calibri" pitchFamily="34" charset="-122"/>
                <a:cs typeface="Calibri" pitchFamily="34" charset="-120"/>
              </a:rPr>
              <a:t>Both take no arguments and return a value of type streampos (safely convertible to a plain integer for display or arithmetic).</a:t>
            </a:r>
            <a:endParaRPr lang="en-US" sz="1400" dirty="0"/>
          </a:p>
          <a:p>
            <a:pPr marL="228594" indent="-228594">
              <a:spcAft>
                <a:spcPts val="1000"/>
              </a:spcAft>
              <a:buSzPct val="100000"/>
              <a:buChar char="•"/>
            </a:pPr>
            <a:r>
              <a:rPr lang="en-US" sz="1400" b="1" dirty="0">
                <a:solidFill>
                  <a:srgbClr val="16233B"/>
                </a:solidFill>
                <a:ea typeface="Calibri" pitchFamily="34" charset="-122"/>
                <a:cs typeface="Calibri" pitchFamily="34" charset="-120"/>
              </a:rPr>
              <a:t>Typical uses:</a:t>
            </a:r>
            <a:endParaRPr lang="en-US" sz="1400" dirty="0"/>
          </a:p>
          <a:p>
            <a:pPr marL="863578" lvl="1" indent="-431789">
              <a:spcAft>
                <a:spcPts val="1000"/>
              </a:spcAft>
              <a:buSzPct val="100000"/>
              <a:buChar char="–"/>
            </a:pPr>
            <a:r>
              <a:rPr lang="en-US" sz="1400" dirty="0">
                <a:solidFill>
                  <a:srgbClr val="16233B"/>
                </a:solidFill>
                <a:ea typeface="Calibri" pitchFamily="34" charset="-122"/>
                <a:cs typeface="Calibri" pitchFamily="34" charset="-120"/>
              </a:rPr>
              <a:t>measuring the total size of a file — seekg(0, ios::end) then tellg()</a:t>
            </a:r>
            <a:endParaRPr lang="en-US" sz="1400" dirty="0"/>
          </a:p>
          <a:p>
            <a:pPr marL="863578" lvl="1" indent="-431789">
              <a:spcAft>
                <a:spcPts val="1000"/>
              </a:spcAft>
              <a:buSzPct val="100000"/>
              <a:buChar char="–"/>
            </a:pPr>
            <a:r>
              <a:rPr lang="en-US" sz="1400" dirty="0">
                <a:solidFill>
                  <a:srgbClr val="16233B"/>
                </a:solidFill>
                <a:ea typeface="Calibri" pitchFamily="34" charset="-122"/>
                <a:cs typeface="Calibri" pitchFamily="34" charset="-120"/>
              </a:rPr>
              <a:t>remembering a position to seekg() back to later</a:t>
            </a:r>
            <a:endParaRPr lang="en-US" sz="1400" dirty="0"/>
          </a:p>
          <a:p>
            <a:pPr marL="863578" lvl="1" indent="-431789">
              <a:spcAft>
                <a:spcPts val="1000"/>
              </a:spcAft>
              <a:buSzPct val="100000"/>
              <a:buChar char="–"/>
            </a:pPr>
            <a:r>
              <a:rPr lang="en-US" sz="1400" dirty="0">
                <a:solidFill>
                  <a:srgbClr val="16233B"/>
                </a:solidFill>
                <a:ea typeface="Calibri" pitchFamily="34" charset="-122"/>
                <a:cs typeface="Calibri" pitchFamily="34" charset="-120"/>
              </a:rPr>
              <a:t>confirming how many bytes were just written, via tellp()</a:t>
            </a:r>
            <a:endParaRPr lang="en-US" sz="1400" dirty="0"/>
          </a:p>
        </p:txBody>
      </p:sp>
      <p:sp>
        <p:nvSpPr>
          <p:cNvPr id="9" name="Text 7">
            <a:extLst>
              <a:ext uri="{FF2B5EF4-FFF2-40B4-BE49-F238E27FC236}">
                <a16:creationId xmlns:a16="http://schemas.microsoft.com/office/drawing/2014/main" id="{9826E969-DDDD-0E81-DF9F-A82C71CA73BE}"/>
              </a:ext>
            </a:extLst>
          </p:cNvPr>
          <p:cNvSpPr/>
          <p:nvPr/>
        </p:nvSpPr>
        <p:spPr>
          <a:xfrm>
            <a:off x="7022592" y="1938528"/>
            <a:ext cx="4379976" cy="4114800"/>
          </a:xfrm>
          <a:prstGeom prst="rect">
            <a:avLst/>
          </a:prstGeom>
          <a:noFill/>
          <a:ln/>
        </p:spPr>
        <p:txBody>
          <a:bodyPr wrap="square" lIns="0" tIns="0" rIns="0" bIns="0" rtlCol="0" anchor="t"/>
          <a:lstStyle/>
          <a:p>
            <a:pPr>
              <a:lnSpc>
                <a:spcPct val="103000"/>
              </a:lnSpc>
            </a:pPr>
            <a:endParaRPr lang="en-US" sz="1180" dirty="0"/>
          </a:p>
        </p:txBody>
      </p:sp>
      <p:sp>
        <p:nvSpPr>
          <p:cNvPr id="11" name="Text 2">
            <a:extLst>
              <a:ext uri="{FF2B5EF4-FFF2-40B4-BE49-F238E27FC236}">
                <a16:creationId xmlns:a16="http://schemas.microsoft.com/office/drawing/2014/main" id="{2C53647C-AB69-4202-FB8E-1129BD8580FD}"/>
              </a:ext>
            </a:extLst>
          </p:cNvPr>
          <p:cNvSpPr/>
          <p:nvPr/>
        </p:nvSpPr>
        <p:spPr>
          <a:xfrm>
            <a:off x="5662816" y="-1276"/>
            <a:ext cx="6529184" cy="6858000"/>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000" dirty="0">
                <a:solidFill>
                  <a:schemeClr val="tx1">
                    <a:lumMod val="65000"/>
                    <a:lumOff val="35000"/>
                  </a:schemeClr>
                </a:solidFill>
                <a:latin typeface="Courier New" panose="02070309020205020404" pitchFamily="49" charset="0"/>
                <a:cs typeface="Courier New" panose="02070309020205020404" pitchFamily="49" charset="0"/>
              </a:rPr>
              <a:t>int main() {</a:t>
            </a: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000" dirty="0" err="1">
                <a:solidFill>
                  <a:schemeClr val="tx1">
                    <a:lumMod val="65000"/>
                    <a:lumOff val="35000"/>
                  </a:schemeClr>
                </a:solidFill>
                <a:latin typeface="Courier New" panose="02070309020205020404" pitchFamily="49" charset="0"/>
                <a:cs typeface="Courier New" panose="02070309020205020404" pitchFamily="49" charset="0"/>
              </a:rPr>
              <a:t>fstream</a:t>
            </a:r>
            <a:r>
              <a:rPr lang="en-US" sz="1000" dirty="0">
                <a:solidFill>
                  <a:schemeClr val="tx1">
                    <a:lumMod val="65000"/>
                    <a:lumOff val="35000"/>
                  </a:schemeClr>
                </a:solidFill>
                <a:latin typeface="Courier New" panose="02070309020205020404" pitchFamily="49" charset="0"/>
                <a:cs typeface="Courier New" panose="02070309020205020404" pitchFamily="49" charset="0"/>
              </a:rPr>
              <a:t> file;</a:t>
            </a:r>
          </a:p>
          <a:p>
            <a:br>
              <a:rPr lang="en-US" sz="1000" dirty="0">
                <a:solidFill>
                  <a:schemeClr val="tx1">
                    <a:lumMod val="65000"/>
                    <a:lumOff val="35000"/>
                  </a:schemeClr>
                </a:solidFill>
                <a:latin typeface="Courier New" panose="02070309020205020404" pitchFamily="49" charset="0"/>
                <a:cs typeface="Courier New" panose="02070309020205020404" pitchFamily="49" charset="0"/>
              </a:rPr>
            </a:br>
            <a:endParaRPr lang="en-US" sz="1000" dirty="0">
              <a:solidFill>
                <a:schemeClr val="tx1">
                  <a:lumMod val="65000"/>
                  <a:lumOff val="35000"/>
                </a:schemeClr>
              </a:solidFill>
              <a:latin typeface="Courier New" panose="02070309020205020404" pitchFamily="49" charset="0"/>
              <a:cs typeface="Courier New" panose="02070309020205020404" pitchFamily="49" charset="0"/>
            </a:endParaRP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//open file sample_TP.txt in and Write mode</a:t>
            </a: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000" dirty="0" err="1">
                <a:solidFill>
                  <a:schemeClr val="tx1">
                    <a:lumMod val="65000"/>
                    <a:lumOff val="35000"/>
                  </a:schemeClr>
                </a:solidFill>
                <a:latin typeface="Courier New" panose="02070309020205020404" pitchFamily="49" charset="0"/>
                <a:cs typeface="Courier New" panose="02070309020205020404" pitchFamily="49" charset="0"/>
              </a:rPr>
              <a:t>file.open</a:t>
            </a:r>
            <a:r>
              <a:rPr lang="en-US" sz="1000" dirty="0">
                <a:solidFill>
                  <a:schemeClr val="tx1">
                    <a:lumMod val="65000"/>
                    <a:lumOff val="35000"/>
                  </a:schemeClr>
                </a:solidFill>
                <a:latin typeface="Courier New" panose="02070309020205020404" pitchFamily="49" charset="0"/>
                <a:cs typeface="Courier New" panose="02070309020205020404" pitchFamily="49" charset="0"/>
              </a:rPr>
              <a:t>("sample_TP.txt",</a:t>
            </a:r>
            <a:r>
              <a:rPr lang="en-US" sz="1000" dirty="0" err="1">
                <a:solidFill>
                  <a:schemeClr val="tx1">
                    <a:lumMod val="65000"/>
                    <a:lumOff val="35000"/>
                  </a:schemeClr>
                </a:solidFill>
                <a:latin typeface="Courier New" panose="02070309020205020404" pitchFamily="49" charset="0"/>
                <a:cs typeface="Courier New" panose="02070309020205020404" pitchFamily="49" charset="0"/>
              </a:rPr>
              <a:t>ios</a:t>
            </a:r>
            <a:r>
              <a:rPr lang="en-US" sz="1000" dirty="0">
                <a:solidFill>
                  <a:schemeClr val="tx1">
                    <a:lumMod val="65000"/>
                    <a:lumOff val="35000"/>
                  </a:schemeClr>
                </a:solidFill>
                <a:latin typeface="Courier New" panose="02070309020205020404" pitchFamily="49" charset="0"/>
                <a:cs typeface="Courier New" panose="02070309020205020404" pitchFamily="49" charset="0"/>
              </a:rPr>
              <a:t>::out);</a:t>
            </a:r>
          </a:p>
          <a:p>
            <a:br>
              <a:rPr lang="en-US" sz="1000" dirty="0">
                <a:solidFill>
                  <a:schemeClr val="tx1">
                    <a:lumMod val="65000"/>
                    <a:lumOff val="35000"/>
                  </a:schemeClr>
                </a:solidFill>
                <a:latin typeface="Courier New" panose="02070309020205020404" pitchFamily="49" charset="0"/>
                <a:cs typeface="Courier New" panose="02070309020205020404" pitchFamily="49" charset="0"/>
              </a:rPr>
            </a:br>
            <a:endParaRPr lang="en-US" sz="1000" dirty="0">
              <a:solidFill>
                <a:schemeClr val="tx1">
                  <a:lumMod val="65000"/>
                  <a:lumOff val="35000"/>
                </a:schemeClr>
              </a:solidFill>
              <a:latin typeface="Courier New" panose="02070309020205020404" pitchFamily="49" charset="0"/>
              <a:cs typeface="Courier New" panose="02070309020205020404" pitchFamily="49" charset="0"/>
            </a:endParaRP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if(!file){</a:t>
            </a: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000" dirty="0" err="1">
                <a:solidFill>
                  <a:schemeClr val="tx1">
                    <a:lumMod val="65000"/>
                    <a:lumOff val="35000"/>
                  </a:schemeClr>
                </a:solidFill>
                <a:latin typeface="Courier New" panose="02070309020205020404" pitchFamily="49" charset="0"/>
                <a:cs typeface="Courier New" panose="02070309020205020404" pitchFamily="49" charset="0"/>
              </a:rPr>
              <a:t>cout</a:t>
            </a:r>
            <a:r>
              <a:rPr lang="en-US" sz="1000" dirty="0">
                <a:solidFill>
                  <a:schemeClr val="tx1">
                    <a:lumMod val="65000"/>
                    <a:lumOff val="35000"/>
                  </a:schemeClr>
                </a:solidFill>
                <a:latin typeface="Courier New" panose="02070309020205020404" pitchFamily="49" charset="0"/>
                <a:cs typeface="Courier New" panose="02070309020205020404" pitchFamily="49" charset="0"/>
              </a:rPr>
              <a:t>&lt;&lt;"Error in creating file!!!";</a:t>
            </a: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return 0;</a:t>
            </a: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a:t>
            </a:r>
          </a:p>
          <a:p>
            <a:br>
              <a:rPr lang="en-US" sz="1000" dirty="0">
                <a:solidFill>
                  <a:schemeClr val="tx1">
                    <a:lumMod val="65000"/>
                    <a:lumOff val="35000"/>
                  </a:schemeClr>
                </a:solidFill>
                <a:latin typeface="Courier New" panose="02070309020205020404" pitchFamily="49" charset="0"/>
                <a:cs typeface="Courier New" panose="02070309020205020404" pitchFamily="49" charset="0"/>
              </a:rPr>
            </a:br>
            <a:endParaRPr lang="en-US" sz="1000" dirty="0">
              <a:solidFill>
                <a:schemeClr val="tx1">
                  <a:lumMod val="65000"/>
                  <a:lumOff val="35000"/>
                </a:schemeClr>
              </a:solidFill>
              <a:latin typeface="Courier New" panose="02070309020205020404" pitchFamily="49" charset="0"/>
              <a:cs typeface="Courier New" panose="02070309020205020404" pitchFamily="49" charset="0"/>
            </a:endParaRP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//write A to Z</a:t>
            </a: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file&lt;&lt;"ABCDEFGHIJKLMNOPQRSTUVWXYZ";</a:t>
            </a: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a:t>
            </a: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//print the position</a:t>
            </a: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000" dirty="0" err="1">
                <a:solidFill>
                  <a:schemeClr val="tx1">
                    <a:lumMod val="65000"/>
                    <a:lumOff val="35000"/>
                  </a:schemeClr>
                </a:solidFill>
                <a:latin typeface="Courier New" panose="02070309020205020404" pitchFamily="49" charset="0"/>
                <a:cs typeface="Courier New" panose="02070309020205020404" pitchFamily="49" charset="0"/>
              </a:rPr>
              <a:t>cout</a:t>
            </a:r>
            <a:r>
              <a:rPr lang="en-US" sz="1000" dirty="0">
                <a:solidFill>
                  <a:schemeClr val="tx1">
                    <a:lumMod val="65000"/>
                    <a:lumOff val="35000"/>
                  </a:schemeClr>
                </a:solidFill>
                <a:latin typeface="Courier New" panose="02070309020205020404" pitchFamily="49" charset="0"/>
                <a:cs typeface="Courier New" panose="02070309020205020404" pitchFamily="49" charset="0"/>
              </a:rPr>
              <a:t>&lt;&lt;"Current position is: "&lt;&lt;</a:t>
            </a:r>
            <a:r>
              <a:rPr lang="en-US" sz="1000" dirty="0" err="1">
                <a:solidFill>
                  <a:schemeClr val="tx1">
                    <a:lumMod val="65000"/>
                    <a:lumOff val="35000"/>
                  </a:schemeClr>
                </a:solidFill>
                <a:latin typeface="Courier New" panose="02070309020205020404" pitchFamily="49" charset="0"/>
                <a:cs typeface="Courier New" panose="02070309020205020404" pitchFamily="49" charset="0"/>
              </a:rPr>
              <a:t>file.tellp</a:t>
            </a:r>
            <a:r>
              <a:rPr lang="en-US" sz="1000" dirty="0">
                <a:solidFill>
                  <a:schemeClr val="tx1">
                    <a:lumMod val="65000"/>
                    <a:lumOff val="35000"/>
                  </a:schemeClr>
                </a:solidFill>
                <a:latin typeface="Courier New" panose="02070309020205020404" pitchFamily="49" charset="0"/>
                <a:cs typeface="Courier New" panose="02070309020205020404" pitchFamily="49" charset="0"/>
              </a:rPr>
              <a:t>()&lt;&lt;</a:t>
            </a:r>
            <a:r>
              <a:rPr lang="en-US" sz="1000" dirty="0" err="1">
                <a:solidFill>
                  <a:schemeClr val="tx1">
                    <a:lumMod val="65000"/>
                    <a:lumOff val="35000"/>
                  </a:schemeClr>
                </a:solidFill>
                <a:latin typeface="Courier New" panose="02070309020205020404" pitchFamily="49" charset="0"/>
                <a:cs typeface="Courier New" panose="02070309020205020404" pitchFamily="49" charset="0"/>
              </a:rPr>
              <a:t>endl</a:t>
            </a:r>
            <a:r>
              <a:rPr lang="en-US" sz="1000" dirty="0">
                <a:solidFill>
                  <a:schemeClr val="tx1">
                    <a:lumMod val="65000"/>
                    <a:lumOff val="35000"/>
                  </a:schemeClr>
                </a:solidFill>
                <a:latin typeface="Courier New" panose="02070309020205020404" pitchFamily="49" charset="0"/>
                <a:cs typeface="Courier New" panose="02070309020205020404" pitchFamily="49" charset="0"/>
              </a:rPr>
              <a:t>;</a:t>
            </a: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000" dirty="0" err="1">
                <a:solidFill>
                  <a:schemeClr val="tx1">
                    <a:lumMod val="65000"/>
                    <a:lumOff val="35000"/>
                  </a:schemeClr>
                </a:solidFill>
                <a:latin typeface="Courier New" panose="02070309020205020404" pitchFamily="49" charset="0"/>
                <a:cs typeface="Courier New" panose="02070309020205020404" pitchFamily="49" charset="0"/>
              </a:rPr>
              <a:t>file.close</a:t>
            </a:r>
            <a:r>
              <a:rPr lang="en-US" sz="1000" dirty="0">
                <a:solidFill>
                  <a:schemeClr val="tx1">
                    <a:lumMod val="65000"/>
                    <a:lumOff val="35000"/>
                  </a:schemeClr>
                </a:solidFill>
                <a:latin typeface="Courier New" panose="02070309020205020404" pitchFamily="49" charset="0"/>
                <a:cs typeface="Courier New" panose="02070309020205020404" pitchFamily="49" charset="0"/>
              </a:rPr>
              <a:t>();</a:t>
            </a:r>
          </a:p>
          <a:p>
            <a:br>
              <a:rPr lang="en-US" sz="1000" dirty="0">
                <a:solidFill>
                  <a:schemeClr val="tx1">
                    <a:lumMod val="65000"/>
                    <a:lumOff val="35000"/>
                  </a:schemeClr>
                </a:solidFill>
                <a:latin typeface="Courier New" panose="02070309020205020404" pitchFamily="49" charset="0"/>
                <a:cs typeface="Courier New" panose="02070309020205020404" pitchFamily="49" charset="0"/>
              </a:rPr>
            </a:br>
            <a:endParaRPr lang="en-US" sz="1000" dirty="0">
              <a:solidFill>
                <a:schemeClr val="tx1">
                  <a:lumMod val="65000"/>
                  <a:lumOff val="35000"/>
                </a:schemeClr>
              </a:solidFill>
              <a:latin typeface="Courier New" panose="02070309020205020404" pitchFamily="49" charset="0"/>
              <a:cs typeface="Courier New" panose="02070309020205020404" pitchFamily="49" charset="0"/>
            </a:endParaRP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//Again open file in read mode</a:t>
            </a: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000" dirty="0" err="1">
                <a:solidFill>
                  <a:schemeClr val="tx1">
                    <a:lumMod val="65000"/>
                    <a:lumOff val="35000"/>
                  </a:schemeClr>
                </a:solidFill>
                <a:latin typeface="Courier New" panose="02070309020205020404" pitchFamily="49" charset="0"/>
                <a:cs typeface="Courier New" panose="02070309020205020404" pitchFamily="49" charset="0"/>
              </a:rPr>
              <a:t>file.open</a:t>
            </a:r>
            <a:r>
              <a:rPr lang="en-US" sz="1000" dirty="0">
                <a:solidFill>
                  <a:schemeClr val="tx1">
                    <a:lumMod val="65000"/>
                    <a:lumOff val="35000"/>
                  </a:schemeClr>
                </a:solidFill>
                <a:latin typeface="Courier New" panose="02070309020205020404" pitchFamily="49" charset="0"/>
                <a:cs typeface="Courier New" panose="02070309020205020404" pitchFamily="49" charset="0"/>
              </a:rPr>
              <a:t>("sample_TP.txt",</a:t>
            </a:r>
            <a:r>
              <a:rPr lang="en-US" sz="1000" dirty="0" err="1">
                <a:solidFill>
                  <a:schemeClr val="tx1">
                    <a:lumMod val="65000"/>
                    <a:lumOff val="35000"/>
                  </a:schemeClr>
                </a:solidFill>
                <a:latin typeface="Courier New" panose="02070309020205020404" pitchFamily="49" charset="0"/>
                <a:cs typeface="Courier New" panose="02070309020205020404" pitchFamily="49" charset="0"/>
              </a:rPr>
              <a:t>ios</a:t>
            </a:r>
            <a:r>
              <a:rPr lang="en-US" sz="1000" dirty="0">
                <a:solidFill>
                  <a:schemeClr val="tx1">
                    <a:lumMod val="65000"/>
                    <a:lumOff val="35000"/>
                  </a:schemeClr>
                </a:solidFill>
                <a:latin typeface="Courier New" panose="02070309020205020404" pitchFamily="49" charset="0"/>
                <a:cs typeface="Courier New" panose="02070309020205020404" pitchFamily="49" charset="0"/>
              </a:rPr>
              <a:t>::in);</a:t>
            </a: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if(!file){</a:t>
            </a: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000" dirty="0" err="1">
                <a:solidFill>
                  <a:schemeClr val="tx1">
                    <a:lumMod val="65000"/>
                    <a:lumOff val="35000"/>
                  </a:schemeClr>
                </a:solidFill>
                <a:latin typeface="Courier New" panose="02070309020205020404" pitchFamily="49" charset="0"/>
                <a:cs typeface="Courier New" panose="02070309020205020404" pitchFamily="49" charset="0"/>
              </a:rPr>
              <a:t>cout</a:t>
            </a:r>
            <a:r>
              <a:rPr lang="en-US" sz="1000" dirty="0">
                <a:solidFill>
                  <a:schemeClr val="tx1">
                    <a:lumMod val="65000"/>
                    <a:lumOff val="35000"/>
                  </a:schemeClr>
                </a:solidFill>
                <a:latin typeface="Courier New" panose="02070309020205020404" pitchFamily="49" charset="0"/>
                <a:cs typeface="Courier New" panose="02070309020205020404" pitchFamily="49" charset="0"/>
              </a:rPr>
              <a:t>&lt;&lt;"Error in opening file!!!";</a:t>
            </a: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return 0;</a:t>
            </a: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a:t>
            </a: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000" dirty="0" err="1">
                <a:solidFill>
                  <a:schemeClr val="tx1">
                    <a:lumMod val="65000"/>
                    <a:lumOff val="35000"/>
                  </a:schemeClr>
                </a:solidFill>
                <a:latin typeface="Courier New" panose="02070309020205020404" pitchFamily="49" charset="0"/>
                <a:cs typeface="Courier New" panose="02070309020205020404" pitchFamily="49" charset="0"/>
              </a:rPr>
              <a:t>cout</a:t>
            </a:r>
            <a:r>
              <a:rPr lang="en-US" sz="1000" dirty="0">
                <a:solidFill>
                  <a:schemeClr val="tx1">
                    <a:lumMod val="65000"/>
                    <a:lumOff val="35000"/>
                  </a:schemeClr>
                </a:solidFill>
                <a:latin typeface="Courier New" panose="02070309020205020404" pitchFamily="49" charset="0"/>
                <a:cs typeface="Courier New" panose="02070309020205020404" pitchFamily="49" charset="0"/>
              </a:rPr>
              <a:t>&lt;&lt;"After opening file position is: "&lt;&lt;</a:t>
            </a:r>
            <a:r>
              <a:rPr lang="en-US" sz="1000" dirty="0" err="1">
                <a:solidFill>
                  <a:schemeClr val="tx1">
                    <a:lumMod val="65000"/>
                    <a:lumOff val="35000"/>
                  </a:schemeClr>
                </a:solidFill>
                <a:latin typeface="Courier New" panose="02070309020205020404" pitchFamily="49" charset="0"/>
                <a:cs typeface="Courier New" panose="02070309020205020404" pitchFamily="49" charset="0"/>
              </a:rPr>
              <a:t>file.tellg</a:t>
            </a:r>
            <a:r>
              <a:rPr lang="en-US" sz="1000" dirty="0">
                <a:solidFill>
                  <a:schemeClr val="tx1">
                    <a:lumMod val="65000"/>
                    <a:lumOff val="35000"/>
                  </a:schemeClr>
                </a:solidFill>
                <a:latin typeface="Courier New" panose="02070309020205020404" pitchFamily="49" charset="0"/>
                <a:cs typeface="Courier New" panose="02070309020205020404" pitchFamily="49" charset="0"/>
              </a:rPr>
              <a:t>()&lt;&lt;</a:t>
            </a:r>
            <a:r>
              <a:rPr lang="en-US" sz="1000" dirty="0" err="1">
                <a:solidFill>
                  <a:schemeClr val="tx1">
                    <a:lumMod val="65000"/>
                    <a:lumOff val="35000"/>
                  </a:schemeClr>
                </a:solidFill>
                <a:latin typeface="Courier New" panose="02070309020205020404" pitchFamily="49" charset="0"/>
                <a:cs typeface="Courier New" panose="02070309020205020404" pitchFamily="49" charset="0"/>
              </a:rPr>
              <a:t>endl</a:t>
            </a:r>
            <a:r>
              <a:rPr lang="en-US" sz="1000" dirty="0">
                <a:solidFill>
                  <a:schemeClr val="tx1">
                    <a:lumMod val="65000"/>
                    <a:lumOff val="35000"/>
                  </a:schemeClr>
                </a:solidFill>
                <a:latin typeface="Courier New" panose="02070309020205020404" pitchFamily="49" charset="0"/>
                <a:cs typeface="Courier New" panose="02070309020205020404" pitchFamily="49" charset="0"/>
              </a:rPr>
              <a:t>;</a:t>
            </a: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a:t>
            </a: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//read characters </a:t>
            </a:r>
            <a:r>
              <a:rPr lang="en-US" sz="1000" dirty="0" err="1">
                <a:solidFill>
                  <a:schemeClr val="tx1">
                    <a:lumMod val="65000"/>
                    <a:lumOff val="35000"/>
                  </a:schemeClr>
                </a:solidFill>
                <a:latin typeface="Courier New" panose="02070309020205020404" pitchFamily="49" charset="0"/>
                <a:cs typeface="Courier New" panose="02070309020205020404" pitchFamily="49" charset="0"/>
              </a:rPr>
              <a:t>untill</a:t>
            </a:r>
            <a:r>
              <a:rPr lang="en-US" sz="1000" dirty="0">
                <a:solidFill>
                  <a:schemeClr val="tx1">
                    <a:lumMod val="65000"/>
                    <a:lumOff val="35000"/>
                  </a:schemeClr>
                </a:solidFill>
                <a:latin typeface="Courier New" panose="02070309020205020404" pitchFamily="49" charset="0"/>
                <a:cs typeface="Courier New" panose="02070309020205020404" pitchFamily="49" charset="0"/>
              </a:rPr>
              <a:t> end of file is not found</a:t>
            </a: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char ch;</a:t>
            </a: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while(!</a:t>
            </a:r>
            <a:r>
              <a:rPr lang="en-US" sz="1000" dirty="0" err="1">
                <a:solidFill>
                  <a:schemeClr val="tx1">
                    <a:lumMod val="65000"/>
                    <a:lumOff val="35000"/>
                  </a:schemeClr>
                </a:solidFill>
                <a:latin typeface="Courier New" panose="02070309020205020404" pitchFamily="49" charset="0"/>
                <a:cs typeface="Courier New" panose="02070309020205020404" pitchFamily="49" charset="0"/>
              </a:rPr>
              <a:t>file.eof</a:t>
            </a:r>
            <a:r>
              <a:rPr lang="en-US" sz="1000" dirty="0">
                <a:solidFill>
                  <a:schemeClr val="tx1">
                    <a:lumMod val="65000"/>
                    <a:lumOff val="35000"/>
                  </a:schemeClr>
                </a:solidFill>
                <a:latin typeface="Courier New" panose="02070309020205020404" pitchFamily="49" charset="0"/>
                <a:cs typeface="Courier New" panose="02070309020205020404" pitchFamily="49" charset="0"/>
              </a:rPr>
              <a:t>()){</a:t>
            </a: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000" dirty="0" err="1">
                <a:solidFill>
                  <a:schemeClr val="tx1">
                    <a:lumMod val="65000"/>
                    <a:lumOff val="35000"/>
                  </a:schemeClr>
                </a:solidFill>
                <a:latin typeface="Courier New" panose="02070309020205020404" pitchFamily="49" charset="0"/>
                <a:cs typeface="Courier New" panose="02070309020205020404" pitchFamily="49" charset="0"/>
              </a:rPr>
              <a:t>cout</a:t>
            </a:r>
            <a:r>
              <a:rPr lang="en-US" sz="1000" dirty="0">
                <a:solidFill>
                  <a:schemeClr val="tx1">
                    <a:lumMod val="65000"/>
                    <a:lumOff val="35000"/>
                  </a:schemeClr>
                </a:solidFill>
                <a:latin typeface="Courier New" panose="02070309020205020404" pitchFamily="49" charset="0"/>
                <a:cs typeface="Courier New" panose="02070309020205020404" pitchFamily="49" charset="0"/>
              </a:rPr>
              <a:t>&lt;&lt;"At position : "&lt;&lt;</a:t>
            </a:r>
            <a:r>
              <a:rPr lang="en-US" sz="1000" dirty="0" err="1">
                <a:solidFill>
                  <a:schemeClr val="tx1">
                    <a:lumMod val="65000"/>
                    <a:lumOff val="35000"/>
                  </a:schemeClr>
                </a:solidFill>
                <a:latin typeface="Courier New" panose="02070309020205020404" pitchFamily="49" charset="0"/>
                <a:cs typeface="Courier New" panose="02070309020205020404" pitchFamily="49" charset="0"/>
              </a:rPr>
              <a:t>file.tellg</a:t>
            </a:r>
            <a:r>
              <a:rPr lang="en-US" sz="1000" dirty="0">
                <a:solidFill>
                  <a:schemeClr val="tx1">
                    <a:lumMod val="65000"/>
                    <a:lumOff val="35000"/>
                  </a:schemeClr>
                </a:solidFill>
                <a:latin typeface="Courier New" panose="02070309020205020404" pitchFamily="49" charset="0"/>
                <a:cs typeface="Courier New" panose="02070309020205020404" pitchFamily="49" charset="0"/>
              </a:rPr>
              <a:t>();   //current position</a:t>
            </a: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file&gt;&gt;ch;   //read character from file</a:t>
            </a: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000" dirty="0" err="1">
                <a:solidFill>
                  <a:schemeClr val="tx1">
                    <a:lumMod val="65000"/>
                    <a:lumOff val="35000"/>
                  </a:schemeClr>
                </a:solidFill>
                <a:latin typeface="Courier New" panose="02070309020205020404" pitchFamily="49" charset="0"/>
                <a:cs typeface="Courier New" panose="02070309020205020404" pitchFamily="49" charset="0"/>
              </a:rPr>
              <a:t>cout</a:t>
            </a:r>
            <a:r>
              <a:rPr lang="en-US" sz="1000" dirty="0">
                <a:solidFill>
                  <a:schemeClr val="tx1">
                    <a:lumMod val="65000"/>
                    <a:lumOff val="35000"/>
                  </a:schemeClr>
                </a:solidFill>
                <a:latin typeface="Courier New" panose="02070309020205020404" pitchFamily="49" charset="0"/>
                <a:cs typeface="Courier New" panose="02070309020205020404" pitchFamily="49" charset="0"/>
              </a:rPr>
              <a:t>&lt;&lt;" Character \""&lt;&lt;ch&lt;&lt;"\""&lt;&lt;</a:t>
            </a:r>
            <a:r>
              <a:rPr lang="en-US" sz="1000" dirty="0" err="1">
                <a:solidFill>
                  <a:schemeClr val="tx1">
                    <a:lumMod val="65000"/>
                    <a:lumOff val="35000"/>
                  </a:schemeClr>
                </a:solidFill>
                <a:latin typeface="Courier New" panose="02070309020205020404" pitchFamily="49" charset="0"/>
                <a:cs typeface="Courier New" panose="02070309020205020404" pitchFamily="49" charset="0"/>
              </a:rPr>
              <a:t>endl</a:t>
            </a:r>
            <a:r>
              <a:rPr lang="en-US" sz="1000" dirty="0">
                <a:solidFill>
                  <a:schemeClr val="tx1">
                    <a:lumMod val="65000"/>
                    <a:lumOff val="35000"/>
                  </a:schemeClr>
                </a:solidFill>
                <a:latin typeface="Courier New" panose="02070309020205020404" pitchFamily="49" charset="0"/>
                <a:cs typeface="Courier New" panose="02070309020205020404" pitchFamily="49" charset="0"/>
              </a:rPr>
              <a:t>;</a:t>
            </a: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a:t>
            </a:r>
          </a:p>
          <a:p>
            <a:br>
              <a:rPr lang="en-US" sz="1000" dirty="0">
                <a:solidFill>
                  <a:schemeClr val="tx1">
                    <a:lumMod val="65000"/>
                    <a:lumOff val="35000"/>
                  </a:schemeClr>
                </a:solidFill>
                <a:latin typeface="Courier New" panose="02070309020205020404" pitchFamily="49" charset="0"/>
                <a:cs typeface="Courier New" panose="02070309020205020404" pitchFamily="49" charset="0"/>
              </a:rPr>
            </a:br>
            <a:endParaRPr lang="en-US" sz="1000" dirty="0">
              <a:solidFill>
                <a:schemeClr val="tx1">
                  <a:lumMod val="65000"/>
                  <a:lumOff val="35000"/>
                </a:schemeClr>
              </a:solidFill>
              <a:latin typeface="Courier New" panose="02070309020205020404" pitchFamily="49" charset="0"/>
              <a:cs typeface="Courier New" panose="02070309020205020404" pitchFamily="49" charset="0"/>
            </a:endParaRP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//close the file</a:t>
            </a: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000" dirty="0" err="1">
                <a:solidFill>
                  <a:schemeClr val="tx1">
                    <a:lumMod val="65000"/>
                    <a:lumOff val="35000"/>
                  </a:schemeClr>
                </a:solidFill>
                <a:latin typeface="Courier New" panose="02070309020205020404" pitchFamily="49" charset="0"/>
                <a:cs typeface="Courier New" panose="02070309020205020404" pitchFamily="49" charset="0"/>
              </a:rPr>
              <a:t>file.close</a:t>
            </a:r>
            <a:r>
              <a:rPr lang="en-US" sz="1000" dirty="0">
                <a:solidFill>
                  <a:schemeClr val="tx1">
                    <a:lumMod val="65000"/>
                    <a:lumOff val="35000"/>
                  </a:schemeClr>
                </a:solidFill>
                <a:latin typeface="Courier New" panose="02070309020205020404" pitchFamily="49" charset="0"/>
                <a:cs typeface="Courier New" panose="02070309020205020404" pitchFamily="49" charset="0"/>
              </a:rPr>
              <a:t>();</a:t>
            </a: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        return 0;</a:t>
            </a:r>
          </a:p>
          <a:p>
            <a:r>
              <a:rPr lang="en-US" sz="1000" dirty="0">
                <a:solidFill>
                  <a:schemeClr val="tx1">
                    <a:lumMod val="65000"/>
                    <a:lumOff val="35000"/>
                  </a:schemeClr>
                </a:solidFill>
                <a:latin typeface="Courier New" panose="02070309020205020404" pitchFamily="49" charset="0"/>
                <a:cs typeface="Courier New" panose="02070309020205020404" pitchFamily="49" charset="0"/>
              </a:rPr>
              <a:t>}</a:t>
            </a:r>
          </a:p>
        </p:txBody>
      </p:sp>
      <p:sp>
        <p:nvSpPr>
          <p:cNvPr id="14" name="Text 0">
            <a:extLst>
              <a:ext uri="{FF2B5EF4-FFF2-40B4-BE49-F238E27FC236}">
                <a16:creationId xmlns:a16="http://schemas.microsoft.com/office/drawing/2014/main" id="{97B1FA04-0DAA-9C3D-6A36-9B6676897166}"/>
              </a:ext>
            </a:extLst>
          </p:cNvPr>
          <p:cNvSpPr/>
          <p:nvPr/>
        </p:nvSpPr>
        <p:spPr>
          <a:xfrm>
            <a:off x="407324" y="354399"/>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11</a:t>
            </a:r>
            <a:endParaRPr lang="en-US" sz="1400" dirty="0"/>
          </a:p>
        </p:txBody>
      </p:sp>
    </p:spTree>
    <p:extLst>
      <p:ext uri="{BB962C8B-B14F-4D97-AF65-F5344CB8AC3E}">
        <p14:creationId xmlns:p14="http://schemas.microsoft.com/office/powerpoint/2010/main" val="184546299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EB7AB-D75B-DBE4-2D2C-25FC30527A3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5553770-E347-2153-DDB9-2F830DCBFBC7}"/>
              </a:ext>
            </a:extLst>
          </p:cNvPr>
          <p:cNvSpPr/>
          <p:nvPr/>
        </p:nvSpPr>
        <p:spPr>
          <a:xfrm>
            <a:off x="407324" y="858058"/>
            <a:ext cx="5444836" cy="292608"/>
          </a:xfrm>
          <a:prstGeom prst="rect">
            <a:avLst/>
          </a:prstGeom>
          <a:noFill/>
          <a:ln/>
        </p:spPr>
        <p:txBody>
          <a:bodyPr wrap="square" lIns="0" tIns="0" rIns="0" bIns="0" rtlCol="0" anchor="ctr"/>
          <a:lstStyle/>
          <a:p>
            <a:r>
              <a:rPr lang="en-US" sz="2200" b="1" dirty="0">
                <a:solidFill>
                  <a:srgbClr val="000000"/>
                </a:solidFill>
                <a:latin typeface="Helvetica" pitchFamily="34" charset="0"/>
                <a:ea typeface="Helvetica" pitchFamily="34" charset="-122"/>
                <a:cs typeface="Helvetica" pitchFamily="34" charset="-120"/>
              </a:rPr>
              <a:t>Positioning the File Pointer</a:t>
            </a:r>
            <a:endParaRPr lang="en-US" sz="2200" dirty="0"/>
          </a:p>
        </p:txBody>
      </p:sp>
      <p:sp>
        <p:nvSpPr>
          <p:cNvPr id="3" name="Text 1">
            <a:extLst>
              <a:ext uri="{FF2B5EF4-FFF2-40B4-BE49-F238E27FC236}">
                <a16:creationId xmlns:a16="http://schemas.microsoft.com/office/drawing/2014/main" id="{B179BF67-F8BE-FFA2-D92F-CAF62F500746}"/>
              </a:ext>
            </a:extLst>
          </p:cNvPr>
          <p:cNvSpPr/>
          <p:nvPr/>
        </p:nvSpPr>
        <p:spPr>
          <a:xfrm>
            <a:off x="548640" y="1301751"/>
            <a:ext cx="5303520" cy="498325"/>
          </a:xfrm>
          <a:prstGeom prst="rect">
            <a:avLst/>
          </a:prstGeom>
          <a:noFill/>
          <a:ln/>
        </p:spPr>
        <p:txBody>
          <a:bodyPr wrap="square" lIns="0" tIns="0" rIns="0" bIns="0" rtlCol="0" anchor="ctr"/>
          <a:lstStyle/>
          <a:p>
            <a:r>
              <a:rPr lang="en-US" b="1" dirty="0" err="1">
                <a:solidFill>
                  <a:srgbClr val="16233B"/>
                </a:solidFill>
                <a:latin typeface="Cambria" pitchFamily="34" charset="0"/>
                <a:ea typeface="Cambria" pitchFamily="34" charset="-122"/>
              </a:rPr>
              <a:t>seekg</a:t>
            </a:r>
            <a:r>
              <a:rPr lang="en-US" b="1" dirty="0">
                <a:solidFill>
                  <a:srgbClr val="16233B"/>
                </a:solidFill>
                <a:latin typeface="Cambria" pitchFamily="34" charset="0"/>
                <a:ea typeface="Cambria" pitchFamily="34" charset="-122"/>
              </a:rPr>
              <a:t>() - Move Read Position</a:t>
            </a:r>
          </a:p>
        </p:txBody>
      </p:sp>
      <p:sp>
        <p:nvSpPr>
          <p:cNvPr id="11" name="Text 2">
            <a:extLst>
              <a:ext uri="{FF2B5EF4-FFF2-40B4-BE49-F238E27FC236}">
                <a16:creationId xmlns:a16="http://schemas.microsoft.com/office/drawing/2014/main" id="{8BBA7D3D-1075-3348-7657-753932C57494}"/>
              </a:ext>
            </a:extLst>
          </p:cNvPr>
          <p:cNvSpPr/>
          <p:nvPr/>
        </p:nvSpPr>
        <p:spPr>
          <a:xfrm>
            <a:off x="548640" y="2837594"/>
            <a:ext cx="3269326" cy="3447098"/>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200" dirty="0"/>
              <a:t>Suppose:</a:t>
            </a:r>
          </a:p>
          <a:p>
            <a:pPr lvl="1"/>
            <a:r>
              <a:rPr lang="en-US" sz="1200" dirty="0">
                <a:latin typeface="Courier New" panose="02070309020205020404" pitchFamily="49" charset="0"/>
                <a:cs typeface="Courier New" panose="02070309020205020404" pitchFamily="49" charset="0"/>
              </a:rPr>
              <a:t>ABCDEFGH</a:t>
            </a:r>
          </a:p>
          <a:p>
            <a:pPr lvl="1"/>
            <a:r>
              <a:rPr lang="en-US" sz="1200" dirty="0">
                <a:latin typeface="Courier New" panose="02070309020205020404" pitchFamily="49" charset="0"/>
                <a:cs typeface="Courier New" panose="02070309020205020404" pitchFamily="49" charset="0"/>
              </a:rPr>
              <a:t>01234567</a:t>
            </a:r>
          </a:p>
          <a:p>
            <a:endParaRPr lang="en-US" sz="1200" dirty="0">
              <a:latin typeface="Courier New" panose="02070309020205020404" pitchFamily="49" charset="0"/>
              <a:cs typeface="Courier New" panose="02070309020205020404" pitchFamily="49" charset="0"/>
            </a:endParaRPr>
          </a:p>
          <a:p>
            <a:r>
              <a:rPr lang="en-US" sz="1200" dirty="0">
                <a:cs typeface="Courier New" panose="02070309020205020404" pitchFamily="49" charset="0"/>
              </a:rPr>
              <a:t>We want to start reading from position 4.</a:t>
            </a:r>
          </a:p>
          <a:p>
            <a:endParaRPr lang="en-US" sz="1200" dirty="0">
              <a:cs typeface="Courier New" panose="02070309020205020404" pitchFamily="49" charset="0"/>
            </a:endParaRPr>
          </a:p>
          <a:p>
            <a:pPr lvl="1"/>
            <a:r>
              <a:rPr lang="en-US" sz="1200" dirty="0" err="1">
                <a:latin typeface="Courier New" panose="02070309020205020404" pitchFamily="49" charset="0"/>
                <a:cs typeface="Courier New" panose="02070309020205020404" pitchFamily="49" charset="0"/>
              </a:rPr>
              <a:t>file.seekg</a:t>
            </a:r>
            <a:r>
              <a:rPr lang="en-US" sz="1200" dirty="0">
                <a:latin typeface="Courier New" panose="02070309020205020404" pitchFamily="49" charset="0"/>
                <a:cs typeface="Courier New" panose="02070309020205020404" pitchFamily="49" charset="0"/>
              </a:rPr>
              <a:t>(4);</a:t>
            </a:r>
          </a:p>
          <a:p>
            <a:pPr lvl="1"/>
            <a:endParaRPr lang="en-US" sz="1200" dirty="0">
              <a:latin typeface="Courier New" panose="02070309020205020404" pitchFamily="49" charset="0"/>
              <a:cs typeface="Courier New" panose="02070309020205020404" pitchFamily="49" charset="0"/>
            </a:endParaRPr>
          </a:p>
          <a:p>
            <a:pPr lvl="1"/>
            <a:r>
              <a:rPr lang="pt-BR" sz="1200" dirty="0"/>
              <a:t>A B C D E F G H</a:t>
            </a:r>
          </a:p>
          <a:p>
            <a:pPr lvl="1"/>
            <a:r>
              <a:rPr lang="pt-BR" sz="1200" dirty="0"/>
              <a:t>         ↑</a:t>
            </a:r>
          </a:p>
          <a:p>
            <a:pPr lvl="1"/>
            <a:r>
              <a:rPr lang="pt-BR" sz="1200" dirty="0"/>
              <a:t>         4</a:t>
            </a:r>
          </a:p>
          <a:p>
            <a:endParaRPr lang="en-US" sz="1200" dirty="0">
              <a:cs typeface="Courier New" panose="02070309020205020404" pitchFamily="49" charset="0"/>
            </a:endParaRPr>
          </a:p>
          <a:p>
            <a:r>
              <a:rPr lang="en-US" sz="1200" dirty="0">
                <a:cs typeface="Courier New" panose="02070309020205020404" pitchFamily="49" charset="0"/>
              </a:rPr>
              <a:t>The next character read will be: E</a:t>
            </a:r>
          </a:p>
          <a:p>
            <a:endParaRPr lang="en-US" sz="1200" dirty="0">
              <a:cs typeface="Courier New" panose="02070309020205020404" pitchFamily="49" charset="0"/>
            </a:endParaRPr>
          </a:p>
          <a:p>
            <a:endParaRPr lang="en-US" sz="1200" dirty="0">
              <a:cs typeface="Courier New" panose="02070309020205020404" pitchFamily="49" charset="0"/>
            </a:endParaRPr>
          </a:p>
          <a:p>
            <a:endParaRPr lang="en-US" sz="1200" dirty="0">
              <a:cs typeface="Courier New" panose="02070309020205020404" pitchFamily="49" charset="0"/>
            </a:endParaRPr>
          </a:p>
          <a:p>
            <a:endParaRPr lang="en-US" sz="1200" dirty="0">
              <a:cs typeface="Courier New" panose="02070309020205020404" pitchFamily="49" charset="0"/>
            </a:endParaRPr>
          </a:p>
        </p:txBody>
      </p:sp>
      <p:sp>
        <p:nvSpPr>
          <p:cNvPr id="14" name="Text 0">
            <a:extLst>
              <a:ext uri="{FF2B5EF4-FFF2-40B4-BE49-F238E27FC236}">
                <a16:creationId xmlns:a16="http://schemas.microsoft.com/office/drawing/2014/main" id="{E1EBC8AC-FD0B-DBDA-B1B1-CA53567A903D}"/>
              </a:ext>
            </a:extLst>
          </p:cNvPr>
          <p:cNvSpPr/>
          <p:nvPr/>
        </p:nvSpPr>
        <p:spPr>
          <a:xfrm>
            <a:off x="407324" y="354399"/>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11</a:t>
            </a:r>
            <a:endParaRPr lang="en-US" sz="1400" dirty="0"/>
          </a:p>
        </p:txBody>
      </p:sp>
      <p:grpSp>
        <p:nvGrpSpPr>
          <p:cNvPr id="15" name="Group 14">
            <a:extLst>
              <a:ext uri="{FF2B5EF4-FFF2-40B4-BE49-F238E27FC236}">
                <a16:creationId xmlns:a16="http://schemas.microsoft.com/office/drawing/2014/main" id="{AF359B63-D8D5-F5DB-8A22-B5DA4F7CCA80}"/>
              </a:ext>
            </a:extLst>
          </p:cNvPr>
          <p:cNvGrpSpPr/>
          <p:nvPr/>
        </p:nvGrpSpPr>
        <p:grpSpPr>
          <a:xfrm>
            <a:off x="4091940" y="2837594"/>
            <a:ext cx="4145626" cy="3447098"/>
            <a:chOff x="5455574" y="2351782"/>
            <a:chExt cx="4145626" cy="3385542"/>
          </a:xfrm>
        </p:grpSpPr>
        <p:sp>
          <p:nvSpPr>
            <p:cNvPr id="7" name="Text 2">
              <a:extLst>
                <a:ext uri="{FF2B5EF4-FFF2-40B4-BE49-F238E27FC236}">
                  <a16:creationId xmlns:a16="http://schemas.microsoft.com/office/drawing/2014/main" id="{2EF60EF6-FD04-E68E-DE08-FD41BA8E0987}"/>
                </a:ext>
              </a:extLst>
            </p:cNvPr>
            <p:cNvSpPr/>
            <p:nvPr/>
          </p:nvSpPr>
          <p:spPr>
            <a:xfrm>
              <a:off x="5455574" y="2351782"/>
              <a:ext cx="4145626" cy="2154436"/>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200" dirty="0">
                  <a:latin typeface="Courier New" panose="02070309020205020404" pitchFamily="49" charset="0"/>
                  <a:cs typeface="Courier New" panose="02070309020205020404" pitchFamily="49" charset="0"/>
                </a:rPr>
                <a:t>int main() { </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ifstream</a:t>
              </a:r>
              <a:r>
                <a:rPr lang="en-US" sz="1200" dirty="0">
                  <a:latin typeface="Courier New" panose="02070309020205020404" pitchFamily="49" charset="0"/>
                  <a:cs typeface="Courier New" panose="02070309020205020404" pitchFamily="49" charset="0"/>
                </a:rPr>
                <a:t> file("data.txt"); 	</a:t>
              </a:r>
              <a:r>
                <a:rPr lang="en-US" sz="1200" dirty="0" err="1">
                  <a:latin typeface="Courier New" panose="02070309020205020404" pitchFamily="49" charset="0"/>
                  <a:cs typeface="Courier New" panose="02070309020205020404" pitchFamily="49" charset="0"/>
                </a:rPr>
                <a:t>file.seekg</a:t>
              </a:r>
              <a:r>
                <a:rPr lang="en-US" sz="1200" dirty="0">
                  <a:latin typeface="Courier New" panose="02070309020205020404" pitchFamily="49" charset="0"/>
                  <a:cs typeface="Courier New" panose="02070309020205020404" pitchFamily="49" charset="0"/>
                </a:rPr>
                <a:t>(4); </a:t>
              </a:r>
            </a:p>
            <a:p>
              <a:r>
                <a:rPr lang="en-US" sz="1200" dirty="0">
                  <a:latin typeface="Courier New" panose="02070309020205020404" pitchFamily="49" charset="0"/>
                  <a:cs typeface="Courier New" panose="02070309020205020404" pitchFamily="49" charset="0"/>
                </a:rPr>
                <a:t>	char ch; </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file.get</a:t>
              </a:r>
              <a:r>
                <a:rPr lang="en-US" sz="1200" dirty="0">
                  <a:latin typeface="Courier New" panose="02070309020205020404" pitchFamily="49" charset="0"/>
                  <a:cs typeface="Courier New" panose="02070309020205020404" pitchFamily="49" charset="0"/>
                </a:rPr>
                <a:t>(ch); </a:t>
              </a:r>
            </a:p>
            <a:p>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cout</a:t>
              </a:r>
              <a:r>
                <a:rPr lang="en-US" sz="1200" dirty="0">
                  <a:latin typeface="Courier New" panose="02070309020205020404" pitchFamily="49" charset="0"/>
                  <a:cs typeface="Courier New" panose="02070309020205020404" pitchFamily="49" charset="0"/>
                </a:rPr>
                <a:t> &lt;&lt; "Character: " &lt;&lt; ch; 	</a:t>
              </a:r>
              <a:r>
                <a:rPr lang="en-US" sz="1200" dirty="0" err="1">
                  <a:latin typeface="Courier New" panose="02070309020205020404" pitchFamily="49" charset="0"/>
                  <a:cs typeface="Courier New" panose="02070309020205020404" pitchFamily="49" charset="0"/>
                </a:rPr>
                <a:t>file.close</a:t>
              </a:r>
              <a:r>
                <a:rPr lang="en-US" sz="1200" dirty="0">
                  <a:latin typeface="Courier New" panose="02070309020205020404" pitchFamily="49" charset="0"/>
                  <a:cs typeface="Courier New" panose="02070309020205020404" pitchFamily="49" charset="0"/>
                </a:rPr>
                <a:t>(); </a:t>
              </a:r>
            </a:p>
            <a:p>
              <a:r>
                <a:rPr lang="en-US" sz="1200" dirty="0">
                  <a:latin typeface="Courier New" panose="02070309020205020404" pitchFamily="49" charset="0"/>
                  <a:cs typeface="Courier New" panose="02070309020205020404" pitchFamily="49" charset="0"/>
                </a:rPr>
                <a:t>	return 0; </a:t>
              </a:r>
            </a:p>
            <a:p>
              <a:r>
                <a:rPr lang="en-US" sz="1200" dirty="0">
                  <a:latin typeface="Courier New" panose="02070309020205020404" pitchFamily="49" charset="0"/>
                  <a:cs typeface="Courier New" panose="02070309020205020404" pitchFamily="49" charset="0"/>
                </a:rPr>
                <a:t>}</a:t>
              </a:r>
            </a:p>
          </p:txBody>
        </p:sp>
        <p:sp>
          <p:nvSpPr>
            <p:cNvPr id="13" name="Text 2">
              <a:extLst>
                <a:ext uri="{FF2B5EF4-FFF2-40B4-BE49-F238E27FC236}">
                  <a16:creationId xmlns:a16="http://schemas.microsoft.com/office/drawing/2014/main" id="{4628F975-7094-5C64-7D0A-7CE7367DCA89}"/>
                </a:ext>
              </a:extLst>
            </p:cNvPr>
            <p:cNvSpPr/>
            <p:nvPr/>
          </p:nvSpPr>
          <p:spPr>
            <a:xfrm>
              <a:off x="5455574" y="4506218"/>
              <a:ext cx="4145626" cy="1231106"/>
            </a:xfrm>
            <a:prstGeom prst="rect">
              <a:avLst/>
            </a:prstGeom>
            <a:solidFill>
              <a:schemeClr val="accent6">
                <a:lumMod val="20000"/>
                <a:lumOff val="80000"/>
              </a:schemeClr>
            </a:solidFill>
            <a:ln w="9525">
              <a:solidFill>
                <a:srgbClr val="000000"/>
              </a:solidFill>
            </a:ln>
          </p:spPr>
          <p:txBody>
            <a:bodyPr wrap="square" lIns="152400" tIns="152400" rIns="152400" bIns="152400" rtlCol="0" anchor="t">
              <a:spAutoFit/>
            </a:bodyPr>
            <a:lstStyle/>
            <a:p>
              <a:r>
                <a:rPr lang="en-US" sz="1200" dirty="0"/>
                <a:t>If </a:t>
              </a:r>
              <a:r>
                <a:rPr lang="en-US" sz="1200" b="1" dirty="0">
                  <a:latin typeface="Courier New" panose="02070309020205020404" pitchFamily="49" charset="0"/>
                  <a:cs typeface="Courier New" panose="02070309020205020404" pitchFamily="49" charset="0"/>
                </a:rPr>
                <a:t>data.txt </a:t>
              </a:r>
              <a:r>
                <a:rPr lang="en-US" sz="1200" dirty="0"/>
                <a:t>contains:</a:t>
              </a:r>
            </a:p>
            <a:p>
              <a:r>
                <a:rPr lang="en-US" sz="1200" dirty="0">
                  <a:latin typeface="Courier New" panose="02070309020205020404" pitchFamily="49" charset="0"/>
                  <a:cs typeface="Courier New" panose="02070309020205020404" pitchFamily="49" charset="0"/>
                </a:rPr>
                <a:t>ABCDEFGH</a:t>
              </a:r>
            </a:p>
            <a:p>
              <a:endParaRPr lang="en-US" sz="1200" dirty="0">
                <a:latin typeface="Courier New" panose="02070309020205020404" pitchFamily="49" charset="0"/>
                <a:cs typeface="Courier New" panose="02070309020205020404" pitchFamily="49" charset="0"/>
              </a:endParaRPr>
            </a:p>
            <a:p>
              <a:r>
                <a:rPr lang="en-US" sz="1200" dirty="0">
                  <a:cs typeface="Courier New" panose="02070309020205020404" pitchFamily="49" charset="0"/>
                </a:rPr>
                <a:t>Output:</a:t>
              </a:r>
            </a:p>
            <a:p>
              <a:r>
                <a:rPr lang="en-US" sz="1200" dirty="0">
                  <a:cs typeface="Courier New" panose="02070309020205020404" pitchFamily="49" charset="0"/>
                </a:rPr>
                <a:t>E</a:t>
              </a:r>
            </a:p>
          </p:txBody>
        </p:sp>
      </p:grpSp>
      <p:sp>
        <p:nvSpPr>
          <p:cNvPr id="17" name="TextBox 16">
            <a:extLst>
              <a:ext uri="{FF2B5EF4-FFF2-40B4-BE49-F238E27FC236}">
                <a16:creationId xmlns:a16="http://schemas.microsoft.com/office/drawing/2014/main" id="{4F5583E7-0E20-6570-93F4-F55C4E722994}"/>
              </a:ext>
            </a:extLst>
          </p:cNvPr>
          <p:cNvSpPr txBox="1"/>
          <p:nvPr/>
        </p:nvSpPr>
        <p:spPr>
          <a:xfrm>
            <a:off x="483593" y="1961120"/>
            <a:ext cx="11015403" cy="523220"/>
          </a:xfrm>
          <a:prstGeom prst="rect">
            <a:avLst/>
          </a:prstGeom>
          <a:noFill/>
        </p:spPr>
        <p:txBody>
          <a:bodyPr wrap="square">
            <a:spAutoFit/>
          </a:bodyPr>
          <a:lstStyle/>
          <a:p>
            <a:r>
              <a:rPr lang="en-US" sz="1400" b="0" i="0" dirty="0" err="1">
                <a:solidFill>
                  <a:schemeClr val="tx1">
                    <a:lumMod val="65000"/>
                    <a:lumOff val="35000"/>
                  </a:schemeClr>
                </a:solidFill>
                <a:effectLst/>
              </a:rPr>
              <a:t>seekg</a:t>
            </a:r>
            <a:r>
              <a:rPr lang="en-US" sz="1400" b="0" i="0" dirty="0">
                <a:solidFill>
                  <a:schemeClr val="tx1">
                    <a:lumMod val="65000"/>
                    <a:lumOff val="35000"/>
                  </a:schemeClr>
                </a:solidFill>
                <a:effectLst/>
              </a:rPr>
              <a:t>() in C++ is a function that helps to get an arbitrary file position in the iostream library. It is present in the </a:t>
            </a:r>
            <a:r>
              <a:rPr lang="en-US" sz="1400" b="0" i="0" dirty="0" err="1">
                <a:solidFill>
                  <a:schemeClr val="tx1">
                    <a:lumMod val="65000"/>
                    <a:lumOff val="35000"/>
                  </a:schemeClr>
                </a:solidFill>
                <a:effectLst/>
              </a:rPr>
              <a:t>fstream</a:t>
            </a:r>
            <a:r>
              <a:rPr lang="en-US" sz="1400" b="0" i="0" dirty="0">
                <a:solidFill>
                  <a:schemeClr val="tx1">
                    <a:lumMod val="65000"/>
                    <a:lumOff val="35000"/>
                  </a:schemeClr>
                </a:solidFill>
                <a:effectLst/>
              </a:rPr>
              <a:t> header file and is also a part of </a:t>
            </a:r>
            <a:r>
              <a:rPr lang="en-US" sz="1400" b="0" i="0" u="none" strike="noStrike" dirty="0">
                <a:solidFill>
                  <a:schemeClr val="tx1">
                    <a:lumMod val="65000"/>
                    <a:lumOff val="35000"/>
                  </a:schemeClr>
                </a:solidFill>
                <a:effectLst/>
              </a:rPr>
              <a:t>file handling</a:t>
            </a:r>
            <a:r>
              <a:rPr lang="en-US" sz="1400" b="0" i="0" dirty="0">
                <a:solidFill>
                  <a:schemeClr val="tx1">
                    <a:lumMod val="65000"/>
                    <a:lumOff val="35000"/>
                  </a:schemeClr>
                </a:solidFill>
                <a:effectLst/>
              </a:rPr>
              <a:t>, used to extract from the input stream by placing the pointer to the next character that is desired.</a:t>
            </a:r>
            <a:endParaRPr lang="en-US" sz="1400" dirty="0">
              <a:solidFill>
                <a:schemeClr val="tx1">
                  <a:lumMod val="65000"/>
                  <a:lumOff val="35000"/>
                </a:schemeClr>
              </a:solidFill>
            </a:endParaRPr>
          </a:p>
        </p:txBody>
      </p:sp>
    </p:spTree>
    <p:extLst>
      <p:ext uri="{BB962C8B-B14F-4D97-AF65-F5344CB8AC3E}">
        <p14:creationId xmlns:p14="http://schemas.microsoft.com/office/powerpoint/2010/main" val="186819425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8F157-25D6-BF9E-C6DB-A1423114E53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FB3A494-4E81-39F0-E82B-CFEED998BE31}"/>
              </a:ext>
            </a:extLst>
          </p:cNvPr>
          <p:cNvSpPr/>
          <p:nvPr/>
        </p:nvSpPr>
        <p:spPr>
          <a:xfrm>
            <a:off x="407324" y="858058"/>
            <a:ext cx="5444836" cy="292608"/>
          </a:xfrm>
          <a:prstGeom prst="rect">
            <a:avLst/>
          </a:prstGeom>
          <a:noFill/>
          <a:ln/>
        </p:spPr>
        <p:txBody>
          <a:bodyPr wrap="square" lIns="0" tIns="0" rIns="0" bIns="0" rtlCol="0" anchor="ctr"/>
          <a:lstStyle/>
          <a:p>
            <a:r>
              <a:rPr lang="en-US" sz="2200" b="1" dirty="0">
                <a:solidFill>
                  <a:srgbClr val="000000"/>
                </a:solidFill>
                <a:latin typeface="Helvetica" pitchFamily="34" charset="0"/>
                <a:ea typeface="Helvetica" pitchFamily="34" charset="-122"/>
                <a:cs typeface="Helvetica" pitchFamily="34" charset="-120"/>
              </a:rPr>
              <a:t>Positioning the File Pointer</a:t>
            </a:r>
            <a:endParaRPr lang="en-US" sz="2200" dirty="0"/>
          </a:p>
        </p:txBody>
      </p:sp>
      <p:sp>
        <p:nvSpPr>
          <p:cNvPr id="3" name="Text 1">
            <a:extLst>
              <a:ext uri="{FF2B5EF4-FFF2-40B4-BE49-F238E27FC236}">
                <a16:creationId xmlns:a16="http://schemas.microsoft.com/office/drawing/2014/main" id="{3838F811-0C72-7942-1F4F-B7B0FAA9733F}"/>
              </a:ext>
            </a:extLst>
          </p:cNvPr>
          <p:cNvSpPr/>
          <p:nvPr/>
        </p:nvSpPr>
        <p:spPr>
          <a:xfrm>
            <a:off x="548640" y="1301751"/>
            <a:ext cx="5303520" cy="498325"/>
          </a:xfrm>
          <a:prstGeom prst="rect">
            <a:avLst/>
          </a:prstGeom>
          <a:noFill/>
          <a:ln/>
        </p:spPr>
        <p:txBody>
          <a:bodyPr wrap="square" lIns="0" tIns="0" rIns="0" bIns="0" rtlCol="0" anchor="ctr"/>
          <a:lstStyle/>
          <a:p>
            <a:r>
              <a:rPr lang="en-US" b="1" dirty="0" err="1">
                <a:solidFill>
                  <a:srgbClr val="16233B"/>
                </a:solidFill>
                <a:latin typeface="Cambria" pitchFamily="34" charset="0"/>
                <a:ea typeface="Cambria" pitchFamily="34" charset="-122"/>
              </a:rPr>
              <a:t>seekp</a:t>
            </a:r>
            <a:r>
              <a:rPr lang="en-US" b="1" dirty="0">
                <a:solidFill>
                  <a:srgbClr val="16233B"/>
                </a:solidFill>
                <a:latin typeface="Cambria" pitchFamily="34" charset="0"/>
                <a:ea typeface="Cambria" pitchFamily="34" charset="-122"/>
              </a:rPr>
              <a:t>() - Move Write Position</a:t>
            </a:r>
          </a:p>
        </p:txBody>
      </p:sp>
      <p:sp>
        <p:nvSpPr>
          <p:cNvPr id="11" name="Text 2">
            <a:extLst>
              <a:ext uri="{FF2B5EF4-FFF2-40B4-BE49-F238E27FC236}">
                <a16:creationId xmlns:a16="http://schemas.microsoft.com/office/drawing/2014/main" id="{69AC94C2-F4FC-1FDA-71E7-AF7CA8399E4E}"/>
              </a:ext>
            </a:extLst>
          </p:cNvPr>
          <p:cNvSpPr/>
          <p:nvPr/>
        </p:nvSpPr>
        <p:spPr>
          <a:xfrm>
            <a:off x="548640" y="2502506"/>
            <a:ext cx="3269326" cy="3724096"/>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200" dirty="0"/>
              <a:t>Suppose:</a:t>
            </a:r>
          </a:p>
          <a:p>
            <a:pPr lvl="1"/>
            <a:r>
              <a:rPr lang="en-US" sz="1200" dirty="0">
                <a:latin typeface="Courier New" panose="02070309020205020404" pitchFamily="49" charset="0"/>
                <a:cs typeface="Courier New" panose="02070309020205020404" pitchFamily="49" charset="0"/>
              </a:rPr>
              <a:t>ABCDEFGH</a:t>
            </a:r>
          </a:p>
          <a:p>
            <a:pPr lvl="1"/>
            <a:r>
              <a:rPr lang="en-US" sz="1200" dirty="0">
                <a:latin typeface="Courier New" panose="02070309020205020404" pitchFamily="49" charset="0"/>
                <a:cs typeface="Courier New" panose="02070309020205020404" pitchFamily="49" charset="0"/>
              </a:rPr>
              <a:t>01234567</a:t>
            </a:r>
          </a:p>
          <a:p>
            <a:endParaRPr lang="en-US" sz="1200" dirty="0">
              <a:latin typeface="Courier New" panose="02070309020205020404" pitchFamily="49" charset="0"/>
              <a:cs typeface="Courier New" panose="02070309020205020404" pitchFamily="49" charset="0"/>
            </a:endParaRPr>
          </a:p>
          <a:p>
            <a:r>
              <a:rPr lang="en-US" sz="1200" dirty="0">
                <a:cs typeface="Courier New" panose="02070309020205020404" pitchFamily="49" charset="0"/>
              </a:rPr>
              <a:t>We want to start reading from position 4.</a:t>
            </a:r>
          </a:p>
          <a:p>
            <a:endParaRPr lang="en-US" sz="1200" dirty="0">
              <a:cs typeface="Courier New" panose="02070309020205020404" pitchFamily="49" charset="0"/>
            </a:endParaRPr>
          </a:p>
          <a:p>
            <a:pPr lvl="1"/>
            <a:r>
              <a:rPr lang="en-US" sz="1200" dirty="0" err="1">
                <a:latin typeface="Courier New" panose="02070309020205020404" pitchFamily="49" charset="0"/>
                <a:cs typeface="Courier New" panose="02070309020205020404" pitchFamily="49" charset="0"/>
              </a:rPr>
              <a:t>ofstream</a:t>
            </a:r>
            <a:r>
              <a:rPr lang="en-US" sz="1200" dirty="0">
                <a:latin typeface="Courier New" panose="02070309020205020404" pitchFamily="49" charset="0"/>
                <a:cs typeface="Courier New" panose="02070309020205020404" pitchFamily="49" charset="0"/>
              </a:rPr>
              <a:t> file("data.txt"); </a:t>
            </a:r>
            <a:r>
              <a:rPr lang="en-US" sz="1200" dirty="0" err="1">
                <a:latin typeface="Courier New" panose="02070309020205020404" pitchFamily="49" charset="0"/>
                <a:cs typeface="Courier New" panose="02070309020205020404" pitchFamily="49" charset="0"/>
              </a:rPr>
              <a:t>file.seekp</a:t>
            </a:r>
            <a:r>
              <a:rPr lang="en-US" sz="1200" dirty="0">
                <a:latin typeface="Courier New" panose="02070309020205020404" pitchFamily="49" charset="0"/>
                <a:cs typeface="Courier New" panose="02070309020205020404" pitchFamily="49" charset="0"/>
              </a:rPr>
              <a:t>(4); </a:t>
            </a:r>
            <a:r>
              <a:rPr lang="en-US" sz="1200" dirty="0" err="1">
                <a:latin typeface="Courier New" panose="02070309020205020404" pitchFamily="49" charset="0"/>
                <a:cs typeface="Courier New" panose="02070309020205020404" pitchFamily="49" charset="0"/>
              </a:rPr>
              <a:t>file.put</a:t>
            </a:r>
            <a:r>
              <a:rPr lang="en-US" sz="1200" dirty="0">
                <a:latin typeface="Courier New" panose="02070309020205020404" pitchFamily="49" charset="0"/>
                <a:cs typeface="Courier New" panose="02070309020205020404" pitchFamily="49" charset="0"/>
              </a:rPr>
              <a:t>('X’);</a:t>
            </a:r>
          </a:p>
          <a:p>
            <a:pPr lvl="1"/>
            <a:endParaRPr lang="en-US" sz="1200" dirty="0">
              <a:cs typeface="Courier New" panose="02070309020205020404" pitchFamily="49" charset="0"/>
            </a:endParaRPr>
          </a:p>
          <a:p>
            <a:r>
              <a:rPr lang="en-US" sz="1200" dirty="0">
                <a:cs typeface="Courier New" panose="02070309020205020404" pitchFamily="49" charset="0"/>
              </a:rPr>
              <a:t>Before:</a:t>
            </a:r>
          </a:p>
          <a:p>
            <a:pPr lvl="1"/>
            <a:r>
              <a:rPr lang="pt-BR" sz="1200" dirty="0"/>
              <a:t>A B C D E F G H</a:t>
            </a:r>
          </a:p>
          <a:p>
            <a:pPr lvl="1"/>
            <a:r>
              <a:rPr lang="pt-BR" sz="1200" dirty="0"/>
              <a:t>             ↑</a:t>
            </a:r>
          </a:p>
          <a:p>
            <a:pPr lvl="1"/>
            <a:r>
              <a:rPr lang="pt-BR" sz="1200" dirty="0"/>
              <a:t>              4</a:t>
            </a:r>
          </a:p>
          <a:p>
            <a:endParaRPr lang="en-US" sz="1200" dirty="0">
              <a:cs typeface="Courier New" panose="02070309020205020404" pitchFamily="49" charset="0"/>
            </a:endParaRPr>
          </a:p>
          <a:p>
            <a:r>
              <a:rPr lang="en-US" sz="1200" dirty="0"/>
              <a:t>After: A B C D X F G H</a:t>
            </a:r>
            <a:endParaRPr lang="en-US" sz="1200" dirty="0">
              <a:cs typeface="Courier New" panose="02070309020205020404" pitchFamily="49" charset="0"/>
            </a:endParaRPr>
          </a:p>
          <a:p>
            <a:endParaRPr lang="en-US" sz="1200" dirty="0">
              <a:cs typeface="Courier New" panose="02070309020205020404" pitchFamily="49" charset="0"/>
            </a:endParaRPr>
          </a:p>
          <a:p>
            <a:r>
              <a:rPr lang="en-US" sz="1200" dirty="0"/>
              <a:t>The character at position </a:t>
            </a:r>
            <a:r>
              <a:rPr lang="en-US" dirty="0"/>
              <a:t>4</a:t>
            </a:r>
            <a:r>
              <a:rPr lang="en-US" sz="1200" dirty="0"/>
              <a:t> has been replaced.</a:t>
            </a:r>
            <a:endParaRPr lang="en-US" sz="1200" dirty="0">
              <a:cs typeface="Courier New" panose="02070309020205020404" pitchFamily="49" charset="0"/>
            </a:endParaRPr>
          </a:p>
        </p:txBody>
      </p:sp>
      <p:sp>
        <p:nvSpPr>
          <p:cNvPr id="14" name="Text 0">
            <a:extLst>
              <a:ext uri="{FF2B5EF4-FFF2-40B4-BE49-F238E27FC236}">
                <a16:creationId xmlns:a16="http://schemas.microsoft.com/office/drawing/2014/main" id="{67DC8324-65E3-E599-93E7-6BF0F465B8F8}"/>
              </a:ext>
            </a:extLst>
          </p:cNvPr>
          <p:cNvSpPr/>
          <p:nvPr/>
        </p:nvSpPr>
        <p:spPr>
          <a:xfrm>
            <a:off x="407324" y="354399"/>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11</a:t>
            </a:r>
            <a:endParaRPr lang="en-US" sz="1400" dirty="0"/>
          </a:p>
        </p:txBody>
      </p:sp>
      <p:grpSp>
        <p:nvGrpSpPr>
          <p:cNvPr id="15" name="Group 14">
            <a:extLst>
              <a:ext uri="{FF2B5EF4-FFF2-40B4-BE49-F238E27FC236}">
                <a16:creationId xmlns:a16="http://schemas.microsoft.com/office/drawing/2014/main" id="{5513B2A3-4C8C-2B3A-1F1D-79471149251B}"/>
              </a:ext>
            </a:extLst>
          </p:cNvPr>
          <p:cNvGrpSpPr/>
          <p:nvPr/>
        </p:nvGrpSpPr>
        <p:grpSpPr>
          <a:xfrm>
            <a:off x="4141124" y="2502506"/>
            <a:ext cx="6603076" cy="3724096"/>
            <a:chOff x="5455574" y="2351782"/>
            <a:chExt cx="4145626" cy="3385542"/>
          </a:xfrm>
        </p:grpSpPr>
        <p:sp>
          <p:nvSpPr>
            <p:cNvPr id="7" name="Text 2">
              <a:extLst>
                <a:ext uri="{FF2B5EF4-FFF2-40B4-BE49-F238E27FC236}">
                  <a16:creationId xmlns:a16="http://schemas.microsoft.com/office/drawing/2014/main" id="{64429EE7-4AEC-146E-FA85-94FC0607ADCF}"/>
                </a:ext>
              </a:extLst>
            </p:cNvPr>
            <p:cNvSpPr/>
            <p:nvPr/>
          </p:nvSpPr>
          <p:spPr>
            <a:xfrm>
              <a:off x="5455574" y="2351782"/>
              <a:ext cx="4145626" cy="1600438"/>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200" dirty="0">
                  <a:latin typeface="Courier New" panose="02070309020205020404" pitchFamily="49" charset="0"/>
                  <a:cs typeface="Courier New" panose="02070309020205020404" pitchFamily="49" charset="0"/>
                </a:rPr>
                <a:t>int main() { </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fstream</a:t>
              </a:r>
              <a:r>
                <a:rPr lang="en-US" sz="1200" dirty="0">
                  <a:latin typeface="Courier New" panose="02070309020205020404" pitchFamily="49" charset="0"/>
                  <a:cs typeface="Courier New" panose="02070309020205020404" pitchFamily="49" charset="0"/>
                </a:rPr>
                <a:t> file("data.txt", </a:t>
              </a:r>
              <a:r>
                <a:rPr lang="en-US" sz="1200" dirty="0" err="1">
                  <a:latin typeface="Courier New" panose="02070309020205020404" pitchFamily="49" charset="0"/>
                  <a:cs typeface="Courier New" panose="02070309020205020404" pitchFamily="49" charset="0"/>
                </a:rPr>
                <a:t>ios</a:t>
              </a:r>
              <a:r>
                <a:rPr lang="en-US" sz="1200" dirty="0">
                  <a:latin typeface="Courier New" panose="02070309020205020404" pitchFamily="49" charset="0"/>
                  <a:cs typeface="Courier New" panose="02070309020205020404" pitchFamily="49" charset="0"/>
                </a:rPr>
                <a:t>::in | </a:t>
              </a:r>
              <a:r>
                <a:rPr lang="en-US" sz="1200" dirty="0" err="1">
                  <a:latin typeface="Courier New" panose="02070309020205020404" pitchFamily="49" charset="0"/>
                  <a:cs typeface="Courier New" panose="02070309020205020404" pitchFamily="49" charset="0"/>
                </a:rPr>
                <a:t>ios</a:t>
              </a:r>
              <a:r>
                <a:rPr lang="en-US" sz="1200" dirty="0">
                  <a:latin typeface="Courier New" panose="02070309020205020404" pitchFamily="49" charset="0"/>
                  <a:cs typeface="Courier New" panose="02070309020205020404" pitchFamily="49" charset="0"/>
                </a:rPr>
                <a:t>::out);	</a:t>
              </a:r>
            </a:p>
            <a:p>
              <a:pPr lvl="2"/>
              <a:r>
                <a:rPr lang="en-US" sz="1200" dirty="0" err="1">
                  <a:latin typeface="Courier New" panose="02070309020205020404" pitchFamily="49" charset="0"/>
                  <a:cs typeface="Courier New" panose="02070309020205020404" pitchFamily="49" charset="0"/>
                </a:rPr>
                <a:t>file.seekp</a:t>
              </a:r>
              <a:r>
                <a:rPr lang="en-US" sz="1200" dirty="0">
                  <a:latin typeface="Courier New" panose="02070309020205020404" pitchFamily="49" charset="0"/>
                  <a:cs typeface="Courier New" panose="02070309020205020404" pitchFamily="49" charset="0"/>
                </a:rPr>
                <a:t>(4); </a:t>
              </a:r>
            </a:p>
            <a:p>
              <a:pPr lvl="2"/>
              <a:r>
                <a:rPr lang="en-US" sz="1200" dirty="0" err="1">
                  <a:latin typeface="Courier New" panose="02070309020205020404" pitchFamily="49" charset="0"/>
                  <a:cs typeface="Courier New" panose="02070309020205020404" pitchFamily="49" charset="0"/>
                </a:rPr>
                <a:t>file.put</a:t>
              </a:r>
              <a:r>
                <a:rPr lang="en-US" sz="1200" dirty="0">
                  <a:latin typeface="Courier New" panose="02070309020205020404" pitchFamily="49" charset="0"/>
                  <a:cs typeface="Courier New" panose="02070309020205020404" pitchFamily="49" charset="0"/>
                </a:rPr>
                <a:t>('X’); </a:t>
              </a:r>
            </a:p>
            <a:p>
              <a:pPr lvl="2"/>
              <a:r>
                <a:rPr lang="en-US" sz="1200" dirty="0" err="1">
                  <a:latin typeface="Courier New" panose="02070309020205020404" pitchFamily="49" charset="0"/>
                  <a:cs typeface="Courier New" panose="02070309020205020404" pitchFamily="49" charset="0"/>
                </a:rPr>
                <a:t>file.close</a:t>
              </a:r>
              <a:r>
                <a:rPr lang="en-US" sz="1200" dirty="0">
                  <a:latin typeface="Courier New" panose="02070309020205020404" pitchFamily="49" charset="0"/>
                  <a:cs typeface="Courier New" panose="02070309020205020404" pitchFamily="49" charset="0"/>
                </a:rPr>
                <a:t>();	</a:t>
              </a:r>
            </a:p>
            <a:p>
              <a:pPr lvl="2"/>
              <a:r>
                <a:rPr lang="en-US" sz="1200" dirty="0">
                  <a:latin typeface="Courier New" panose="02070309020205020404" pitchFamily="49" charset="0"/>
                  <a:cs typeface="Courier New" panose="02070309020205020404" pitchFamily="49" charset="0"/>
                </a:rPr>
                <a:t>return 0; </a:t>
              </a:r>
            </a:p>
            <a:p>
              <a:r>
                <a:rPr lang="en-US" sz="1200" dirty="0">
                  <a:latin typeface="Courier New" panose="02070309020205020404" pitchFamily="49" charset="0"/>
                  <a:cs typeface="Courier New" panose="02070309020205020404" pitchFamily="49" charset="0"/>
                </a:rPr>
                <a:t>}</a:t>
              </a:r>
            </a:p>
          </p:txBody>
        </p:sp>
        <p:sp>
          <p:nvSpPr>
            <p:cNvPr id="13" name="Text 2">
              <a:extLst>
                <a:ext uri="{FF2B5EF4-FFF2-40B4-BE49-F238E27FC236}">
                  <a16:creationId xmlns:a16="http://schemas.microsoft.com/office/drawing/2014/main" id="{A0214973-5A84-BD7B-43C1-EE6071583BD6}"/>
                </a:ext>
              </a:extLst>
            </p:cNvPr>
            <p:cNvSpPr/>
            <p:nvPr/>
          </p:nvSpPr>
          <p:spPr>
            <a:xfrm>
              <a:off x="5455574" y="4506218"/>
              <a:ext cx="4145626" cy="1231106"/>
            </a:xfrm>
            <a:prstGeom prst="rect">
              <a:avLst/>
            </a:prstGeom>
            <a:solidFill>
              <a:schemeClr val="accent6">
                <a:lumMod val="20000"/>
                <a:lumOff val="80000"/>
              </a:schemeClr>
            </a:solidFill>
            <a:ln w="9525">
              <a:solidFill>
                <a:srgbClr val="000000"/>
              </a:solidFill>
            </a:ln>
          </p:spPr>
          <p:txBody>
            <a:bodyPr wrap="square" lIns="152400" tIns="152400" rIns="152400" bIns="152400" rtlCol="0" anchor="t">
              <a:spAutoFit/>
            </a:bodyPr>
            <a:lstStyle/>
            <a:p>
              <a:r>
                <a:rPr lang="en-US" sz="1200" dirty="0"/>
                <a:t>If </a:t>
              </a:r>
              <a:r>
                <a:rPr lang="en-US" sz="1200" b="1" dirty="0">
                  <a:latin typeface="Courier New" panose="02070309020205020404" pitchFamily="49" charset="0"/>
                  <a:cs typeface="Courier New" panose="02070309020205020404" pitchFamily="49" charset="0"/>
                </a:rPr>
                <a:t>data.txt </a:t>
              </a:r>
              <a:r>
                <a:rPr lang="en-US" sz="1200" dirty="0"/>
                <a:t>contains:</a:t>
              </a:r>
            </a:p>
            <a:p>
              <a:r>
                <a:rPr lang="en-US" sz="1200" dirty="0">
                  <a:latin typeface="Courier New" panose="02070309020205020404" pitchFamily="49" charset="0"/>
                  <a:cs typeface="Courier New" panose="02070309020205020404" pitchFamily="49" charset="0"/>
                </a:rPr>
                <a:t>ABCDEFGH</a:t>
              </a:r>
            </a:p>
            <a:p>
              <a:endParaRPr lang="en-US" sz="1200" dirty="0">
                <a:latin typeface="Courier New" panose="02070309020205020404" pitchFamily="49" charset="0"/>
                <a:cs typeface="Courier New" panose="02070309020205020404" pitchFamily="49" charset="0"/>
              </a:endParaRPr>
            </a:p>
            <a:p>
              <a:r>
                <a:rPr lang="en-US" sz="1200" dirty="0">
                  <a:cs typeface="Courier New" panose="02070309020205020404" pitchFamily="49" charset="0"/>
                </a:rPr>
                <a:t>After Execution:</a:t>
              </a:r>
            </a:p>
            <a:p>
              <a:r>
                <a:rPr lang="en-US" sz="1200" dirty="0"/>
                <a:t>ABCDXFGH</a:t>
              </a:r>
              <a:endParaRPr lang="en-US" sz="1200" dirty="0">
                <a:cs typeface="Courier New" panose="02070309020205020404" pitchFamily="49" charset="0"/>
              </a:endParaRPr>
            </a:p>
          </p:txBody>
        </p:sp>
      </p:grpSp>
      <p:sp>
        <p:nvSpPr>
          <p:cNvPr id="17" name="TextBox 16">
            <a:extLst>
              <a:ext uri="{FF2B5EF4-FFF2-40B4-BE49-F238E27FC236}">
                <a16:creationId xmlns:a16="http://schemas.microsoft.com/office/drawing/2014/main" id="{30669CE2-4C31-EE3F-D37B-4810774DBE65}"/>
              </a:ext>
            </a:extLst>
          </p:cNvPr>
          <p:cNvSpPr txBox="1"/>
          <p:nvPr/>
        </p:nvSpPr>
        <p:spPr>
          <a:xfrm>
            <a:off x="483593" y="1961120"/>
            <a:ext cx="11015403" cy="307777"/>
          </a:xfrm>
          <a:prstGeom prst="rect">
            <a:avLst/>
          </a:prstGeom>
          <a:noFill/>
        </p:spPr>
        <p:txBody>
          <a:bodyPr wrap="square">
            <a:spAutoFit/>
          </a:bodyPr>
          <a:lstStyle/>
          <a:p>
            <a:r>
              <a:rPr lang="en-US" sz="1400" b="0" i="0" dirty="0" err="1">
                <a:solidFill>
                  <a:schemeClr val="tx1">
                    <a:lumMod val="65000"/>
                    <a:lumOff val="35000"/>
                  </a:schemeClr>
                </a:solidFill>
                <a:effectLst/>
                <a:latin typeface="Courier New" panose="02070309020205020404" pitchFamily="49" charset="0"/>
                <a:cs typeface="Courier New" panose="02070309020205020404" pitchFamily="49" charset="0"/>
              </a:rPr>
              <a:t>seekp</a:t>
            </a:r>
            <a:r>
              <a:rPr lang="en-US" sz="1400" b="0" i="0" dirty="0">
                <a:solidFill>
                  <a:schemeClr val="tx1">
                    <a:lumMod val="65000"/>
                    <a:lumOff val="35000"/>
                  </a:schemeClr>
                </a:solidFill>
                <a:effectLst/>
                <a:latin typeface="Courier New" panose="02070309020205020404" pitchFamily="49" charset="0"/>
                <a:cs typeface="Courier New" panose="02070309020205020404" pitchFamily="49" charset="0"/>
              </a:rPr>
              <a:t>() </a:t>
            </a:r>
            <a:r>
              <a:rPr lang="en-US" sz="1400" dirty="0"/>
              <a:t>is used with an output file stream to move the </a:t>
            </a:r>
            <a:r>
              <a:rPr lang="en-US" sz="1400" b="1" dirty="0"/>
              <a:t>put/write position</a:t>
            </a:r>
            <a:r>
              <a:rPr lang="en-US" sz="1400" dirty="0"/>
              <a:t>.</a:t>
            </a:r>
            <a:endParaRPr lang="en-US" sz="1400" dirty="0">
              <a:solidFill>
                <a:schemeClr val="tx1">
                  <a:lumMod val="65000"/>
                  <a:lumOff val="35000"/>
                </a:schemeClr>
              </a:solidFill>
            </a:endParaRPr>
          </a:p>
        </p:txBody>
      </p:sp>
    </p:spTree>
    <p:extLst>
      <p:ext uri="{BB962C8B-B14F-4D97-AF65-F5344CB8AC3E}">
        <p14:creationId xmlns:p14="http://schemas.microsoft.com/office/powerpoint/2010/main" val="147161396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12192000" cy="6800851"/>
          </a:xfrm>
          <a:prstGeom prst="rect">
            <a:avLst/>
          </a:prstGeom>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4B9AA-8B0C-2B32-716A-2EA5FA50D68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ED09F39-4D6D-F7B2-89D5-8AD2C5238F91}"/>
              </a:ext>
            </a:extLst>
          </p:cNvPr>
          <p:cNvSpPr/>
          <p:nvPr/>
        </p:nvSpPr>
        <p:spPr>
          <a:xfrm>
            <a:off x="407324" y="858058"/>
            <a:ext cx="5444836" cy="292608"/>
          </a:xfrm>
          <a:prstGeom prst="rect">
            <a:avLst/>
          </a:prstGeom>
          <a:noFill/>
          <a:ln/>
        </p:spPr>
        <p:txBody>
          <a:bodyPr wrap="square" lIns="0" tIns="0" rIns="0" bIns="0" rtlCol="0" anchor="ctr"/>
          <a:lstStyle/>
          <a:p>
            <a:r>
              <a:rPr lang="en-US" sz="2200" b="1" dirty="0">
                <a:solidFill>
                  <a:srgbClr val="000000"/>
                </a:solidFill>
                <a:latin typeface="Helvetica" pitchFamily="34" charset="0"/>
                <a:ea typeface="Helvetica" pitchFamily="34" charset="-122"/>
                <a:cs typeface="Helvetica" pitchFamily="34" charset="-120"/>
              </a:rPr>
              <a:t>Positioning the File Pointer</a:t>
            </a:r>
            <a:endParaRPr lang="en-US" sz="2200" dirty="0"/>
          </a:p>
        </p:txBody>
      </p:sp>
      <p:sp>
        <p:nvSpPr>
          <p:cNvPr id="3" name="Text 1">
            <a:extLst>
              <a:ext uri="{FF2B5EF4-FFF2-40B4-BE49-F238E27FC236}">
                <a16:creationId xmlns:a16="http://schemas.microsoft.com/office/drawing/2014/main" id="{746E0129-BF0A-3A41-D848-42D84AE0A143}"/>
              </a:ext>
            </a:extLst>
          </p:cNvPr>
          <p:cNvSpPr/>
          <p:nvPr/>
        </p:nvSpPr>
        <p:spPr>
          <a:xfrm>
            <a:off x="407324" y="1082825"/>
            <a:ext cx="5303520" cy="777240"/>
          </a:xfrm>
          <a:prstGeom prst="rect">
            <a:avLst/>
          </a:prstGeom>
          <a:noFill/>
          <a:ln/>
        </p:spPr>
        <p:txBody>
          <a:bodyPr wrap="square" lIns="0" tIns="0" rIns="0" bIns="0" rtlCol="0" anchor="ctr"/>
          <a:lstStyle/>
          <a:p>
            <a:r>
              <a:rPr lang="en-US" b="1" dirty="0" err="1">
                <a:solidFill>
                  <a:srgbClr val="16233B"/>
                </a:solidFill>
                <a:latin typeface="Cambria" pitchFamily="34" charset="0"/>
                <a:ea typeface="Cambria" pitchFamily="34" charset="-122"/>
              </a:rPr>
              <a:t>seekg</a:t>
            </a:r>
            <a:r>
              <a:rPr lang="en-US" b="1" dirty="0">
                <a:solidFill>
                  <a:srgbClr val="16233B"/>
                </a:solidFill>
                <a:latin typeface="Cambria" pitchFamily="34" charset="0"/>
                <a:ea typeface="Cambria" pitchFamily="34" charset="-122"/>
              </a:rPr>
              <a:t>() </a:t>
            </a:r>
            <a:r>
              <a:rPr lang="en-US" b="1" dirty="0">
                <a:solidFill>
                  <a:srgbClr val="16233B"/>
                </a:solidFill>
                <a:latin typeface="Cambria" pitchFamily="34" charset="0"/>
                <a:ea typeface="Cambria" pitchFamily="34" charset="-122"/>
                <a:cs typeface="Cambria" pitchFamily="34" charset="-120"/>
              </a:rPr>
              <a:t>and</a:t>
            </a:r>
            <a:r>
              <a:rPr lang="en-US" sz="3200" b="1" dirty="0">
                <a:solidFill>
                  <a:srgbClr val="16233B"/>
                </a:solidFill>
                <a:latin typeface="Cambria" pitchFamily="34" charset="0"/>
                <a:ea typeface="Cambria" pitchFamily="34" charset="-122"/>
                <a:cs typeface="Cambria" pitchFamily="34" charset="-120"/>
              </a:rPr>
              <a:t> </a:t>
            </a:r>
            <a:r>
              <a:rPr lang="en-US" b="1" dirty="0" err="1">
                <a:solidFill>
                  <a:srgbClr val="16233B"/>
                </a:solidFill>
                <a:latin typeface="Cambria" pitchFamily="34" charset="0"/>
                <a:ea typeface="Cambria" pitchFamily="34" charset="-122"/>
              </a:rPr>
              <a:t>seekp</a:t>
            </a:r>
            <a:r>
              <a:rPr lang="en-US" b="1" dirty="0">
                <a:solidFill>
                  <a:srgbClr val="16233B"/>
                </a:solidFill>
                <a:latin typeface="Cambria" pitchFamily="34" charset="0"/>
                <a:ea typeface="Cambria" pitchFamily="34" charset="-122"/>
              </a:rPr>
              <a:t>()</a:t>
            </a:r>
          </a:p>
        </p:txBody>
      </p:sp>
      <p:sp>
        <p:nvSpPr>
          <p:cNvPr id="4" name="Text 2">
            <a:extLst>
              <a:ext uri="{FF2B5EF4-FFF2-40B4-BE49-F238E27FC236}">
                <a16:creationId xmlns:a16="http://schemas.microsoft.com/office/drawing/2014/main" id="{B5C235A6-FF87-68CA-6D95-A4CA8E088863}"/>
              </a:ext>
            </a:extLst>
          </p:cNvPr>
          <p:cNvSpPr/>
          <p:nvPr/>
        </p:nvSpPr>
        <p:spPr>
          <a:xfrm>
            <a:off x="407324" y="1938528"/>
            <a:ext cx="5303520" cy="3908090"/>
          </a:xfrm>
          <a:prstGeom prst="rect">
            <a:avLst/>
          </a:prstGeom>
          <a:noFill/>
          <a:ln/>
        </p:spPr>
        <p:txBody>
          <a:bodyPr wrap="square" lIns="0" tIns="0" rIns="0" bIns="0" rtlCol="0" anchor="t"/>
          <a:lstStyle/>
          <a:p>
            <a:pPr marL="171450" indent="-171450">
              <a:spcAft>
                <a:spcPts val="675"/>
              </a:spcAft>
              <a:buSzPct val="100000"/>
              <a:buChar char="•"/>
            </a:pPr>
            <a:r>
              <a:rPr lang="en-US" sz="1400" dirty="0">
                <a:solidFill>
                  <a:srgbClr val="16233B"/>
                </a:solidFill>
                <a:cs typeface="Calibri" pitchFamily="34" charset="-120"/>
              </a:rPr>
              <a:t>Every open file keeps two internal position markers: a GET pointer (for reading) and a PUT pointer (for writing).</a:t>
            </a:r>
          </a:p>
          <a:p>
            <a:pPr marL="171450" indent="-171450">
              <a:spcAft>
                <a:spcPts val="675"/>
              </a:spcAft>
              <a:buSzPct val="100000"/>
              <a:buChar char="•"/>
            </a:pPr>
            <a:r>
              <a:rPr lang="en-US" sz="1400" dirty="0" err="1">
                <a:solidFill>
                  <a:srgbClr val="16233B"/>
                </a:solidFill>
                <a:latin typeface="Courier New" panose="02070309020205020404" pitchFamily="49" charset="0"/>
                <a:cs typeface="Courier New" panose="02070309020205020404" pitchFamily="49" charset="0"/>
              </a:rPr>
              <a:t>seekg</a:t>
            </a:r>
            <a:r>
              <a:rPr lang="en-US" sz="1400" dirty="0">
                <a:solidFill>
                  <a:srgbClr val="16233B"/>
                </a:solidFill>
                <a:cs typeface="Calibri" pitchFamily="34" charset="-120"/>
              </a:rPr>
              <a:t>(offset, direction) — moves the GET pointer. Think: “seek for get.”</a:t>
            </a:r>
          </a:p>
          <a:p>
            <a:pPr marL="171450" indent="-171450">
              <a:spcAft>
                <a:spcPts val="675"/>
              </a:spcAft>
              <a:buSzPct val="100000"/>
              <a:buChar char="•"/>
            </a:pPr>
            <a:r>
              <a:rPr lang="en-US" sz="1400" dirty="0" err="1">
                <a:solidFill>
                  <a:srgbClr val="16233B"/>
                </a:solidFill>
                <a:latin typeface="Courier New" panose="02070309020205020404" pitchFamily="49" charset="0"/>
                <a:cs typeface="Courier New" panose="02070309020205020404" pitchFamily="49" charset="0"/>
              </a:rPr>
              <a:t>seekp</a:t>
            </a:r>
            <a:r>
              <a:rPr lang="en-US" sz="1400" dirty="0">
                <a:solidFill>
                  <a:srgbClr val="16233B"/>
                </a:solidFill>
                <a:cs typeface="Calibri" pitchFamily="34" charset="-120"/>
              </a:rPr>
              <a:t>(offset, direction) — moves the PUT pointer. Think: “seek for put.”</a:t>
            </a:r>
          </a:p>
          <a:p>
            <a:pPr marL="171450" indent="-171450">
              <a:spcAft>
                <a:spcPts val="675"/>
              </a:spcAft>
              <a:buSzPct val="100000"/>
              <a:buChar char="•"/>
            </a:pPr>
            <a:r>
              <a:rPr lang="en-US" sz="1400" dirty="0">
                <a:solidFill>
                  <a:srgbClr val="16233B"/>
                </a:solidFill>
                <a:cs typeface="Calibri" pitchFamily="34" charset="-120"/>
              </a:rPr>
              <a:t>direction is one of three anchors:</a:t>
            </a:r>
          </a:p>
          <a:p>
            <a:pPr marL="647700" lvl="1" indent="-323850">
              <a:spcAft>
                <a:spcPts val="675"/>
              </a:spcAft>
              <a:buSzPct val="100000"/>
              <a:buChar char="–"/>
            </a:pPr>
            <a:r>
              <a:rPr lang="en-US" sz="1400" dirty="0" err="1">
                <a:solidFill>
                  <a:srgbClr val="16233B"/>
                </a:solidFill>
                <a:latin typeface="Courier New" panose="02070309020205020404" pitchFamily="49" charset="0"/>
                <a:cs typeface="Courier New" panose="02070309020205020404" pitchFamily="49" charset="0"/>
              </a:rPr>
              <a:t>ios</a:t>
            </a:r>
            <a:r>
              <a:rPr lang="en-US" sz="1400" dirty="0">
                <a:solidFill>
                  <a:srgbClr val="16233B"/>
                </a:solidFill>
                <a:latin typeface="Courier New" panose="02070309020205020404" pitchFamily="49" charset="0"/>
                <a:cs typeface="Courier New" panose="02070309020205020404" pitchFamily="49" charset="0"/>
              </a:rPr>
              <a:t>::beg </a:t>
            </a:r>
            <a:r>
              <a:rPr lang="en-US" sz="1400" dirty="0">
                <a:solidFill>
                  <a:srgbClr val="16233B"/>
                </a:solidFill>
                <a:cs typeface="Calibri" pitchFamily="34" charset="-120"/>
              </a:rPr>
              <a:t>— offset counted from the beginning of the file</a:t>
            </a:r>
          </a:p>
          <a:p>
            <a:pPr marL="647700" lvl="1" indent="-323850">
              <a:spcAft>
                <a:spcPts val="675"/>
              </a:spcAft>
              <a:buSzPct val="100000"/>
              <a:buChar char="–"/>
            </a:pPr>
            <a:r>
              <a:rPr lang="en-US" sz="1400" dirty="0" err="1">
                <a:solidFill>
                  <a:srgbClr val="16233B"/>
                </a:solidFill>
                <a:latin typeface="Courier New" panose="02070309020205020404" pitchFamily="49" charset="0"/>
                <a:cs typeface="Courier New" panose="02070309020205020404" pitchFamily="49" charset="0"/>
              </a:rPr>
              <a:t>ios</a:t>
            </a:r>
            <a:r>
              <a:rPr lang="en-US" sz="1400" dirty="0">
                <a:solidFill>
                  <a:srgbClr val="16233B"/>
                </a:solidFill>
                <a:latin typeface="Courier New" panose="02070309020205020404" pitchFamily="49" charset="0"/>
                <a:cs typeface="Courier New" panose="02070309020205020404" pitchFamily="49" charset="0"/>
              </a:rPr>
              <a:t>::cur </a:t>
            </a:r>
            <a:r>
              <a:rPr lang="en-US" sz="1400" dirty="0">
                <a:solidFill>
                  <a:srgbClr val="16233B"/>
                </a:solidFill>
                <a:cs typeface="Calibri" pitchFamily="34" charset="-120"/>
              </a:rPr>
              <a:t>— offset counted from the CURRENT position</a:t>
            </a:r>
          </a:p>
          <a:p>
            <a:pPr marL="647700" lvl="1" indent="-323850">
              <a:spcAft>
                <a:spcPts val="675"/>
              </a:spcAft>
              <a:buSzPct val="100000"/>
              <a:buChar char="–"/>
            </a:pPr>
            <a:r>
              <a:rPr lang="en-US" sz="1400" dirty="0" err="1">
                <a:solidFill>
                  <a:srgbClr val="16233B"/>
                </a:solidFill>
                <a:latin typeface="Courier New" panose="02070309020205020404" pitchFamily="49" charset="0"/>
                <a:cs typeface="Courier New" panose="02070309020205020404" pitchFamily="49" charset="0"/>
              </a:rPr>
              <a:t>ios</a:t>
            </a:r>
            <a:r>
              <a:rPr lang="en-US" sz="1400" dirty="0">
                <a:solidFill>
                  <a:srgbClr val="16233B"/>
                </a:solidFill>
                <a:latin typeface="Courier New" panose="02070309020205020404" pitchFamily="49" charset="0"/>
                <a:cs typeface="Courier New" panose="02070309020205020404" pitchFamily="49" charset="0"/>
              </a:rPr>
              <a:t>::end </a:t>
            </a:r>
            <a:r>
              <a:rPr lang="en-US" sz="1400" dirty="0">
                <a:solidFill>
                  <a:srgbClr val="16233B"/>
                </a:solidFill>
                <a:cs typeface="Calibri" pitchFamily="34" charset="-120"/>
              </a:rPr>
              <a:t>— offset counted backwards from the end of file</a:t>
            </a:r>
          </a:p>
          <a:p>
            <a:pPr marL="171450" indent="-171450">
              <a:spcAft>
                <a:spcPts val="675"/>
              </a:spcAft>
              <a:buSzPct val="100000"/>
              <a:buChar char="•"/>
            </a:pPr>
            <a:r>
              <a:rPr lang="en-US" sz="1400" dirty="0">
                <a:solidFill>
                  <a:srgbClr val="16233B"/>
                </a:solidFill>
                <a:cs typeface="Calibri" pitchFamily="34" charset="-120"/>
              </a:rPr>
              <a:t>offset can be negative when combined with </a:t>
            </a:r>
            <a:r>
              <a:rPr lang="en-US" sz="1400" dirty="0" err="1">
                <a:solidFill>
                  <a:srgbClr val="16233B"/>
                </a:solidFill>
                <a:latin typeface="Courier New" panose="02070309020205020404" pitchFamily="49" charset="0"/>
                <a:cs typeface="Courier New" panose="02070309020205020404" pitchFamily="49" charset="0"/>
              </a:rPr>
              <a:t>ios</a:t>
            </a:r>
            <a:r>
              <a:rPr lang="en-US" sz="1400" dirty="0">
                <a:solidFill>
                  <a:srgbClr val="16233B"/>
                </a:solidFill>
                <a:latin typeface="Courier New" panose="02070309020205020404" pitchFamily="49" charset="0"/>
                <a:cs typeface="Courier New" panose="02070309020205020404" pitchFamily="49" charset="0"/>
              </a:rPr>
              <a:t>::cur </a:t>
            </a:r>
            <a:r>
              <a:rPr lang="en-US" sz="1400" dirty="0">
                <a:solidFill>
                  <a:srgbClr val="16233B"/>
                </a:solidFill>
                <a:cs typeface="Calibri" pitchFamily="34" charset="-120"/>
              </a:rPr>
              <a:t>or </a:t>
            </a:r>
            <a:r>
              <a:rPr lang="en-US" sz="1400" dirty="0" err="1">
                <a:solidFill>
                  <a:srgbClr val="16233B"/>
                </a:solidFill>
                <a:latin typeface="Courier New" panose="02070309020205020404" pitchFamily="49" charset="0"/>
                <a:cs typeface="Courier New" panose="02070309020205020404" pitchFamily="49" charset="0"/>
              </a:rPr>
              <a:t>ios</a:t>
            </a:r>
            <a:r>
              <a:rPr lang="en-US" sz="1400" dirty="0">
                <a:solidFill>
                  <a:srgbClr val="16233B"/>
                </a:solidFill>
                <a:latin typeface="Courier New" panose="02070309020205020404" pitchFamily="49" charset="0"/>
                <a:cs typeface="Courier New" panose="02070309020205020404" pitchFamily="49" charset="0"/>
              </a:rPr>
              <a:t>::end</a:t>
            </a:r>
            <a:r>
              <a:rPr lang="en-US" sz="1400" dirty="0">
                <a:solidFill>
                  <a:srgbClr val="16233B"/>
                </a:solidFill>
                <a:cs typeface="Calibri" pitchFamily="34" charset="-120"/>
              </a:rPr>
              <a:t>, to move backwards.</a:t>
            </a:r>
          </a:p>
        </p:txBody>
      </p:sp>
      <p:sp>
        <p:nvSpPr>
          <p:cNvPr id="9" name="Text 7">
            <a:extLst>
              <a:ext uri="{FF2B5EF4-FFF2-40B4-BE49-F238E27FC236}">
                <a16:creationId xmlns:a16="http://schemas.microsoft.com/office/drawing/2014/main" id="{C1015B8A-EDA0-4972-7DC8-404ADE51638D}"/>
              </a:ext>
            </a:extLst>
          </p:cNvPr>
          <p:cNvSpPr/>
          <p:nvPr/>
        </p:nvSpPr>
        <p:spPr>
          <a:xfrm>
            <a:off x="7022592" y="1938528"/>
            <a:ext cx="4379976" cy="4114800"/>
          </a:xfrm>
          <a:prstGeom prst="rect">
            <a:avLst/>
          </a:prstGeom>
          <a:noFill/>
          <a:ln/>
        </p:spPr>
        <p:txBody>
          <a:bodyPr wrap="square" lIns="0" tIns="0" rIns="0" bIns="0" rtlCol="0" anchor="t"/>
          <a:lstStyle/>
          <a:p>
            <a:pPr>
              <a:lnSpc>
                <a:spcPct val="103000"/>
              </a:lnSpc>
            </a:pPr>
            <a:endParaRPr lang="en-US" sz="1180" dirty="0"/>
          </a:p>
        </p:txBody>
      </p:sp>
      <p:sp>
        <p:nvSpPr>
          <p:cNvPr id="11" name="Text 2">
            <a:extLst>
              <a:ext uri="{FF2B5EF4-FFF2-40B4-BE49-F238E27FC236}">
                <a16:creationId xmlns:a16="http://schemas.microsoft.com/office/drawing/2014/main" id="{991DB955-DFFE-0CD3-AF9C-1FE26C63C065}"/>
              </a:ext>
            </a:extLst>
          </p:cNvPr>
          <p:cNvSpPr/>
          <p:nvPr/>
        </p:nvSpPr>
        <p:spPr>
          <a:xfrm>
            <a:off x="5852160" y="1471445"/>
            <a:ext cx="6188363" cy="4491742"/>
          </a:xfrm>
          <a:prstGeom prst="rect">
            <a:avLst/>
          </a:prstGeom>
          <a:solidFill>
            <a:srgbClr val="F2F2F2"/>
          </a:solidFill>
          <a:ln w="9525">
            <a:solidFill>
              <a:srgbClr val="000000"/>
            </a:solidFill>
          </a:ln>
        </p:spPr>
        <p:txBody>
          <a:bodyPr wrap="square" lIns="152400" tIns="152400" rIns="152400" bIns="152400" rtlCol="0" anchor="t">
            <a:spAutoFit/>
          </a:bodyPr>
          <a:lstStyle/>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#include &lt;iostream&gt;</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#include &lt;</a:t>
            </a:r>
            <a:r>
              <a:rPr lang="en-US" sz="1200" dirty="0" err="1">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fstream</a:t>
            </a: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&gt;</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using namespace std;</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int main() {</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lvl="2">
              <a:lnSpc>
                <a:spcPct val="103000"/>
              </a:lnSpc>
            </a:pP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fstream</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 file;</a:t>
            </a:r>
          </a:p>
          <a:p>
            <a:pPr lvl="2">
              <a:lnSpc>
                <a:spcPct val="103000"/>
              </a:lnSpc>
            </a:pP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file.open</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("alphabet.txt",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ios</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::in |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ios</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::out);</a:t>
            </a:r>
          </a:p>
          <a:p>
            <a:pPr lvl="2">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p>
          <a:p>
            <a:pPr lvl="2">
              <a:lnSpc>
                <a:spcPct val="103000"/>
              </a:lnSpc>
            </a:pP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file.seekg</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(4,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ios</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::beg);</a:t>
            </a:r>
          </a:p>
          <a:p>
            <a:pPr lvl="2">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-&gt; jump the READ pointer to byte index 4</a:t>
            </a:r>
          </a:p>
          <a:p>
            <a:pPr lvl="2">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(the 5th character, 0-indexed)</a:t>
            </a:r>
          </a:p>
          <a:p>
            <a:pPr lvl="2">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p>
          <a:p>
            <a:pPr lvl="2">
              <a:lnSpc>
                <a:spcPct val="103000"/>
              </a:lnSpc>
            </a:pP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file.seekp</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(0,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ios</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::beg);</a:t>
            </a:r>
          </a:p>
          <a:p>
            <a:pPr lvl="2">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-&gt; jump the WRITE pointer back to the start</a:t>
            </a:r>
          </a:p>
          <a:p>
            <a:pPr lvl="2">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p>
          <a:p>
            <a:pPr lvl="2">
              <a:lnSpc>
                <a:spcPct val="103000"/>
              </a:lnSpc>
            </a:pP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file.seekg</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(-1,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ios</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::cur);</a:t>
            </a:r>
          </a:p>
          <a:p>
            <a:pPr lvl="2">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-&gt; step the READ pointer 1 byte backwards</a:t>
            </a:r>
          </a:p>
          <a:p>
            <a:pPr lvl="2">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from wherever it currently is</a:t>
            </a:r>
          </a:p>
          <a:p>
            <a:pPr lvl="2">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p>
          <a:p>
            <a:pPr lvl="2">
              <a:lnSpc>
                <a:spcPct val="103000"/>
              </a:lnSpc>
            </a:pP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file.seekg</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(-2,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ios</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::end);</a:t>
            </a:r>
          </a:p>
          <a:p>
            <a:pPr lvl="2">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-&gt; position READ pointer 2 bytes before EOF</a:t>
            </a: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p:txBody>
      </p:sp>
      <p:sp>
        <p:nvSpPr>
          <p:cNvPr id="14" name="Text 0">
            <a:extLst>
              <a:ext uri="{FF2B5EF4-FFF2-40B4-BE49-F238E27FC236}">
                <a16:creationId xmlns:a16="http://schemas.microsoft.com/office/drawing/2014/main" id="{B9B2692E-9A77-DCA0-EEDB-5EA36F40EB50}"/>
              </a:ext>
            </a:extLst>
          </p:cNvPr>
          <p:cNvSpPr/>
          <p:nvPr/>
        </p:nvSpPr>
        <p:spPr>
          <a:xfrm>
            <a:off x="407324" y="354399"/>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11</a:t>
            </a:r>
            <a:endParaRPr lang="en-US" sz="1400" dirty="0"/>
          </a:p>
        </p:txBody>
      </p:sp>
    </p:spTree>
    <p:extLst>
      <p:ext uri="{BB962C8B-B14F-4D97-AF65-F5344CB8AC3E}">
        <p14:creationId xmlns:p14="http://schemas.microsoft.com/office/powerpoint/2010/main" val="425952222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CF490-9573-5C0E-05E8-1706F6E2362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4FAF989-E4D4-5DF6-FBCF-1428A6242BE9}"/>
              </a:ext>
            </a:extLst>
          </p:cNvPr>
          <p:cNvSpPr/>
          <p:nvPr/>
        </p:nvSpPr>
        <p:spPr>
          <a:xfrm>
            <a:off x="548640" y="231837"/>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11</a:t>
            </a:r>
            <a:endParaRPr lang="en-US" sz="1400" dirty="0"/>
          </a:p>
        </p:txBody>
      </p:sp>
      <p:sp>
        <p:nvSpPr>
          <p:cNvPr id="3" name="Text 1">
            <a:extLst>
              <a:ext uri="{FF2B5EF4-FFF2-40B4-BE49-F238E27FC236}">
                <a16:creationId xmlns:a16="http://schemas.microsoft.com/office/drawing/2014/main" id="{61B8EAD5-B6BF-71CB-74B8-531838DD6D95}"/>
              </a:ext>
            </a:extLst>
          </p:cNvPr>
          <p:cNvSpPr/>
          <p:nvPr/>
        </p:nvSpPr>
        <p:spPr>
          <a:xfrm>
            <a:off x="548640" y="731520"/>
            <a:ext cx="11091672" cy="731520"/>
          </a:xfrm>
          <a:prstGeom prst="rect">
            <a:avLst/>
          </a:prstGeom>
          <a:noFill/>
          <a:ln/>
        </p:spPr>
        <p:txBody>
          <a:bodyPr wrap="square" rtlCol="0" anchor="ctr"/>
          <a:lstStyle/>
          <a:p>
            <a:pPr marL="0" indent="0">
              <a:buNone/>
            </a:pPr>
            <a:endParaRPr lang="en-US" sz="2200" dirty="0"/>
          </a:p>
        </p:txBody>
      </p:sp>
      <p:sp>
        <p:nvSpPr>
          <p:cNvPr id="4" name="Text 2">
            <a:extLst>
              <a:ext uri="{FF2B5EF4-FFF2-40B4-BE49-F238E27FC236}">
                <a16:creationId xmlns:a16="http://schemas.microsoft.com/office/drawing/2014/main" id="{C650B76E-4B9B-7D5B-A8F0-27F67F3D093A}"/>
              </a:ext>
            </a:extLst>
          </p:cNvPr>
          <p:cNvSpPr/>
          <p:nvPr/>
        </p:nvSpPr>
        <p:spPr>
          <a:xfrm>
            <a:off x="1065876" y="1204421"/>
            <a:ext cx="8986982" cy="2746794"/>
          </a:xfrm>
          <a:prstGeom prst="rect">
            <a:avLst/>
          </a:prstGeom>
          <a:noFill/>
          <a:ln/>
        </p:spPr>
        <p:txBody>
          <a:bodyPr wrap="square" rtlCol="0" anchor="t"/>
          <a:lstStyle/>
          <a:p>
            <a:pPr marL="285750" indent="-285750">
              <a:buFont typeface="Arial" panose="020B0604020202020204" pitchFamily="34" charset="0"/>
              <a:buChar char="•"/>
            </a:pPr>
            <a:r>
              <a:rPr lang="en-US" sz="1400" b="1" dirty="0"/>
              <a:t>Unformatted I/O</a:t>
            </a:r>
            <a:r>
              <a:rPr lang="en-US" sz="1400" dirty="0"/>
              <a:t> transfers characters or blocks of data </a:t>
            </a:r>
            <a:r>
              <a:rPr lang="en-US" sz="1400" b="1" dirty="0"/>
              <a:t>without performing the usual type-based formatting/conversion</a:t>
            </a:r>
            <a:r>
              <a:rPr lang="en-US" sz="1400" dirty="0"/>
              <a:t>.</a:t>
            </a:r>
          </a:p>
          <a:p>
            <a:pPr lvl="1"/>
            <a:endParaRPr lang="en-US" sz="1400" dirty="0"/>
          </a:p>
          <a:p>
            <a:r>
              <a:rPr lang="en-US" sz="1400" b="1" dirty="0"/>
              <a:t>Common unformatted functions include:</a:t>
            </a:r>
          </a:p>
          <a:p>
            <a:pPr marL="742950" lvl="1" indent="-285750">
              <a:buFont typeface="Wingdings" panose="05000000000000000000" pitchFamily="2" charset="2"/>
              <a:buChar char="ü"/>
            </a:pPr>
            <a:r>
              <a:rPr lang="en-US" sz="1400" dirty="0"/>
              <a:t>get() </a:t>
            </a:r>
          </a:p>
          <a:p>
            <a:pPr marL="742950" lvl="1" indent="-285750">
              <a:buFont typeface="Wingdings" panose="05000000000000000000" pitchFamily="2" charset="2"/>
              <a:buChar char="ü"/>
            </a:pPr>
            <a:r>
              <a:rPr lang="en-US" sz="1400" dirty="0" err="1"/>
              <a:t>getline</a:t>
            </a:r>
            <a:r>
              <a:rPr lang="en-US" sz="1400" dirty="0"/>
              <a:t>() </a:t>
            </a:r>
          </a:p>
          <a:p>
            <a:pPr marL="742950" lvl="1" indent="-285750">
              <a:buFont typeface="Wingdings" panose="05000000000000000000" pitchFamily="2" charset="2"/>
              <a:buChar char="ü"/>
            </a:pPr>
            <a:r>
              <a:rPr lang="en-US" sz="1400" dirty="0"/>
              <a:t>put() </a:t>
            </a:r>
          </a:p>
          <a:p>
            <a:pPr marL="742950" lvl="1" indent="-285750">
              <a:buFont typeface="Wingdings" panose="05000000000000000000" pitchFamily="2" charset="2"/>
              <a:buChar char="ü"/>
            </a:pPr>
            <a:r>
              <a:rPr lang="en-US" sz="1400" dirty="0"/>
              <a:t>read() </a:t>
            </a:r>
          </a:p>
          <a:p>
            <a:pPr marL="742950" lvl="1" indent="-285750">
              <a:buFont typeface="Wingdings" panose="05000000000000000000" pitchFamily="2" charset="2"/>
              <a:buChar char="ü"/>
            </a:pPr>
            <a:r>
              <a:rPr lang="en-US" sz="1400" dirty="0"/>
              <a:t>write() </a:t>
            </a:r>
          </a:p>
          <a:p>
            <a:pPr marL="742950" lvl="1" indent="-285750">
              <a:buFont typeface="Wingdings" panose="05000000000000000000" pitchFamily="2" charset="2"/>
              <a:buChar char="ü"/>
            </a:pPr>
            <a:r>
              <a:rPr lang="en-US" sz="1400" dirty="0"/>
              <a:t>peek() </a:t>
            </a:r>
          </a:p>
          <a:p>
            <a:pPr marL="742950" lvl="1" indent="-285750">
              <a:buFont typeface="Wingdings" panose="05000000000000000000" pitchFamily="2" charset="2"/>
              <a:buChar char="ü"/>
            </a:pPr>
            <a:r>
              <a:rPr lang="en-US" sz="1400" dirty="0"/>
              <a:t>ignore()</a:t>
            </a:r>
          </a:p>
          <a:p>
            <a:pPr>
              <a:buSzPct val="100000"/>
            </a:pPr>
            <a:endParaRPr lang="en-US" sz="1400" dirty="0">
              <a:solidFill>
                <a:schemeClr val="tx1">
                  <a:lumMod val="85000"/>
                  <a:lumOff val="15000"/>
                </a:schemeClr>
              </a:solidFill>
            </a:endParaRPr>
          </a:p>
        </p:txBody>
      </p:sp>
      <p:sp>
        <p:nvSpPr>
          <p:cNvPr id="7" name="Text 1">
            <a:extLst>
              <a:ext uri="{FF2B5EF4-FFF2-40B4-BE49-F238E27FC236}">
                <a16:creationId xmlns:a16="http://schemas.microsoft.com/office/drawing/2014/main" id="{E205EFA6-5158-2ADB-A847-381A7703586D}"/>
              </a:ext>
            </a:extLst>
          </p:cNvPr>
          <p:cNvSpPr/>
          <p:nvPr/>
        </p:nvSpPr>
        <p:spPr>
          <a:xfrm>
            <a:off x="548640" y="522778"/>
            <a:ext cx="11091672" cy="731520"/>
          </a:xfrm>
          <a:prstGeom prst="rect">
            <a:avLst/>
          </a:prstGeom>
          <a:noFill/>
          <a:ln/>
        </p:spPr>
        <p:txBody>
          <a:bodyPr wrap="square" rtlCol="0" anchor="ctr"/>
          <a:lstStyle/>
          <a:p>
            <a:r>
              <a:rPr lang="en-US" sz="2200" b="1" dirty="0">
                <a:solidFill>
                  <a:srgbClr val="000000"/>
                </a:solidFill>
                <a:latin typeface="Helvetica" pitchFamily="34" charset="0"/>
                <a:ea typeface="Helvetica" pitchFamily="34" charset="-122"/>
                <a:cs typeface="Helvetica" pitchFamily="34" charset="-120"/>
              </a:rPr>
              <a:t>Unformatted I/O</a:t>
            </a:r>
            <a:endParaRPr lang="en-US" sz="2200" dirty="0"/>
          </a:p>
        </p:txBody>
      </p:sp>
      <p:sp>
        <p:nvSpPr>
          <p:cNvPr id="6" name="Text 2">
            <a:extLst>
              <a:ext uri="{FF2B5EF4-FFF2-40B4-BE49-F238E27FC236}">
                <a16:creationId xmlns:a16="http://schemas.microsoft.com/office/drawing/2014/main" id="{2B0EBDF2-FEC2-DFDB-BA44-A63EE7335ADB}"/>
              </a:ext>
            </a:extLst>
          </p:cNvPr>
          <p:cNvSpPr/>
          <p:nvPr/>
        </p:nvSpPr>
        <p:spPr>
          <a:xfrm>
            <a:off x="1065876" y="3801329"/>
            <a:ext cx="10620462" cy="2799741"/>
          </a:xfrm>
          <a:prstGeom prst="rect">
            <a:avLst/>
          </a:prstGeom>
          <a:solidFill>
            <a:srgbClr val="F2F2F2"/>
          </a:solidFill>
          <a:ln w="9525">
            <a:solidFill>
              <a:srgbClr val="000000"/>
            </a:solidFill>
          </a:ln>
        </p:spPr>
        <p:txBody>
          <a:bodyPr wrap="square" lIns="152400" tIns="152400" rIns="152400" bIns="152400" rtlCol="0" anchor="t">
            <a:spAutoFit/>
          </a:bodyPr>
          <a:lstStyle/>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int main() {</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ts val="1500"/>
              </a:lnSpc>
            </a:pPr>
            <a:r>
              <a:rPr lang="en-US" sz="1200" dirty="0"/>
              <a:t>	</a:t>
            </a:r>
            <a:r>
              <a:rPr lang="en-US" sz="1200" dirty="0" err="1">
                <a:latin typeface="Courier New" panose="02070309020205020404" pitchFamily="49" charset="0"/>
                <a:cs typeface="Courier New" panose="02070309020205020404" pitchFamily="49" charset="0"/>
              </a:rPr>
              <a:t>i</a:t>
            </a:r>
            <a:r>
              <a:rPr lang="en-US" sz="1200" dirty="0" err="1">
                <a:solidFill>
                  <a:srgbClr val="643CAE"/>
                </a:solidFill>
                <a:latin typeface="Courier New" panose="02070309020205020404" pitchFamily="49" charset="0"/>
                <a:cs typeface="Courier New" panose="02070309020205020404" pitchFamily="49" charset="0"/>
              </a:rPr>
              <a:t>ofstream</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643CAE"/>
                </a:solidFill>
                <a:latin typeface="Courier New" panose="02070309020205020404" pitchFamily="49" charset="0"/>
                <a:cs typeface="Courier New" panose="02070309020205020404" pitchFamily="49" charset="0"/>
              </a:rPr>
              <a:t>file</a:t>
            </a:r>
            <a:r>
              <a:rPr lang="en-US" sz="1200" dirty="0">
                <a:solidFill>
                  <a:srgbClr val="0D0D0D"/>
                </a:solidFill>
                <a:latin typeface="Courier New" panose="02070309020205020404" pitchFamily="49" charset="0"/>
                <a:cs typeface="Courier New" panose="02070309020205020404" pitchFamily="49" charset="0"/>
              </a:rPr>
              <a:t>(</a:t>
            </a:r>
            <a:r>
              <a:rPr lang="en-US" sz="1200" dirty="0">
                <a:solidFill>
                  <a:srgbClr val="3A843F"/>
                </a:solidFill>
                <a:latin typeface="Courier New" panose="02070309020205020404" pitchFamily="49" charset="0"/>
                <a:cs typeface="Courier New" panose="02070309020205020404" pitchFamily="49" charset="0"/>
              </a:rPr>
              <a:t>"student1.txt"</a:t>
            </a:r>
            <a:r>
              <a:rPr lang="en-US" sz="1200" dirty="0">
                <a:solidFill>
                  <a:srgbClr val="0D0D0D"/>
                </a:solidFill>
                <a:latin typeface="Courier New" panose="02070309020205020404" pitchFamily="49" charset="0"/>
                <a:cs typeface="Courier New" panose="02070309020205020404" pitchFamily="49" charset="0"/>
              </a:rPr>
              <a:t>);</a:t>
            </a:r>
          </a:p>
          <a:p>
            <a:pPr>
              <a:lnSpc>
                <a:spcPts val="1500"/>
              </a:lnSpc>
            </a:pPr>
            <a:endParaRPr lang="en-US" sz="1200" dirty="0">
              <a:solidFill>
                <a:srgbClr val="0D0D0D"/>
              </a:solidFill>
              <a:latin typeface="Courier New" panose="02070309020205020404" pitchFamily="49" charset="0"/>
              <a:cs typeface="Courier New" panose="02070309020205020404" pitchFamily="49" charset="0"/>
            </a:endParaRPr>
          </a:p>
          <a:p>
            <a:pPr lvl="2">
              <a:lnSpc>
                <a:spcPts val="1500"/>
              </a:lnSpc>
            </a:pP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643CAE"/>
                </a:solidFill>
                <a:latin typeface="Courier New" panose="02070309020205020404" pitchFamily="49" charset="0"/>
                <a:cs typeface="Courier New" panose="02070309020205020404" pitchFamily="49" charset="0"/>
              </a:rPr>
              <a:t>int</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643CAE"/>
                </a:solidFill>
                <a:latin typeface="Courier New" panose="02070309020205020404" pitchFamily="49" charset="0"/>
                <a:cs typeface="Courier New" panose="02070309020205020404" pitchFamily="49" charset="0"/>
              </a:rPr>
              <a:t>age</a:t>
            </a:r>
            <a:r>
              <a:rPr lang="en-US" sz="1200" dirty="0">
                <a:solidFill>
                  <a:srgbClr val="0D0D0D"/>
                </a:solidFill>
                <a:latin typeface="Courier New" panose="02070309020205020404" pitchFamily="49" charset="0"/>
                <a:cs typeface="Courier New" panose="02070309020205020404" pitchFamily="49" charset="0"/>
              </a:rPr>
              <a:t> = </a:t>
            </a:r>
            <a:r>
              <a:rPr lang="en-US" sz="1200" dirty="0">
                <a:solidFill>
                  <a:srgbClr val="AC4F23"/>
                </a:solidFill>
                <a:latin typeface="Courier New" panose="02070309020205020404" pitchFamily="49" charset="0"/>
                <a:cs typeface="Courier New" panose="02070309020205020404" pitchFamily="49" charset="0"/>
              </a:rPr>
              <a:t>20</a:t>
            </a:r>
            <a:r>
              <a:rPr lang="en-US" sz="1200" dirty="0">
                <a:solidFill>
                  <a:srgbClr val="0D0D0D"/>
                </a:solidFill>
                <a:latin typeface="Courier New" panose="02070309020205020404" pitchFamily="49" charset="0"/>
                <a:cs typeface="Courier New" panose="02070309020205020404" pitchFamily="49" charset="0"/>
              </a:rPr>
              <a:t>;</a:t>
            </a:r>
          </a:p>
          <a:p>
            <a:pPr lvl="2">
              <a:lnSpc>
                <a:spcPts val="1500"/>
              </a:lnSpc>
            </a:pP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643CAE"/>
                </a:solidFill>
                <a:latin typeface="Courier New" panose="02070309020205020404" pitchFamily="49" charset="0"/>
                <a:cs typeface="Courier New" panose="02070309020205020404" pitchFamily="49" charset="0"/>
              </a:rPr>
              <a:t>double</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643CAE"/>
                </a:solidFill>
                <a:latin typeface="Courier New" panose="02070309020205020404" pitchFamily="49" charset="0"/>
                <a:cs typeface="Courier New" panose="02070309020205020404" pitchFamily="49" charset="0"/>
              </a:rPr>
              <a:t>marks</a:t>
            </a:r>
            <a:r>
              <a:rPr lang="en-US" sz="1200" dirty="0">
                <a:solidFill>
                  <a:srgbClr val="0D0D0D"/>
                </a:solidFill>
                <a:latin typeface="Courier New" panose="02070309020205020404" pitchFamily="49" charset="0"/>
                <a:cs typeface="Courier New" panose="02070309020205020404" pitchFamily="49" charset="0"/>
              </a:rPr>
              <a:t> = </a:t>
            </a:r>
            <a:r>
              <a:rPr lang="en-US" sz="1200" dirty="0">
                <a:solidFill>
                  <a:srgbClr val="AC4F23"/>
                </a:solidFill>
                <a:latin typeface="Courier New" panose="02070309020205020404" pitchFamily="49" charset="0"/>
                <a:cs typeface="Courier New" panose="02070309020205020404" pitchFamily="49" charset="0"/>
              </a:rPr>
              <a:t>85.5</a:t>
            </a:r>
            <a:r>
              <a:rPr lang="en-US" sz="1200" dirty="0">
                <a:solidFill>
                  <a:srgbClr val="0D0D0D"/>
                </a:solidFill>
                <a:latin typeface="Courier New" panose="02070309020205020404" pitchFamily="49" charset="0"/>
                <a:cs typeface="Courier New" panose="02070309020205020404" pitchFamily="49" charset="0"/>
              </a:rPr>
              <a:t>;</a:t>
            </a:r>
          </a:p>
          <a:p>
            <a:pPr lvl="2">
              <a:lnSpc>
                <a:spcPts val="1500"/>
              </a:lnSpc>
            </a:pP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643CAE"/>
                </a:solidFill>
                <a:latin typeface="Courier New" panose="02070309020205020404" pitchFamily="49" charset="0"/>
                <a:cs typeface="Courier New" panose="02070309020205020404" pitchFamily="49" charset="0"/>
              </a:rPr>
              <a:t>string</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643CAE"/>
                </a:solidFill>
                <a:latin typeface="Courier New" panose="02070309020205020404" pitchFamily="49" charset="0"/>
                <a:cs typeface="Courier New" panose="02070309020205020404" pitchFamily="49" charset="0"/>
              </a:rPr>
              <a:t>name</a:t>
            </a:r>
            <a:r>
              <a:rPr lang="en-US" sz="1200" dirty="0">
                <a:solidFill>
                  <a:srgbClr val="0D0D0D"/>
                </a:solidFill>
                <a:latin typeface="Courier New" panose="02070309020205020404" pitchFamily="49" charset="0"/>
                <a:cs typeface="Courier New" panose="02070309020205020404" pitchFamily="49" charset="0"/>
              </a:rPr>
              <a:t> = </a:t>
            </a:r>
            <a:r>
              <a:rPr lang="en-US" sz="1200" dirty="0">
                <a:solidFill>
                  <a:srgbClr val="3A843F"/>
                </a:solidFill>
                <a:latin typeface="Courier New" panose="02070309020205020404" pitchFamily="49" charset="0"/>
                <a:cs typeface="Courier New" panose="02070309020205020404" pitchFamily="49" charset="0"/>
              </a:rPr>
              <a:t>"Ram"</a:t>
            </a:r>
            <a:r>
              <a:rPr lang="en-US" sz="1200" dirty="0">
                <a:solidFill>
                  <a:srgbClr val="0D0D0D"/>
                </a:solidFill>
                <a:latin typeface="Courier New" panose="02070309020205020404" pitchFamily="49" charset="0"/>
                <a:cs typeface="Courier New" panose="02070309020205020404" pitchFamily="49" charset="0"/>
              </a:rPr>
              <a:t>;</a:t>
            </a:r>
          </a:p>
          <a:p>
            <a:pPr lvl="2">
              <a:lnSpc>
                <a:spcPts val="1500"/>
              </a:lnSpc>
            </a:pPr>
            <a:endParaRPr lang="en-US" sz="1200" dirty="0">
              <a:solidFill>
                <a:srgbClr val="0D0D0D"/>
              </a:solidFill>
              <a:latin typeface="Courier New" panose="02070309020205020404" pitchFamily="49" charset="0"/>
              <a:cs typeface="Courier New" panose="02070309020205020404" pitchFamily="49" charset="0"/>
            </a:endParaRPr>
          </a:p>
          <a:p>
            <a:pPr lvl="2">
              <a:lnSpc>
                <a:spcPts val="1500"/>
              </a:lnSpc>
            </a:pP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643CAE"/>
                </a:solidFill>
                <a:latin typeface="Courier New" panose="02070309020205020404" pitchFamily="49" charset="0"/>
                <a:cs typeface="Courier New" panose="02070309020205020404" pitchFamily="49" charset="0"/>
              </a:rPr>
              <a:t>file</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AB4F7A"/>
                </a:solidFill>
                <a:latin typeface="Courier New" panose="02070309020205020404" pitchFamily="49" charset="0"/>
                <a:cs typeface="Courier New" panose="02070309020205020404" pitchFamily="49" charset="0"/>
              </a:rPr>
              <a:t>&lt;&lt;</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643CAE"/>
                </a:solidFill>
                <a:latin typeface="Courier New" panose="02070309020205020404" pitchFamily="49" charset="0"/>
                <a:cs typeface="Courier New" panose="02070309020205020404" pitchFamily="49" charset="0"/>
              </a:rPr>
              <a:t>name</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AB4F7A"/>
                </a:solidFill>
                <a:latin typeface="Courier New" panose="02070309020205020404" pitchFamily="49" charset="0"/>
                <a:cs typeface="Courier New" panose="02070309020205020404" pitchFamily="49" charset="0"/>
              </a:rPr>
              <a:t>&lt;&lt;</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3A843F"/>
                </a:solidFill>
                <a:latin typeface="Courier New" panose="02070309020205020404" pitchFamily="49" charset="0"/>
                <a:cs typeface="Courier New" panose="02070309020205020404" pitchFamily="49" charset="0"/>
              </a:rPr>
              <a:t>" "</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AB4F7A"/>
                </a:solidFill>
                <a:latin typeface="Courier New" panose="02070309020205020404" pitchFamily="49" charset="0"/>
                <a:cs typeface="Courier New" panose="02070309020205020404" pitchFamily="49" charset="0"/>
              </a:rPr>
              <a:t>&lt;&lt;</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643CAE"/>
                </a:solidFill>
                <a:latin typeface="Courier New" panose="02070309020205020404" pitchFamily="49" charset="0"/>
                <a:cs typeface="Courier New" panose="02070309020205020404" pitchFamily="49" charset="0"/>
              </a:rPr>
              <a:t>age</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AB4F7A"/>
                </a:solidFill>
                <a:latin typeface="Courier New" panose="02070309020205020404" pitchFamily="49" charset="0"/>
                <a:cs typeface="Courier New" panose="02070309020205020404" pitchFamily="49" charset="0"/>
              </a:rPr>
              <a:t>&lt;&lt;</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3A843F"/>
                </a:solidFill>
                <a:latin typeface="Courier New" panose="02070309020205020404" pitchFamily="49" charset="0"/>
                <a:cs typeface="Courier New" panose="02070309020205020404" pitchFamily="49" charset="0"/>
              </a:rPr>
              <a:t>" "</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AB4F7A"/>
                </a:solidFill>
                <a:latin typeface="Courier New" panose="02070309020205020404" pitchFamily="49" charset="0"/>
                <a:cs typeface="Courier New" panose="02070309020205020404" pitchFamily="49" charset="0"/>
              </a:rPr>
              <a:t>&lt;&lt;</a:t>
            </a:r>
            <a:r>
              <a:rPr lang="en-US" sz="1200" dirty="0">
                <a:solidFill>
                  <a:srgbClr val="0D0D0D"/>
                </a:solidFill>
                <a:latin typeface="Courier New" panose="02070309020205020404" pitchFamily="49" charset="0"/>
                <a:cs typeface="Courier New" panose="02070309020205020404" pitchFamily="49" charset="0"/>
              </a:rPr>
              <a:t> </a:t>
            </a:r>
            <a:r>
              <a:rPr lang="en-US" sz="1200" dirty="0">
                <a:solidFill>
                  <a:srgbClr val="643CAE"/>
                </a:solidFill>
                <a:latin typeface="Courier New" panose="02070309020205020404" pitchFamily="49" charset="0"/>
                <a:cs typeface="Courier New" panose="02070309020205020404" pitchFamily="49" charset="0"/>
              </a:rPr>
              <a:t>marks</a:t>
            </a:r>
            <a:r>
              <a:rPr lang="en-US" sz="1200" dirty="0">
                <a:solidFill>
                  <a:srgbClr val="0D0D0D"/>
                </a:solidFill>
                <a:latin typeface="Courier New" panose="02070309020205020404" pitchFamily="49" charset="0"/>
                <a:cs typeface="Courier New" panose="02070309020205020404" pitchFamily="49" charset="0"/>
              </a:rPr>
              <a:t>;</a:t>
            </a:r>
          </a:p>
          <a:p>
            <a:pPr lvl="2">
              <a:lnSpc>
                <a:spcPts val="1500"/>
              </a:lnSpc>
            </a:pPr>
            <a:endParaRPr lang="en-US" sz="1200" dirty="0">
              <a:solidFill>
                <a:srgbClr val="0D0D0D"/>
              </a:solidFill>
              <a:latin typeface="Courier New" panose="02070309020205020404" pitchFamily="49" charset="0"/>
              <a:cs typeface="Courier New" panose="02070309020205020404" pitchFamily="49" charset="0"/>
            </a:endParaRPr>
          </a:p>
          <a:p>
            <a:pPr lvl="2">
              <a:lnSpc>
                <a:spcPts val="1500"/>
              </a:lnSpc>
            </a:pPr>
            <a:r>
              <a:rPr lang="en-US" sz="1200" dirty="0">
                <a:solidFill>
                  <a:srgbClr val="0D0D0D"/>
                </a:solidFill>
                <a:latin typeface="Courier New" panose="02070309020205020404" pitchFamily="49" charset="0"/>
                <a:cs typeface="Courier New" panose="02070309020205020404" pitchFamily="49" charset="0"/>
              </a:rPr>
              <a:t>    </a:t>
            </a:r>
            <a:r>
              <a:rPr lang="en-US" sz="1200" dirty="0" err="1">
                <a:solidFill>
                  <a:srgbClr val="643CAE"/>
                </a:solidFill>
                <a:latin typeface="Courier New" panose="02070309020205020404" pitchFamily="49" charset="0"/>
                <a:cs typeface="Courier New" panose="02070309020205020404" pitchFamily="49" charset="0"/>
              </a:rPr>
              <a:t>file</a:t>
            </a:r>
            <a:r>
              <a:rPr lang="en-US" sz="1200" dirty="0" err="1">
                <a:solidFill>
                  <a:srgbClr val="0D0D0D"/>
                </a:solidFill>
                <a:latin typeface="Courier New" panose="02070309020205020404" pitchFamily="49" charset="0"/>
                <a:cs typeface="Courier New" panose="02070309020205020404" pitchFamily="49" charset="0"/>
              </a:rPr>
              <a:t>.close</a:t>
            </a:r>
            <a:r>
              <a:rPr lang="en-US" sz="1200" dirty="0">
                <a:solidFill>
                  <a:srgbClr val="0D0D0D"/>
                </a:solidFill>
                <a:latin typeface="Courier New" panose="02070309020205020404" pitchFamily="49" charset="0"/>
                <a:cs typeface="Courier New" panose="02070309020205020404" pitchFamily="49" charset="0"/>
              </a:rPr>
              <a:t>();</a:t>
            </a:r>
          </a:p>
          <a:p>
            <a:pPr>
              <a:lnSpc>
                <a:spcPct val="103000"/>
              </a:lnSpc>
            </a:pP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return 0;</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00533913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7BB16-F00D-9AC8-2826-8E36B2C7A206}"/>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311D993E-B0FE-AE0F-4D69-4CB5E379FE38}"/>
              </a:ext>
            </a:extLst>
          </p:cNvPr>
          <p:cNvSpPr/>
          <p:nvPr/>
        </p:nvSpPr>
        <p:spPr>
          <a:xfrm>
            <a:off x="477029" y="790089"/>
            <a:ext cx="5303520" cy="267761"/>
          </a:xfrm>
          <a:prstGeom prst="rect">
            <a:avLst/>
          </a:prstGeom>
          <a:noFill/>
          <a:ln/>
        </p:spPr>
        <p:txBody>
          <a:bodyPr wrap="square" lIns="0" tIns="0" rIns="0" bIns="0" rtlCol="0" anchor="ctr"/>
          <a:lstStyle/>
          <a:p>
            <a:r>
              <a:rPr lang="en-US" sz="1600" b="1" dirty="0">
                <a:solidFill>
                  <a:srgbClr val="16233B"/>
                </a:solidFill>
                <a:latin typeface="Cambria" pitchFamily="34" charset="0"/>
                <a:ea typeface="Cambria" pitchFamily="34" charset="-122"/>
              </a:rPr>
              <a:t>get() - Find One character</a:t>
            </a:r>
          </a:p>
        </p:txBody>
      </p:sp>
      <p:sp>
        <p:nvSpPr>
          <p:cNvPr id="11" name="Text 2">
            <a:extLst>
              <a:ext uri="{FF2B5EF4-FFF2-40B4-BE49-F238E27FC236}">
                <a16:creationId xmlns:a16="http://schemas.microsoft.com/office/drawing/2014/main" id="{757F4548-14CC-5021-727D-E5E02B029118}"/>
              </a:ext>
            </a:extLst>
          </p:cNvPr>
          <p:cNvSpPr/>
          <p:nvPr/>
        </p:nvSpPr>
        <p:spPr>
          <a:xfrm>
            <a:off x="477029" y="1057850"/>
            <a:ext cx="10746450" cy="1280160"/>
          </a:xfrm>
          <a:prstGeom prst="rect">
            <a:avLst/>
          </a:prstGeom>
          <a:solidFill>
            <a:srgbClr val="F2F2F2"/>
          </a:solidFill>
          <a:ln w="9525">
            <a:solidFill>
              <a:srgbClr val="000000"/>
            </a:solidFill>
          </a:ln>
        </p:spPr>
        <p:txBody>
          <a:bodyPr wrap="square" lIns="152400" tIns="152400" rIns="152400" bIns="152400" rtlCol="0" anchor="t">
            <a:spAutoFit/>
          </a:bodyPr>
          <a:lstStyle/>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int main() {</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lvl="1">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ifstream</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 file("student.txt"); </a:t>
            </a:r>
          </a:p>
          <a:p>
            <a:pPr lvl="1">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char ch; </a:t>
            </a:r>
          </a:p>
          <a:p>
            <a:pPr lvl="1">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while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file.get</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(ch)) {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cout</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 &lt;&lt; ch; }</a:t>
            </a:r>
          </a:p>
          <a:p>
            <a:pPr lvl="1">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file.close</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a:t>
            </a:r>
          </a:p>
          <a:p>
            <a:pPr lvl="2">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p:txBody>
      </p:sp>
      <p:sp>
        <p:nvSpPr>
          <p:cNvPr id="14" name="Text 0">
            <a:extLst>
              <a:ext uri="{FF2B5EF4-FFF2-40B4-BE49-F238E27FC236}">
                <a16:creationId xmlns:a16="http://schemas.microsoft.com/office/drawing/2014/main" id="{919B2494-1915-EF8A-39F7-43E6569808F0}"/>
              </a:ext>
            </a:extLst>
          </p:cNvPr>
          <p:cNvSpPr/>
          <p:nvPr/>
        </p:nvSpPr>
        <p:spPr>
          <a:xfrm>
            <a:off x="407324" y="354399"/>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11</a:t>
            </a:r>
            <a:endParaRPr lang="en-US" sz="1400" dirty="0"/>
          </a:p>
        </p:txBody>
      </p:sp>
      <p:sp>
        <p:nvSpPr>
          <p:cNvPr id="7" name="Text 1">
            <a:extLst>
              <a:ext uri="{FF2B5EF4-FFF2-40B4-BE49-F238E27FC236}">
                <a16:creationId xmlns:a16="http://schemas.microsoft.com/office/drawing/2014/main" id="{95843322-A216-AB59-CCCF-DCD5E4EC4054}"/>
              </a:ext>
            </a:extLst>
          </p:cNvPr>
          <p:cNvSpPr/>
          <p:nvPr/>
        </p:nvSpPr>
        <p:spPr>
          <a:xfrm>
            <a:off x="546734" y="2598248"/>
            <a:ext cx="5303520" cy="267762"/>
          </a:xfrm>
          <a:prstGeom prst="rect">
            <a:avLst/>
          </a:prstGeom>
          <a:noFill/>
          <a:ln/>
        </p:spPr>
        <p:txBody>
          <a:bodyPr wrap="square" lIns="0" tIns="0" rIns="0" bIns="0" rtlCol="0" anchor="ctr"/>
          <a:lstStyle/>
          <a:p>
            <a:r>
              <a:rPr lang="en-US" sz="1600" b="1" dirty="0">
                <a:solidFill>
                  <a:srgbClr val="16233B"/>
                </a:solidFill>
                <a:latin typeface="Cambria" pitchFamily="34" charset="0"/>
                <a:ea typeface="Cambria" pitchFamily="34" charset="-122"/>
              </a:rPr>
              <a:t>put() - Write One character</a:t>
            </a:r>
          </a:p>
        </p:txBody>
      </p:sp>
      <p:sp>
        <p:nvSpPr>
          <p:cNvPr id="10" name="Text 2">
            <a:extLst>
              <a:ext uri="{FF2B5EF4-FFF2-40B4-BE49-F238E27FC236}">
                <a16:creationId xmlns:a16="http://schemas.microsoft.com/office/drawing/2014/main" id="{5411565B-E8F5-E523-ED9A-C0211AE29F68}"/>
              </a:ext>
            </a:extLst>
          </p:cNvPr>
          <p:cNvSpPr/>
          <p:nvPr/>
        </p:nvSpPr>
        <p:spPr>
          <a:xfrm>
            <a:off x="477029" y="2969574"/>
            <a:ext cx="10746450" cy="1645920"/>
          </a:xfrm>
          <a:prstGeom prst="rect">
            <a:avLst/>
          </a:prstGeom>
          <a:solidFill>
            <a:srgbClr val="F2F2F2"/>
          </a:solidFill>
          <a:ln w="9525">
            <a:solidFill>
              <a:srgbClr val="000000"/>
            </a:solidFill>
          </a:ln>
        </p:spPr>
        <p:txBody>
          <a:bodyPr wrap="square" lIns="152400" tIns="152400" rIns="152400" bIns="152400" rtlCol="0" anchor="t">
            <a:spAutoFit/>
          </a:bodyPr>
          <a:lstStyle/>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int main() {</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lvl="1">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ifstream</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 file("output.txt");</a:t>
            </a:r>
          </a:p>
          <a:p>
            <a:pPr lvl="1">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p>
          <a:p>
            <a:pPr lvl="1">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file.put</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('A’); </a:t>
            </a:r>
          </a:p>
          <a:p>
            <a:pPr lvl="1">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file.put</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('B’); </a:t>
            </a:r>
          </a:p>
          <a:p>
            <a:pPr lvl="1">
              <a:lnSpc>
                <a:spcPct val="103000"/>
              </a:lnSpc>
            </a:pP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lvl="1">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file.close</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a:t>
            </a:r>
          </a:p>
          <a:p>
            <a:pPr lvl="2">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p:txBody>
      </p:sp>
      <p:sp>
        <p:nvSpPr>
          <p:cNvPr id="15" name="Text 2">
            <a:extLst>
              <a:ext uri="{FF2B5EF4-FFF2-40B4-BE49-F238E27FC236}">
                <a16:creationId xmlns:a16="http://schemas.microsoft.com/office/drawing/2014/main" id="{4B79239E-3FFA-D615-3CA6-E26665D911ED}"/>
              </a:ext>
            </a:extLst>
          </p:cNvPr>
          <p:cNvSpPr/>
          <p:nvPr/>
        </p:nvSpPr>
        <p:spPr>
          <a:xfrm>
            <a:off x="477029" y="5077790"/>
            <a:ext cx="10746450" cy="1645920"/>
          </a:xfrm>
          <a:prstGeom prst="rect">
            <a:avLst/>
          </a:prstGeom>
          <a:solidFill>
            <a:srgbClr val="F2F2F2"/>
          </a:solidFill>
          <a:ln w="9525">
            <a:solidFill>
              <a:srgbClr val="000000"/>
            </a:solidFill>
          </a:ln>
        </p:spPr>
        <p:txBody>
          <a:bodyPr wrap="square" lIns="152400" tIns="152400" rIns="152400" bIns="152400" rtlCol="0" anchor="t">
            <a:spAutoFit/>
          </a:bodyPr>
          <a:lstStyle/>
          <a:p>
            <a:pPr>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int main() {</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a:p>
            <a:pPr lvl="1">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ifstream</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 file("student.txt"); </a:t>
            </a:r>
          </a:p>
          <a:p>
            <a:pPr lvl="1">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string line;</a:t>
            </a:r>
          </a:p>
          <a:p>
            <a:pPr lvl="1">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getline</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(file, line); </a:t>
            </a:r>
          </a:p>
          <a:p>
            <a:pPr lvl="1">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cout</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 &lt;&lt; line;	</a:t>
            </a:r>
          </a:p>
          <a:p>
            <a:pPr lvl="1">
              <a:lnSpc>
                <a:spcPct val="103000"/>
              </a:lnSpc>
            </a:pPr>
            <a:r>
              <a:rPr lang="en-US" sz="1200" dirty="0">
                <a:solidFill>
                  <a:schemeClr val="tx1">
                    <a:lumMod val="65000"/>
                    <a:lumOff val="35000"/>
                  </a:schemeClr>
                </a:solidFill>
                <a:latin typeface="Courier New" panose="02070309020205020404" pitchFamily="49" charset="0"/>
                <a:cs typeface="Courier New" panose="02070309020205020404" pitchFamily="49" charset="0"/>
              </a:rPr>
              <a:t>	</a:t>
            </a:r>
          </a:p>
          <a:p>
            <a:pPr lvl="1">
              <a:lnSpc>
                <a:spcPct val="103000"/>
              </a:lnSpc>
            </a:pPr>
            <a:r>
              <a:rPr lang="en-US" sz="1200" dirty="0" err="1">
                <a:solidFill>
                  <a:schemeClr val="tx1">
                    <a:lumMod val="65000"/>
                    <a:lumOff val="35000"/>
                  </a:schemeClr>
                </a:solidFill>
                <a:latin typeface="Courier New" panose="02070309020205020404" pitchFamily="49" charset="0"/>
                <a:cs typeface="Courier New" panose="02070309020205020404" pitchFamily="49" charset="0"/>
              </a:rPr>
              <a:t>file.close</a:t>
            </a:r>
            <a:r>
              <a:rPr lang="en-US" sz="1200" dirty="0">
                <a:solidFill>
                  <a:schemeClr val="tx1">
                    <a:lumMod val="65000"/>
                    <a:lumOff val="35000"/>
                  </a:schemeClr>
                </a:solidFill>
                <a:latin typeface="Courier New" panose="02070309020205020404" pitchFamily="49" charset="0"/>
                <a:cs typeface="Courier New" panose="02070309020205020404" pitchFamily="49" charset="0"/>
              </a:rPr>
              <a:t>();</a:t>
            </a:r>
          </a:p>
          <a:p>
            <a:pPr lvl="2">
              <a:lnSpc>
                <a:spcPct val="103000"/>
              </a:lnSpc>
            </a:pPr>
            <a:r>
              <a:rPr lang="en-US" sz="12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p:txBody>
      </p:sp>
      <p:sp>
        <p:nvSpPr>
          <p:cNvPr id="17" name="Text 1">
            <a:extLst>
              <a:ext uri="{FF2B5EF4-FFF2-40B4-BE49-F238E27FC236}">
                <a16:creationId xmlns:a16="http://schemas.microsoft.com/office/drawing/2014/main" id="{CCB2328F-B30D-4396-8E92-7E975EB8A53B}"/>
              </a:ext>
            </a:extLst>
          </p:cNvPr>
          <p:cNvSpPr/>
          <p:nvPr/>
        </p:nvSpPr>
        <p:spPr>
          <a:xfrm>
            <a:off x="477029" y="4719058"/>
            <a:ext cx="5303520" cy="378268"/>
          </a:xfrm>
          <a:prstGeom prst="rect">
            <a:avLst/>
          </a:prstGeom>
          <a:noFill/>
          <a:ln/>
        </p:spPr>
        <p:txBody>
          <a:bodyPr wrap="square" lIns="0" tIns="0" rIns="0" bIns="0" rtlCol="0" anchor="ctr"/>
          <a:lstStyle/>
          <a:p>
            <a:r>
              <a:rPr lang="en-US" b="1" dirty="0" err="1">
                <a:solidFill>
                  <a:srgbClr val="16233B"/>
                </a:solidFill>
                <a:latin typeface="Cambria" pitchFamily="34" charset="0"/>
                <a:ea typeface="Cambria" pitchFamily="34" charset="-122"/>
              </a:rPr>
              <a:t>getline</a:t>
            </a:r>
            <a:r>
              <a:rPr lang="en-US" b="1" dirty="0">
                <a:solidFill>
                  <a:srgbClr val="16233B"/>
                </a:solidFill>
                <a:latin typeface="Cambria" pitchFamily="34" charset="0"/>
                <a:ea typeface="Cambria" pitchFamily="34" charset="-122"/>
              </a:rPr>
              <a:t>() - Read an Entire Line</a:t>
            </a:r>
          </a:p>
        </p:txBody>
      </p:sp>
    </p:spTree>
    <p:extLst>
      <p:ext uri="{BB962C8B-B14F-4D97-AF65-F5344CB8AC3E}">
        <p14:creationId xmlns:p14="http://schemas.microsoft.com/office/powerpoint/2010/main" val="315817962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514DF-17CF-B413-EE12-47199FB539B0}"/>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816EB1B7-DFBB-E40E-2C36-F20E7E444215}"/>
              </a:ext>
            </a:extLst>
          </p:cNvPr>
          <p:cNvSpPr/>
          <p:nvPr/>
        </p:nvSpPr>
        <p:spPr>
          <a:xfrm>
            <a:off x="477029" y="868645"/>
            <a:ext cx="5303520" cy="365761"/>
          </a:xfrm>
          <a:prstGeom prst="rect">
            <a:avLst/>
          </a:prstGeom>
          <a:noFill/>
          <a:ln/>
        </p:spPr>
        <p:txBody>
          <a:bodyPr wrap="square" lIns="0" tIns="0" rIns="0" bIns="0" rtlCol="0" anchor="ctr"/>
          <a:lstStyle/>
          <a:p>
            <a:r>
              <a:rPr lang="en-US" dirty="0"/>
              <a:t>read() and write() - Block I/O</a:t>
            </a:r>
            <a:endParaRPr lang="en-US" b="1" dirty="0">
              <a:solidFill>
                <a:srgbClr val="16233B"/>
              </a:solidFill>
              <a:latin typeface="Cambria" pitchFamily="34" charset="0"/>
              <a:ea typeface="Cambria" pitchFamily="34" charset="-122"/>
            </a:endParaRPr>
          </a:p>
        </p:txBody>
      </p:sp>
      <p:sp>
        <p:nvSpPr>
          <p:cNvPr id="11" name="Text 2">
            <a:extLst>
              <a:ext uri="{FF2B5EF4-FFF2-40B4-BE49-F238E27FC236}">
                <a16:creationId xmlns:a16="http://schemas.microsoft.com/office/drawing/2014/main" id="{A74E33B6-2C36-6A7B-5C12-C0A78BA6161D}"/>
              </a:ext>
            </a:extLst>
          </p:cNvPr>
          <p:cNvSpPr/>
          <p:nvPr/>
        </p:nvSpPr>
        <p:spPr>
          <a:xfrm>
            <a:off x="579935" y="2201658"/>
            <a:ext cx="5344615" cy="496611"/>
          </a:xfrm>
          <a:prstGeom prst="rect">
            <a:avLst/>
          </a:prstGeom>
          <a:solidFill>
            <a:srgbClr val="F2F2F2"/>
          </a:solidFill>
          <a:ln w="9525">
            <a:solidFill>
              <a:srgbClr val="000000"/>
            </a:solidFill>
          </a:ln>
        </p:spPr>
        <p:txBody>
          <a:bodyPr wrap="square" lIns="152400" tIns="152400" rIns="152400" bIns="152400" rtlCol="0" anchor="t">
            <a:spAutoFit/>
          </a:bodyPr>
          <a:lstStyle/>
          <a:p>
            <a:pPr>
              <a:lnSpc>
                <a:spcPct val="103000"/>
              </a:lnSpc>
            </a:pPr>
            <a:r>
              <a:rPr lang="en-US" sz="1200" dirty="0" err="1">
                <a:latin typeface="Courier New" panose="02070309020205020404" pitchFamily="49" charset="0"/>
                <a:cs typeface="Courier New" panose="02070309020205020404" pitchFamily="49" charset="0"/>
              </a:rPr>
              <a:t>file.write</a:t>
            </a:r>
            <a:r>
              <a:rPr lang="en-US" sz="1200" dirty="0">
                <a:latin typeface="Courier New" panose="02070309020205020404" pitchFamily="49" charset="0"/>
                <a:cs typeface="Courier New" panose="02070309020205020404" pitchFamily="49" charset="0"/>
              </a:rPr>
              <a:t>((char*)&amp;student, </a:t>
            </a:r>
            <a:r>
              <a:rPr lang="en-US" sz="1200" dirty="0" err="1">
                <a:latin typeface="Courier New" panose="02070309020205020404" pitchFamily="49" charset="0"/>
                <a:cs typeface="Courier New" panose="02070309020205020404" pitchFamily="49" charset="0"/>
              </a:rPr>
              <a:t>sizeof</a:t>
            </a:r>
            <a:r>
              <a:rPr lang="en-US" sz="1200" dirty="0">
                <a:latin typeface="Courier New" panose="02070309020205020404" pitchFamily="49" charset="0"/>
                <a:cs typeface="Courier New" panose="02070309020205020404" pitchFamily="49" charset="0"/>
              </a:rPr>
              <a:t>(student));</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p:txBody>
      </p:sp>
      <p:sp>
        <p:nvSpPr>
          <p:cNvPr id="14" name="Text 0">
            <a:extLst>
              <a:ext uri="{FF2B5EF4-FFF2-40B4-BE49-F238E27FC236}">
                <a16:creationId xmlns:a16="http://schemas.microsoft.com/office/drawing/2014/main" id="{E690892D-59A2-264E-9578-DE51489D28E1}"/>
              </a:ext>
            </a:extLst>
          </p:cNvPr>
          <p:cNvSpPr/>
          <p:nvPr/>
        </p:nvSpPr>
        <p:spPr>
          <a:xfrm>
            <a:off x="407324" y="354399"/>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11</a:t>
            </a:r>
            <a:endParaRPr lang="en-US" sz="1400" dirty="0"/>
          </a:p>
        </p:txBody>
      </p:sp>
      <p:sp>
        <p:nvSpPr>
          <p:cNvPr id="4" name="TextBox 3">
            <a:extLst>
              <a:ext uri="{FF2B5EF4-FFF2-40B4-BE49-F238E27FC236}">
                <a16:creationId xmlns:a16="http://schemas.microsoft.com/office/drawing/2014/main" id="{025F6D06-452D-61C8-0401-7DA9C85AEE34}"/>
              </a:ext>
            </a:extLst>
          </p:cNvPr>
          <p:cNvSpPr txBox="1"/>
          <p:nvPr/>
        </p:nvSpPr>
        <p:spPr>
          <a:xfrm>
            <a:off x="477029" y="1234406"/>
            <a:ext cx="6096000" cy="338554"/>
          </a:xfrm>
          <a:prstGeom prst="rect">
            <a:avLst/>
          </a:prstGeom>
          <a:noFill/>
        </p:spPr>
        <p:txBody>
          <a:bodyPr wrap="square">
            <a:spAutoFit/>
          </a:bodyPr>
          <a:lstStyle/>
          <a:p>
            <a:r>
              <a:rPr lang="en-US" sz="1600" dirty="0"/>
              <a:t>These are especially important when dealing with </a:t>
            </a:r>
            <a:r>
              <a:rPr lang="en-US" sz="1600" b="1" dirty="0"/>
              <a:t>binary files</a:t>
            </a:r>
            <a:r>
              <a:rPr lang="en-US" sz="1600" dirty="0"/>
              <a:t>.</a:t>
            </a:r>
          </a:p>
        </p:txBody>
      </p:sp>
      <p:sp>
        <p:nvSpPr>
          <p:cNvPr id="6" name="TextBox 5">
            <a:extLst>
              <a:ext uri="{FF2B5EF4-FFF2-40B4-BE49-F238E27FC236}">
                <a16:creationId xmlns:a16="http://schemas.microsoft.com/office/drawing/2014/main" id="{03936528-DB38-F734-E483-502298374E8E}"/>
              </a:ext>
            </a:extLst>
          </p:cNvPr>
          <p:cNvSpPr txBox="1"/>
          <p:nvPr/>
        </p:nvSpPr>
        <p:spPr>
          <a:xfrm>
            <a:off x="579935" y="1779517"/>
            <a:ext cx="6096000" cy="338554"/>
          </a:xfrm>
          <a:prstGeom prst="rect">
            <a:avLst/>
          </a:prstGeom>
          <a:noFill/>
        </p:spPr>
        <p:txBody>
          <a:bodyPr wrap="square">
            <a:spAutoFit/>
          </a:bodyPr>
          <a:lstStyle/>
          <a:p>
            <a:r>
              <a:rPr lang="en-US" sz="1600" dirty="0"/>
              <a:t>write() : Writes a block of bytes.</a:t>
            </a:r>
          </a:p>
        </p:txBody>
      </p:sp>
      <p:sp>
        <p:nvSpPr>
          <p:cNvPr id="12" name="Text 2">
            <a:extLst>
              <a:ext uri="{FF2B5EF4-FFF2-40B4-BE49-F238E27FC236}">
                <a16:creationId xmlns:a16="http://schemas.microsoft.com/office/drawing/2014/main" id="{16A32BDA-FD2C-E561-1A92-BD803D37E9B2}"/>
              </a:ext>
            </a:extLst>
          </p:cNvPr>
          <p:cNvSpPr/>
          <p:nvPr/>
        </p:nvSpPr>
        <p:spPr>
          <a:xfrm>
            <a:off x="477029" y="3599570"/>
            <a:ext cx="5447521" cy="496611"/>
          </a:xfrm>
          <a:prstGeom prst="rect">
            <a:avLst/>
          </a:prstGeom>
          <a:solidFill>
            <a:srgbClr val="F2F2F2"/>
          </a:solidFill>
          <a:ln w="9525">
            <a:solidFill>
              <a:srgbClr val="000000"/>
            </a:solidFill>
          </a:ln>
        </p:spPr>
        <p:txBody>
          <a:bodyPr wrap="square" lIns="152400" tIns="152400" rIns="152400" bIns="152400" rtlCol="0" anchor="t">
            <a:spAutoFit/>
          </a:bodyPr>
          <a:lstStyle/>
          <a:p>
            <a:pPr>
              <a:lnSpc>
                <a:spcPct val="103000"/>
              </a:lnSpc>
            </a:pPr>
            <a:r>
              <a:rPr lang="en-US" sz="1200" dirty="0" err="1">
                <a:latin typeface="Courier New" panose="02070309020205020404" pitchFamily="49" charset="0"/>
                <a:cs typeface="Courier New" panose="02070309020205020404" pitchFamily="49" charset="0"/>
              </a:rPr>
              <a:t>file.read</a:t>
            </a:r>
            <a:r>
              <a:rPr lang="en-US" sz="1200" dirty="0">
                <a:latin typeface="Courier New" panose="02070309020205020404" pitchFamily="49" charset="0"/>
                <a:cs typeface="Courier New" panose="02070309020205020404" pitchFamily="49" charset="0"/>
              </a:rPr>
              <a:t>((char*)&amp;student, </a:t>
            </a:r>
            <a:r>
              <a:rPr lang="en-US" sz="1200" dirty="0" err="1">
                <a:latin typeface="Courier New" panose="02070309020205020404" pitchFamily="49" charset="0"/>
                <a:cs typeface="Courier New" panose="02070309020205020404" pitchFamily="49" charset="0"/>
              </a:rPr>
              <a:t>sizeof</a:t>
            </a:r>
            <a:r>
              <a:rPr lang="en-US" sz="1200" dirty="0">
                <a:latin typeface="Courier New" panose="02070309020205020404" pitchFamily="49" charset="0"/>
                <a:cs typeface="Courier New" panose="02070309020205020404" pitchFamily="49" charset="0"/>
              </a:rPr>
              <a:t>(student));</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p:txBody>
      </p:sp>
      <p:sp>
        <p:nvSpPr>
          <p:cNvPr id="15" name="TextBox 14">
            <a:extLst>
              <a:ext uri="{FF2B5EF4-FFF2-40B4-BE49-F238E27FC236}">
                <a16:creationId xmlns:a16="http://schemas.microsoft.com/office/drawing/2014/main" id="{F963F608-5329-052F-B12E-B032B851957A}"/>
              </a:ext>
            </a:extLst>
          </p:cNvPr>
          <p:cNvSpPr txBox="1"/>
          <p:nvPr/>
        </p:nvSpPr>
        <p:spPr>
          <a:xfrm>
            <a:off x="477029" y="3177429"/>
            <a:ext cx="6096000" cy="338554"/>
          </a:xfrm>
          <a:prstGeom prst="rect">
            <a:avLst/>
          </a:prstGeom>
          <a:noFill/>
        </p:spPr>
        <p:txBody>
          <a:bodyPr wrap="square">
            <a:spAutoFit/>
          </a:bodyPr>
          <a:lstStyle/>
          <a:p>
            <a:r>
              <a:rPr lang="en-US" sz="1600" dirty="0"/>
              <a:t>read() : Reads a block of bytes.</a:t>
            </a:r>
          </a:p>
        </p:txBody>
      </p:sp>
      <p:sp>
        <p:nvSpPr>
          <p:cNvPr id="17" name="Text 2">
            <a:extLst>
              <a:ext uri="{FF2B5EF4-FFF2-40B4-BE49-F238E27FC236}">
                <a16:creationId xmlns:a16="http://schemas.microsoft.com/office/drawing/2014/main" id="{8E57D5A0-02BD-6D49-CB40-8DF4EA9B5B84}"/>
              </a:ext>
            </a:extLst>
          </p:cNvPr>
          <p:cNvSpPr/>
          <p:nvPr/>
        </p:nvSpPr>
        <p:spPr>
          <a:xfrm>
            <a:off x="6573029" y="963200"/>
            <a:ext cx="5447521" cy="4616648"/>
          </a:xfrm>
          <a:prstGeom prst="rect">
            <a:avLst/>
          </a:prstGeom>
          <a:solidFill>
            <a:srgbClr val="F2F2F2"/>
          </a:solidFill>
          <a:ln w="9525">
            <a:solidFill>
              <a:srgbClr val="000000"/>
            </a:solidFill>
          </a:ln>
        </p:spPr>
        <p:txBody>
          <a:bodyPr wrap="square" lIns="152400" tIns="152400" rIns="152400" bIns="152400" rtlCol="0" anchor="t">
            <a:spAutoFit/>
          </a:bodyPr>
          <a:lstStyle/>
          <a:p>
            <a:r>
              <a:rPr lang="en-US" sz="1400" dirty="0">
                <a:latin typeface="Courier New" panose="02070309020205020404" pitchFamily="49" charset="0"/>
                <a:cs typeface="Courier New" panose="02070309020205020404" pitchFamily="49" charset="0"/>
              </a:rPr>
              <a:t>class Student{</a:t>
            </a:r>
          </a:p>
          <a:p>
            <a:r>
              <a:rPr lang="en-US" sz="1400" dirty="0">
                <a:latin typeface="Courier New" panose="02070309020205020404" pitchFamily="49" charset="0"/>
                <a:cs typeface="Courier New" panose="02070309020205020404" pitchFamily="49" charset="0"/>
              </a:rPr>
              <a:t>public:</a:t>
            </a:r>
          </a:p>
          <a:p>
            <a:r>
              <a:rPr lang="en-US" sz="1400" dirty="0">
                <a:latin typeface="Courier New" panose="02070309020205020404" pitchFamily="49" charset="0"/>
                <a:cs typeface="Courier New" panose="02070309020205020404" pitchFamily="49" charset="0"/>
              </a:rPr>
              <a:t>    int id;</a:t>
            </a:r>
          </a:p>
          <a:p>
            <a:r>
              <a:rPr lang="en-US" sz="1400" dirty="0">
                <a:latin typeface="Courier New" panose="02070309020205020404" pitchFamily="49" charset="0"/>
                <a:cs typeface="Courier New" panose="02070309020205020404" pitchFamily="49" charset="0"/>
              </a:rPr>
              <a:t>    char name[20];</a:t>
            </a:r>
          </a:p>
          <a:p>
            <a:r>
              <a:rPr lang="en-US" sz="1400" dirty="0">
                <a:latin typeface="Courier New" panose="02070309020205020404" pitchFamily="49" charset="0"/>
                <a:cs typeface="Courier New" panose="02070309020205020404" pitchFamily="49" charset="0"/>
              </a:rPr>
              <a:t>    float marks;</a:t>
            </a:r>
          </a:p>
          <a:p>
            <a:r>
              <a:rPr lang="en-US" sz="1400" dirty="0">
                <a:latin typeface="Courier New" panose="02070309020205020404" pitchFamily="49" charset="0"/>
                <a:cs typeface="Courier New" panose="02070309020205020404" pitchFamily="49" charset="0"/>
              </a:rPr>
              <a:t>};</a:t>
            </a:r>
          </a:p>
          <a:p>
            <a:br>
              <a:rPr lang="en-US" sz="1400" dirty="0">
                <a:latin typeface="Courier New" panose="02070309020205020404" pitchFamily="49" charset="0"/>
                <a:cs typeface="Courier New" panose="02070309020205020404" pitchFamily="49" charset="0"/>
              </a:rPr>
            </a:b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int main()</a:t>
            </a:r>
          </a:p>
          <a:p>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    Student s = {101, "Ram", 85.5};</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ofstream</a:t>
            </a:r>
            <a:r>
              <a:rPr lang="en-US" sz="1400" dirty="0">
                <a:latin typeface="Courier New" panose="02070309020205020404" pitchFamily="49" charset="0"/>
                <a:cs typeface="Courier New" panose="02070309020205020404" pitchFamily="49" charset="0"/>
              </a:rPr>
              <a:t> file("student.dat", </a:t>
            </a:r>
            <a:r>
              <a:rPr lang="en-US" sz="1400" dirty="0" err="1">
                <a:latin typeface="Courier New" panose="02070309020205020404" pitchFamily="49" charset="0"/>
                <a:cs typeface="Courier New" panose="02070309020205020404" pitchFamily="49" charset="0"/>
              </a:rPr>
              <a:t>ios</a:t>
            </a:r>
            <a:r>
              <a:rPr lang="en-US" sz="1400" dirty="0">
                <a:latin typeface="Courier New" panose="02070309020205020404" pitchFamily="49" charset="0"/>
                <a:cs typeface="Courier New" panose="02070309020205020404" pitchFamily="49" charset="0"/>
              </a:rPr>
              <a:t>::binary);</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file.write</a:t>
            </a:r>
            <a:r>
              <a:rPr lang="en-US" sz="1400" dirty="0">
                <a:latin typeface="Courier New" panose="02070309020205020404" pitchFamily="49" charset="0"/>
                <a:cs typeface="Courier New" panose="02070309020205020404" pitchFamily="49" charset="0"/>
              </a:rPr>
              <a:t>((char*)&amp;s, </a:t>
            </a:r>
            <a:r>
              <a:rPr lang="en-US" sz="1400" dirty="0" err="1">
                <a:latin typeface="Courier New" panose="02070309020205020404" pitchFamily="49" charset="0"/>
                <a:cs typeface="Courier New" panose="02070309020205020404" pitchFamily="49" charset="0"/>
              </a:rPr>
              <a:t>sizeof</a:t>
            </a:r>
            <a:r>
              <a:rPr lang="en-US" sz="1400" dirty="0">
                <a:latin typeface="Courier New" panose="02070309020205020404" pitchFamily="49" charset="0"/>
                <a:cs typeface="Courier New" panose="02070309020205020404" pitchFamily="49" charset="0"/>
              </a:rPr>
              <a:t>(s));</a:t>
            </a:r>
          </a:p>
          <a:p>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file.close</a:t>
            </a:r>
            <a:r>
              <a:rPr lang="en-US" sz="1400" dirty="0">
                <a:latin typeface="Courier New" panose="02070309020205020404" pitchFamily="49" charset="0"/>
                <a:cs typeface="Courier New" panose="02070309020205020404" pitchFamily="49" charset="0"/>
              </a:rPr>
              <a:t>();</a:t>
            </a:r>
          </a:p>
          <a:p>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return 0;</a:t>
            </a:r>
          </a:p>
          <a:p>
            <a:r>
              <a:rPr lang="en-US" sz="1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89832294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81965" y="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11</a:t>
            </a:r>
            <a:endParaRPr lang="en-US" sz="1400" dirty="0"/>
          </a:p>
        </p:txBody>
      </p:sp>
      <p:sp>
        <p:nvSpPr>
          <p:cNvPr id="3" name="Text 1"/>
          <p:cNvSpPr/>
          <p:nvPr/>
        </p:nvSpPr>
        <p:spPr>
          <a:xfrm>
            <a:off x="481965" y="375285"/>
            <a:ext cx="11091672" cy="457200"/>
          </a:xfrm>
          <a:prstGeom prst="rect">
            <a:avLst/>
          </a:prstGeom>
          <a:noFill/>
          <a:ln/>
        </p:spPr>
        <p:txBody>
          <a:bodyPr wrap="square" rtlCol="0" anchor="ctr"/>
          <a:lstStyle/>
          <a:p>
            <a:pPr marL="0" indent="0">
              <a:buNone/>
            </a:pPr>
            <a:r>
              <a:rPr lang="en-US" b="1" dirty="0">
                <a:solidFill>
                  <a:srgbClr val="000000"/>
                </a:solidFill>
                <a:latin typeface="Helvetica" pitchFamily="34" charset="0"/>
                <a:ea typeface="Helvetica" pitchFamily="34" charset="-122"/>
                <a:cs typeface="Helvetica" pitchFamily="34" charset="-120"/>
              </a:rPr>
              <a:t>Writing/Reading a Whole Object (Binary)</a:t>
            </a:r>
            <a:endParaRPr lang="en-US" dirty="0"/>
          </a:p>
        </p:txBody>
      </p:sp>
      <p:sp>
        <p:nvSpPr>
          <p:cNvPr id="4" name="Text 2"/>
          <p:cNvSpPr/>
          <p:nvPr/>
        </p:nvSpPr>
        <p:spPr>
          <a:xfrm>
            <a:off x="548640" y="760095"/>
            <a:ext cx="11091672" cy="6035040"/>
          </a:xfrm>
          <a:prstGeom prst="rect">
            <a:avLst/>
          </a:prstGeom>
          <a:solidFill>
            <a:srgbClr val="F2F2F2"/>
          </a:solidFill>
          <a:ln w="9525">
            <a:solidFill>
              <a:srgbClr val="000000"/>
            </a:solidFill>
          </a:ln>
        </p:spPr>
        <p:txBody>
          <a:bodyPr wrap="square" lIns="152400" tIns="152400" rIns="152400" bIns="152400" rtlCol="0" anchor="t">
            <a:spAutoFit/>
          </a:bodyPr>
          <a:lstStyle/>
          <a:p>
            <a:pPr>
              <a:lnSpc>
                <a:spcPct val="103000"/>
              </a:lnSpc>
            </a:pPr>
            <a:r>
              <a:rPr lang="en-US" sz="11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#include &lt;iostream&gt;</a:t>
            </a:r>
            <a:endParaRPr lang="en-US" sz="11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1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#include &lt;</a:t>
            </a:r>
            <a:r>
              <a:rPr lang="en-US" sz="1100" dirty="0" err="1">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fstream</a:t>
            </a:r>
            <a:r>
              <a:rPr lang="en-US" sz="11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&gt;</a:t>
            </a:r>
            <a:endParaRPr lang="en-US" sz="11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1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using namespace std;</a:t>
            </a:r>
            <a:endParaRPr lang="en-US" sz="11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1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a:t>
            </a:r>
            <a:endParaRPr lang="en-US" sz="11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1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class Student {</a:t>
            </a:r>
            <a:endParaRPr lang="en-US" sz="11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1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int </a:t>
            </a:r>
            <a:r>
              <a:rPr lang="en-US" sz="1100" dirty="0" err="1">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rollNo</a:t>
            </a:r>
            <a:r>
              <a:rPr lang="en-US" sz="11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a:t>
            </a:r>
            <a:endParaRPr lang="en-US" sz="11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1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char name[30];</a:t>
            </a:r>
            <a:endParaRPr lang="en-US" sz="11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1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float marks;</a:t>
            </a:r>
            <a:endParaRPr lang="en-US" sz="11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1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public:</a:t>
            </a:r>
            <a:endParaRPr lang="en-US" sz="11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1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void </a:t>
            </a:r>
            <a:r>
              <a:rPr lang="en-US" sz="1100" dirty="0" err="1">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getData</a:t>
            </a:r>
            <a:r>
              <a:rPr lang="en-US" sz="11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a:t>
            </a:r>
            <a:endParaRPr lang="en-US" sz="11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1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a:t>
            </a:r>
            <a:r>
              <a:rPr lang="en-US" sz="1100" dirty="0" err="1">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cout</a:t>
            </a:r>
            <a:r>
              <a:rPr lang="en-US" sz="11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&lt;&lt; "Roll, Name, Marks: ";</a:t>
            </a:r>
            <a:endParaRPr lang="en-US" sz="11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1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a:t>
            </a:r>
            <a:r>
              <a:rPr lang="en-US" sz="1100" dirty="0" err="1">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cin</a:t>
            </a:r>
            <a:r>
              <a:rPr lang="en-US" sz="11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&gt;&gt; </a:t>
            </a:r>
            <a:r>
              <a:rPr lang="en-US" sz="1100" dirty="0" err="1">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rollNo</a:t>
            </a:r>
            <a:r>
              <a:rPr lang="en-US" sz="11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&gt;&gt; name &gt;&gt; marks;</a:t>
            </a:r>
            <a:endParaRPr lang="en-US" sz="11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1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a:t>
            </a:r>
            <a:endParaRPr lang="en-US" sz="11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1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void </a:t>
            </a:r>
            <a:r>
              <a:rPr lang="en-US" sz="1100" dirty="0" err="1">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showData</a:t>
            </a:r>
            <a:r>
              <a:rPr lang="en-US" sz="11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a:t>
            </a:r>
            <a:endParaRPr lang="en-US" sz="11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1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a:t>
            </a:r>
            <a:r>
              <a:rPr lang="en-US" sz="1100" dirty="0" err="1">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cout</a:t>
            </a:r>
            <a:r>
              <a:rPr lang="en-US" sz="11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&lt;&lt; </a:t>
            </a:r>
            <a:r>
              <a:rPr lang="en-US" sz="1100" dirty="0" err="1">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rollNo</a:t>
            </a:r>
            <a:r>
              <a:rPr lang="en-US" sz="11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&lt;&lt; "\t" &lt;&lt; name &lt;&lt; "\t" &lt;&lt; marks &lt;&lt; </a:t>
            </a:r>
            <a:r>
              <a:rPr lang="en-US" sz="1100" dirty="0" err="1">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endl</a:t>
            </a:r>
            <a:r>
              <a:rPr lang="en-US" sz="11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a:t>
            </a:r>
            <a:endParaRPr lang="en-US" sz="11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1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    }</a:t>
            </a:r>
            <a:endParaRPr lang="en-US" sz="1100" dirty="0">
              <a:solidFill>
                <a:schemeClr val="tx1">
                  <a:lumMod val="65000"/>
                  <a:lumOff val="35000"/>
                </a:schemeClr>
              </a:solidFill>
              <a:latin typeface="Courier New" panose="02070309020205020404" pitchFamily="49" charset="0"/>
              <a:cs typeface="Courier New" panose="02070309020205020404" pitchFamily="49" charset="0"/>
            </a:endParaRPr>
          </a:p>
          <a:p>
            <a:pPr>
              <a:lnSpc>
                <a:spcPct val="103000"/>
              </a:lnSpc>
            </a:pPr>
            <a:r>
              <a:rPr lang="en-US" sz="1100" dirty="0">
                <a:solidFill>
                  <a:schemeClr val="tx1">
                    <a:lumMod val="65000"/>
                    <a:lumOff val="35000"/>
                  </a:schemeClr>
                </a:solidFill>
                <a:latin typeface="Courier New" panose="02070309020205020404" pitchFamily="49" charset="0"/>
                <a:ea typeface="Courier New" pitchFamily="34" charset="-122"/>
                <a:cs typeface="Courier New" panose="02070309020205020404" pitchFamily="49" charset="0"/>
              </a:rPr>
              <a:t>};</a:t>
            </a:r>
          </a:p>
          <a:p>
            <a:pPr>
              <a:lnSpc>
                <a:spcPct val="103000"/>
              </a:lnSpc>
            </a:pPr>
            <a:r>
              <a:rPr lang="en-US" sz="1100" dirty="0">
                <a:solidFill>
                  <a:schemeClr val="tx1">
                    <a:lumMod val="65000"/>
                    <a:lumOff val="35000"/>
                  </a:schemeClr>
                </a:solidFill>
                <a:latin typeface="Courier New" panose="02070309020205020404" pitchFamily="49" charset="0"/>
                <a:cs typeface="Courier New" panose="02070309020205020404" pitchFamily="49" charset="0"/>
              </a:rPr>
              <a:t>int main() {</a:t>
            </a:r>
          </a:p>
          <a:p>
            <a:pPr>
              <a:lnSpc>
                <a:spcPct val="103000"/>
              </a:lnSpc>
            </a:pPr>
            <a:r>
              <a:rPr lang="en-US" sz="1100" dirty="0">
                <a:solidFill>
                  <a:schemeClr val="tx1">
                    <a:lumMod val="65000"/>
                    <a:lumOff val="35000"/>
                  </a:schemeClr>
                </a:solidFill>
                <a:latin typeface="Courier New" panose="02070309020205020404" pitchFamily="49" charset="0"/>
                <a:cs typeface="Courier New" panose="02070309020205020404" pitchFamily="49" charset="0"/>
              </a:rPr>
              <a:t>    Student s1;</a:t>
            </a:r>
          </a:p>
          <a:p>
            <a:pPr>
              <a:lnSpc>
                <a:spcPct val="103000"/>
              </a:lnSpc>
            </a:pPr>
            <a:r>
              <a:rPr lang="en-US" sz="1100" dirty="0">
                <a:solidFill>
                  <a:schemeClr val="tx1">
                    <a:lumMod val="65000"/>
                    <a:lumOff val="35000"/>
                  </a:schemeClr>
                </a:solidFill>
                <a:latin typeface="Courier New" panose="02070309020205020404" pitchFamily="49" charset="0"/>
                <a:cs typeface="Courier New" panose="02070309020205020404" pitchFamily="49" charset="0"/>
              </a:rPr>
              <a:t>    s1.getData();</a:t>
            </a:r>
          </a:p>
          <a:p>
            <a:pPr>
              <a:lnSpc>
                <a:spcPct val="103000"/>
              </a:lnSpc>
            </a:pPr>
            <a:r>
              <a:rPr lang="en-US" sz="1100" dirty="0">
                <a:solidFill>
                  <a:schemeClr val="tx1">
                    <a:lumMod val="65000"/>
                    <a:lumOff val="35000"/>
                  </a:schemeClr>
                </a:solidFill>
                <a:latin typeface="Courier New" panose="02070309020205020404" pitchFamily="49" charset="0"/>
                <a:cs typeface="Courier New" panose="02070309020205020404" pitchFamily="49" charset="0"/>
              </a:rPr>
              <a:t> </a:t>
            </a:r>
          </a:p>
          <a:p>
            <a:pPr>
              <a:lnSpc>
                <a:spcPct val="103000"/>
              </a:lnSpc>
            </a:pPr>
            <a:r>
              <a:rPr lang="en-US" sz="11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100" dirty="0" err="1">
                <a:solidFill>
                  <a:schemeClr val="tx1">
                    <a:lumMod val="65000"/>
                    <a:lumOff val="35000"/>
                  </a:schemeClr>
                </a:solidFill>
                <a:latin typeface="Courier New" panose="02070309020205020404" pitchFamily="49" charset="0"/>
                <a:cs typeface="Courier New" panose="02070309020205020404" pitchFamily="49" charset="0"/>
              </a:rPr>
              <a:t>ofstream</a:t>
            </a:r>
            <a:r>
              <a:rPr lang="en-US" sz="11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100" dirty="0" err="1">
                <a:solidFill>
                  <a:schemeClr val="tx1">
                    <a:lumMod val="65000"/>
                    <a:lumOff val="35000"/>
                  </a:schemeClr>
                </a:solidFill>
                <a:latin typeface="Courier New" panose="02070309020205020404" pitchFamily="49" charset="0"/>
                <a:cs typeface="Courier New" panose="02070309020205020404" pitchFamily="49" charset="0"/>
              </a:rPr>
              <a:t>outFile</a:t>
            </a:r>
            <a:r>
              <a:rPr lang="en-US" sz="1100" dirty="0">
                <a:solidFill>
                  <a:schemeClr val="tx1">
                    <a:lumMod val="65000"/>
                    <a:lumOff val="35000"/>
                  </a:schemeClr>
                </a:solidFill>
                <a:latin typeface="Courier New" panose="02070309020205020404" pitchFamily="49" charset="0"/>
                <a:cs typeface="Courier New" panose="02070309020205020404" pitchFamily="49" charset="0"/>
              </a:rPr>
              <a:t>("students.</a:t>
            </a:r>
            <a:r>
              <a:rPr lang="en-US" sz="1100" dirty="0" err="1">
                <a:solidFill>
                  <a:schemeClr val="tx1">
                    <a:lumMod val="65000"/>
                    <a:lumOff val="35000"/>
                  </a:schemeClr>
                </a:solidFill>
                <a:latin typeface="Courier New" panose="02070309020205020404" pitchFamily="49" charset="0"/>
                <a:cs typeface="Courier New" panose="02070309020205020404" pitchFamily="49" charset="0"/>
              </a:rPr>
              <a:t>dat</a:t>
            </a:r>
            <a:r>
              <a:rPr lang="en-US" sz="1100" dirty="0">
                <a:solidFill>
                  <a:schemeClr val="tx1">
                    <a:lumMod val="65000"/>
                    <a:lumOff val="35000"/>
                  </a:schemeClr>
                </a:solidFill>
                <a:latin typeface="Courier New" panose="02070309020205020404" pitchFamily="49" charset="0"/>
                <a:cs typeface="Courier New" panose="02070309020205020404" pitchFamily="49" charset="0"/>
              </a:rPr>
              <a:t>",</a:t>
            </a:r>
            <a:r>
              <a:rPr lang="en-US" sz="1100" dirty="0" err="1">
                <a:solidFill>
                  <a:schemeClr val="tx1">
                    <a:lumMod val="65000"/>
                    <a:lumOff val="35000"/>
                  </a:schemeClr>
                </a:solidFill>
                <a:latin typeface="Courier New" panose="02070309020205020404" pitchFamily="49" charset="0"/>
                <a:cs typeface="Courier New" panose="02070309020205020404" pitchFamily="49" charset="0"/>
              </a:rPr>
              <a:t>ios</a:t>
            </a:r>
            <a:r>
              <a:rPr lang="en-US" sz="1100" dirty="0">
                <a:solidFill>
                  <a:schemeClr val="tx1">
                    <a:lumMod val="65000"/>
                    <a:lumOff val="35000"/>
                  </a:schemeClr>
                </a:solidFill>
                <a:latin typeface="Courier New" panose="02070309020205020404" pitchFamily="49" charset="0"/>
                <a:cs typeface="Courier New" panose="02070309020205020404" pitchFamily="49" charset="0"/>
              </a:rPr>
              <a:t>::out | </a:t>
            </a:r>
            <a:r>
              <a:rPr lang="en-US" sz="1100" dirty="0" err="1">
                <a:solidFill>
                  <a:schemeClr val="tx1">
                    <a:lumMod val="65000"/>
                    <a:lumOff val="35000"/>
                  </a:schemeClr>
                </a:solidFill>
                <a:latin typeface="Courier New" panose="02070309020205020404" pitchFamily="49" charset="0"/>
                <a:cs typeface="Courier New" panose="02070309020205020404" pitchFamily="49" charset="0"/>
              </a:rPr>
              <a:t>ios</a:t>
            </a:r>
            <a:r>
              <a:rPr lang="en-US" sz="1100" dirty="0">
                <a:solidFill>
                  <a:schemeClr val="tx1">
                    <a:lumMod val="65000"/>
                    <a:lumOff val="35000"/>
                  </a:schemeClr>
                </a:solidFill>
                <a:latin typeface="Courier New" panose="02070309020205020404" pitchFamily="49" charset="0"/>
                <a:cs typeface="Courier New" panose="02070309020205020404" pitchFamily="49" charset="0"/>
              </a:rPr>
              <a:t>::binary);</a:t>
            </a:r>
          </a:p>
          <a:p>
            <a:pPr>
              <a:lnSpc>
                <a:spcPct val="103000"/>
              </a:lnSpc>
            </a:pPr>
            <a:r>
              <a:rPr lang="en-US" sz="11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100" dirty="0" err="1">
                <a:solidFill>
                  <a:schemeClr val="tx1">
                    <a:lumMod val="65000"/>
                    <a:lumOff val="35000"/>
                  </a:schemeClr>
                </a:solidFill>
                <a:latin typeface="Courier New" panose="02070309020205020404" pitchFamily="49" charset="0"/>
                <a:cs typeface="Courier New" panose="02070309020205020404" pitchFamily="49" charset="0"/>
              </a:rPr>
              <a:t>outFile.write</a:t>
            </a:r>
            <a:r>
              <a:rPr lang="en-US" sz="1100" dirty="0">
                <a:solidFill>
                  <a:schemeClr val="tx1">
                    <a:lumMod val="65000"/>
                    <a:lumOff val="35000"/>
                  </a:schemeClr>
                </a:solidFill>
                <a:latin typeface="Courier New" panose="02070309020205020404" pitchFamily="49" charset="0"/>
                <a:cs typeface="Courier New" panose="02070309020205020404" pitchFamily="49" charset="0"/>
              </a:rPr>
              <a:t>(</a:t>
            </a:r>
            <a:r>
              <a:rPr lang="en-US" sz="1100" dirty="0" err="1">
                <a:solidFill>
                  <a:schemeClr val="tx1">
                    <a:lumMod val="65000"/>
                    <a:lumOff val="35000"/>
                  </a:schemeClr>
                </a:solidFill>
                <a:latin typeface="Courier New" panose="02070309020205020404" pitchFamily="49" charset="0"/>
                <a:cs typeface="Courier New" panose="02070309020205020404" pitchFamily="49" charset="0"/>
              </a:rPr>
              <a:t>reinterpret_cast</a:t>
            </a:r>
            <a:r>
              <a:rPr lang="en-US" sz="1100" dirty="0">
                <a:solidFill>
                  <a:schemeClr val="tx1">
                    <a:lumMod val="65000"/>
                    <a:lumOff val="35000"/>
                  </a:schemeClr>
                </a:solidFill>
                <a:latin typeface="Courier New" panose="02070309020205020404" pitchFamily="49" charset="0"/>
                <a:cs typeface="Courier New" panose="02070309020205020404" pitchFamily="49" charset="0"/>
              </a:rPr>
              <a:t>&lt;char*&gt;(&amp;s1), </a:t>
            </a:r>
            <a:r>
              <a:rPr lang="en-US" sz="1100" dirty="0" err="1">
                <a:solidFill>
                  <a:schemeClr val="tx1">
                    <a:lumMod val="65000"/>
                    <a:lumOff val="35000"/>
                  </a:schemeClr>
                </a:solidFill>
                <a:latin typeface="Courier New" panose="02070309020205020404" pitchFamily="49" charset="0"/>
                <a:cs typeface="Courier New" panose="02070309020205020404" pitchFamily="49" charset="0"/>
              </a:rPr>
              <a:t>sizeof</a:t>
            </a:r>
            <a:r>
              <a:rPr lang="en-US" sz="1100" dirty="0">
                <a:solidFill>
                  <a:schemeClr val="tx1">
                    <a:lumMod val="65000"/>
                    <a:lumOff val="35000"/>
                  </a:schemeClr>
                </a:solidFill>
                <a:latin typeface="Courier New" panose="02070309020205020404" pitchFamily="49" charset="0"/>
                <a:cs typeface="Courier New" panose="02070309020205020404" pitchFamily="49" charset="0"/>
              </a:rPr>
              <a:t>(Student));</a:t>
            </a:r>
          </a:p>
          <a:p>
            <a:pPr>
              <a:lnSpc>
                <a:spcPct val="103000"/>
              </a:lnSpc>
            </a:pPr>
            <a:r>
              <a:rPr lang="en-US" sz="11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100" dirty="0" err="1">
                <a:solidFill>
                  <a:schemeClr val="tx1">
                    <a:lumMod val="65000"/>
                    <a:lumOff val="35000"/>
                  </a:schemeClr>
                </a:solidFill>
                <a:latin typeface="Courier New" panose="02070309020205020404" pitchFamily="49" charset="0"/>
                <a:cs typeface="Courier New" panose="02070309020205020404" pitchFamily="49" charset="0"/>
              </a:rPr>
              <a:t>outFile.close</a:t>
            </a:r>
            <a:r>
              <a:rPr lang="en-US" sz="1100" dirty="0">
                <a:solidFill>
                  <a:schemeClr val="tx1">
                    <a:lumMod val="65000"/>
                    <a:lumOff val="35000"/>
                  </a:schemeClr>
                </a:solidFill>
                <a:latin typeface="Courier New" panose="02070309020205020404" pitchFamily="49" charset="0"/>
                <a:cs typeface="Courier New" panose="02070309020205020404" pitchFamily="49" charset="0"/>
              </a:rPr>
              <a:t>();</a:t>
            </a:r>
          </a:p>
          <a:p>
            <a:pPr>
              <a:lnSpc>
                <a:spcPct val="103000"/>
              </a:lnSpc>
            </a:pPr>
            <a:r>
              <a:rPr lang="en-US" sz="1100" dirty="0">
                <a:solidFill>
                  <a:schemeClr val="tx1">
                    <a:lumMod val="65000"/>
                    <a:lumOff val="35000"/>
                  </a:schemeClr>
                </a:solidFill>
                <a:latin typeface="Courier New" panose="02070309020205020404" pitchFamily="49" charset="0"/>
                <a:cs typeface="Courier New" panose="02070309020205020404" pitchFamily="49" charset="0"/>
              </a:rPr>
              <a:t> </a:t>
            </a:r>
          </a:p>
          <a:p>
            <a:pPr>
              <a:lnSpc>
                <a:spcPct val="103000"/>
              </a:lnSpc>
            </a:pPr>
            <a:r>
              <a:rPr lang="en-US" sz="1100" dirty="0">
                <a:solidFill>
                  <a:schemeClr val="tx1">
                    <a:lumMod val="65000"/>
                    <a:lumOff val="35000"/>
                  </a:schemeClr>
                </a:solidFill>
                <a:latin typeface="Courier New" panose="02070309020205020404" pitchFamily="49" charset="0"/>
                <a:cs typeface="Courier New" panose="02070309020205020404" pitchFamily="49" charset="0"/>
              </a:rPr>
              <a:t>    Student s2;   // empty, untouched object</a:t>
            </a:r>
          </a:p>
          <a:p>
            <a:pPr>
              <a:lnSpc>
                <a:spcPct val="103000"/>
              </a:lnSpc>
            </a:pPr>
            <a:r>
              <a:rPr lang="en-US" sz="11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100" dirty="0" err="1">
                <a:solidFill>
                  <a:schemeClr val="tx1">
                    <a:lumMod val="65000"/>
                    <a:lumOff val="35000"/>
                  </a:schemeClr>
                </a:solidFill>
                <a:latin typeface="Courier New" panose="02070309020205020404" pitchFamily="49" charset="0"/>
                <a:cs typeface="Courier New" panose="02070309020205020404" pitchFamily="49" charset="0"/>
              </a:rPr>
              <a:t>ifstream</a:t>
            </a:r>
            <a:r>
              <a:rPr lang="en-US" sz="11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100" dirty="0" err="1">
                <a:solidFill>
                  <a:schemeClr val="tx1">
                    <a:lumMod val="65000"/>
                    <a:lumOff val="35000"/>
                  </a:schemeClr>
                </a:solidFill>
                <a:latin typeface="Courier New" panose="02070309020205020404" pitchFamily="49" charset="0"/>
                <a:cs typeface="Courier New" panose="02070309020205020404" pitchFamily="49" charset="0"/>
              </a:rPr>
              <a:t>inFile</a:t>
            </a:r>
            <a:r>
              <a:rPr lang="en-US" sz="1100" dirty="0">
                <a:solidFill>
                  <a:schemeClr val="tx1">
                    <a:lumMod val="65000"/>
                    <a:lumOff val="35000"/>
                  </a:schemeClr>
                </a:solidFill>
                <a:latin typeface="Courier New" panose="02070309020205020404" pitchFamily="49" charset="0"/>
                <a:cs typeface="Courier New" panose="02070309020205020404" pitchFamily="49" charset="0"/>
              </a:rPr>
              <a:t>("students.</a:t>
            </a:r>
            <a:r>
              <a:rPr lang="en-US" sz="1100" dirty="0" err="1">
                <a:solidFill>
                  <a:schemeClr val="tx1">
                    <a:lumMod val="65000"/>
                    <a:lumOff val="35000"/>
                  </a:schemeClr>
                </a:solidFill>
                <a:latin typeface="Courier New" panose="02070309020205020404" pitchFamily="49" charset="0"/>
                <a:cs typeface="Courier New" panose="02070309020205020404" pitchFamily="49" charset="0"/>
              </a:rPr>
              <a:t>dat</a:t>
            </a:r>
            <a:r>
              <a:rPr lang="en-US" sz="1100" dirty="0">
                <a:solidFill>
                  <a:schemeClr val="tx1">
                    <a:lumMod val="65000"/>
                    <a:lumOff val="35000"/>
                  </a:schemeClr>
                </a:solidFill>
                <a:latin typeface="Courier New" panose="02070309020205020404" pitchFamily="49" charset="0"/>
                <a:cs typeface="Courier New" panose="02070309020205020404" pitchFamily="49" charset="0"/>
              </a:rPr>
              <a:t>",</a:t>
            </a:r>
            <a:r>
              <a:rPr lang="en-US" sz="1100" dirty="0" err="1">
                <a:solidFill>
                  <a:schemeClr val="tx1">
                    <a:lumMod val="65000"/>
                    <a:lumOff val="35000"/>
                  </a:schemeClr>
                </a:solidFill>
                <a:latin typeface="Courier New" panose="02070309020205020404" pitchFamily="49" charset="0"/>
                <a:cs typeface="Courier New" panose="02070309020205020404" pitchFamily="49" charset="0"/>
              </a:rPr>
              <a:t>ios</a:t>
            </a:r>
            <a:r>
              <a:rPr lang="en-US" sz="1100" dirty="0">
                <a:solidFill>
                  <a:schemeClr val="tx1">
                    <a:lumMod val="65000"/>
                    <a:lumOff val="35000"/>
                  </a:schemeClr>
                </a:solidFill>
                <a:latin typeface="Courier New" panose="02070309020205020404" pitchFamily="49" charset="0"/>
                <a:cs typeface="Courier New" panose="02070309020205020404" pitchFamily="49" charset="0"/>
              </a:rPr>
              <a:t>::in | </a:t>
            </a:r>
            <a:r>
              <a:rPr lang="en-US" sz="1100" dirty="0" err="1">
                <a:solidFill>
                  <a:schemeClr val="tx1">
                    <a:lumMod val="65000"/>
                    <a:lumOff val="35000"/>
                  </a:schemeClr>
                </a:solidFill>
                <a:latin typeface="Courier New" panose="02070309020205020404" pitchFamily="49" charset="0"/>
                <a:cs typeface="Courier New" panose="02070309020205020404" pitchFamily="49" charset="0"/>
              </a:rPr>
              <a:t>ios</a:t>
            </a:r>
            <a:r>
              <a:rPr lang="en-US" sz="1100" dirty="0">
                <a:solidFill>
                  <a:schemeClr val="tx1">
                    <a:lumMod val="65000"/>
                    <a:lumOff val="35000"/>
                  </a:schemeClr>
                </a:solidFill>
                <a:latin typeface="Courier New" panose="02070309020205020404" pitchFamily="49" charset="0"/>
                <a:cs typeface="Courier New" panose="02070309020205020404" pitchFamily="49" charset="0"/>
              </a:rPr>
              <a:t>::binary);</a:t>
            </a:r>
          </a:p>
          <a:p>
            <a:pPr>
              <a:lnSpc>
                <a:spcPct val="103000"/>
              </a:lnSpc>
            </a:pPr>
            <a:r>
              <a:rPr lang="en-US" sz="11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100" dirty="0" err="1">
                <a:solidFill>
                  <a:schemeClr val="tx1">
                    <a:lumMod val="65000"/>
                    <a:lumOff val="35000"/>
                  </a:schemeClr>
                </a:solidFill>
                <a:latin typeface="Courier New" panose="02070309020205020404" pitchFamily="49" charset="0"/>
                <a:cs typeface="Courier New" panose="02070309020205020404" pitchFamily="49" charset="0"/>
              </a:rPr>
              <a:t>inFile.read</a:t>
            </a:r>
            <a:r>
              <a:rPr lang="en-US" sz="1100" dirty="0">
                <a:solidFill>
                  <a:schemeClr val="tx1">
                    <a:lumMod val="65000"/>
                    <a:lumOff val="35000"/>
                  </a:schemeClr>
                </a:solidFill>
                <a:latin typeface="Courier New" panose="02070309020205020404" pitchFamily="49" charset="0"/>
                <a:cs typeface="Courier New" panose="02070309020205020404" pitchFamily="49" charset="0"/>
              </a:rPr>
              <a:t>(</a:t>
            </a:r>
            <a:r>
              <a:rPr lang="en-US" sz="1100" dirty="0" err="1">
                <a:solidFill>
                  <a:schemeClr val="tx1">
                    <a:lumMod val="65000"/>
                    <a:lumOff val="35000"/>
                  </a:schemeClr>
                </a:solidFill>
                <a:latin typeface="Courier New" panose="02070309020205020404" pitchFamily="49" charset="0"/>
                <a:cs typeface="Courier New" panose="02070309020205020404" pitchFamily="49" charset="0"/>
              </a:rPr>
              <a:t>reinterpret_cast</a:t>
            </a:r>
            <a:r>
              <a:rPr lang="en-US" sz="1100" dirty="0">
                <a:solidFill>
                  <a:schemeClr val="tx1">
                    <a:lumMod val="65000"/>
                    <a:lumOff val="35000"/>
                  </a:schemeClr>
                </a:solidFill>
                <a:latin typeface="Courier New" panose="02070309020205020404" pitchFamily="49" charset="0"/>
                <a:cs typeface="Courier New" panose="02070309020205020404" pitchFamily="49" charset="0"/>
              </a:rPr>
              <a:t>&lt;char*&gt;(&amp;s2),</a:t>
            </a:r>
            <a:r>
              <a:rPr lang="en-US" sz="1100" dirty="0" err="1">
                <a:solidFill>
                  <a:schemeClr val="tx1">
                    <a:lumMod val="65000"/>
                    <a:lumOff val="35000"/>
                  </a:schemeClr>
                </a:solidFill>
                <a:latin typeface="Courier New" panose="02070309020205020404" pitchFamily="49" charset="0"/>
                <a:cs typeface="Courier New" panose="02070309020205020404" pitchFamily="49" charset="0"/>
              </a:rPr>
              <a:t>sizeof</a:t>
            </a:r>
            <a:r>
              <a:rPr lang="en-US" sz="1100" dirty="0">
                <a:solidFill>
                  <a:schemeClr val="tx1">
                    <a:lumMod val="65000"/>
                    <a:lumOff val="35000"/>
                  </a:schemeClr>
                </a:solidFill>
                <a:latin typeface="Courier New" panose="02070309020205020404" pitchFamily="49" charset="0"/>
                <a:cs typeface="Courier New" panose="02070309020205020404" pitchFamily="49" charset="0"/>
              </a:rPr>
              <a:t>(Student));</a:t>
            </a:r>
          </a:p>
          <a:p>
            <a:pPr>
              <a:lnSpc>
                <a:spcPct val="103000"/>
              </a:lnSpc>
            </a:pPr>
            <a:r>
              <a:rPr lang="en-US" sz="11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100" dirty="0" err="1">
                <a:solidFill>
                  <a:schemeClr val="tx1">
                    <a:lumMod val="65000"/>
                    <a:lumOff val="35000"/>
                  </a:schemeClr>
                </a:solidFill>
                <a:latin typeface="Courier New" panose="02070309020205020404" pitchFamily="49" charset="0"/>
                <a:cs typeface="Courier New" panose="02070309020205020404" pitchFamily="49" charset="0"/>
              </a:rPr>
              <a:t>inFile.close</a:t>
            </a:r>
            <a:r>
              <a:rPr lang="en-US" sz="1100" dirty="0">
                <a:solidFill>
                  <a:schemeClr val="tx1">
                    <a:lumMod val="65000"/>
                    <a:lumOff val="35000"/>
                  </a:schemeClr>
                </a:solidFill>
                <a:latin typeface="Courier New" panose="02070309020205020404" pitchFamily="49" charset="0"/>
                <a:cs typeface="Courier New" panose="02070309020205020404" pitchFamily="49" charset="0"/>
              </a:rPr>
              <a:t>();</a:t>
            </a:r>
          </a:p>
          <a:p>
            <a:pPr>
              <a:lnSpc>
                <a:spcPct val="103000"/>
              </a:lnSpc>
            </a:pPr>
            <a:r>
              <a:rPr lang="en-US" sz="1100" dirty="0">
                <a:solidFill>
                  <a:schemeClr val="tx1">
                    <a:lumMod val="65000"/>
                    <a:lumOff val="35000"/>
                  </a:schemeClr>
                </a:solidFill>
                <a:latin typeface="Courier New" panose="02070309020205020404" pitchFamily="49" charset="0"/>
                <a:cs typeface="Courier New" panose="02070309020205020404" pitchFamily="49" charset="0"/>
              </a:rPr>
              <a:t> </a:t>
            </a:r>
          </a:p>
          <a:p>
            <a:pPr>
              <a:lnSpc>
                <a:spcPct val="103000"/>
              </a:lnSpc>
            </a:pPr>
            <a:r>
              <a:rPr lang="en-US" sz="1100" dirty="0">
                <a:solidFill>
                  <a:schemeClr val="tx1">
                    <a:lumMod val="65000"/>
                    <a:lumOff val="35000"/>
                  </a:schemeClr>
                </a:solidFill>
                <a:latin typeface="Courier New" panose="02070309020205020404" pitchFamily="49" charset="0"/>
                <a:cs typeface="Courier New" panose="02070309020205020404" pitchFamily="49" charset="0"/>
              </a:rPr>
              <a:t>    </a:t>
            </a:r>
            <a:r>
              <a:rPr lang="en-US" sz="1100" dirty="0" err="1">
                <a:solidFill>
                  <a:schemeClr val="tx1">
                    <a:lumMod val="65000"/>
                    <a:lumOff val="35000"/>
                  </a:schemeClr>
                </a:solidFill>
                <a:latin typeface="Courier New" panose="02070309020205020404" pitchFamily="49" charset="0"/>
                <a:cs typeface="Courier New" panose="02070309020205020404" pitchFamily="49" charset="0"/>
              </a:rPr>
              <a:t>cout</a:t>
            </a:r>
            <a:r>
              <a:rPr lang="en-US" sz="1100" dirty="0">
                <a:solidFill>
                  <a:schemeClr val="tx1">
                    <a:lumMod val="65000"/>
                    <a:lumOff val="35000"/>
                  </a:schemeClr>
                </a:solidFill>
                <a:latin typeface="Courier New" panose="02070309020205020404" pitchFamily="49" charset="0"/>
                <a:cs typeface="Courier New" panose="02070309020205020404" pitchFamily="49" charset="0"/>
              </a:rPr>
              <a:t> &lt;&lt; "\</a:t>
            </a:r>
            <a:r>
              <a:rPr lang="en-US" sz="1100" dirty="0" err="1">
                <a:solidFill>
                  <a:schemeClr val="tx1">
                    <a:lumMod val="65000"/>
                    <a:lumOff val="35000"/>
                  </a:schemeClr>
                </a:solidFill>
                <a:latin typeface="Courier New" panose="02070309020205020404" pitchFamily="49" charset="0"/>
                <a:cs typeface="Courier New" panose="02070309020205020404" pitchFamily="49" charset="0"/>
              </a:rPr>
              <a:t>nRead</a:t>
            </a:r>
            <a:r>
              <a:rPr lang="en-US" sz="1100" dirty="0">
                <a:solidFill>
                  <a:schemeClr val="tx1">
                    <a:lumMod val="65000"/>
                    <a:lumOff val="35000"/>
                  </a:schemeClr>
                </a:solidFill>
                <a:latin typeface="Courier New" panose="02070309020205020404" pitchFamily="49" charset="0"/>
                <a:cs typeface="Courier New" panose="02070309020205020404" pitchFamily="49" charset="0"/>
              </a:rPr>
              <a:t> back from file:\n";</a:t>
            </a:r>
          </a:p>
          <a:p>
            <a:pPr>
              <a:lnSpc>
                <a:spcPct val="103000"/>
              </a:lnSpc>
            </a:pPr>
            <a:r>
              <a:rPr lang="en-US" sz="1100" dirty="0">
                <a:solidFill>
                  <a:schemeClr val="tx1">
                    <a:lumMod val="65000"/>
                    <a:lumOff val="35000"/>
                  </a:schemeClr>
                </a:solidFill>
                <a:latin typeface="Courier New" panose="02070309020205020404" pitchFamily="49" charset="0"/>
                <a:cs typeface="Courier New" panose="02070309020205020404" pitchFamily="49" charset="0"/>
              </a:rPr>
              <a:t>    s2.showData();</a:t>
            </a:r>
          </a:p>
          <a:p>
            <a:pPr>
              <a:lnSpc>
                <a:spcPct val="103000"/>
              </a:lnSpc>
            </a:pPr>
            <a:r>
              <a:rPr lang="en-US" sz="1100" dirty="0">
                <a:solidFill>
                  <a:schemeClr val="tx1">
                    <a:lumMod val="65000"/>
                    <a:lumOff val="35000"/>
                  </a:schemeClr>
                </a:solidFill>
                <a:latin typeface="Courier New" panose="02070309020205020404" pitchFamily="49" charset="0"/>
                <a:cs typeface="Courier New" panose="02070309020205020404" pitchFamily="49" charset="0"/>
              </a:rPr>
              <a:t>    return 0;</a:t>
            </a:r>
          </a:p>
          <a:p>
            <a:pPr>
              <a:lnSpc>
                <a:spcPct val="103000"/>
              </a:lnSpc>
            </a:pPr>
            <a:r>
              <a:rPr lang="en-US" sz="1100" dirty="0">
                <a:solidFill>
                  <a:schemeClr val="tx1">
                    <a:lumMod val="65000"/>
                    <a:lumOff val="35000"/>
                  </a:schemeClr>
                </a:solidFill>
                <a:latin typeface="Courier New" panose="02070309020205020404" pitchFamily="49" charset="0"/>
                <a:cs typeface="Courier New" panose="02070309020205020404" pitchFamily="49" charset="0"/>
              </a:rPr>
              <a:t>}</a:t>
            </a:r>
            <a:endParaRPr lang="en-US" sz="1200" dirty="0">
              <a:solidFill>
                <a:schemeClr val="tx1">
                  <a:lumMod val="65000"/>
                  <a:lumOff val="35000"/>
                </a:schemeClr>
              </a:solidFill>
              <a:latin typeface="Courier New" panose="02070309020205020404" pitchFamily="49" charset="0"/>
              <a:cs typeface="Courier New" panose="02070309020205020404" pitchFamily="49" charset="0"/>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40B12D3B-4392-E1C4-4202-7A48C4A19B7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606A01F-836B-B7BA-E2A4-08A17A7F65DD}"/>
              </a:ext>
            </a:extLst>
          </p:cNvPr>
          <p:cNvSpPr/>
          <p:nvPr/>
        </p:nvSpPr>
        <p:spPr>
          <a:xfrm>
            <a:off x="548640" y="365760"/>
            <a:ext cx="11091672" cy="365760"/>
          </a:xfrm>
          <a:prstGeom prst="rect">
            <a:avLst/>
          </a:prstGeom>
          <a:noFill/>
          <a:ln/>
        </p:spPr>
        <p:txBody>
          <a:bodyPr wrap="square" rtlCol="0" anchor="ctr"/>
          <a:lstStyle/>
          <a:p>
            <a:pPr marL="0" indent="0">
              <a:buNone/>
            </a:pPr>
            <a:r>
              <a:rPr lang="en-US" sz="1400" b="1" kern="0" spc="150" dirty="0">
                <a:solidFill>
                  <a:srgbClr val="595959"/>
                </a:solidFill>
                <a:latin typeface="Helvetica" pitchFamily="34" charset="0"/>
                <a:ea typeface="Helvetica" pitchFamily="34" charset="-122"/>
                <a:cs typeface="Helvetica" pitchFamily="34" charset="-120"/>
              </a:rPr>
              <a:t>CHAPTER 11 — REVIEW</a:t>
            </a:r>
            <a:endParaRPr lang="en-US" sz="1400" dirty="0"/>
          </a:p>
        </p:txBody>
      </p:sp>
      <p:sp>
        <p:nvSpPr>
          <p:cNvPr id="3" name="Text 1">
            <a:extLst>
              <a:ext uri="{FF2B5EF4-FFF2-40B4-BE49-F238E27FC236}">
                <a16:creationId xmlns:a16="http://schemas.microsoft.com/office/drawing/2014/main" id="{8662C229-A8D7-992D-80BE-52A2E3C5F23E}"/>
              </a:ext>
            </a:extLst>
          </p:cNvPr>
          <p:cNvSpPr/>
          <p:nvPr/>
        </p:nvSpPr>
        <p:spPr>
          <a:xfrm>
            <a:off x="548640" y="731520"/>
            <a:ext cx="11091672" cy="640080"/>
          </a:xfrm>
          <a:prstGeom prst="rect">
            <a:avLst/>
          </a:prstGeom>
          <a:noFill/>
          <a:ln/>
        </p:spPr>
        <p:txBody>
          <a:bodyPr wrap="square" rtlCol="0" anchor="ctr"/>
          <a:lstStyle/>
          <a:p>
            <a:pPr marL="0" indent="0">
              <a:buNone/>
            </a:pPr>
            <a:r>
              <a:rPr lang="en-US" sz="2600" b="1" dirty="0">
                <a:solidFill>
                  <a:srgbClr val="000000"/>
                </a:solidFill>
                <a:latin typeface="Helvetica" pitchFamily="34" charset="0"/>
                <a:ea typeface="Helvetica" pitchFamily="34" charset="-122"/>
                <a:cs typeface="Helvetica" pitchFamily="34" charset="-120"/>
              </a:rPr>
              <a:t>Practice &amp; Exam-style Questions</a:t>
            </a:r>
            <a:endParaRPr lang="en-US" sz="2600" dirty="0"/>
          </a:p>
        </p:txBody>
      </p:sp>
      <p:sp>
        <p:nvSpPr>
          <p:cNvPr id="4" name="Text 2">
            <a:extLst>
              <a:ext uri="{FF2B5EF4-FFF2-40B4-BE49-F238E27FC236}">
                <a16:creationId xmlns:a16="http://schemas.microsoft.com/office/drawing/2014/main" id="{A22B91FA-4848-FFF8-FD03-9CE893CE305E}"/>
              </a:ext>
            </a:extLst>
          </p:cNvPr>
          <p:cNvSpPr/>
          <p:nvPr/>
        </p:nvSpPr>
        <p:spPr>
          <a:xfrm>
            <a:off x="548640" y="1554480"/>
            <a:ext cx="11091672" cy="1774874"/>
          </a:xfrm>
          <a:prstGeom prst="rect">
            <a:avLst/>
          </a:prstGeom>
          <a:noFill/>
          <a:ln/>
        </p:spPr>
        <p:txBody>
          <a:bodyPr wrap="square" rtlCol="0" anchor="t"/>
          <a:lstStyle/>
          <a:p>
            <a:pPr marL="304800" indent="-304800">
              <a:spcAft>
                <a:spcPts val="1400"/>
              </a:spcAft>
              <a:buSzPct val="100000"/>
              <a:buFont typeface="+mj-lt"/>
              <a:buAutoNum type="arabicPeriod"/>
            </a:pPr>
            <a:r>
              <a:rPr lang="en-US" sz="1600" dirty="0">
                <a:solidFill>
                  <a:srgbClr val="000000"/>
                </a:solidFill>
                <a:latin typeface="Helvetica" pitchFamily="34" charset="0"/>
                <a:ea typeface="Helvetica" pitchFamily="34" charset="-122"/>
                <a:cs typeface="Helvetica" pitchFamily="34" charset="-120"/>
              </a:rPr>
              <a:t>Explain the different file opening modes in C++.</a:t>
            </a:r>
            <a:endParaRPr lang="en-US" sz="1600" dirty="0"/>
          </a:p>
          <a:p>
            <a:pPr marL="304800" indent="-304800">
              <a:spcAft>
                <a:spcPts val="1400"/>
              </a:spcAft>
              <a:buSzPct val="100000"/>
              <a:buFont typeface="+mj-lt"/>
              <a:buAutoNum type="arabicPeriod"/>
            </a:pPr>
            <a:r>
              <a:rPr lang="en-US" sz="1600" dirty="0">
                <a:solidFill>
                  <a:srgbClr val="000000"/>
                </a:solidFill>
                <a:latin typeface="Helvetica" pitchFamily="34" charset="0"/>
                <a:ea typeface="Helvetica" pitchFamily="34" charset="-122"/>
                <a:cs typeface="Helvetica" pitchFamily="34" charset="-120"/>
              </a:rPr>
              <a:t>Explain </a:t>
            </a:r>
            <a:r>
              <a:rPr lang="en-US" sz="1600" dirty="0" err="1">
                <a:solidFill>
                  <a:srgbClr val="000000"/>
                </a:solidFill>
                <a:latin typeface="Helvetica" pitchFamily="34" charset="0"/>
                <a:ea typeface="Helvetica" pitchFamily="34" charset="-122"/>
                <a:cs typeface="Helvetica" pitchFamily="34" charset="-120"/>
              </a:rPr>
              <a:t>seekg</a:t>
            </a:r>
            <a:r>
              <a:rPr lang="en-US" sz="1600" dirty="0">
                <a:solidFill>
                  <a:srgbClr val="000000"/>
                </a:solidFill>
                <a:latin typeface="Helvetica" pitchFamily="34" charset="0"/>
                <a:ea typeface="Helvetica" pitchFamily="34" charset="-122"/>
                <a:cs typeface="Helvetica" pitchFamily="34" charset="-120"/>
              </a:rPr>
              <a:t>(), </a:t>
            </a:r>
            <a:r>
              <a:rPr lang="en-US" sz="1600" dirty="0" err="1">
                <a:solidFill>
                  <a:srgbClr val="000000"/>
                </a:solidFill>
                <a:latin typeface="Helvetica" pitchFamily="34" charset="0"/>
                <a:ea typeface="Helvetica" pitchFamily="34" charset="-122"/>
                <a:cs typeface="Helvetica" pitchFamily="34" charset="-120"/>
              </a:rPr>
              <a:t>seekp</a:t>
            </a:r>
            <a:r>
              <a:rPr lang="en-US" sz="1600" dirty="0">
                <a:solidFill>
                  <a:srgbClr val="000000"/>
                </a:solidFill>
                <a:latin typeface="Helvetica" pitchFamily="34" charset="0"/>
                <a:ea typeface="Helvetica" pitchFamily="34" charset="-122"/>
                <a:cs typeface="Helvetica" pitchFamily="34" charset="-120"/>
              </a:rPr>
              <a:t>(), </a:t>
            </a:r>
            <a:r>
              <a:rPr lang="en-US" sz="1600" dirty="0" err="1">
                <a:solidFill>
                  <a:srgbClr val="000000"/>
                </a:solidFill>
                <a:latin typeface="Helvetica" pitchFamily="34" charset="0"/>
                <a:ea typeface="Helvetica" pitchFamily="34" charset="-122"/>
                <a:cs typeface="Helvetica" pitchFamily="34" charset="-120"/>
              </a:rPr>
              <a:t>tellg</a:t>
            </a:r>
            <a:r>
              <a:rPr lang="en-US" sz="1600" dirty="0">
                <a:solidFill>
                  <a:srgbClr val="000000"/>
                </a:solidFill>
                <a:latin typeface="Helvetica" pitchFamily="34" charset="0"/>
                <a:ea typeface="Helvetica" pitchFamily="34" charset="-122"/>
                <a:cs typeface="Helvetica" pitchFamily="34" charset="-120"/>
              </a:rPr>
              <a:t>(), </a:t>
            </a:r>
            <a:r>
              <a:rPr lang="en-US" sz="1600" dirty="0" err="1">
                <a:solidFill>
                  <a:srgbClr val="000000"/>
                </a:solidFill>
                <a:latin typeface="Helvetica" pitchFamily="34" charset="0"/>
                <a:ea typeface="Helvetica" pitchFamily="34" charset="-122"/>
                <a:cs typeface="Helvetica" pitchFamily="34" charset="-120"/>
              </a:rPr>
              <a:t>tellp</a:t>
            </a:r>
            <a:r>
              <a:rPr lang="en-US" sz="1600" dirty="0">
                <a:solidFill>
                  <a:srgbClr val="000000"/>
                </a:solidFill>
                <a:latin typeface="Helvetica" pitchFamily="34" charset="0"/>
                <a:ea typeface="Helvetica" pitchFamily="34" charset="-122"/>
                <a:cs typeface="Helvetica" pitchFamily="34" charset="-120"/>
              </a:rPr>
              <a:t>() with an example.</a:t>
            </a:r>
            <a:endParaRPr lang="en-US" sz="1600" dirty="0"/>
          </a:p>
          <a:p>
            <a:pPr marL="304800" indent="-304800">
              <a:spcAft>
                <a:spcPts val="1400"/>
              </a:spcAft>
              <a:buSzPct val="100000"/>
              <a:buFont typeface="+mj-lt"/>
              <a:buAutoNum type="arabicPeriod"/>
            </a:pPr>
            <a:r>
              <a:rPr lang="en-US" sz="1600" dirty="0">
                <a:solidFill>
                  <a:srgbClr val="000000"/>
                </a:solidFill>
                <a:latin typeface="Helvetica" pitchFamily="34" charset="0"/>
                <a:ea typeface="Helvetica" pitchFamily="34" charset="-122"/>
                <a:cs typeface="Helvetica" pitchFamily="34" charset="-120"/>
              </a:rPr>
              <a:t>How are class objects read from/written to files?</a:t>
            </a:r>
            <a:endParaRPr lang="en-US" sz="1600" dirty="0"/>
          </a:p>
          <a:p>
            <a:pPr marL="304800" indent="-304800">
              <a:spcAft>
                <a:spcPts val="1400"/>
              </a:spcAft>
              <a:buSzPct val="100000"/>
              <a:buFont typeface="+mj-lt"/>
              <a:buAutoNum type="arabicPeriod"/>
            </a:pPr>
            <a:r>
              <a:rPr lang="en-US" sz="1600" dirty="0">
                <a:solidFill>
                  <a:srgbClr val="000000"/>
                </a:solidFill>
                <a:latin typeface="Helvetica" pitchFamily="34" charset="0"/>
                <a:ea typeface="Helvetica" pitchFamily="34" charset="-122"/>
                <a:cs typeface="Helvetica" pitchFamily="34" charset="-120"/>
              </a:rPr>
              <a:t>Differentiate </a:t>
            </a:r>
            <a:r>
              <a:rPr lang="en-US" sz="1600" dirty="0" err="1">
                <a:solidFill>
                  <a:srgbClr val="000000"/>
                </a:solidFill>
                <a:latin typeface="Helvetica" pitchFamily="34" charset="0"/>
                <a:ea typeface="Helvetica" pitchFamily="34" charset="-122"/>
                <a:cs typeface="Helvetica" pitchFamily="34" charset="-120"/>
              </a:rPr>
              <a:t>ios</a:t>
            </a:r>
            <a:r>
              <a:rPr lang="en-US" sz="1600" dirty="0">
                <a:solidFill>
                  <a:srgbClr val="000000"/>
                </a:solidFill>
                <a:latin typeface="Helvetica" pitchFamily="34" charset="0"/>
                <a:ea typeface="Helvetica" pitchFamily="34" charset="-122"/>
                <a:cs typeface="Helvetica" pitchFamily="34" charset="-120"/>
              </a:rPr>
              <a:t>::app and </a:t>
            </a:r>
            <a:r>
              <a:rPr lang="en-US" sz="1600" dirty="0" err="1">
                <a:solidFill>
                  <a:srgbClr val="000000"/>
                </a:solidFill>
                <a:latin typeface="Helvetica" pitchFamily="34" charset="0"/>
                <a:ea typeface="Helvetica" pitchFamily="34" charset="-122"/>
                <a:cs typeface="Helvetica" pitchFamily="34" charset="-120"/>
              </a:rPr>
              <a:t>ios</a:t>
            </a:r>
            <a:r>
              <a:rPr lang="en-US" sz="1600" dirty="0">
                <a:solidFill>
                  <a:srgbClr val="000000"/>
                </a:solidFill>
                <a:latin typeface="Helvetica" pitchFamily="34" charset="0"/>
                <a:ea typeface="Helvetica" pitchFamily="34" charset="-122"/>
                <a:cs typeface="Helvetica" pitchFamily="34" charset="-120"/>
              </a:rPr>
              <a:t>::ate.</a:t>
            </a:r>
            <a:endParaRPr lang="en-US" sz="1600" dirty="0"/>
          </a:p>
        </p:txBody>
      </p:sp>
      <p:sp>
        <p:nvSpPr>
          <p:cNvPr id="6" name="Shape 6">
            <a:extLst>
              <a:ext uri="{FF2B5EF4-FFF2-40B4-BE49-F238E27FC236}">
                <a16:creationId xmlns:a16="http://schemas.microsoft.com/office/drawing/2014/main" id="{8C53B550-1A7A-C3AB-4502-D1ADE0A02E66}"/>
              </a:ext>
            </a:extLst>
          </p:cNvPr>
          <p:cNvSpPr/>
          <p:nvPr/>
        </p:nvSpPr>
        <p:spPr>
          <a:xfrm>
            <a:off x="-1524" y="5166360"/>
            <a:ext cx="12192000" cy="1691640"/>
          </a:xfrm>
          <a:prstGeom prst="rect">
            <a:avLst/>
          </a:prstGeom>
          <a:solidFill>
            <a:schemeClr val="tx2">
              <a:lumMod val="75000"/>
            </a:schemeClr>
          </a:solidFill>
          <a:ln/>
        </p:spPr>
        <p:txBody>
          <a:bodyPr/>
          <a:lstStyle/>
          <a:p>
            <a:endParaRPr lang="en-US" dirty="0"/>
          </a:p>
        </p:txBody>
      </p:sp>
      <p:sp>
        <p:nvSpPr>
          <p:cNvPr id="8" name="Text 7">
            <a:extLst>
              <a:ext uri="{FF2B5EF4-FFF2-40B4-BE49-F238E27FC236}">
                <a16:creationId xmlns:a16="http://schemas.microsoft.com/office/drawing/2014/main" id="{278E3915-655D-6993-4EF1-A98F4185D0BB}"/>
              </a:ext>
            </a:extLst>
          </p:cNvPr>
          <p:cNvSpPr/>
          <p:nvPr/>
        </p:nvSpPr>
        <p:spPr>
          <a:xfrm>
            <a:off x="226692" y="5302347"/>
            <a:ext cx="11514667" cy="320040"/>
          </a:xfrm>
          <a:prstGeom prst="rect">
            <a:avLst/>
          </a:prstGeom>
          <a:noFill/>
          <a:ln/>
        </p:spPr>
        <p:txBody>
          <a:bodyPr wrap="square" rtlCol="0" anchor="ctr"/>
          <a:lstStyle/>
          <a:p>
            <a:pPr marL="0" indent="0">
              <a:buNone/>
            </a:pPr>
            <a:r>
              <a:rPr lang="en-US" sz="1300" b="1" dirty="0">
                <a:solidFill>
                  <a:srgbClr val="FF9999"/>
                </a:solidFill>
                <a:latin typeface="Calibri" pitchFamily="34" charset="0"/>
                <a:ea typeface="Calibri" pitchFamily="34" charset="-122"/>
                <a:cs typeface="Calibri" pitchFamily="34" charset="-120"/>
              </a:rPr>
              <a:t>📋  </a:t>
            </a:r>
            <a:r>
              <a:rPr lang="en-US" sz="1300" b="1" dirty="0">
                <a:solidFill>
                  <a:schemeClr val="bg1">
                    <a:lumMod val="95000"/>
                  </a:schemeClr>
                </a:solidFill>
                <a:latin typeface="Calibri" pitchFamily="34" charset="0"/>
                <a:ea typeface="Calibri" pitchFamily="34" charset="-122"/>
                <a:cs typeface="Calibri" pitchFamily="34" charset="-120"/>
              </a:rPr>
              <a:t>Probable Exam Question</a:t>
            </a:r>
            <a:endParaRPr lang="en-US" sz="1300" dirty="0">
              <a:solidFill>
                <a:schemeClr val="bg1">
                  <a:lumMod val="95000"/>
                </a:schemeClr>
              </a:solidFill>
            </a:endParaRPr>
          </a:p>
        </p:txBody>
      </p:sp>
      <p:sp>
        <p:nvSpPr>
          <p:cNvPr id="10" name="Text 8">
            <a:extLst>
              <a:ext uri="{FF2B5EF4-FFF2-40B4-BE49-F238E27FC236}">
                <a16:creationId xmlns:a16="http://schemas.microsoft.com/office/drawing/2014/main" id="{49B95F97-2C59-BBF5-1F6A-D9B080E6C74C}"/>
              </a:ext>
            </a:extLst>
          </p:cNvPr>
          <p:cNvSpPr/>
          <p:nvPr/>
        </p:nvSpPr>
        <p:spPr>
          <a:xfrm>
            <a:off x="226692" y="5668107"/>
            <a:ext cx="11514667" cy="458373"/>
          </a:xfrm>
          <a:prstGeom prst="rect">
            <a:avLst/>
          </a:prstGeom>
          <a:noFill/>
          <a:ln/>
        </p:spPr>
        <p:txBody>
          <a:bodyPr wrap="square" rtlCol="0" anchor="ctr"/>
          <a:lstStyle/>
          <a:p>
            <a:pPr lvl="0"/>
            <a:r>
              <a:rPr lang="en-US" sz="1300" dirty="0">
                <a:solidFill>
                  <a:schemeClr val="bg1">
                    <a:lumMod val="95000"/>
                  </a:schemeClr>
                </a:solidFill>
                <a:latin typeface="Calibri" pitchFamily="34" charset="0"/>
                <a:ea typeface="Calibri" pitchFamily="34" charset="-122"/>
                <a:cs typeface="Calibri" pitchFamily="34" charset="-120"/>
              </a:rPr>
              <a:t>Q1: </a:t>
            </a:r>
            <a:r>
              <a:rPr lang="en-US" sz="1300" dirty="0">
                <a:solidFill>
                  <a:schemeClr val="bg1">
                    <a:lumMod val="95000"/>
                  </a:schemeClr>
                </a:solidFill>
                <a:latin typeface="Calibri" pitchFamily="34" charset="0"/>
                <a:cs typeface="Calibri" pitchFamily="34" charset="-120"/>
              </a:rPr>
              <a:t>Write a C++ program to read student records from a file, search by roll number, and display the result. Explain file pointer manipulation functions with examples. [PU Exam 2022]</a:t>
            </a:r>
          </a:p>
        </p:txBody>
      </p:sp>
    </p:spTree>
    <p:extLst>
      <p:ext uri="{BB962C8B-B14F-4D97-AF65-F5344CB8AC3E}">
        <p14:creationId xmlns:p14="http://schemas.microsoft.com/office/powerpoint/2010/main" val="55769354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1920240"/>
            <a:ext cx="11091672" cy="1463040"/>
          </a:xfrm>
          <a:prstGeom prst="rect">
            <a:avLst/>
          </a:prstGeom>
          <a:noFill/>
          <a:ln/>
        </p:spPr>
        <p:txBody>
          <a:bodyPr wrap="square" rtlCol="0" anchor="t"/>
          <a:lstStyle/>
          <a:p>
            <a:pPr marL="0" indent="0">
              <a:buNone/>
            </a:pPr>
            <a:r>
              <a:rPr lang="en-US" sz="4000" b="1" dirty="0">
                <a:solidFill>
                  <a:srgbClr val="000000"/>
                </a:solidFill>
                <a:latin typeface="Helvetica" pitchFamily="34" charset="0"/>
                <a:ea typeface="Helvetica" pitchFamily="34" charset="-122"/>
                <a:cs typeface="Helvetica" pitchFamily="34" charset="-120"/>
              </a:rPr>
              <a:t>Thank You</a:t>
            </a:r>
            <a:endParaRPr lang="en-US" sz="4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1499</TotalTime>
  <Words>20506</Words>
  <Application>Microsoft Office PowerPoint</Application>
  <PresentationFormat>Widescreen</PresentationFormat>
  <Paragraphs>2362</Paragraphs>
  <Slides>141</Slides>
  <Notes>137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141</vt:i4>
      </vt:variant>
    </vt:vector>
  </HeadingPairs>
  <TitlesOfParts>
    <vt:vector size="152" baseType="lpstr">
      <vt:lpstr>Arial</vt:lpstr>
      <vt:lpstr>Calibri</vt:lpstr>
      <vt:lpstr>Cambria</vt:lpstr>
      <vt:lpstr>Courier New</vt:lpstr>
      <vt:lpstr>Helvetica</vt:lpstr>
      <vt:lpstr>inherit</vt:lpstr>
      <vt:lpstr>Inter</vt:lpstr>
      <vt:lpstr>Menlo</vt:lpstr>
      <vt:lpstr>quote-cjk-patch</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Pawan KC</cp:lastModifiedBy>
  <cp:revision>87</cp:revision>
  <dcterms:created xsi:type="dcterms:W3CDTF">2026-08-01T15:50:37Z</dcterms:created>
  <dcterms:modified xsi:type="dcterms:W3CDTF">2026-08-10T03:42:35Z</dcterms:modified>
</cp:coreProperties>
</file>